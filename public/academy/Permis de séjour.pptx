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p:scale>
          <a:sx n="56" d="100"/>
          <a:sy n="56" d="100"/>
        </p:scale>
        <p:origin x="1167" y="8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fr-FR"/>
              <a:t>Modifiez le style du titre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58401CC-FF4A-4003-8C90-EA381C421DF3}" type="datetimeFigureOut">
              <a:rPr lang="fr-FR" smtClean="0"/>
              <a:t>24/09/2024</a:t>
            </a:fld>
            <a:endParaRPr lang="fr-FR"/>
          </a:p>
        </p:txBody>
      </p:sp>
      <p:sp>
        <p:nvSpPr>
          <p:cNvPr id="5" name="Footer Placeholder 4"/>
          <p:cNvSpPr>
            <a:spLocks noGrp="1"/>
          </p:cNvSpPr>
          <p:nvPr>
            <p:ph type="ftr" sz="quarter" idx="11"/>
          </p:nvPr>
        </p:nvSpPr>
        <p:spPr>
          <a:xfrm>
            <a:off x="2416500" y="329307"/>
            <a:ext cx="4973915" cy="309201"/>
          </a:xfrm>
        </p:spPr>
        <p:txBody>
          <a:bodyPr/>
          <a:lstStyle/>
          <a:p>
            <a:endParaRPr lang="fr-FR"/>
          </a:p>
        </p:txBody>
      </p:sp>
      <p:sp>
        <p:nvSpPr>
          <p:cNvPr id="6" name="Slide Number Placeholder 5"/>
          <p:cNvSpPr>
            <a:spLocks noGrp="1"/>
          </p:cNvSpPr>
          <p:nvPr>
            <p:ph type="sldNum" sz="quarter" idx="12"/>
          </p:nvPr>
        </p:nvSpPr>
        <p:spPr>
          <a:xfrm>
            <a:off x="1437664" y="798973"/>
            <a:ext cx="811019" cy="503578"/>
          </a:xfrm>
        </p:spPr>
        <p:txBody>
          <a:bodyPr/>
          <a:lstStyle/>
          <a:p>
            <a:fld id="{D1C1CD4E-51EA-4629-9A83-E08AAB318B4E}" type="slidenum">
              <a:rPr lang="fr-FR" smtClean="0"/>
              <a:t>‹N°›</a:t>
            </a:fld>
            <a:endParaRPr lang="fr-F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6336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8401CC-FF4A-4003-8C90-EA381C421DF3}" type="datetimeFigureOut">
              <a:rPr lang="fr-FR" smtClean="0"/>
              <a:t>24/09/2024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1C1CD4E-51EA-4629-9A83-E08AAB318B4E}" type="slidenum">
              <a:rPr lang="fr-FR" smtClean="0"/>
              <a:t>‹N°›</a:t>
            </a:fld>
            <a:endParaRPr lang="fr-F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93904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fr-FR"/>
              <a:t>Modifiez le style du titre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58401CC-FF4A-4003-8C90-EA381C421DF3}" type="datetimeFigureOut">
              <a:rPr lang="fr-FR" smtClean="0"/>
              <a:t>24/09/2024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1C1CD4E-51EA-4629-9A83-E08AAB318B4E}" type="slidenum">
              <a:rPr lang="fr-FR" smtClean="0"/>
              <a:t>‹N°›</a:t>
            </a:fld>
            <a:endParaRPr lang="fr-F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125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58401CC-FF4A-4003-8C90-EA381C421DF3}" type="datetimeFigureOut">
              <a:rPr lang="fr-FR" smtClean="0"/>
              <a:t>24/09/2024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1C1CD4E-51EA-4629-9A83-E08AAB318B4E}" type="slidenum">
              <a:rPr lang="fr-FR" smtClean="0"/>
              <a:t>‹N°›</a:t>
            </a:fld>
            <a:endParaRPr lang="fr-F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055428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47191" y="2824269"/>
            <a:ext cx="4645152"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412362" y="2821491"/>
            <a:ext cx="4645152"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58401CC-FF4A-4003-8C90-EA381C421DF3}" type="datetimeFigureOut">
              <a:rPr lang="fr-FR" smtClean="0"/>
              <a:t>24/09/2024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D1C1CD4E-51EA-4629-9A83-E08AAB318B4E}" type="slidenum">
              <a:rPr lang="fr-FR" smtClean="0"/>
              <a:t>‹N°›</a:t>
            </a:fld>
            <a:endParaRPr lang="fr-F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924444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58401CC-FF4A-4003-8C90-EA381C421DF3}" type="datetimeFigureOut">
              <a:rPr lang="fr-FR" smtClean="0"/>
              <a:t>24/09/2024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D1C1CD4E-51EA-4629-9A83-E08AAB318B4E}" type="slidenum">
              <a:rPr lang="fr-FR" smtClean="0"/>
              <a:t>‹N°›</a:t>
            </a:fld>
            <a:endParaRPr lang="fr-F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0455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401CC-FF4A-4003-8C90-EA381C421DF3}" type="datetimeFigureOut">
              <a:rPr lang="fr-FR" smtClean="0"/>
              <a:t>24/09/2024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D1C1CD4E-51EA-4629-9A83-E08AAB318B4E}" type="slidenum">
              <a:rPr lang="fr-FR" smtClean="0"/>
              <a:t>‹N°›</a:t>
            </a:fld>
            <a:endParaRPr lang="fr-FR"/>
          </a:p>
        </p:txBody>
      </p:sp>
    </p:spTree>
    <p:extLst>
      <p:ext uri="{BB962C8B-B14F-4D97-AF65-F5344CB8AC3E}">
        <p14:creationId xmlns:p14="http://schemas.microsoft.com/office/powerpoint/2010/main" val="426520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58401CC-FF4A-4003-8C90-EA381C421DF3}" type="datetimeFigureOut">
              <a:rPr lang="fr-FR" smtClean="0"/>
              <a:t>24/09/2024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1C1CD4E-51EA-4629-9A83-E08AAB318B4E}" type="slidenum">
              <a:rPr lang="fr-FR" smtClean="0"/>
              <a:t>‹N°›</a:t>
            </a:fld>
            <a:endParaRPr lang="fr-F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108392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58401CC-FF4A-4003-8C90-EA381C421DF3}" type="datetimeFigureOut">
              <a:rPr lang="fr-FR" smtClean="0"/>
              <a:t>24/09/2024</a:t>
            </a:fld>
            <a:endParaRPr lang="fr-FR"/>
          </a:p>
        </p:txBody>
      </p:sp>
      <p:sp>
        <p:nvSpPr>
          <p:cNvPr id="6" name="Footer Placeholder 5"/>
          <p:cNvSpPr>
            <a:spLocks noGrp="1"/>
          </p:cNvSpPr>
          <p:nvPr>
            <p:ph type="ftr" sz="quarter" idx="11"/>
          </p:nvPr>
        </p:nvSpPr>
        <p:spPr>
          <a:xfrm>
            <a:off x="1447382" y="318640"/>
            <a:ext cx="5541004" cy="320931"/>
          </a:xfrm>
        </p:spPr>
        <p:txBody>
          <a:bodyPr/>
          <a:lstStyle/>
          <a:p>
            <a:endParaRPr lang="fr-FR"/>
          </a:p>
        </p:txBody>
      </p:sp>
      <p:sp>
        <p:nvSpPr>
          <p:cNvPr id="7" name="Slide Number Placeholder 6"/>
          <p:cNvSpPr>
            <a:spLocks noGrp="1"/>
          </p:cNvSpPr>
          <p:nvPr>
            <p:ph type="sldNum" sz="quarter" idx="12"/>
          </p:nvPr>
        </p:nvSpPr>
        <p:spPr/>
        <p:txBody>
          <a:bodyPr/>
          <a:lstStyle/>
          <a:p>
            <a:fld id="{D1C1CD4E-51EA-4629-9A83-E08AAB318B4E}" type="slidenum">
              <a:rPr lang="fr-FR" smtClean="0"/>
              <a:t>‹N°›</a:t>
            </a:fld>
            <a:endParaRPr lang="fr-F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204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8401CC-FF4A-4003-8C90-EA381C421DF3}" type="datetimeFigureOut">
              <a:rPr lang="fr-FR" smtClean="0"/>
              <a:t>24/09/2024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1C1CD4E-51EA-4629-9A83-E08AAB318B4E}" type="slidenum">
              <a:rPr lang="fr-FR" smtClean="0"/>
              <a:t>‹N°›</a:t>
            </a:fld>
            <a:endParaRPr lang="fr-F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32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8401CC-FF4A-4003-8C90-EA381C421DF3}" type="datetimeFigureOut">
              <a:rPr lang="fr-FR" smtClean="0"/>
              <a:t>24/09/2024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1C1CD4E-51EA-4629-9A83-E08AAB318B4E}" type="slidenum">
              <a:rPr lang="fr-FR" smtClean="0"/>
              <a:t>‹N°›</a:t>
            </a:fld>
            <a:endParaRPr lang="fr-F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548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58401CC-FF4A-4003-8C90-EA381C421DF3}" type="datetimeFigureOut">
              <a:rPr lang="fr-FR" smtClean="0"/>
              <a:t>24/09/2024</a:t>
            </a:fld>
            <a:endParaRPr lang="fr-F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1C1CD4E-51EA-4629-9A83-E08AAB318B4E}" type="slidenum">
              <a:rPr lang="fr-FR" smtClean="0"/>
              <a:t>‹N°›</a:t>
            </a:fld>
            <a:endParaRPr lang="fr-F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034727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sem.admin.ch/sem/fr/home/themen/fza_schweiz-eu-efta/meldeverfahren.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sem.admin.ch/sem/fr/home/themen/fza_schweiz-eu-efta/meldeverfahren.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5AE1C-F1BC-4B10-98C6-7F02AF3FB335}"/>
              </a:ext>
            </a:extLst>
          </p:cNvPr>
          <p:cNvSpPr>
            <a:spLocks noGrp="1"/>
          </p:cNvSpPr>
          <p:nvPr>
            <p:ph type="ctrTitle"/>
          </p:nvPr>
        </p:nvSpPr>
        <p:spPr/>
        <p:txBody>
          <a:bodyPr/>
          <a:lstStyle/>
          <a:p>
            <a:pPr algn="ctr"/>
            <a:r>
              <a:rPr lang="fr-FR" dirty="0">
                <a:latin typeface="Arial Rounded MT Bold" panose="020F0704030504030204" pitchFamily="34" charset="0"/>
              </a:rPr>
              <a:t>PERMIS DE SEJOUR</a:t>
            </a:r>
            <a:endParaRPr lang="fr-FR" dirty="0"/>
          </a:p>
        </p:txBody>
      </p:sp>
    </p:spTree>
    <p:extLst>
      <p:ext uri="{BB962C8B-B14F-4D97-AF65-F5344CB8AC3E}">
        <p14:creationId xmlns:p14="http://schemas.microsoft.com/office/powerpoint/2010/main" val="340598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A44E3A-133D-4557-85EA-C0F4EDB7E82C}"/>
              </a:ext>
            </a:extLst>
          </p:cNvPr>
          <p:cNvSpPr>
            <a:spLocks noGrp="1"/>
          </p:cNvSpPr>
          <p:nvPr>
            <p:ph type="title"/>
          </p:nvPr>
        </p:nvSpPr>
        <p:spPr>
          <a:xfrm>
            <a:off x="1451579" y="804519"/>
            <a:ext cx="9603275" cy="614083"/>
          </a:xfrm>
        </p:spPr>
        <p:txBody>
          <a:bodyPr/>
          <a:lstStyle/>
          <a:p>
            <a:r>
              <a:rPr lang="fr-FR" dirty="0"/>
              <a:t>Permis B ( Autorisation de séjour)</a:t>
            </a:r>
          </a:p>
        </p:txBody>
      </p:sp>
      <p:sp>
        <p:nvSpPr>
          <p:cNvPr id="3" name="Espace réservé du contenu 2">
            <a:extLst>
              <a:ext uri="{FF2B5EF4-FFF2-40B4-BE49-F238E27FC236}">
                <a16:creationId xmlns:a16="http://schemas.microsoft.com/office/drawing/2014/main" id="{A46D9EC6-6602-4A4E-980A-155B944B4318}"/>
              </a:ext>
            </a:extLst>
          </p:cNvPr>
          <p:cNvSpPr>
            <a:spLocks noGrp="1"/>
          </p:cNvSpPr>
          <p:nvPr>
            <p:ph idx="1"/>
          </p:nvPr>
        </p:nvSpPr>
        <p:spPr>
          <a:xfrm>
            <a:off x="643151" y="1975723"/>
            <a:ext cx="8723040" cy="3880773"/>
          </a:xfrm>
        </p:spPr>
        <p:txBody>
          <a:bodyPr>
            <a:normAutofit fontScale="70000" lnSpcReduction="20000"/>
          </a:bodyPr>
          <a:lstStyle/>
          <a:p>
            <a:pPr marL="0" indent="0">
              <a:buNone/>
            </a:pPr>
            <a:r>
              <a:rPr lang="fr-FR" dirty="0">
                <a:solidFill>
                  <a:srgbClr val="002060"/>
                </a:solidFill>
              </a:rPr>
              <a:t>Les titulaires d’une autorisation de séjour sont des étrangers, exerçant ou non une activité lucrative, qui séjournent durablement en Suisse dans un but précis.</a:t>
            </a:r>
          </a:p>
          <a:p>
            <a:pPr marL="0" indent="0">
              <a:buNone/>
            </a:pPr>
            <a:endParaRPr lang="fr-FR" dirty="0">
              <a:solidFill>
                <a:srgbClr val="002060"/>
              </a:solidFill>
            </a:endParaRPr>
          </a:p>
          <a:p>
            <a:pPr marL="0" indent="0">
              <a:buNone/>
            </a:pPr>
            <a:r>
              <a:rPr lang="fr-FR" dirty="0">
                <a:solidFill>
                  <a:srgbClr val="002060"/>
                </a:solidFill>
              </a:rPr>
              <a:t>L’autorisation de séjour des ressortissants des Etats membres de l’UE/AELE (ressortissants UE/AELE) a une durée de validité de cinq ans. Elle est octroyée aux citoyens UE/AELE qui peuvent prouver qu’ils ont été engagés pour une durée indéterminée ou pour une durée déterminée d’au moins un an (365 jours).  </a:t>
            </a:r>
          </a:p>
          <a:p>
            <a:pPr marL="0" indent="0">
              <a:buNone/>
            </a:pPr>
            <a:endParaRPr lang="fr-FR" dirty="0">
              <a:solidFill>
                <a:srgbClr val="002060"/>
              </a:solidFill>
            </a:endParaRPr>
          </a:p>
          <a:p>
            <a:pPr marL="0" indent="0">
              <a:buNone/>
            </a:pPr>
            <a:r>
              <a:rPr lang="fr-FR" dirty="0">
                <a:solidFill>
                  <a:srgbClr val="002060"/>
                </a:solidFill>
              </a:rPr>
              <a:t>L’autorisation de séjour est prolongée de cinq ans si l’étranger remplit les conditions requises. Cependant, la première prolongation peut être limitée à un an si la personne se trouve dans une situation de chômage involontaire durant plus de douze mois consécutifs. Les ressortissants d’un Etat UE/AELE qui n’exercent pas d’activité lucrative ont droit à une autorisation de type B UE/AELE destinée aux personnes non actives, à condition qu’ils puissent prouver qu’ils disposent de moyens financiers suffisants et d’une assurance maladie et accidents couvrant tous les risques</a:t>
            </a:r>
          </a:p>
        </p:txBody>
      </p:sp>
      <p:pic>
        <p:nvPicPr>
          <p:cNvPr id="1026" name="Picture 2" descr="Livret B UE/AELE (autorisation de séjour)">
            <a:extLst>
              <a:ext uri="{FF2B5EF4-FFF2-40B4-BE49-F238E27FC236}">
                <a16:creationId xmlns:a16="http://schemas.microsoft.com/office/drawing/2014/main" id="{FFA669FC-5A4B-449F-866B-061826BF5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6693" y="4781816"/>
            <a:ext cx="290512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026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EC1C0-8523-4720-91EA-4290076EBA2B}"/>
              </a:ext>
            </a:extLst>
          </p:cNvPr>
          <p:cNvSpPr>
            <a:spLocks noGrp="1"/>
          </p:cNvSpPr>
          <p:nvPr>
            <p:ph type="title"/>
          </p:nvPr>
        </p:nvSpPr>
        <p:spPr/>
        <p:txBody>
          <a:bodyPr/>
          <a:lstStyle/>
          <a:p>
            <a:r>
              <a:rPr lang="fr-FR" b="0" i="0" dirty="0">
                <a:solidFill>
                  <a:srgbClr val="000000"/>
                </a:solidFill>
                <a:effectLst/>
                <a:latin typeface="Frutiger Neue"/>
              </a:rPr>
              <a:t>Permis C UE/AELE (autorisation d’établissement)</a:t>
            </a:r>
            <a:endParaRPr lang="fr-FR" dirty="0"/>
          </a:p>
        </p:txBody>
      </p:sp>
      <p:sp>
        <p:nvSpPr>
          <p:cNvPr id="3" name="Espace réservé du contenu 2">
            <a:extLst>
              <a:ext uri="{FF2B5EF4-FFF2-40B4-BE49-F238E27FC236}">
                <a16:creationId xmlns:a16="http://schemas.microsoft.com/office/drawing/2014/main" id="{FE352207-DF5D-4A91-981E-13A514E4FE98}"/>
              </a:ext>
            </a:extLst>
          </p:cNvPr>
          <p:cNvSpPr>
            <a:spLocks noGrp="1"/>
          </p:cNvSpPr>
          <p:nvPr>
            <p:ph idx="1"/>
          </p:nvPr>
        </p:nvSpPr>
        <p:spPr/>
        <p:txBody>
          <a:bodyPr>
            <a:normAutofit fontScale="85000" lnSpcReduction="20000"/>
          </a:bodyPr>
          <a:lstStyle/>
          <a:p>
            <a:pPr algn="l"/>
            <a:r>
              <a:rPr lang="fr-FR" b="0" i="0" dirty="0">
                <a:solidFill>
                  <a:srgbClr val="454545"/>
                </a:solidFill>
                <a:effectLst/>
                <a:latin typeface="Frutiger Neue"/>
              </a:rPr>
              <a:t>Les titulaires d’une autorisation </a:t>
            </a:r>
            <a:r>
              <a:rPr lang="fr-FR" b="1" i="0" dirty="0">
                <a:solidFill>
                  <a:srgbClr val="454545"/>
                </a:solidFill>
                <a:effectLst/>
                <a:latin typeface="Frutiger Neue"/>
              </a:rPr>
              <a:t>d’établissement</a:t>
            </a:r>
            <a:r>
              <a:rPr lang="fr-FR" b="0" i="0" dirty="0">
                <a:solidFill>
                  <a:srgbClr val="454545"/>
                </a:solidFill>
                <a:effectLst/>
                <a:latin typeface="Frutiger Neue"/>
              </a:rPr>
              <a:t> peuvent obtenir une telle autorisation après un séjour de cinq ou dix ans en Suisse. Le droit au séjour est de durée indéterminée; il n’est assorti d’aucune condition. Le Secrétariat d’Etat aux migrations (SEM) fixe la date à partir de laquelle l’autorité cantonale compétente peut délivrer l’autorisation d’établissement.</a:t>
            </a:r>
          </a:p>
          <a:p>
            <a:pPr algn="l"/>
            <a:r>
              <a:rPr lang="fr-FR" b="0" i="0" dirty="0">
                <a:solidFill>
                  <a:srgbClr val="454545"/>
                </a:solidFill>
                <a:effectLst/>
                <a:latin typeface="Frutiger Neue"/>
              </a:rPr>
              <a:t>L’octroi d’une autorisation d’établissement aux </a:t>
            </a:r>
            <a:r>
              <a:rPr lang="fr-FR" b="1" i="0" dirty="0">
                <a:solidFill>
                  <a:srgbClr val="454545"/>
                </a:solidFill>
                <a:effectLst/>
                <a:latin typeface="Frutiger Neue"/>
              </a:rPr>
              <a:t>ressortissants UE/AELE</a:t>
            </a:r>
            <a:r>
              <a:rPr lang="fr-FR" b="0" i="0" dirty="0">
                <a:solidFill>
                  <a:srgbClr val="454545"/>
                </a:solidFill>
                <a:effectLst/>
                <a:latin typeface="Frutiger Neue"/>
              </a:rPr>
              <a:t> est également régi par les dispositions de la LEI et les accords d’établissement, l’accord sur la libre circulation ne prévoyant pas de réglementation en la matière. En vertu d’accords d’établissement et du principe de réciprocité, les ressortissants de l’Allemagne, de l’Autriche, de la Belgique, du Danemark, de l’Espagne, la Finlande, de la France, de la Grèce, de l’Irlande, de l’Italie, du Luxembourg, des Pays-Bas, du Portugal, de la Suède et des Etats AELE (Islande, Liechtenstein et Norvège) obtiennent une autorisation d’établissement après un séjour régulier et ininterrompu de cinq ans en Suisse pour autant que les conditions d’octroi sont remplies. Il n’existe pas de tels accords pour les autres Etats membres de l’UE. </a:t>
            </a:r>
          </a:p>
          <a:p>
            <a:endParaRPr lang="fr-FR" dirty="0"/>
          </a:p>
        </p:txBody>
      </p:sp>
      <p:pic>
        <p:nvPicPr>
          <p:cNvPr id="2050" name="Picture 2" descr="Livret C UE/AELE (autorisation d’établissement)">
            <a:extLst>
              <a:ext uri="{FF2B5EF4-FFF2-40B4-BE49-F238E27FC236}">
                <a16:creationId xmlns:a16="http://schemas.microsoft.com/office/drawing/2014/main" id="{901BD992-B7A0-4404-B3F8-01673165B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1447" y="5149553"/>
            <a:ext cx="24574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228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BFDA8-B118-4558-95A6-D20605E8A781}"/>
              </a:ext>
            </a:extLst>
          </p:cNvPr>
          <p:cNvSpPr>
            <a:spLocks noGrp="1"/>
          </p:cNvSpPr>
          <p:nvPr>
            <p:ph type="title"/>
          </p:nvPr>
        </p:nvSpPr>
        <p:spPr/>
        <p:txBody>
          <a:bodyPr/>
          <a:lstStyle/>
          <a:p>
            <a:r>
              <a:rPr lang="fr-FR" b="0" i="0" dirty="0">
                <a:solidFill>
                  <a:srgbClr val="000000"/>
                </a:solidFill>
                <a:effectLst/>
                <a:latin typeface="Frutiger Neue"/>
              </a:rPr>
              <a:t>Permis L UE/AELE (autorisation de courte durée)</a:t>
            </a:r>
            <a:endParaRPr lang="fr-FR" dirty="0"/>
          </a:p>
        </p:txBody>
      </p:sp>
      <p:sp>
        <p:nvSpPr>
          <p:cNvPr id="3" name="Espace réservé du contenu 2">
            <a:extLst>
              <a:ext uri="{FF2B5EF4-FFF2-40B4-BE49-F238E27FC236}">
                <a16:creationId xmlns:a16="http://schemas.microsoft.com/office/drawing/2014/main" id="{7D1FB9E0-EFFB-42EE-81CE-9688E3FA53FE}"/>
              </a:ext>
            </a:extLst>
          </p:cNvPr>
          <p:cNvSpPr>
            <a:spLocks noGrp="1"/>
          </p:cNvSpPr>
          <p:nvPr>
            <p:ph idx="1"/>
          </p:nvPr>
        </p:nvSpPr>
        <p:spPr>
          <a:xfrm>
            <a:off x="365334" y="2296431"/>
            <a:ext cx="8596668" cy="3880773"/>
          </a:xfrm>
        </p:spPr>
        <p:txBody>
          <a:bodyPr>
            <a:normAutofit fontScale="85000" lnSpcReduction="20000"/>
          </a:bodyPr>
          <a:lstStyle/>
          <a:p>
            <a:pPr algn="l"/>
            <a:br>
              <a:rPr lang="fr-FR" b="0" i="0" dirty="0">
                <a:solidFill>
                  <a:srgbClr val="454545"/>
                </a:solidFill>
                <a:effectLst/>
                <a:latin typeface="Frutiger Neue"/>
              </a:rPr>
            </a:br>
            <a:r>
              <a:rPr lang="fr-FR" b="0" i="0" dirty="0">
                <a:solidFill>
                  <a:srgbClr val="454545"/>
                </a:solidFill>
                <a:effectLst/>
                <a:latin typeface="Frutiger Neue"/>
              </a:rPr>
              <a:t>Les </a:t>
            </a:r>
            <a:r>
              <a:rPr lang="fr-FR" b="1" i="0" dirty="0">
                <a:solidFill>
                  <a:srgbClr val="454545"/>
                </a:solidFill>
                <a:effectLst/>
                <a:latin typeface="Frutiger Neue"/>
              </a:rPr>
              <a:t>titulaires d’une autorisation de séjour de courte durée</a:t>
            </a:r>
            <a:r>
              <a:rPr lang="fr-FR" b="0" i="0" dirty="0">
                <a:solidFill>
                  <a:srgbClr val="454545"/>
                </a:solidFill>
                <a:effectLst/>
                <a:latin typeface="Frutiger Neue"/>
              </a:rPr>
              <a:t> sont des étrangers qui séjournent temporairement en Suisse dans un but précis, en règle générale pour une durée de moins d’un an, exerçant ou non une activité lucrative.</a:t>
            </a:r>
          </a:p>
          <a:p>
            <a:pPr algn="l"/>
            <a:r>
              <a:rPr lang="fr-FR" b="0" i="0" dirty="0">
                <a:solidFill>
                  <a:srgbClr val="454545"/>
                </a:solidFill>
                <a:effectLst/>
                <a:latin typeface="Frutiger Neue"/>
              </a:rPr>
              <a:t>Sur présentation d’un contrat de travail d’une durée de trois mois à une année, les </a:t>
            </a:r>
            <a:r>
              <a:rPr lang="fr-FR" b="1" i="0" dirty="0">
                <a:solidFill>
                  <a:srgbClr val="454545"/>
                </a:solidFill>
                <a:effectLst/>
                <a:latin typeface="Frutiger Neue"/>
              </a:rPr>
              <a:t>ressortissants UE/AELE</a:t>
            </a:r>
            <a:r>
              <a:rPr lang="fr-FR" b="0" i="0" dirty="0">
                <a:solidFill>
                  <a:srgbClr val="454545"/>
                </a:solidFill>
                <a:effectLst/>
                <a:latin typeface="Frutiger Neue"/>
              </a:rPr>
              <a:t> ont droit à une telle autorisation. Les rapports de travail d’une durée inférieure à trois mois au cours de l’année civile ne sont pas soumis à autorisation mais à la «</a:t>
            </a:r>
            <a:r>
              <a:rPr lang="fr-FR" b="0" i="0" u="none" strike="noStrike" dirty="0">
                <a:solidFill>
                  <a:srgbClr val="006699"/>
                </a:solidFill>
                <a:effectLst/>
                <a:latin typeface="Frutiger Neue"/>
                <a:hlinkClick r:id="rId2"/>
              </a:rPr>
              <a:t>procédure d’annonce en ligne</a:t>
            </a:r>
            <a:r>
              <a:rPr lang="fr-FR" b="0" i="0" dirty="0">
                <a:solidFill>
                  <a:srgbClr val="454545"/>
                </a:solidFill>
                <a:effectLst/>
                <a:latin typeface="Frutiger Neue"/>
              </a:rPr>
              <a:t>». La durée de validité de l’autorisation est déterminée par celle du contrat de travail. Cette autorisation peut être prolongée jusqu’à douze mois au total. </a:t>
            </a:r>
            <a:br>
              <a:rPr lang="fr-FR" b="0" i="0" dirty="0">
                <a:solidFill>
                  <a:srgbClr val="454545"/>
                </a:solidFill>
                <a:effectLst/>
                <a:latin typeface="Frutiger Neue"/>
              </a:rPr>
            </a:br>
            <a:r>
              <a:rPr lang="fr-FR" b="0" i="0" dirty="0">
                <a:solidFill>
                  <a:srgbClr val="454545"/>
                </a:solidFill>
                <a:effectLst/>
                <a:latin typeface="Frutiger Neue"/>
              </a:rPr>
              <a:t>Sous réserve que les conditions soient remplies, les ressortissants UE/AELE à la recherche d’un emploi peuvent prétendre à l’octroi d’une autorisation L UE/AELE, laquelle ne donne aucun droit à l’aide sociale.</a:t>
            </a:r>
          </a:p>
          <a:p>
            <a:endParaRPr lang="fr-FR" dirty="0"/>
          </a:p>
        </p:txBody>
      </p:sp>
      <p:pic>
        <p:nvPicPr>
          <p:cNvPr id="3074" name="Picture 2" descr="Livret L UE/AELE (autorisation de courte durée)">
            <a:extLst>
              <a:ext uri="{FF2B5EF4-FFF2-40B4-BE49-F238E27FC236}">
                <a16:creationId xmlns:a16="http://schemas.microsoft.com/office/drawing/2014/main" id="{E9BE53F3-A295-4C2B-B614-4424482C6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9386" y="3030435"/>
            <a:ext cx="24574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57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2E1CA-26EE-4728-B107-A1255567055D}"/>
              </a:ext>
            </a:extLst>
          </p:cNvPr>
          <p:cNvSpPr>
            <a:spLocks noGrp="1"/>
          </p:cNvSpPr>
          <p:nvPr>
            <p:ph type="title"/>
          </p:nvPr>
        </p:nvSpPr>
        <p:spPr/>
        <p:txBody>
          <a:bodyPr/>
          <a:lstStyle/>
          <a:p>
            <a:r>
              <a:rPr lang="fr-FR" b="0" i="0" dirty="0">
                <a:solidFill>
                  <a:srgbClr val="000000"/>
                </a:solidFill>
                <a:effectLst/>
                <a:latin typeface="Frutiger Neue"/>
              </a:rPr>
              <a:t>Permis G UE/AELE (autorisation frontalière)</a:t>
            </a:r>
            <a:endParaRPr lang="fr-FR" dirty="0"/>
          </a:p>
        </p:txBody>
      </p:sp>
      <p:sp>
        <p:nvSpPr>
          <p:cNvPr id="3" name="Espace réservé du contenu 2">
            <a:extLst>
              <a:ext uri="{FF2B5EF4-FFF2-40B4-BE49-F238E27FC236}">
                <a16:creationId xmlns:a16="http://schemas.microsoft.com/office/drawing/2014/main" id="{ACB16B46-BA6F-4E32-8696-1A946DA3E374}"/>
              </a:ext>
            </a:extLst>
          </p:cNvPr>
          <p:cNvSpPr>
            <a:spLocks noGrp="1"/>
          </p:cNvSpPr>
          <p:nvPr>
            <p:ph idx="1"/>
          </p:nvPr>
        </p:nvSpPr>
        <p:spPr/>
        <p:txBody>
          <a:bodyPr>
            <a:normAutofit fontScale="85000" lnSpcReduction="20000"/>
          </a:bodyPr>
          <a:lstStyle/>
          <a:p>
            <a:pPr algn="l"/>
            <a:r>
              <a:rPr lang="fr-FR" b="0" i="0" dirty="0">
                <a:solidFill>
                  <a:srgbClr val="454545"/>
                </a:solidFill>
                <a:effectLst/>
                <a:latin typeface="Frutiger Neue"/>
              </a:rPr>
              <a:t>Les </a:t>
            </a:r>
            <a:r>
              <a:rPr lang="fr-FR" b="1" i="0" dirty="0">
                <a:solidFill>
                  <a:srgbClr val="454545"/>
                </a:solidFill>
                <a:effectLst/>
                <a:latin typeface="Frutiger Neue"/>
              </a:rPr>
              <a:t>frontaliers</a:t>
            </a:r>
            <a:r>
              <a:rPr lang="fr-FR" b="0" i="0" dirty="0">
                <a:solidFill>
                  <a:srgbClr val="454545"/>
                </a:solidFill>
                <a:effectLst/>
                <a:latin typeface="Frutiger Neue"/>
              </a:rPr>
              <a:t> UE/AELE sont des ressortissants d’un Etat UE/AELE qui séjournent sur le territoire d’un Etat UE/AELE et travaillent en Suisse (comme salarié ou indépendant et dont le siège de l’entreprise est en Suisse) tout en retournant à leur domicile principal à l’étranger en principe chaque jour ou au moins une fois par semaine.</a:t>
            </a:r>
          </a:p>
          <a:p>
            <a:pPr algn="l"/>
            <a:r>
              <a:rPr lang="fr-FR" b="0" i="0" dirty="0">
                <a:solidFill>
                  <a:srgbClr val="454545"/>
                </a:solidFill>
                <a:effectLst/>
                <a:latin typeface="Frutiger Neue"/>
              </a:rPr>
              <a:t>Les </a:t>
            </a:r>
            <a:r>
              <a:rPr lang="fr-FR" b="1" i="0" dirty="0">
                <a:solidFill>
                  <a:srgbClr val="454545"/>
                </a:solidFill>
                <a:effectLst/>
                <a:latin typeface="Frutiger Neue"/>
              </a:rPr>
              <a:t>frontaliers UE/AELE</a:t>
            </a:r>
            <a:r>
              <a:rPr lang="fr-FR" b="0" i="0" dirty="0">
                <a:solidFill>
                  <a:srgbClr val="454545"/>
                </a:solidFill>
                <a:effectLst/>
                <a:latin typeface="Frutiger Neue"/>
              </a:rPr>
              <a:t> jouissent de la mobilité professionnelle et géographique sur tout le territoire suisse. Les zones frontalières ont été supprimées. Ces ressortissants peuvent habiter dans quelque région de l’UE/AELE que ce soit et travailler sur tout le territoire suisse. L’autorisation frontalière UE/AELE a une durée de validité de cinq ans si le contrat de travail est de durée indéterminée ou supérieure à un an. Si le contrat de travail a été conclu pour une durée supérieure à trois mois et inférieure à un an, la durée de validité de l’autorisation frontalière correspond à celle du contrat de travail. Les activités lucratives d’une durée maximale de trois mois par année civile ne sont pas soumises à autorisation mais à la «</a:t>
            </a:r>
            <a:r>
              <a:rPr lang="fr-FR" b="0" i="0" u="none" strike="noStrike" dirty="0">
                <a:solidFill>
                  <a:srgbClr val="006699"/>
                </a:solidFill>
                <a:effectLst/>
                <a:latin typeface="Frutiger Neue"/>
                <a:hlinkClick r:id="rId2"/>
              </a:rPr>
              <a:t>procédure d’annonce en ligne</a:t>
            </a:r>
            <a:r>
              <a:rPr lang="fr-FR" b="0" i="0" dirty="0">
                <a:solidFill>
                  <a:srgbClr val="454545"/>
                </a:solidFill>
                <a:effectLst/>
                <a:latin typeface="Frutiger Neue"/>
              </a:rPr>
              <a:t>».</a:t>
            </a:r>
          </a:p>
          <a:p>
            <a:endParaRPr lang="fr-FR" dirty="0"/>
          </a:p>
        </p:txBody>
      </p:sp>
      <p:pic>
        <p:nvPicPr>
          <p:cNvPr id="4098" name="Picture 2" descr="Livret G UE/AELE (autorisation frontalière)">
            <a:extLst>
              <a:ext uri="{FF2B5EF4-FFF2-40B4-BE49-F238E27FC236}">
                <a16:creationId xmlns:a16="http://schemas.microsoft.com/office/drawing/2014/main" id="{A80E77EE-0985-4C58-8F37-741A6FA0C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2344" y="5111809"/>
            <a:ext cx="24574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089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A9177A-36FB-452B-A2C8-3A3F9F300734}"/>
              </a:ext>
            </a:extLst>
          </p:cNvPr>
          <p:cNvSpPr>
            <a:spLocks noGrp="1"/>
          </p:cNvSpPr>
          <p:nvPr>
            <p:ph type="title"/>
          </p:nvPr>
        </p:nvSpPr>
        <p:spPr/>
        <p:txBody>
          <a:bodyPr>
            <a:normAutofit/>
          </a:bodyPr>
          <a:lstStyle/>
          <a:p>
            <a:r>
              <a:rPr lang="fr-FR" b="0" i="0" dirty="0">
                <a:solidFill>
                  <a:srgbClr val="000000"/>
                </a:solidFill>
                <a:effectLst/>
                <a:latin typeface="Frutiger Neue"/>
              </a:rPr>
              <a:t>Permis Ci UE/AELE (autorisation de séjour avec activité lucrative)</a:t>
            </a:r>
            <a:endParaRPr lang="fr-FR" dirty="0"/>
          </a:p>
        </p:txBody>
      </p:sp>
      <p:sp>
        <p:nvSpPr>
          <p:cNvPr id="3" name="Espace réservé du contenu 2">
            <a:extLst>
              <a:ext uri="{FF2B5EF4-FFF2-40B4-BE49-F238E27FC236}">
                <a16:creationId xmlns:a16="http://schemas.microsoft.com/office/drawing/2014/main" id="{FE5E8D0E-545F-421E-BD0D-723CEB831117}"/>
              </a:ext>
            </a:extLst>
          </p:cNvPr>
          <p:cNvSpPr>
            <a:spLocks noGrp="1"/>
          </p:cNvSpPr>
          <p:nvPr>
            <p:ph idx="1"/>
          </p:nvPr>
        </p:nvSpPr>
        <p:spPr>
          <a:xfrm>
            <a:off x="368794" y="2174147"/>
            <a:ext cx="8596668" cy="3880773"/>
          </a:xfrm>
        </p:spPr>
        <p:txBody>
          <a:bodyPr/>
          <a:lstStyle/>
          <a:p>
            <a:r>
              <a:rPr lang="fr-FR" b="1" i="0" dirty="0">
                <a:solidFill>
                  <a:srgbClr val="454545"/>
                </a:solidFill>
                <a:effectLst/>
                <a:latin typeface="Frutiger Neue"/>
              </a:rPr>
              <a:t>L’autorisation de séjour Ci avec activité lucrative</a:t>
            </a:r>
            <a:r>
              <a:rPr lang="fr-FR" b="0" i="0" dirty="0">
                <a:solidFill>
                  <a:srgbClr val="454545"/>
                </a:solidFill>
                <a:effectLst/>
                <a:latin typeface="Frutiger Neue"/>
              </a:rPr>
              <a:t> est délivrée aux membres de la famille de fonctionnaires des organisations intergouvernementales ou de membres des représentations étrangères. Il s’agit exclusivement des conjoints et des enfants jusqu’à l'âge de 25 ans. La validité est limitée à la durée de la fonction du titulaire principal.</a:t>
            </a:r>
            <a:endParaRPr lang="fr-FR" dirty="0"/>
          </a:p>
        </p:txBody>
      </p:sp>
      <p:pic>
        <p:nvPicPr>
          <p:cNvPr id="5122" name="Picture 2" descr="Permis Ci UE/AELE (autorisation de séjour avec activité lucrative)">
            <a:extLst>
              <a:ext uri="{FF2B5EF4-FFF2-40B4-BE49-F238E27FC236}">
                <a16:creationId xmlns:a16="http://schemas.microsoft.com/office/drawing/2014/main" id="{8AF308F5-C60D-4C20-8964-A59660F04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5756" y="4924514"/>
            <a:ext cx="24574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096293"/>
      </p:ext>
    </p:extLst>
  </p:cSld>
  <p:clrMapOvr>
    <a:masterClrMapping/>
  </p:clrMapOvr>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TM10001114[[fn=Galerie]]</Template>
  <TotalTime>4010</TotalTime>
  <Words>852</Words>
  <Application>Microsoft Office PowerPoint</Application>
  <PresentationFormat>Grand écran</PresentationFormat>
  <Paragraphs>18</Paragraphs>
  <Slides>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vt:i4>
      </vt:variant>
    </vt:vector>
  </HeadingPairs>
  <TitlesOfParts>
    <vt:vector size="11" baseType="lpstr">
      <vt:lpstr>Arial</vt:lpstr>
      <vt:lpstr>Arial Rounded MT Bold</vt:lpstr>
      <vt:lpstr>Frutiger Neue</vt:lpstr>
      <vt:lpstr>Gill Sans MT</vt:lpstr>
      <vt:lpstr>Galerie</vt:lpstr>
      <vt:lpstr>PERMIS DE SEJOUR</vt:lpstr>
      <vt:lpstr>Permis B ( Autorisation de séjour)</vt:lpstr>
      <vt:lpstr>Permis C UE/AELE (autorisation d’établissement)</vt:lpstr>
      <vt:lpstr>Permis L UE/AELE (autorisation de courte durée)</vt:lpstr>
      <vt:lpstr>Permis G UE/AELE (autorisation frontalière)</vt:lpstr>
      <vt:lpstr>Permis Ci UE/AELE (autorisation de séjour avec activité lucrative)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Pierrick .</dc:creator>
  <cp:lastModifiedBy>Pierrick .</cp:lastModifiedBy>
  <cp:revision>8</cp:revision>
  <dcterms:created xsi:type="dcterms:W3CDTF">2024-03-29T15:55:35Z</dcterms:created>
  <dcterms:modified xsi:type="dcterms:W3CDTF">2024-09-24T13:32:37Z</dcterms:modified>
</cp:coreProperties>
</file>