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heme/themeOverride1.xml" ContentType="application/vnd.openxmlformats-officedocument.themeOverride+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heme/themeOverride2.xml" ContentType="application/vnd.openxmlformats-officedocument.themeOverride+xml"/>
  <Override PartName="/ppt/theme/themeOverride3.xml" ContentType="application/vnd.openxmlformats-officedocument.themeOverride+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heme/themeOverride4.xml" ContentType="application/vnd.openxmlformats-officedocument.themeOverride+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heme/themeOverride5.xml" ContentType="application/vnd.openxmlformats-officedocument.themeOverride+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heme/themeOverride6.xml" ContentType="application/vnd.openxmlformats-officedocument.themeOverride+xml"/>
  <Override PartName="/ppt/theme/themeOverride7.xml" ContentType="application/vnd.openxmlformats-officedocument.themeOverride+xml"/>
  <Override PartName="/ppt/theme/themeOverride8.xml" ContentType="application/vnd.openxmlformats-officedocument.themeOverride+xml"/>
  <Override PartName="/ppt/theme/themeOverride9.xml" ContentType="application/vnd.openxmlformats-officedocument.themeOverride+xml"/>
  <Override PartName="/ppt/theme/themeOverride10.xml" ContentType="application/vnd.openxmlformats-officedocument.themeOverride+xml"/>
  <Override PartName="/ppt/theme/themeOverride11.xml" ContentType="application/vnd.openxmlformats-officedocument.themeOverride+xml"/>
  <Override PartName="/ppt/theme/themeOverride12.xml" ContentType="application/vnd.openxmlformats-officedocument.themeOverride+xml"/>
  <Override PartName="/ppt/theme/themeOverride13.xml" ContentType="application/vnd.openxmlformats-officedocument.themeOverride+xml"/>
  <Override PartName="/ppt/theme/themeOverride14.xml" ContentType="application/vnd.openxmlformats-officedocument.themeOverride+xml"/>
  <Override PartName="/ppt/theme/themeOverride15.xml" ContentType="application/vnd.openxmlformats-officedocument.themeOverride+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heme/themeOverride16.xml" ContentType="application/vnd.openxmlformats-officedocument.themeOverride+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heme/themeOverride17.xml" ContentType="application/vnd.openxmlformats-officedocument.themeOverride+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heme/themeOverride18.xml" ContentType="application/vnd.openxmlformats-officedocument.themeOverride+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heme/themeOverride19.xml" ContentType="application/vnd.openxmlformats-officedocument.themeOverride+xml"/>
  <Override PartName="/ppt/theme/themeOverride20.xml" ContentType="application/vnd.openxmlformats-officedocument.themeOverride+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heme/themeOverride21.xml" ContentType="application/vnd.openxmlformats-officedocument.themeOverride+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heme/themeOverride22.xml" ContentType="application/vnd.openxmlformats-officedocument.themeOverride+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heme/themeOverride23.xml" ContentType="application/vnd.openxmlformats-officedocument.themeOverride+xml"/>
  <Override PartName="/ppt/theme/themeOverride24.xml" ContentType="application/vnd.openxmlformats-officedocument.themeOverride+xml"/>
  <Override PartName="/ppt/theme/themeOverride25.xml" ContentType="application/vnd.openxmlformats-officedocument.themeOverride+xml"/>
  <Override PartName="/ppt/theme/themeOverride26.xml" ContentType="application/vnd.openxmlformats-officedocument.themeOverride+xml"/>
  <Override PartName="/ppt/theme/themeOverride27.xml" ContentType="application/vnd.openxmlformats-officedocument.themeOverride+xml"/>
  <Override PartName="/ppt/theme/themeOverride28.xml" ContentType="application/vnd.openxmlformats-officedocument.themeOverride+xml"/>
  <Override PartName="/ppt/theme/themeOverride29.xml" ContentType="application/vnd.openxmlformats-officedocument.themeOverride+xml"/>
  <Override PartName="/ppt/theme/themeOverride30.xml" ContentType="application/vnd.openxmlformats-officedocument.themeOverride+xml"/>
  <Override PartName="/ppt/theme/themeOverride31.xml" ContentType="application/vnd.openxmlformats-officedocument.themeOverride+xml"/>
  <Override PartName="/ppt/theme/themeOverride32.xml" ContentType="application/vnd.openxmlformats-officedocument.themeOverride+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heme/themeOverride33.xml" ContentType="application/vnd.openxmlformats-officedocument.themeOverride+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tags/tag64.xml" ContentType="application/vnd.openxmlformats-officedocument.presentationml.tags+xml"/>
  <Override PartName="/ppt/tags/tag65.xml" ContentType="application/vnd.openxmlformats-officedocument.presentationml.tags+xml"/>
  <Override PartName="/ppt/notesSlides/notesSlide1.xml" ContentType="application/vnd.openxmlformats-officedocument.presentationml.notesSlide+xml"/>
  <Override PartName="/ppt/tags/tag66.xml" ContentType="application/vnd.openxmlformats-officedocument.presentationml.tags+xml"/>
  <Override PartName="/ppt/notesSlides/notesSlide2.xml" ContentType="application/vnd.openxmlformats-officedocument.presentationml.notesSlide+xml"/>
  <Override PartName="/ppt/tags/tag67.xml" ContentType="application/vnd.openxmlformats-officedocument.presentationml.tags+xml"/>
  <Override PartName="/ppt/tags/tag68.xml" ContentType="application/vnd.openxmlformats-officedocument.presentationml.tags+xml"/>
  <Override PartName="/ppt/notesSlides/notesSlide3.xml" ContentType="application/vnd.openxmlformats-officedocument.presentationml.notesSlide+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notesSlides/notesSlide4.xml" ContentType="application/vnd.openxmlformats-officedocument.presentationml.notesSlide+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notesSlides/notesSlide5.xml" ContentType="application/vnd.openxmlformats-officedocument.presentationml.notesSlide+xml"/>
  <Override PartName="/ppt/tags/tag79.xml" ContentType="application/vnd.openxmlformats-officedocument.presentationml.tags+xml"/>
  <Override PartName="/ppt/tags/tag80.xml" ContentType="application/vnd.openxmlformats-officedocument.presentationml.tags+xml"/>
  <Override PartName="/ppt/notesSlides/notesSlide6.xml" ContentType="application/vnd.openxmlformats-officedocument.presentationml.notesSlide+xml"/>
  <Override PartName="/ppt/tags/tag81.xml" ContentType="application/vnd.openxmlformats-officedocument.presentationml.tags+xml"/>
  <Override PartName="/ppt/tags/tag82.xml" ContentType="application/vnd.openxmlformats-officedocument.presentationml.tags+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83.xml" ContentType="application/vnd.openxmlformats-officedocument.presentationml.tags+xml"/>
  <Override PartName="/ppt/notesSlides/notesSlide8.xml" ContentType="application/vnd.openxmlformats-officedocument.presentationml.notesSlide+xml"/>
  <Override PartName="/ppt/tags/tag84.xml" ContentType="application/vnd.openxmlformats-officedocument.presentationml.tags+xml"/>
  <Override PartName="/ppt/tags/tag85.xml" ContentType="application/vnd.openxmlformats-officedocument.presentationml.tags+xml"/>
  <Override PartName="/ppt/notesSlides/notesSlide9.xml" ContentType="application/vnd.openxmlformats-officedocument.presentationml.notesSlide+xml"/>
  <Override PartName="/ppt/tags/tag86.xml" ContentType="application/vnd.openxmlformats-officedocument.presentationml.tags+xml"/>
  <Override PartName="/ppt/tags/tag87.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notesSlides/notesSlide12.xml" ContentType="application/vnd.openxmlformats-officedocument.presentationml.notesSlide+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72" r:id="rId2"/>
  </p:sldMasterIdLst>
  <p:notesMasterIdLst>
    <p:notesMasterId r:id="rId36"/>
  </p:notesMasterIdLst>
  <p:handoutMasterIdLst>
    <p:handoutMasterId r:id="rId37"/>
  </p:handoutMasterIdLst>
  <p:sldIdLst>
    <p:sldId id="769" r:id="rId3"/>
    <p:sldId id="1118" r:id="rId4"/>
    <p:sldId id="1154" r:id="rId5"/>
    <p:sldId id="1170" r:id="rId6"/>
    <p:sldId id="424" r:id="rId7"/>
    <p:sldId id="1156" r:id="rId8"/>
    <p:sldId id="1157" r:id="rId9"/>
    <p:sldId id="1158" r:id="rId10"/>
    <p:sldId id="820" r:id="rId11"/>
    <p:sldId id="1159" r:id="rId12"/>
    <p:sldId id="1161" r:id="rId13"/>
    <p:sldId id="1162" r:id="rId14"/>
    <p:sldId id="1121" r:id="rId15"/>
    <p:sldId id="816" r:id="rId16"/>
    <p:sldId id="817" r:id="rId17"/>
    <p:sldId id="1143" r:id="rId18"/>
    <p:sldId id="1165" r:id="rId19"/>
    <p:sldId id="256" r:id="rId20"/>
    <p:sldId id="1163" r:id="rId21"/>
    <p:sldId id="1164" r:id="rId22"/>
    <p:sldId id="323" r:id="rId23"/>
    <p:sldId id="935" r:id="rId24"/>
    <p:sldId id="823" r:id="rId25"/>
    <p:sldId id="1167" r:id="rId26"/>
    <p:sldId id="1168" r:id="rId27"/>
    <p:sldId id="1169" r:id="rId28"/>
    <p:sldId id="408" r:id="rId29"/>
    <p:sldId id="1150" r:id="rId30"/>
    <p:sldId id="1151" r:id="rId31"/>
    <p:sldId id="1152" r:id="rId32"/>
    <p:sldId id="777" r:id="rId33"/>
    <p:sldId id="1131" r:id="rId34"/>
    <p:sldId id="258" r:id="rId35"/>
  </p:sldIdLst>
  <p:sldSz cx="9144000" cy="5715000" type="screen16x10"/>
  <p:notesSz cx="6797675" cy="9928225"/>
  <p:custDataLst>
    <p:tags r:id="rId3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984">
          <p15:clr>
            <a:srgbClr val="A4A3A4"/>
          </p15:clr>
        </p15:guide>
        <p15:guide id="2" orient="horz" pos="3252">
          <p15:clr>
            <a:srgbClr val="A4A3A4"/>
          </p15:clr>
        </p15:guide>
        <p15:guide id="3" orient="horz" pos="76">
          <p15:clr>
            <a:srgbClr val="A4A3A4"/>
          </p15:clr>
        </p15:guide>
        <p15:guide id="4" pos="158">
          <p15:clr>
            <a:srgbClr val="A4A3A4"/>
          </p15:clr>
        </p15:guide>
        <p15:guide id="5" pos="3787">
          <p15:clr>
            <a:srgbClr val="A4A3A4"/>
          </p15:clr>
        </p15:guide>
        <p15:guide id="6" pos="4740">
          <p15:clr>
            <a:srgbClr val="A4A3A4"/>
          </p15:clr>
        </p15:guide>
        <p15:guide id="7" pos="5556">
          <p15:clr>
            <a:srgbClr val="A4A3A4"/>
          </p15:clr>
        </p15:guide>
      </p15:sldGuideLst>
    </p:ext>
    <p:ext uri="{2D200454-40CA-4A62-9FC3-DE9A4176ACB9}">
      <p15:notesGuideLst xmlns:p15="http://schemas.microsoft.com/office/powerpoint/2012/main">
        <p15:guide id="1" orient="horz" pos="2896" userDrawn="1">
          <p15:clr>
            <a:srgbClr val="A4A3A4"/>
          </p15:clr>
        </p15:guide>
        <p15:guide id="2" pos="2160" userDrawn="1">
          <p15:clr>
            <a:srgbClr val="A4A3A4"/>
          </p15:clr>
        </p15:guide>
        <p15:guide id="3" orient="horz" pos="3127" userDrawn="1">
          <p15:clr>
            <a:srgbClr val="A4A3A4"/>
          </p15:clr>
        </p15:guide>
        <p15:guide id="4" pos="2142"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54F09F6-D525-FC3B-7941-F4EE299D31EB}" name="Stab Manon (SLLUX/Business Propositions and Innovations)" initials="SM(PaI" userId="S::manon.stab@swisslife.com::a7a844e0-55e4-421d-9f55-9db0dc3c6140"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D82034"/>
    <a:srgbClr val="DFDFDF"/>
    <a:srgbClr val="000000"/>
    <a:srgbClr val="808080"/>
    <a:srgbClr val="C0C0C0"/>
    <a:srgbClr val="A0A0A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47" autoAdjust="0"/>
    <p:restoredTop sz="94712" autoAdjust="0"/>
  </p:normalViewPr>
  <p:slideViewPr>
    <p:cSldViewPr>
      <p:cViewPr varScale="1">
        <p:scale>
          <a:sx n="75" d="100"/>
          <a:sy n="75" d="100"/>
        </p:scale>
        <p:origin x="1040" y="40"/>
      </p:cViewPr>
      <p:guideLst>
        <p:guide orient="horz" pos="984"/>
        <p:guide orient="horz" pos="3252"/>
        <p:guide orient="horz" pos="76"/>
        <p:guide pos="158"/>
        <p:guide pos="3787"/>
        <p:guide pos="4740"/>
        <p:guide pos="5556"/>
      </p:guideLst>
    </p:cSldViewPr>
  </p:slideViewPr>
  <p:notesTextViewPr>
    <p:cViewPr>
      <p:scale>
        <a:sx n="1" d="1"/>
        <a:sy n="1" d="1"/>
      </p:scale>
      <p:origin x="0" y="0"/>
    </p:cViewPr>
  </p:notesTextViewPr>
  <p:notesViewPr>
    <p:cSldViewPr showGuides="1">
      <p:cViewPr varScale="1">
        <p:scale>
          <a:sx n="98" d="100"/>
          <a:sy n="98" d="100"/>
        </p:scale>
        <p:origin x="-3564" y="-96"/>
      </p:cViewPr>
      <p:guideLst>
        <p:guide orient="horz" pos="2896"/>
        <p:guide pos="2160"/>
        <p:guide orient="horz" pos="3127"/>
        <p:guide pos="2142"/>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presProps" Target="presProps.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handoutMaster" Target="handoutMasters/handoutMaster1.xml"/><Relationship Id="rId40"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microsoft.com/office/2018/10/relationships/authors" Target="author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tags" Target="tags/tag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EB3A348-6147-44FE-8EB4-0F70A0EADFB1}"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de-DE"/>
        </a:p>
      </dgm:t>
    </dgm:pt>
    <dgm:pt modelId="{AA154172-17AA-45CC-AD54-BA0AB3D488E0}">
      <dgm:prSet custT="1"/>
      <dgm:spPr>
        <a:solidFill>
          <a:srgbClr val="DFDFDF"/>
        </a:solidFill>
        <a:ln w="25400" cap="flat" cmpd="sng" algn="ctr">
          <a:noFill/>
          <a:prstDash val="solid"/>
        </a:ln>
        <a:effectLst/>
      </dgm:spPr>
      <dgm:t>
        <a:bodyPr spcFirstLastPara="0" vert="horz" wrap="square" lIns="99568" tIns="56896" rIns="99568" bIns="56896" numCol="1" spcCol="1270" anchor="ctr" anchorCtr="0"/>
        <a:lstStyle/>
        <a:p>
          <a:pPr marL="0" lvl="0" indent="0" algn="ctr" defTabSz="622300">
            <a:lnSpc>
              <a:spcPct val="90000"/>
            </a:lnSpc>
            <a:spcBef>
              <a:spcPct val="0"/>
            </a:spcBef>
            <a:spcAft>
              <a:spcPct val="35000"/>
            </a:spcAft>
            <a:buNone/>
          </a:pPr>
          <a:r>
            <a:rPr lang="fr-FR" sz="1400" kern="1200" dirty="0">
              <a:solidFill>
                <a:schemeClr val="accent3"/>
              </a:solidFill>
              <a:latin typeface="+mn-lt"/>
              <a:ea typeface="Calibri" panose="020F0502020204030204" pitchFamily="34" charset="0"/>
              <a:cs typeface="Calibri" panose="020F0502020204030204" pitchFamily="34" charset="0"/>
            </a:rPr>
            <a:t>L’accès SwissLife One</a:t>
          </a:r>
        </a:p>
      </dgm:t>
    </dgm:pt>
    <dgm:pt modelId="{79945BDB-9EC5-47D0-BDFD-71AFA62B97EC}" type="parTrans" cxnId="{9EF51B39-6AB6-4633-B360-A361A05A8BB6}">
      <dgm:prSet/>
      <dgm:spPr/>
      <dgm:t>
        <a:bodyPr/>
        <a:lstStyle/>
        <a:p>
          <a:endParaRPr lang="de-DE"/>
        </a:p>
      </dgm:t>
    </dgm:pt>
    <dgm:pt modelId="{52FF46E3-69BC-4522-9D2B-A84643DCDE18}" type="sibTrans" cxnId="{9EF51B39-6AB6-4633-B360-A361A05A8BB6}">
      <dgm:prSet/>
      <dgm:spPr/>
      <dgm:t>
        <a:bodyPr/>
        <a:lstStyle/>
        <a:p>
          <a:endParaRPr lang="de-DE"/>
        </a:p>
      </dgm:t>
    </dgm:pt>
    <dgm:pt modelId="{5CF3515B-4423-47EA-8FB6-25A73C0F3B60}">
      <dgm:prSet custT="1"/>
      <dgm:spPr>
        <a:noFill/>
        <a:ln w="25400" cap="flat" cmpd="sng" algn="ctr">
          <a:noFill/>
          <a:prstDash val="solid"/>
        </a:ln>
        <a:effectLst/>
      </dgm:spPr>
      <dgm:t>
        <a:bodyPr spcFirstLastPara="0" vert="horz" wrap="square" lIns="74676" tIns="74676" rIns="99568" bIns="112014" numCol="1" spcCol="1270" anchor="t" anchorCtr="0"/>
        <a:lstStyle/>
        <a:p>
          <a:pPr marL="87313" lvl="1" indent="-87313" algn="just" defTabSz="622300">
            <a:lnSpc>
              <a:spcPct val="90000"/>
            </a:lnSpc>
            <a:spcBef>
              <a:spcPct val="0"/>
            </a:spcBef>
            <a:spcAft>
              <a:spcPts val="600"/>
            </a:spcAft>
            <a:buClr>
              <a:srgbClr val="D82034"/>
            </a:buClr>
            <a:buSzPct val="100000"/>
            <a:buFont typeface="Arial" panose="020B0604020202020204" pitchFamily="34" charset="0"/>
            <a:buChar char="•"/>
          </a:pPr>
          <a:r>
            <a:rPr lang="fr-CH" sz="1000" baseline="0" dirty="0">
              <a:latin typeface="Arial" panose="020B0604020202020204" pitchFamily="34" charset="0"/>
              <a:ea typeface="Calibri" panose="020F0502020204030204" pitchFamily="34" charset="0"/>
              <a:cs typeface="Calibri" panose="020F0502020204030204" pitchFamily="34" charset="0"/>
            </a:rPr>
            <a:t>Accès au portail </a:t>
          </a:r>
          <a:r>
            <a:rPr lang="fr-CH" sz="1000" b="1" baseline="0" dirty="0">
              <a:latin typeface="Arial" panose="020B0604020202020204" pitchFamily="34" charset="0"/>
              <a:ea typeface="Calibri" panose="020F0502020204030204" pitchFamily="34" charset="0"/>
              <a:cs typeface="Calibri" panose="020F0502020204030204" pitchFamily="34" charset="0"/>
            </a:rPr>
            <a:t>SwissLife One : </a:t>
          </a:r>
          <a:r>
            <a:rPr lang="fr-CH" sz="1000" b="0" u="sng" baseline="0" dirty="0">
              <a:latin typeface="Arial" panose="020B0604020202020204" pitchFamily="34" charset="0"/>
              <a:ea typeface="Calibri" panose="020F0502020204030204" pitchFamily="34" charset="0"/>
              <a:cs typeface="Calibri" panose="020F0502020204030204" pitchFamily="34" charset="0"/>
            </a:rPr>
            <a:t>souscription digitale</a:t>
          </a:r>
          <a:r>
            <a:rPr lang="fr-CH" sz="1000" b="0" u="none" baseline="0" dirty="0">
              <a:latin typeface="Arial" panose="020B0604020202020204" pitchFamily="34" charset="0"/>
              <a:ea typeface="Calibri" panose="020F0502020204030204" pitchFamily="34" charset="0"/>
              <a:cs typeface="Calibri" panose="020F0502020204030204" pitchFamily="34" charset="0"/>
            </a:rPr>
            <a:t>, </a:t>
          </a:r>
          <a:r>
            <a:rPr lang="fr-CH" sz="1000" b="0" baseline="0" dirty="0">
              <a:latin typeface="Arial" panose="020B0604020202020204" pitchFamily="34" charset="0"/>
              <a:ea typeface="Calibri" panose="020F0502020204030204" pitchFamily="34" charset="0"/>
              <a:cs typeface="Calibri" panose="020F0502020204030204" pitchFamily="34" charset="0"/>
            </a:rPr>
            <a:t>mise à disposition des IFU, clients Lux et France regroupés, possibilité d’éditer des valorisations avec mise à jour valo FID le 10 du mois pour le mois passé</a:t>
          </a:r>
          <a:endParaRPr lang="fr-FR" sz="900" kern="1200" dirty="0">
            <a:solidFill>
              <a:srgbClr val="000000">
                <a:hueOff val="0"/>
                <a:satOff val="0"/>
                <a:lumOff val="0"/>
                <a:alphaOff val="0"/>
              </a:srgbClr>
            </a:solidFill>
            <a:latin typeface="Arial" panose="020B0604020202020204" pitchFamily="34" charset="0"/>
            <a:ea typeface="Calibri" panose="020F0502020204030204" pitchFamily="34" charset="0"/>
            <a:cs typeface="Calibri" panose="020F0502020204030204" pitchFamily="34" charset="0"/>
          </a:endParaRPr>
        </a:p>
      </dgm:t>
    </dgm:pt>
    <dgm:pt modelId="{DC448840-A8F9-4467-8D54-799B842DF885}" type="parTrans" cxnId="{8A014780-D61A-4C44-8991-80C6BC37EDB4}">
      <dgm:prSet/>
      <dgm:spPr/>
      <dgm:t>
        <a:bodyPr/>
        <a:lstStyle/>
        <a:p>
          <a:endParaRPr lang="de-DE"/>
        </a:p>
      </dgm:t>
    </dgm:pt>
    <dgm:pt modelId="{15721212-4D76-4A36-B93C-B37CACB6FE81}" type="sibTrans" cxnId="{8A014780-D61A-4C44-8991-80C6BC37EDB4}">
      <dgm:prSet/>
      <dgm:spPr/>
      <dgm:t>
        <a:bodyPr/>
        <a:lstStyle/>
        <a:p>
          <a:endParaRPr lang="de-DE"/>
        </a:p>
      </dgm:t>
    </dgm:pt>
    <dgm:pt modelId="{DE038094-81AB-4CF0-BB19-8B38E3109CCD}">
      <dgm:prSet custT="1"/>
      <dgm:spPr>
        <a:solidFill>
          <a:srgbClr val="DFDFDF"/>
        </a:solidFill>
        <a:ln w="25400" cap="flat" cmpd="sng" algn="ctr">
          <a:noFill/>
          <a:prstDash val="solid"/>
          <a:miter lim="800000"/>
        </a:ln>
        <a:effectLst/>
      </dgm:spPr>
      <dgm:t>
        <a:bodyPr spcFirstLastPara="0" vert="horz" wrap="square" lIns="99568" tIns="56896" rIns="99568" bIns="56896" numCol="1" spcCol="1270" anchor="ctr" anchorCtr="0"/>
        <a:lstStyle/>
        <a:p>
          <a:r>
            <a:rPr lang="fr-CH" sz="1400" b="0" dirty="0">
              <a:solidFill>
                <a:schemeClr val="accent3"/>
              </a:solidFill>
              <a:latin typeface="+mn-lt"/>
              <a:ea typeface="Calibri" panose="020F0502020204030204" pitchFamily="34" charset="0"/>
              <a:cs typeface="Calibri" panose="020F0502020204030204" pitchFamily="34" charset="0"/>
            </a:rPr>
            <a:t>L’accès </a:t>
          </a:r>
          <a:r>
            <a:rPr lang="fr-CH" sz="1400" b="0" dirty="0" err="1">
              <a:solidFill>
                <a:schemeClr val="accent3"/>
              </a:solidFill>
              <a:latin typeface="+mn-lt"/>
              <a:ea typeface="Calibri" panose="020F0502020204030204" pitchFamily="34" charset="0"/>
              <a:cs typeface="Calibri" panose="020F0502020204030204" pitchFamily="34" charset="0"/>
            </a:rPr>
            <a:t>MySwissLife</a:t>
          </a:r>
          <a:r>
            <a:rPr lang="fr-CH" sz="1400" b="0" dirty="0">
              <a:solidFill>
                <a:schemeClr val="accent3"/>
              </a:solidFill>
              <a:latin typeface="+mn-lt"/>
              <a:ea typeface="Calibri" panose="020F0502020204030204" pitchFamily="34" charset="0"/>
              <a:cs typeface="Calibri" panose="020F0502020204030204" pitchFamily="34" charset="0"/>
            </a:rPr>
            <a:t> </a:t>
          </a:r>
          <a:endParaRPr lang="fr-FR" sz="1400" b="0" dirty="0">
            <a:solidFill>
              <a:schemeClr val="accent3"/>
            </a:solidFill>
            <a:latin typeface="+mn-lt"/>
            <a:ea typeface="Calibri" panose="020F0502020204030204" pitchFamily="34" charset="0"/>
            <a:cs typeface="Calibri" panose="020F0502020204030204" pitchFamily="34" charset="0"/>
          </a:endParaRPr>
        </a:p>
      </dgm:t>
    </dgm:pt>
    <dgm:pt modelId="{8DEDA2AB-88D1-49DB-A3A0-1CAABA76206B}" type="parTrans" cxnId="{1A41757D-85CF-47E8-AF5E-AFFC0E52D8FA}">
      <dgm:prSet/>
      <dgm:spPr/>
      <dgm:t>
        <a:bodyPr/>
        <a:lstStyle/>
        <a:p>
          <a:endParaRPr lang="de-DE"/>
        </a:p>
      </dgm:t>
    </dgm:pt>
    <dgm:pt modelId="{49EA6FFD-6742-4A8C-A103-B0679D71EF7F}" type="sibTrans" cxnId="{1A41757D-85CF-47E8-AF5E-AFFC0E52D8FA}">
      <dgm:prSet/>
      <dgm:spPr/>
      <dgm:t>
        <a:bodyPr/>
        <a:lstStyle/>
        <a:p>
          <a:endParaRPr lang="de-DE"/>
        </a:p>
      </dgm:t>
    </dgm:pt>
    <dgm:pt modelId="{E1B69F87-1D18-490A-AE93-AE0C145CBD0B}">
      <dgm:prSet custT="1"/>
      <dgm:spPr>
        <a:noFill/>
        <a:ln w="25400" cap="flat" cmpd="sng" algn="ctr">
          <a:noFill/>
          <a:prstDash val="solid"/>
          <a:miter lim="800000"/>
        </a:ln>
        <a:effectLst/>
      </dgm:spPr>
      <dgm:t>
        <a:bodyPr spcFirstLastPara="0" vert="horz" wrap="square" lIns="74676" tIns="36000" rIns="72000" bIns="72000" numCol="1" spcCol="1270" anchor="t" anchorCtr="0"/>
        <a:lstStyle/>
        <a:p>
          <a:pPr marL="87313" lvl="1" indent="-87313" algn="just" defTabSz="622300">
            <a:lnSpc>
              <a:spcPct val="90000"/>
            </a:lnSpc>
            <a:spcBef>
              <a:spcPct val="0"/>
            </a:spcBef>
            <a:spcAft>
              <a:spcPts val="600"/>
            </a:spcAft>
            <a:buClr>
              <a:srgbClr val="D82034"/>
            </a:buClr>
            <a:buSzPct val="100000"/>
            <a:buFont typeface="Arial" panose="020B0604020202020204" pitchFamily="34" charset="0"/>
            <a:buChar char="•"/>
          </a:pPr>
          <a:r>
            <a:rPr lang="fr-CH" sz="1000" b="0" kern="1200" dirty="0">
              <a:latin typeface="Arial" panose="020B0604020202020204" pitchFamily="34" charset="0"/>
              <a:ea typeface="Calibri" panose="020F0502020204030204" pitchFamily="34" charset="0"/>
              <a:cs typeface="Calibri" panose="020F0502020204030204" pitchFamily="34" charset="0"/>
            </a:rPr>
            <a:t> Accès client à </a:t>
          </a:r>
          <a:r>
            <a:rPr lang="fr-CH" sz="1000" b="1" kern="1200" dirty="0" err="1">
              <a:latin typeface="Arial" panose="020B0604020202020204" pitchFamily="34" charset="0"/>
              <a:ea typeface="Calibri" panose="020F0502020204030204" pitchFamily="34" charset="0"/>
              <a:cs typeface="Calibri" panose="020F0502020204030204" pitchFamily="34" charset="0"/>
            </a:rPr>
            <a:t>MySwissLife</a:t>
          </a:r>
          <a:r>
            <a:rPr lang="fr-CH" sz="1000" b="1" kern="1200" dirty="0">
              <a:latin typeface="Arial" panose="020B0604020202020204" pitchFamily="34" charset="0"/>
              <a:ea typeface="Calibri" panose="020F0502020204030204" pitchFamily="34" charset="0"/>
              <a:cs typeface="Calibri" panose="020F0502020204030204" pitchFamily="34" charset="0"/>
            </a:rPr>
            <a:t> </a:t>
          </a:r>
          <a:r>
            <a:rPr lang="fr-CH" sz="1000" kern="1200" dirty="0">
              <a:latin typeface="Arial" panose="020B0604020202020204" pitchFamily="34" charset="0"/>
              <a:ea typeface="Calibri" panose="020F0502020204030204" pitchFamily="34" charset="0"/>
              <a:cs typeface="Calibri" panose="020F0502020204030204" pitchFamily="34" charset="0"/>
            </a:rPr>
            <a:t>permettant la consultation de leurs contrats Premium Lux</a:t>
          </a:r>
          <a:endParaRPr lang="fr-FR" sz="1000" b="0" kern="1200" dirty="0">
            <a:solidFill>
              <a:srgbClr val="000000">
                <a:hueOff val="0"/>
                <a:satOff val="0"/>
                <a:lumOff val="0"/>
                <a:alphaOff val="0"/>
              </a:srgbClr>
            </a:solidFill>
            <a:latin typeface="Arial" panose="020B0604020202020204" pitchFamily="34" charset="0"/>
            <a:ea typeface="+mn-ea"/>
            <a:cs typeface="+mn-cs"/>
          </a:endParaRPr>
        </a:p>
      </dgm:t>
    </dgm:pt>
    <dgm:pt modelId="{27123BCD-11DE-4B10-9268-8799F27EE758}" type="parTrans" cxnId="{CB6EDCE2-5DC8-4A5D-B6A0-AB98DC6AA8F3}">
      <dgm:prSet/>
      <dgm:spPr/>
      <dgm:t>
        <a:bodyPr/>
        <a:lstStyle/>
        <a:p>
          <a:endParaRPr lang="de-DE"/>
        </a:p>
      </dgm:t>
    </dgm:pt>
    <dgm:pt modelId="{60DBC322-3606-44CB-9D07-6E506A23D374}" type="sibTrans" cxnId="{CB6EDCE2-5DC8-4A5D-B6A0-AB98DC6AA8F3}">
      <dgm:prSet/>
      <dgm:spPr/>
      <dgm:t>
        <a:bodyPr/>
        <a:lstStyle/>
        <a:p>
          <a:endParaRPr lang="de-DE"/>
        </a:p>
      </dgm:t>
    </dgm:pt>
    <dgm:pt modelId="{C5A2ED78-413E-472C-A4B3-363B703FBF79}">
      <dgm:prSet custT="1"/>
      <dgm:spPr>
        <a:solidFill>
          <a:srgbClr val="DFDFDF"/>
        </a:solidFill>
        <a:ln w="25400" cap="flat" cmpd="sng" algn="ctr">
          <a:noFill/>
          <a:prstDash val="solid"/>
          <a:miter lim="800000"/>
        </a:ln>
        <a:effectLst/>
      </dgm:spPr>
      <dgm:t>
        <a:bodyPr spcFirstLastPara="0" vert="horz" wrap="square" lIns="99568" tIns="56896" rIns="99568" bIns="56896" numCol="1" spcCol="1270" anchor="ctr" anchorCtr="0"/>
        <a:lstStyle/>
        <a:p>
          <a:r>
            <a:rPr lang="de-DE" sz="1400" dirty="0">
              <a:solidFill>
                <a:schemeClr val="accent3"/>
              </a:solidFill>
              <a:latin typeface="+mn-lt"/>
              <a:ea typeface="Calibri" panose="020F0502020204030204" pitchFamily="34" charset="0"/>
              <a:cs typeface="Calibri" panose="020F0502020204030204" pitchFamily="34" charset="0"/>
            </a:rPr>
            <a:t>Des </a:t>
          </a:r>
          <a:r>
            <a:rPr lang="de-DE" sz="1400" dirty="0" err="1">
              <a:solidFill>
                <a:schemeClr val="accent3"/>
              </a:solidFill>
              <a:latin typeface="+mn-lt"/>
              <a:ea typeface="Calibri" panose="020F0502020204030204" pitchFamily="34" charset="0"/>
              <a:cs typeface="Calibri" panose="020F0502020204030204" pitchFamily="34" charset="0"/>
            </a:rPr>
            <a:t>contacts</a:t>
          </a:r>
          <a:r>
            <a:rPr lang="de-DE" sz="1400" dirty="0">
              <a:solidFill>
                <a:schemeClr val="accent3"/>
              </a:solidFill>
              <a:latin typeface="+mn-lt"/>
              <a:ea typeface="Calibri" panose="020F0502020204030204" pitchFamily="34" charset="0"/>
              <a:cs typeface="Calibri" panose="020F0502020204030204" pitchFamily="34" charset="0"/>
            </a:rPr>
            <a:t> </a:t>
          </a:r>
          <a:r>
            <a:rPr lang="fr-FR" sz="1400" noProof="1">
              <a:solidFill>
                <a:schemeClr val="accent3"/>
              </a:solidFill>
              <a:latin typeface="+mn-lt"/>
              <a:ea typeface="Calibri" panose="020F0502020204030204" pitchFamily="34" charset="0"/>
              <a:cs typeface="Calibri" panose="020F0502020204030204" pitchFamily="34" charset="0"/>
            </a:rPr>
            <a:t>facilités</a:t>
          </a:r>
          <a:r>
            <a:rPr lang="de-DE" sz="1400" dirty="0">
              <a:solidFill>
                <a:schemeClr val="accent3"/>
              </a:solidFill>
              <a:latin typeface="+mn-lt"/>
              <a:ea typeface="Calibri" panose="020F0502020204030204" pitchFamily="34" charset="0"/>
              <a:cs typeface="Calibri" panose="020F0502020204030204" pitchFamily="34" charset="0"/>
            </a:rPr>
            <a:t> </a:t>
          </a:r>
          <a:endParaRPr lang="fr-FR" sz="1400" dirty="0">
            <a:solidFill>
              <a:schemeClr val="accent3"/>
            </a:solidFill>
            <a:latin typeface="+mn-lt"/>
            <a:ea typeface="Calibri" panose="020F0502020204030204" pitchFamily="34" charset="0"/>
            <a:cs typeface="Calibri" panose="020F0502020204030204" pitchFamily="34" charset="0"/>
          </a:endParaRPr>
        </a:p>
      </dgm:t>
    </dgm:pt>
    <dgm:pt modelId="{0E7B94DF-4494-4734-B469-6FE894FEB4B2}" type="parTrans" cxnId="{F5B803C8-86F3-4A98-BF03-01E4D2830C29}">
      <dgm:prSet/>
      <dgm:spPr/>
      <dgm:t>
        <a:bodyPr/>
        <a:lstStyle/>
        <a:p>
          <a:endParaRPr lang="de-DE"/>
        </a:p>
      </dgm:t>
    </dgm:pt>
    <dgm:pt modelId="{6FEA81DF-D31E-4DAA-A951-8E8988024F1B}" type="sibTrans" cxnId="{F5B803C8-86F3-4A98-BF03-01E4D2830C29}">
      <dgm:prSet/>
      <dgm:spPr/>
      <dgm:t>
        <a:bodyPr/>
        <a:lstStyle/>
        <a:p>
          <a:endParaRPr lang="de-DE"/>
        </a:p>
      </dgm:t>
    </dgm:pt>
    <dgm:pt modelId="{1CD286D5-E10C-4A94-9133-31E0B4B4F18F}">
      <dgm:prSet custT="1"/>
      <dgm:spPr>
        <a:solidFill>
          <a:srgbClr val="DFDFDF"/>
        </a:solidFill>
        <a:ln w="25400" cap="flat" cmpd="sng" algn="ctr">
          <a:noFill/>
          <a:prstDash val="solid"/>
          <a:miter lim="800000"/>
        </a:ln>
        <a:effectLst/>
      </dgm:spPr>
      <dgm:t>
        <a:bodyPr spcFirstLastPara="0" vert="horz" wrap="square" lIns="99568" tIns="56896" rIns="99568" bIns="56896" numCol="1" spcCol="1270" anchor="ctr" anchorCtr="0"/>
        <a:lstStyle/>
        <a:p>
          <a:r>
            <a:rPr lang="de-DE" sz="1400" kern="1200" dirty="0" err="1">
              <a:solidFill>
                <a:schemeClr val="accent3"/>
              </a:solidFill>
              <a:latin typeface="+mn-lt"/>
              <a:ea typeface="Calibri" panose="020F0502020204030204" pitchFamily="34" charset="0"/>
              <a:cs typeface="Calibri" panose="020F0502020204030204" pitchFamily="34" charset="0"/>
            </a:rPr>
            <a:t>Un</a:t>
          </a:r>
          <a:r>
            <a:rPr lang="de-DE" sz="1400" kern="1200" dirty="0">
              <a:solidFill>
                <a:schemeClr val="accent3"/>
              </a:solidFill>
              <a:latin typeface="+mn-lt"/>
              <a:ea typeface="Calibri" panose="020F0502020204030204" pitchFamily="34" charset="0"/>
              <a:cs typeface="Calibri" panose="020F0502020204030204" pitchFamily="34" charset="0"/>
            </a:rPr>
            <a:t> </a:t>
          </a:r>
          <a:r>
            <a:rPr lang="de-DE" sz="1400" kern="1200" dirty="0" err="1">
              <a:solidFill>
                <a:schemeClr val="accent3"/>
              </a:solidFill>
              <a:latin typeface="+mn-lt"/>
              <a:ea typeface="Calibri" panose="020F0502020204030204" pitchFamily="34" charset="0"/>
              <a:cs typeface="Calibri" panose="020F0502020204030204" pitchFamily="34" charset="0"/>
            </a:rPr>
            <a:t>accompagnement</a:t>
          </a:r>
          <a:r>
            <a:rPr lang="de-DE" sz="1400" kern="1200" dirty="0">
              <a:solidFill>
                <a:schemeClr val="accent3"/>
              </a:solidFill>
              <a:latin typeface="+mn-lt"/>
              <a:ea typeface="Calibri" panose="020F0502020204030204" pitchFamily="34" charset="0"/>
              <a:cs typeface="Calibri" panose="020F0502020204030204" pitchFamily="34" charset="0"/>
            </a:rPr>
            <a:t> à nos </a:t>
          </a:r>
          <a:r>
            <a:rPr lang="de-DE" sz="1400" kern="1200" dirty="0" err="1">
              <a:solidFill>
                <a:schemeClr val="accent3"/>
              </a:solidFill>
              <a:latin typeface="+mn-lt"/>
              <a:ea typeface="Calibri" panose="020F0502020204030204" pitchFamily="34" charset="0"/>
              <a:cs typeface="Calibri" panose="020F0502020204030204" pitchFamily="34" charset="0"/>
            </a:rPr>
            <a:t>process</a:t>
          </a:r>
          <a:r>
            <a:rPr lang="de-DE" sz="1400" kern="1200" dirty="0">
              <a:solidFill>
                <a:schemeClr val="accent3"/>
              </a:solidFill>
              <a:latin typeface="+mn-lt"/>
              <a:ea typeface="Calibri" panose="020F0502020204030204" pitchFamily="34" charset="0"/>
              <a:cs typeface="Calibri" panose="020F0502020204030204" pitchFamily="34" charset="0"/>
            </a:rPr>
            <a:t> LCB-FT </a:t>
          </a:r>
          <a:endParaRPr lang="fr-FR" sz="1400" kern="1200" dirty="0">
            <a:solidFill>
              <a:schemeClr val="accent3"/>
            </a:solidFill>
            <a:latin typeface="+mn-lt"/>
            <a:ea typeface="Calibri" panose="020F0502020204030204" pitchFamily="34" charset="0"/>
            <a:cs typeface="Calibri" panose="020F0502020204030204" pitchFamily="34" charset="0"/>
          </a:endParaRPr>
        </a:p>
      </dgm:t>
    </dgm:pt>
    <dgm:pt modelId="{87434D81-6A7B-4CF9-934E-2420F4BA7C16}" type="parTrans" cxnId="{08D6A94C-789B-44DF-89A9-675527A2F35B}">
      <dgm:prSet/>
      <dgm:spPr/>
      <dgm:t>
        <a:bodyPr/>
        <a:lstStyle/>
        <a:p>
          <a:endParaRPr lang="de-DE"/>
        </a:p>
      </dgm:t>
    </dgm:pt>
    <dgm:pt modelId="{87577785-7EEA-472B-ABB8-D28326A20DD5}" type="sibTrans" cxnId="{08D6A94C-789B-44DF-89A9-675527A2F35B}">
      <dgm:prSet/>
      <dgm:spPr/>
      <dgm:t>
        <a:bodyPr/>
        <a:lstStyle/>
        <a:p>
          <a:endParaRPr lang="de-DE"/>
        </a:p>
      </dgm:t>
    </dgm:pt>
    <dgm:pt modelId="{E06BB56B-2090-49FE-AD6C-7B4665E4A8B3}">
      <dgm:prSet custT="1"/>
      <dgm:spPr>
        <a:noFill/>
        <a:ln w="25400" cap="flat" cmpd="sng" algn="ctr">
          <a:noFill/>
          <a:prstDash val="solid"/>
          <a:miter lim="800000"/>
        </a:ln>
        <a:effectLst/>
      </dgm:spPr>
      <dgm:t>
        <a:bodyPr spcFirstLastPara="0" vert="horz" wrap="square" lIns="74676" tIns="74676" rIns="99568" bIns="112014" numCol="1" spcCol="1270" anchor="t" anchorCtr="0"/>
        <a:lstStyle/>
        <a:p>
          <a:pPr marL="87313" lvl="1" indent="-87313" algn="just" defTabSz="622300">
            <a:lnSpc>
              <a:spcPct val="90000"/>
            </a:lnSpc>
            <a:spcBef>
              <a:spcPct val="0"/>
            </a:spcBef>
            <a:spcAft>
              <a:spcPts val="600"/>
            </a:spcAft>
            <a:buClr>
              <a:srgbClr val="D82034"/>
            </a:buClr>
            <a:buChar char="•"/>
          </a:pPr>
          <a:r>
            <a:rPr lang="de-DE" sz="1000" kern="1200" dirty="0">
              <a:solidFill>
                <a:srgbClr val="000000">
                  <a:hueOff val="0"/>
                  <a:satOff val="0"/>
                  <a:lumOff val="0"/>
                  <a:alphaOff val="0"/>
                </a:srgbClr>
              </a:solidFill>
              <a:latin typeface="+mn-lt"/>
              <a:ea typeface="Calibri" panose="020F0502020204030204" pitchFamily="34" charset="0"/>
              <a:cs typeface="Calibri" panose="020F0502020204030204" pitchFamily="34" charset="0"/>
            </a:rPr>
            <a:t> Pré-</a:t>
          </a:r>
          <a:r>
            <a:rPr lang="de-DE" sz="1000" kern="1200" dirty="0" err="1">
              <a:solidFill>
                <a:srgbClr val="000000">
                  <a:hueOff val="0"/>
                  <a:satOff val="0"/>
                  <a:lumOff val="0"/>
                  <a:alphaOff val="0"/>
                </a:srgbClr>
              </a:solidFill>
              <a:latin typeface="+mn-lt"/>
              <a:ea typeface="Calibri" panose="020F0502020204030204" pitchFamily="34" charset="0"/>
              <a:cs typeface="Calibri" panose="020F0502020204030204" pitchFamily="34" charset="0"/>
            </a:rPr>
            <a:t>étude</a:t>
          </a:r>
          <a:r>
            <a:rPr lang="de-DE" sz="1000" kern="1200" dirty="0">
              <a:solidFill>
                <a:srgbClr val="000000">
                  <a:hueOff val="0"/>
                  <a:satOff val="0"/>
                  <a:lumOff val="0"/>
                  <a:alphaOff val="0"/>
                </a:srgbClr>
              </a:solidFill>
              <a:latin typeface="+mn-lt"/>
              <a:ea typeface="Calibri" panose="020F0502020204030204" pitchFamily="34" charset="0"/>
              <a:cs typeface="Calibri" panose="020F0502020204030204" pitchFamily="34" charset="0"/>
            </a:rPr>
            <a:t> de </a:t>
          </a:r>
          <a:r>
            <a:rPr lang="de-DE" sz="1000" kern="1200" dirty="0" err="1">
              <a:solidFill>
                <a:srgbClr val="000000">
                  <a:hueOff val="0"/>
                  <a:satOff val="0"/>
                  <a:lumOff val="0"/>
                  <a:alphaOff val="0"/>
                </a:srgbClr>
              </a:solidFill>
              <a:latin typeface="+mn-lt"/>
              <a:ea typeface="Calibri" panose="020F0502020204030204" pitchFamily="34" charset="0"/>
              <a:cs typeface="Calibri" panose="020F0502020204030204" pitchFamily="34" charset="0"/>
            </a:rPr>
            <a:t>tous</a:t>
          </a:r>
          <a:r>
            <a:rPr lang="de-DE" sz="1000" kern="1200" dirty="0">
              <a:solidFill>
                <a:srgbClr val="000000">
                  <a:hueOff val="0"/>
                  <a:satOff val="0"/>
                  <a:lumOff val="0"/>
                  <a:alphaOff val="0"/>
                </a:srgbClr>
              </a:solidFill>
              <a:latin typeface="+mn-lt"/>
              <a:ea typeface="Calibri" panose="020F0502020204030204" pitchFamily="34" charset="0"/>
              <a:cs typeface="Calibri" panose="020F0502020204030204" pitchFamily="34" charset="0"/>
            </a:rPr>
            <a:t> </a:t>
          </a:r>
          <a:r>
            <a:rPr lang="de-DE" sz="1000" kern="1200" dirty="0" err="1">
              <a:solidFill>
                <a:srgbClr val="000000">
                  <a:hueOff val="0"/>
                  <a:satOff val="0"/>
                  <a:lumOff val="0"/>
                  <a:alphaOff val="0"/>
                </a:srgbClr>
              </a:solidFill>
              <a:latin typeface="+mn-lt"/>
              <a:ea typeface="Calibri" panose="020F0502020204030204" pitchFamily="34" charset="0"/>
              <a:cs typeface="Calibri" panose="020F0502020204030204" pitchFamily="34" charset="0"/>
            </a:rPr>
            <a:t>les</a:t>
          </a:r>
          <a:r>
            <a:rPr lang="de-DE" sz="1000" kern="1200" dirty="0">
              <a:solidFill>
                <a:srgbClr val="000000">
                  <a:hueOff val="0"/>
                  <a:satOff val="0"/>
                  <a:lumOff val="0"/>
                  <a:alphaOff val="0"/>
                </a:srgbClr>
              </a:solidFill>
              <a:latin typeface="+mn-lt"/>
              <a:ea typeface="Calibri" panose="020F0502020204030204" pitchFamily="34" charset="0"/>
              <a:cs typeface="Calibri" panose="020F0502020204030204" pitchFamily="34" charset="0"/>
            </a:rPr>
            <a:t> </a:t>
          </a:r>
          <a:r>
            <a:rPr lang="de-DE" sz="1000" kern="1200" dirty="0" err="1">
              <a:solidFill>
                <a:srgbClr val="000000">
                  <a:hueOff val="0"/>
                  <a:satOff val="0"/>
                  <a:lumOff val="0"/>
                  <a:alphaOff val="0"/>
                </a:srgbClr>
              </a:solidFill>
              <a:latin typeface="+mn-lt"/>
              <a:ea typeface="Calibri" panose="020F0502020204030204" pitchFamily="34" charset="0"/>
              <a:cs typeface="Calibri" panose="020F0502020204030204" pitchFamily="34" charset="0"/>
            </a:rPr>
            <a:t>dossiers</a:t>
          </a:r>
          <a:r>
            <a:rPr lang="de-DE" sz="1000" kern="1200" dirty="0">
              <a:solidFill>
                <a:srgbClr val="000000">
                  <a:hueOff val="0"/>
                  <a:satOff val="0"/>
                  <a:lumOff val="0"/>
                  <a:alphaOff val="0"/>
                </a:srgbClr>
              </a:solidFill>
              <a:latin typeface="+mn-lt"/>
              <a:ea typeface="Calibri" panose="020F0502020204030204" pitchFamily="34" charset="0"/>
              <a:cs typeface="Calibri" panose="020F0502020204030204" pitchFamily="34" charset="0"/>
            </a:rPr>
            <a:t>  </a:t>
          </a:r>
          <a:endParaRPr lang="fr-FR" sz="1000" kern="1200" dirty="0">
            <a:solidFill>
              <a:srgbClr val="000000">
                <a:hueOff val="0"/>
                <a:satOff val="0"/>
                <a:lumOff val="0"/>
                <a:alphaOff val="0"/>
              </a:srgbClr>
            </a:solidFill>
            <a:latin typeface="+mn-lt"/>
            <a:ea typeface="Calibri" panose="020F0502020204030204" pitchFamily="34" charset="0"/>
            <a:cs typeface="Calibri" panose="020F0502020204030204" pitchFamily="34" charset="0"/>
          </a:endParaRPr>
        </a:p>
      </dgm:t>
    </dgm:pt>
    <dgm:pt modelId="{E6CBCDCE-E34E-44D3-AF63-B4C1CA9AA9D7}" type="parTrans" cxnId="{2CD1345C-2710-4267-8D1F-AA5944015A5D}">
      <dgm:prSet/>
      <dgm:spPr/>
      <dgm:t>
        <a:bodyPr/>
        <a:lstStyle/>
        <a:p>
          <a:endParaRPr lang="de-DE"/>
        </a:p>
      </dgm:t>
    </dgm:pt>
    <dgm:pt modelId="{1AC45A69-08F0-4C5E-A52E-491CE0BC6450}" type="sibTrans" cxnId="{2CD1345C-2710-4267-8D1F-AA5944015A5D}">
      <dgm:prSet/>
      <dgm:spPr/>
      <dgm:t>
        <a:bodyPr/>
        <a:lstStyle/>
        <a:p>
          <a:endParaRPr lang="de-DE"/>
        </a:p>
      </dgm:t>
    </dgm:pt>
    <dgm:pt modelId="{41A47F51-DE9A-4CA9-9E9B-FB2FDF43B97A}">
      <dgm:prSet custT="1"/>
      <dgm:spPr>
        <a:noFill/>
        <a:ln w="25400" cap="flat" cmpd="sng" algn="ctr">
          <a:noFill/>
          <a:prstDash val="solid"/>
          <a:miter lim="800000"/>
        </a:ln>
        <a:effectLst/>
      </dgm:spPr>
      <dgm:t>
        <a:bodyPr spcFirstLastPara="0" vert="horz" wrap="square" lIns="74676" tIns="74676" rIns="99568" bIns="112014" numCol="1" spcCol="1270" anchor="t" anchorCtr="0"/>
        <a:lstStyle/>
        <a:p>
          <a:pPr marL="87313" lvl="1" indent="-87313" algn="just" defTabSz="622300">
            <a:lnSpc>
              <a:spcPct val="90000"/>
            </a:lnSpc>
            <a:spcBef>
              <a:spcPct val="0"/>
            </a:spcBef>
            <a:spcAft>
              <a:spcPts val="600"/>
            </a:spcAft>
            <a:buClr>
              <a:srgbClr val="D82034"/>
            </a:buClr>
            <a:buChar char="•"/>
          </a:pPr>
          <a:r>
            <a:rPr lang="fr-FR" sz="1000" kern="1200" noProof="0" dirty="0">
              <a:solidFill>
                <a:srgbClr val="000000">
                  <a:hueOff val="0"/>
                  <a:satOff val="0"/>
                  <a:lumOff val="0"/>
                  <a:alphaOff val="0"/>
                </a:srgbClr>
              </a:solidFill>
              <a:latin typeface="+mn-lt"/>
              <a:ea typeface="Calibri" panose="020F0502020204030204" pitchFamily="34" charset="0"/>
              <a:cs typeface="Calibri" panose="020F0502020204030204" pitchFamily="34" charset="0"/>
            </a:rPr>
            <a:t> L‘instance réalisée par email sur tous les dossiers sera accompagnée d‘un appel sortant pour vous prévenir et vous expliquer les éléments attendus </a:t>
          </a:r>
        </a:p>
      </dgm:t>
    </dgm:pt>
    <dgm:pt modelId="{8266B3E8-09D7-4640-8D77-EC99BA4B3519}" type="parTrans" cxnId="{500F1E7C-D9A1-414C-9F80-D00A16173970}">
      <dgm:prSet/>
      <dgm:spPr/>
      <dgm:t>
        <a:bodyPr/>
        <a:lstStyle/>
        <a:p>
          <a:endParaRPr lang="de-DE"/>
        </a:p>
      </dgm:t>
    </dgm:pt>
    <dgm:pt modelId="{94EE2CC8-DCED-4963-BE4E-BF15E60A8FF8}" type="sibTrans" cxnId="{500F1E7C-D9A1-414C-9F80-D00A16173970}">
      <dgm:prSet/>
      <dgm:spPr/>
      <dgm:t>
        <a:bodyPr/>
        <a:lstStyle/>
        <a:p>
          <a:endParaRPr lang="de-DE"/>
        </a:p>
      </dgm:t>
    </dgm:pt>
    <dgm:pt modelId="{067EAF08-D77C-47E6-95BC-975B1F84A79C}">
      <dgm:prSet custT="1"/>
      <dgm:spPr>
        <a:noFill/>
        <a:ln w="25400" cap="flat" cmpd="sng" algn="ctr">
          <a:noFill/>
          <a:prstDash val="solid"/>
          <a:miter lim="800000"/>
        </a:ln>
        <a:effectLst/>
      </dgm:spPr>
      <dgm:t>
        <a:bodyPr spcFirstLastPara="0" vert="horz" wrap="square" lIns="74676" tIns="74676" rIns="99568" bIns="112014" numCol="1" spcCol="1270" anchor="t" anchorCtr="0"/>
        <a:lstStyle/>
        <a:p>
          <a:pPr algn="just">
            <a:buClr>
              <a:srgbClr val="D82034"/>
            </a:buClr>
            <a:buFont typeface="Arial" panose="020B0604020202020204" pitchFamily="34" charset="0"/>
            <a:buChar char="•"/>
          </a:pPr>
          <a:r>
            <a:rPr lang="fr-FR" sz="1000" kern="1200" dirty="0">
              <a:latin typeface="+mn-lt"/>
              <a:ea typeface="Calibri" panose="020F0502020204030204" pitchFamily="34" charset="0"/>
              <a:cs typeface="Calibri" panose="020F0502020204030204" pitchFamily="34" charset="0"/>
            </a:rPr>
            <a:t> Une équipe disponible en avant-vente pour des calls avec inspecteurs ou partenaires </a:t>
          </a:r>
        </a:p>
      </dgm:t>
    </dgm:pt>
    <dgm:pt modelId="{43064D97-6101-44E1-999C-1199D8B2BA72}" type="parTrans" cxnId="{35B06707-69E8-4AB0-AD26-EF5A400A6FAD}">
      <dgm:prSet/>
      <dgm:spPr/>
      <dgm:t>
        <a:bodyPr/>
        <a:lstStyle/>
        <a:p>
          <a:endParaRPr lang="fr-FR"/>
        </a:p>
      </dgm:t>
    </dgm:pt>
    <dgm:pt modelId="{56A9D9E6-844E-4993-B5DF-FA7D6D76C29B}" type="sibTrans" cxnId="{35B06707-69E8-4AB0-AD26-EF5A400A6FAD}">
      <dgm:prSet/>
      <dgm:spPr/>
      <dgm:t>
        <a:bodyPr/>
        <a:lstStyle/>
        <a:p>
          <a:endParaRPr lang="fr-FR"/>
        </a:p>
      </dgm:t>
    </dgm:pt>
    <dgm:pt modelId="{507B5555-B0FA-4FCA-8A41-65C12B68C350}">
      <dgm:prSet custT="1"/>
      <dgm:spPr>
        <a:noFill/>
        <a:ln w="25400" cap="flat" cmpd="sng" algn="ctr">
          <a:noFill/>
          <a:prstDash val="solid"/>
          <a:miter lim="800000"/>
        </a:ln>
        <a:effectLst/>
      </dgm:spPr>
      <dgm:t>
        <a:bodyPr spcFirstLastPara="0" vert="horz" wrap="square" lIns="74676" tIns="74676" rIns="99568" bIns="112014" numCol="1" spcCol="1270" anchor="t" anchorCtr="0"/>
        <a:lstStyle/>
        <a:p>
          <a:pPr algn="just">
            <a:buClr>
              <a:srgbClr val="D82034"/>
            </a:buClr>
          </a:pPr>
          <a:r>
            <a:rPr lang="de-DE" sz="1000" kern="1200" dirty="0">
              <a:latin typeface="+mn-lt"/>
              <a:ea typeface="Calibri" panose="020F0502020204030204" pitchFamily="34" charset="0"/>
              <a:cs typeface="Calibri" panose="020F0502020204030204" pitchFamily="34" charset="0"/>
            </a:rPr>
            <a:t> </a:t>
          </a:r>
          <a:r>
            <a:rPr lang="de-DE" sz="1000" kern="1200" dirty="0" err="1">
              <a:latin typeface="+mn-lt"/>
              <a:ea typeface="Calibri" panose="020F0502020204030204" pitchFamily="34" charset="0"/>
              <a:cs typeface="Calibri" panose="020F0502020204030204" pitchFamily="34" charset="0"/>
            </a:rPr>
            <a:t>Ligne</a:t>
          </a:r>
          <a:r>
            <a:rPr lang="de-DE" sz="1000" kern="1200" dirty="0">
              <a:latin typeface="+mn-lt"/>
              <a:ea typeface="Calibri" panose="020F0502020204030204" pitchFamily="34" charset="0"/>
              <a:cs typeface="Calibri" panose="020F0502020204030204" pitchFamily="34" charset="0"/>
            </a:rPr>
            <a:t> </a:t>
          </a:r>
          <a:r>
            <a:rPr lang="de-DE" sz="1000" kern="1200" dirty="0" err="1">
              <a:latin typeface="+mn-lt"/>
              <a:ea typeface="Calibri" panose="020F0502020204030204" pitchFamily="34" charset="0"/>
              <a:cs typeface="Calibri" panose="020F0502020204030204" pitchFamily="34" charset="0"/>
            </a:rPr>
            <a:t>téléphonique</a:t>
          </a:r>
          <a:r>
            <a:rPr lang="de-DE" sz="1000" kern="1200" dirty="0">
              <a:latin typeface="+mn-lt"/>
              <a:ea typeface="Calibri" panose="020F0502020204030204" pitchFamily="34" charset="0"/>
              <a:cs typeface="Calibri" panose="020F0502020204030204" pitchFamily="34" charset="0"/>
            </a:rPr>
            <a:t> de </a:t>
          </a:r>
          <a:r>
            <a:rPr lang="de-DE" sz="1000" kern="1200" dirty="0" err="1">
              <a:latin typeface="+mn-lt"/>
              <a:ea typeface="Calibri" panose="020F0502020204030204" pitchFamily="34" charset="0"/>
              <a:cs typeface="Calibri" panose="020F0502020204030204" pitchFamily="34" charset="0"/>
            </a:rPr>
            <a:t>l‘équipe</a:t>
          </a:r>
          <a:r>
            <a:rPr lang="de-DE" sz="1000" kern="1200" dirty="0">
              <a:latin typeface="+mn-lt"/>
              <a:ea typeface="Calibri" panose="020F0502020204030204" pitchFamily="34" charset="0"/>
              <a:cs typeface="Calibri" panose="020F0502020204030204" pitchFamily="34" charset="0"/>
            </a:rPr>
            <a:t> ouverte de 9h à 11h30 et 14h à 17h du </a:t>
          </a:r>
          <a:r>
            <a:rPr lang="de-DE" sz="1000" kern="1200" dirty="0" err="1">
              <a:latin typeface="+mn-lt"/>
              <a:ea typeface="Calibri" panose="020F0502020204030204" pitchFamily="34" charset="0"/>
              <a:cs typeface="Calibri" panose="020F0502020204030204" pitchFamily="34" charset="0"/>
            </a:rPr>
            <a:t>lundi</a:t>
          </a:r>
          <a:r>
            <a:rPr lang="de-DE" sz="1000" kern="1200" dirty="0">
              <a:latin typeface="+mn-lt"/>
              <a:ea typeface="Calibri" panose="020F0502020204030204" pitchFamily="34" charset="0"/>
              <a:cs typeface="Calibri" panose="020F0502020204030204" pitchFamily="34" charset="0"/>
            </a:rPr>
            <a:t> au </a:t>
          </a:r>
          <a:r>
            <a:rPr lang="de-DE" sz="1000" kern="1200" dirty="0" err="1">
              <a:latin typeface="+mn-lt"/>
              <a:ea typeface="Calibri" panose="020F0502020204030204" pitchFamily="34" charset="0"/>
              <a:cs typeface="Calibri" panose="020F0502020204030204" pitchFamily="34" charset="0"/>
            </a:rPr>
            <a:t>vendredi</a:t>
          </a:r>
          <a:r>
            <a:rPr lang="de-DE" sz="1000" kern="1200" dirty="0">
              <a:latin typeface="+mn-lt"/>
              <a:ea typeface="Calibri" panose="020F0502020204030204" pitchFamily="34" charset="0"/>
              <a:cs typeface="Calibri" panose="020F0502020204030204" pitchFamily="34" charset="0"/>
            </a:rPr>
            <a:t> : </a:t>
          </a:r>
          <a:r>
            <a:rPr lang="de-DE" sz="1000" kern="1200" dirty="0" err="1">
              <a:latin typeface="+mn-lt"/>
              <a:ea typeface="Calibri" panose="020F0502020204030204" pitchFamily="34" charset="0"/>
              <a:cs typeface="Calibri" panose="020F0502020204030204" pitchFamily="34" charset="0"/>
            </a:rPr>
            <a:t>avec</a:t>
          </a:r>
          <a:r>
            <a:rPr lang="de-DE" sz="1000" kern="1200" dirty="0">
              <a:latin typeface="+mn-lt"/>
              <a:ea typeface="Calibri" panose="020F0502020204030204" pitchFamily="34" charset="0"/>
              <a:cs typeface="Calibri" panose="020F0502020204030204" pitchFamily="34" charset="0"/>
            </a:rPr>
            <a:t> </a:t>
          </a:r>
          <a:r>
            <a:rPr lang="de-DE" sz="1000" kern="1200" dirty="0" err="1">
              <a:latin typeface="+mn-lt"/>
              <a:ea typeface="Calibri" panose="020F0502020204030204" pitchFamily="34" charset="0"/>
              <a:cs typeface="Calibri" panose="020F0502020204030204" pitchFamily="34" charset="0"/>
            </a:rPr>
            <a:t>un</a:t>
          </a:r>
          <a:r>
            <a:rPr lang="de-DE" sz="1000" kern="1200" dirty="0">
              <a:latin typeface="+mn-lt"/>
              <a:ea typeface="Calibri" panose="020F0502020204030204" pitchFamily="34" charset="0"/>
              <a:cs typeface="Calibri" panose="020F0502020204030204" pitchFamily="34" charset="0"/>
            </a:rPr>
            <a:t> </a:t>
          </a:r>
          <a:r>
            <a:rPr lang="de-DE" sz="1000" kern="1200" dirty="0" err="1">
              <a:latin typeface="+mn-lt"/>
              <a:ea typeface="Calibri" panose="020F0502020204030204" pitchFamily="34" charset="0"/>
              <a:cs typeface="Calibri" panose="020F0502020204030204" pitchFamily="34" charset="0"/>
            </a:rPr>
            <a:t>taux</a:t>
          </a:r>
          <a:r>
            <a:rPr lang="de-DE" sz="1000" kern="1200" dirty="0">
              <a:latin typeface="+mn-lt"/>
              <a:ea typeface="Calibri" panose="020F0502020204030204" pitchFamily="34" charset="0"/>
              <a:cs typeface="Calibri" panose="020F0502020204030204" pitchFamily="34" charset="0"/>
            </a:rPr>
            <a:t> de </a:t>
          </a:r>
          <a:r>
            <a:rPr lang="de-DE" sz="1000" kern="1200" dirty="0" err="1">
              <a:latin typeface="+mn-lt"/>
              <a:ea typeface="Calibri" panose="020F0502020204030204" pitchFamily="34" charset="0"/>
              <a:cs typeface="Calibri" panose="020F0502020204030204" pitchFamily="34" charset="0"/>
            </a:rPr>
            <a:t>décroché</a:t>
          </a:r>
          <a:r>
            <a:rPr lang="de-DE" sz="1000" kern="1200" dirty="0">
              <a:latin typeface="+mn-lt"/>
              <a:ea typeface="Calibri" panose="020F0502020204030204" pitchFamily="34" charset="0"/>
              <a:cs typeface="Calibri" panose="020F0502020204030204" pitchFamily="34" charset="0"/>
            </a:rPr>
            <a:t> de plus de 91 % (</a:t>
          </a:r>
          <a:r>
            <a:rPr lang="de-DE" sz="1000" kern="1200" dirty="0" err="1">
              <a:latin typeface="+mn-lt"/>
              <a:ea typeface="Calibri" panose="020F0502020204030204" pitchFamily="34" charset="0"/>
              <a:cs typeface="Calibri" panose="020F0502020204030204" pitchFamily="34" charset="0"/>
            </a:rPr>
            <a:t>depuis</a:t>
          </a:r>
          <a:r>
            <a:rPr lang="de-DE" sz="1000" kern="1200" dirty="0">
              <a:latin typeface="+mn-lt"/>
              <a:ea typeface="Calibri" panose="020F0502020204030204" pitchFamily="34" charset="0"/>
              <a:cs typeface="Calibri" panose="020F0502020204030204" pitchFamily="34" charset="0"/>
            </a:rPr>
            <a:t> le 01/01/2024)</a:t>
          </a:r>
          <a:endParaRPr lang="fr-FR" sz="1000" kern="1200" dirty="0">
            <a:latin typeface="+mn-lt"/>
            <a:ea typeface="Calibri" panose="020F0502020204030204" pitchFamily="34" charset="0"/>
            <a:cs typeface="Calibri" panose="020F0502020204030204" pitchFamily="34" charset="0"/>
          </a:endParaRPr>
        </a:p>
      </dgm:t>
    </dgm:pt>
    <dgm:pt modelId="{2677D141-6B7F-4BF9-8776-47720DD8B72A}" type="parTrans" cxnId="{5373432A-C508-455A-A75B-F5046D2E984F}">
      <dgm:prSet/>
      <dgm:spPr/>
      <dgm:t>
        <a:bodyPr/>
        <a:lstStyle/>
        <a:p>
          <a:endParaRPr lang="en-GB"/>
        </a:p>
      </dgm:t>
    </dgm:pt>
    <dgm:pt modelId="{D4C8495C-6BD2-490B-8334-852BB510A61A}" type="sibTrans" cxnId="{5373432A-C508-455A-A75B-F5046D2E984F}">
      <dgm:prSet/>
      <dgm:spPr/>
      <dgm:t>
        <a:bodyPr/>
        <a:lstStyle/>
        <a:p>
          <a:endParaRPr lang="en-GB"/>
        </a:p>
      </dgm:t>
    </dgm:pt>
    <dgm:pt modelId="{50019AE1-C2CF-4D0A-80F4-BDBBB29E1455}" type="pres">
      <dgm:prSet presAssocID="{7EB3A348-6147-44FE-8EB4-0F70A0EADFB1}" presName="Name0" presStyleCnt="0">
        <dgm:presLayoutVars>
          <dgm:dir/>
          <dgm:animLvl val="lvl"/>
          <dgm:resizeHandles val="exact"/>
        </dgm:presLayoutVars>
      </dgm:prSet>
      <dgm:spPr/>
    </dgm:pt>
    <dgm:pt modelId="{45E89F87-640B-4F10-85EE-D72D0DAB4609}" type="pres">
      <dgm:prSet presAssocID="{AA154172-17AA-45CC-AD54-BA0AB3D488E0}" presName="linNode" presStyleCnt="0"/>
      <dgm:spPr/>
    </dgm:pt>
    <dgm:pt modelId="{F8694A3B-7AB3-49CD-B338-8E15F30F0BBD}" type="pres">
      <dgm:prSet presAssocID="{AA154172-17AA-45CC-AD54-BA0AB3D488E0}" presName="parentText" presStyleLbl="node1" presStyleIdx="0" presStyleCnt="4">
        <dgm:presLayoutVars>
          <dgm:chMax val="1"/>
          <dgm:bulletEnabled val="1"/>
        </dgm:presLayoutVars>
      </dgm:prSet>
      <dgm:spPr>
        <a:xfrm>
          <a:off x="0" y="2436"/>
          <a:ext cx="3491484" cy="1171663"/>
        </a:xfrm>
        <a:prstGeom prst="roundRect">
          <a:avLst/>
        </a:prstGeom>
      </dgm:spPr>
    </dgm:pt>
    <dgm:pt modelId="{C62C12C3-0CFC-4014-B4BC-BE2FA39D1930}" type="pres">
      <dgm:prSet presAssocID="{AA154172-17AA-45CC-AD54-BA0AB3D488E0}" presName="descendantText" presStyleLbl="alignAccFollowNode1" presStyleIdx="0" presStyleCnt="4">
        <dgm:presLayoutVars>
          <dgm:bulletEnabled val="1"/>
        </dgm:presLayoutVars>
      </dgm:prSet>
      <dgm:spPr>
        <a:xfrm rot="5400000">
          <a:off x="6126360" y="-2515274"/>
          <a:ext cx="937330" cy="6207083"/>
        </a:xfrm>
        <a:prstGeom prst="round2SameRect">
          <a:avLst/>
        </a:prstGeom>
      </dgm:spPr>
    </dgm:pt>
    <dgm:pt modelId="{3CD2E3EC-906F-42C5-9579-FA8708BCCDEA}" type="pres">
      <dgm:prSet presAssocID="{52FF46E3-69BC-4522-9D2B-A84643DCDE18}" presName="sp" presStyleCnt="0"/>
      <dgm:spPr/>
    </dgm:pt>
    <dgm:pt modelId="{7D3CE5C0-F263-4EAF-9271-F77F3BB05A2B}" type="pres">
      <dgm:prSet presAssocID="{DE038094-81AB-4CF0-BB19-8B38E3109CCD}" presName="linNode" presStyleCnt="0"/>
      <dgm:spPr/>
    </dgm:pt>
    <dgm:pt modelId="{B5862097-82C9-4C7F-AAE8-0680A14E9CF5}" type="pres">
      <dgm:prSet presAssocID="{DE038094-81AB-4CF0-BB19-8B38E3109CCD}" presName="parentText" presStyleLbl="node1" presStyleIdx="1" presStyleCnt="4">
        <dgm:presLayoutVars>
          <dgm:chMax val="1"/>
          <dgm:bulletEnabled val="1"/>
        </dgm:presLayoutVars>
      </dgm:prSet>
      <dgm:spPr>
        <a:xfrm>
          <a:off x="0" y="1232682"/>
          <a:ext cx="3491484" cy="1171663"/>
        </a:xfrm>
        <a:prstGeom prst="roundRect">
          <a:avLst/>
        </a:prstGeom>
      </dgm:spPr>
    </dgm:pt>
    <dgm:pt modelId="{E65D9FE8-D260-47D5-BEF1-7629AA44BBF9}" type="pres">
      <dgm:prSet presAssocID="{DE038094-81AB-4CF0-BB19-8B38E3109CCD}" presName="descendantText" presStyleLbl="alignAccFollowNode1" presStyleIdx="1" presStyleCnt="4" custScaleY="123775" custLinFactNeighborX="1176" custLinFactNeighborY="1049">
        <dgm:presLayoutVars>
          <dgm:bulletEnabled val="1"/>
        </dgm:presLayoutVars>
      </dgm:prSet>
      <dgm:spPr>
        <a:xfrm rot="5400000">
          <a:off x="6126360" y="-1285027"/>
          <a:ext cx="937330" cy="6207083"/>
        </a:xfrm>
        <a:prstGeom prst="round2SameRect">
          <a:avLst/>
        </a:prstGeom>
      </dgm:spPr>
    </dgm:pt>
    <dgm:pt modelId="{1DEFFB4E-6AC3-476B-9B07-A9EDF993F25A}" type="pres">
      <dgm:prSet presAssocID="{49EA6FFD-6742-4A8C-A103-B0679D71EF7F}" presName="sp" presStyleCnt="0"/>
      <dgm:spPr/>
    </dgm:pt>
    <dgm:pt modelId="{553553F6-4D9D-4857-8F12-D5B4A30DEBD1}" type="pres">
      <dgm:prSet presAssocID="{C5A2ED78-413E-472C-A4B3-363B703FBF79}" presName="linNode" presStyleCnt="0"/>
      <dgm:spPr/>
    </dgm:pt>
    <dgm:pt modelId="{E0023872-CCD7-41B9-AD66-1DBC4CC8D852}" type="pres">
      <dgm:prSet presAssocID="{C5A2ED78-413E-472C-A4B3-363B703FBF79}" presName="parentText" presStyleLbl="node1" presStyleIdx="2" presStyleCnt="4">
        <dgm:presLayoutVars>
          <dgm:chMax val="1"/>
          <dgm:bulletEnabled val="1"/>
        </dgm:presLayoutVars>
      </dgm:prSet>
      <dgm:spPr>
        <a:xfrm>
          <a:off x="0" y="2462928"/>
          <a:ext cx="3491484" cy="1171663"/>
        </a:xfrm>
        <a:prstGeom prst="roundRect">
          <a:avLst/>
        </a:prstGeom>
      </dgm:spPr>
    </dgm:pt>
    <dgm:pt modelId="{0E9E6A4C-7459-46DB-89E5-19C35FA23FA3}" type="pres">
      <dgm:prSet presAssocID="{C5A2ED78-413E-472C-A4B3-363B703FBF79}" presName="descendantText" presStyleLbl="alignAccFollowNode1" presStyleIdx="2" presStyleCnt="4" custLinFactNeighborX="2260" custLinFactNeighborY="-21792">
        <dgm:presLayoutVars>
          <dgm:bulletEnabled val="1"/>
        </dgm:presLayoutVars>
      </dgm:prSet>
      <dgm:spPr>
        <a:xfrm rot="5400000">
          <a:off x="6126360" y="-54781"/>
          <a:ext cx="937330" cy="6207083"/>
        </a:xfrm>
        <a:prstGeom prst="round2SameRect">
          <a:avLst/>
        </a:prstGeom>
      </dgm:spPr>
    </dgm:pt>
    <dgm:pt modelId="{034946F2-E755-4ADC-9628-18522F4F053E}" type="pres">
      <dgm:prSet presAssocID="{6FEA81DF-D31E-4DAA-A951-8E8988024F1B}" presName="sp" presStyleCnt="0"/>
      <dgm:spPr/>
    </dgm:pt>
    <dgm:pt modelId="{25CD242D-910B-4758-BDCD-6C61AA6AE389}" type="pres">
      <dgm:prSet presAssocID="{1CD286D5-E10C-4A94-9133-31E0B4B4F18F}" presName="linNode" presStyleCnt="0"/>
      <dgm:spPr/>
    </dgm:pt>
    <dgm:pt modelId="{25D8B658-F942-4983-82C2-29C71B21FEC4}" type="pres">
      <dgm:prSet presAssocID="{1CD286D5-E10C-4A94-9133-31E0B4B4F18F}" presName="parentText" presStyleLbl="node1" presStyleIdx="3" presStyleCnt="4">
        <dgm:presLayoutVars>
          <dgm:chMax val="1"/>
          <dgm:bulletEnabled val="1"/>
        </dgm:presLayoutVars>
      </dgm:prSet>
      <dgm:spPr>
        <a:xfrm>
          <a:off x="0" y="3693174"/>
          <a:ext cx="3491484" cy="1171663"/>
        </a:xfrm>
        <a:prstGeom prst="roundRect">
          <a:avLst/>
        </a:prstGeom>
      </dgm:spPr>
    </dgm:pt>
    <dgm:pt modelId="{8F05554E-C6CF-4F85-9AB3-FE6B89C46BCD}" type="pres">
      <dgm:prSet presAssocID="{1CD286D5-E10C-4A94-9133-31E0B4B4F18F}" presName="descendantText" presStyleLbl="alignAccFollowNode1" presStyleIdx="3" presStyleCnt="4" custLinFactNeighborX="2261">
        <dgm:presLayoutVars>
          <dgm:bulletEnabled val="1"/>
        </dgm:presLayoutVars>
      </dgm:prSet>
      <dgm:spPr>
        <a:xfrm rot="5400000">
          <a:off x="6126360" y="1175464"/>
          <a:ext cx="937330" cy="6207083"/>
        </a:xfrm>
        <a:prstGeom prst="round2SameRect">
          <a:avLst/>
        </a:prstGeom>
      </dgm:spPr>
    </dgm:pt>
  </dgm:ptLst>
  <dgm:cxnLst>
    <dgm:cxn modelId="{35B06707-69E8-4AB0-AD26-EF5A400A6FAD}" srcId="{C5A2ED78-413E-472C-A4B3-363B703FBF79}" destId="{067EAF08-D77C-47E6-95BC-975B1F84A79C}" srcOrd="1" destOrd="0" parTransId="{43064D97-6101-44E1-999C-1199D8B2BA72}" sibTransId="{56A9D9E6-844E-4993-B5DF-FA7D6D76C29B}"/>
    <dgm:cxn modelId="{5373432A-C508-455A-A75B-F5046D2E984F}" srcId="{C5A2ED78-413E-472C-A4B3-363B703FBF79}" destId="{507B5555-B0FA-4FCA-8A41-65C12B68C350}" srcOrd="0" destOrd="0" parTransId="{2677D141-6B7F-4BF9-8776-47720DD8B72A}" sibTransId="{D4C8495C-6BD2-490B-8334-852BB510A61A}"/>
    <dgm:cxn modelId="{9EF51B39-6AB6-4633-B360-A361A05A8BB6}" srcId="{7EB3A348-6147-44FE-8EB4-0F70A0EADFB1}" destId="{AA154172-17AA-45CC-AD54-BA0AB3D488E0}" srcOrd="0" destOrd="0" parTransId="{79945BDB-9EC5-47D0-BDFD-71AFA62B97EC}" sibTransId="{52FF46E3-69BC-4522-9D2B-A84643DCDE18}"/>
    <dgm:cxn modelId="{4263025B-6883-4C47-8FFE-54542276C438}" type="presOf" srcId="{507B5555-B0FA-4FCA-8A41-65C12B68C350}" destId="{0E9E6A4C-7459-46DB-89E5-19C35FA23FA3}" srcOrd="0" destOrd="0" presId="urn:microsoft.com/office/officeart/2005/8/layout/vList5"/>
    <dgm:cxn modelId="{2CD1345C-2710-4267-8D1F-AA5944015A5D}" srcId="{1CD286D5-E10C-4A94-9133-31E0B4B4F18F}" destId="{E06BB56B-2090-49FE-AD6C-7B4665E4A8B3}" srcOrd="0" destOrd="0" parTransId="{E6CBCDCE-E34E-44D3-AF63-B4C1CA9AA9D7}" sibTransId="{1AC45A69-08F0-4C5E-A52E-491CE0BC6450}"/>
    <dgm:cxn modelId="{5334DB41-E754-4301-B92A-3B8F21BE3C45}" type="presOf" srcId="{7EB3A348-6147-44FE-8EB4-0F70A0EADFB1}" destId="{50019AE1-C2CF-4D0A-80F4-BDBBB29E1455}" srcOrd="0" destOrd="0" presId="urn:microsoft.com/office/officeart/2005/8/layout/vList5"/>
    <dgm:cxn modelId="{08D6A94C-789B-44DF-89A9-675527A2F35B}" srcId="{7EB3A348-6147-44FE-8EB4-0F70A0EADFB1}" destId="{1CD286D5-E10C-4A94-9133-31E0B4B4F18F}" srcOrd="3" destOrd="0" parTransId="{87434D81-6A7B-4CF9-934E-2420F4BA7C16}" sibTransId="{87577785-7EEA-472B-ABB8-D28326A20DD5}"/>
    <dgm:cxn modelId="{799B994F-139A-4290-98CC-D2A23BEE9BAF}" type="presOf" srcId="{1CD286D5-E10C-4A94-9133-31E0B4B4F18F}" destId="{25D8B658-F942-4983-82C2-29C71B21FEC4}" srcOrd="0" destOrd="0" presId="urn:microsoft.com/office/officeart/2005/8/layout/vList5"/>
    <dgm:cxn modelId="{DBEBEF71-1776-4E25-BC00-B8EDF37AE604}" type="presOf" srcId="{AA154172-17AA-45CC-AD54-BA0AB3D488E0}" destId="{F8694A3B-7AB3-49CD-B338-8E15F30F0BBD}" srcOrd="0" destOrd="0" presId="urn:microsoft.com/office/officeart/2005/8/layout/vList5"/>
    <dgm:cxn modelId="{F060D17A-6FD3-477C-9D86-897A43B053C0}" type="presOf" srcId="{C5A2ED78-413E-472C-A4B3-363B703FBF79}" destId="{E0023872-CCD7-41B9-AD66-1DBC4CC8D852}" srcOrd="0" destOrd="0" presId="urn:microsoft.com/office/officeart/2005/8/layout/vList5"/>
    <dgm:cxn modelId="{97F4147B-65A1-4A6A-8540-A995E2D6A1E2}" type="presOf" srcId="{067EAF08-D77C-47E6-95BC-975B1F84A79C}" destId="{0E9E6A4C-7459-46DB-89E5-19C35FA23FA3}" srcOrd="0" destOrd="1" presId="urn:microsoft.com/office/officeart/2005/8/layout/vList5"/>
    <dgm:cxn modelId="{500F1E7C-D9A1-414C-9F80-D00A16173970}" srcId="{1CD286D5-E10C-4A94-9133-31E0B4B4F18F}" destId="{41A47F51-DE9A-4CA9-9E9B-FB2FDF43B97A}" srcOrd="1" destOrd="0" parTransId="{8266B3E8-09D7-4640-8D77-EC99BA4B3519}" sibTransId="{94EE2CC8-DCED-4963-BE4E-BF15E60A8FF8}"/>
    <dgm:cxn modelId="{1A41757D-85CF-47E8-AF5E-AFFC0E52D8FA}" srcId="{7EB3A348-6147-44FE-8EB4-0F70A0EADFB1}" destId="{DE038094-81AB-4CF0-BB19-8B38E3109CCD}" srcOrd="1" destOrd="0" parTransId="{8DEDA2AB-88D1-49DB-A3A0-1CAABA76206B}" sibTransId="{49EA6FFD-6742-4A8C-A103-B0679D71EF7F}"/>
    <dgm:cxn modelId="{8A014780-D61A-4C44-8991-80C6BC37EDB4}" srcId="{AA154172-17AA-45CC-AD54-BA0AB3D488E0}" destId="{5CF3515B-4423-47EA-8FB6-25A73C0F3B60}" srcOrd="0" destOrd="0" parTransId="{DC448840-A8F9-4467-8D54-799B842DF885}" sibTransId="{15721212-4D76-4A36-B93C-B37CACB6FE81}"/>
    <dgm:cxn modelId="{AB424FB7-9DD9-4399-930B-763F88F7F7E9}" type="presOf" srcId="{DE038094-81AB-4CF0-BB19-8B38E3109CCD}" destId="{B5862097-82C9-4C7F-AAE8-0680A14E9CF5}" srcOrd="0" destOrd="0" presId="urn:microsoft.com/office/officeart/2005/8/layout/vList5"/>
    <dgm:cxn modelId="{F5B803C8-86F3-4A98-BF03-01E4D2830C29}" srcId="{7EB3A348-6147-44FE-8EB4-0F70A0EADFB1}" destId="{C5A2ED78-413E-472C-A4B3-363B703FBF79}" srcOrd="2" destOrd="0" parTransId="{0E7B94DF-4494-4734-B469-6FE894FEB4B2}" sibTransId="{6FEA81DF-D31E-4DAA-A951-8E8988024F1B}"/>
    <dgm:cxn modelId="{E34882C9-B06D-454D-8435-8E6EC094883B}" type="presOf" srcId="{5CF3515B-4423-47EA-8FB6-25A73C0F3B60}" destId="{C62C12C3-0CFC-4014-B4BC-BE2FA39D1930}" srcOrd="0" destOrd="0" presId="urn:microsoft.com/office/officeart/2005/8/layout/vList5"/>
    <dgm:cxn modelId="{FB4E96D2-F5DC-4A3E-9CC8-9748222E9899}" type="presOf" srcId="{E1B69F87-1D18-490A-AE93-AE0C145CBD0B}" destId="{E65D9FE8-D260-47D5-BEF1-7629AA44BBF9}" srcOrd="0" destOrd="0" presId="urn:microsoft.com/office/officeart/2005/8/layout/vList5"/>
    <dgm:cxn modelId="{76D098DB-4279-4037-9387-A1310907EAEF}" type="presOf" srcId="{E06BB56B-2090-49FE-AD6C-7B4665E4A8B3}" destId="{8F05554E-C6CF-4F85-9AB3-FE6B89C46BCD}" srcOrd="0" destOrd="0" presId="urn:microsoft.com/office/officeart/2005/8/layout/vList5"/>
    <dgm:cxn modelId="{CB6EDCE2-5DC8-4A5D-B6A0-AB98DC6AA8F3}" srcId="{DE038094-81AB-4CF0-BB19-8B38E3109CCD}" destId="{E1B69F87-1D18-490A-AE93-AE0C145CBD0B}" srcOrd="0" destOrd="0" parTransId="{27123BCD-11DE-4B10-9268-8799F27EE758}" sibTransId="{60DBC322-3606-44CB-9D07-6E506A23D374}"/>
    <dgm:cxn modelId="{1E6AD8FB-3E05-4EA3-BE7C-650EB268BB2A}" type="presOf" srcId="{41A47F51-DE9A-4CA9-9E9B-FB2FDF43B97A}" destId="{8F05554E-C6CF-4F85-9AB3-FE6B89C46BCD}" srcOrd="0" destOrd="1" presId="urn:microsoft.com/office/officeart/2005/8/layout/vList5"/>
    <dgm:cxn modelId="{CFE5C28B-3470-42AB-BBFD-140C3F757210}" type="presParOf" srcId="{50019AE1-C2CF-4D0A-80F4-BDBBB29E1455}" destId="{45E89F87-640B-4F10-85EE-D72D0DAB4609}" srcOrd="0" destOrd="0" presId="urn:microsoft.com/office/officeart/2005/8/layout/vList5"/>
    <dgm:cxn modelId="{739E48ED-114E-4C09-88B4-EFE9DE466DEF}" type="presParOf" srcId="{45E89F87-640B-4F10-85EE-D72D0DAB4609}" destId="{F8694A3B-7AB3-49CD-B338-8E15F30F0BBD}" srcOrd="0" destOrd="0" presId="urn:microsoft.com/office/officeart/2005/8/layout/vList5"/>
    <dgm:cxn modelId="{7DF72775-FABB-4680-A84F-B6466D51CEAF}" type="presParOf" srcId="{45E89F87-640B-4F10-85EE-D72D0DAB4609}" destId="{C62C12C3-0CFC-4014-B4BC-BE2FA39D1930}" srcOrd="1" destOrd="0" presId="urn:microsoft.com/office/officeart/2005/8/layout/vList5"/>
    <dgm:cxn modelId="{521BC13D-E259-4BF9-B6AD-1ED89DA9EBF5}" type="presParOf" srcId="{50019AE1-C2CF-4D0A-80F4-BDBBB29E1455}" destId="{3CD2E3EC-906F-42C5-9579-FA8708BCCDEA}" srcOrd="1" destOrd="0" presId="urn:microsoft.com/office/officeart/2005/8/layout/vList5"/>
    <dgm:cxn modelId="{52F299FF-4440-4715-B5AC-A0B950A18EF4}" type="presParOf" srcId="{50019AE1-C2CF-4D0A-80F4-BDBBB29E1455}" destId="{7D3CE5C0-F263-4EAF-9271-F77F3BB05A2B}" srcOrd="2" destOrd="0" presId="urn:microsoft.com/office/officeart/2005/8/layout/vList5"/>
    <dgm:cxn modelId="{B98D0EA2-80E5-4DF1-BE39-61D85772E678}" type="presParOf" srcId="{7D3CE5C0-F263-4EAF-9271-F77F3BB05A2B}" destId="{B5862097-82C9-4C7F-AAE8-0680A14E9CF5}" srcOrd="0" destOrd="0" presId="urn:microsoft.com/office/officeart/2005/8/layout/vList5"/>
    <dgm:cxn modelId="{34463A55-4730-4DCE-93C8-34CB4AF52F4C}" type="presParOf" srcId="{7D3CE5C0-F263-4EAF-9271-F77F3BB05A2B}" destId="{E65D9FE8-D260-47D5-BEF1-7629AA44BBF9}" srcOrd="1" destOrd="0" presId="urn:microsoft.com/office/officeart/2005/8/layout/vList5"/>
    <dgm:cxn modelId="{146F6747-000F-4C50-86E0-0295655581DD}" type="presParOf" srcId="{50019AE1-C2CF-4D0A-80F4-BDBBB29E1455}" destId="{1DEFFB4E-6AC3-476B-9B07-A9EDF993F25A}" srcOrd="3" destOrd="0" presId="urn:microsoft.com/office/officeart/2005/8/layout/vList5"/>
    <dgm:cxn modelId="{F9FAD01D-783E-49EB-99A4-02DE6827AAD6}" type="presParOf" srcId="{50019AE1-C2CF-4D0A-80F4-BDBBB29E1455}" destId="{553553F6-4D9D-4857-8F12-D5B4A30DEBD1}" srcOrd="4" destOrd="0" presId="urn:microsoft.com/office/officeart/2005/8/layout/vList5"/>
    <dgm:cxn modelId="{692796AB-7A40-4D73-9EF9-C8527486B7BC}" type="presParOf" srcId="{553553F6-4D9D-4857-8F12-D5B4A30DEBD1}" destId="{E0023872-CCD7-41B9-AD66-1DBC4CC8D852}" srcOrd="0" destOrd="0" presId="urn:microsoft.com/office/officeart/2005/8/layout/vList5"/>
    <dgm:cxn modelId="{5D5381F8-8806-4A8B-B337-C50AD07452C6}" type="presParOf" srcId="{553553F6-4D9D-4857-8F12-D5B4A30DEBD1}" destId="{0E9E6A4C-7459-46DB-89E5-19C35FA23FA3}" srcOrd="1" destOrd="0" presId="urn:microsoft.com/office/officeart/2005/8/layout/vList5"/>
    <dgm:cxn modelId="{29A19858-2AC0-4C71-B325-523554857AF0}" type="presParOf" srcId="{50019AE1-C2CF-4D0A-80F4-BDBBB29E1455}" destId="{034946F2-E755-4ADC-9628-18522F4F053E}" srcOrd="5" destOrd="0" presId="urn:microsoft.com/office/officeart/2005/8/layout/vList5"/>
    <dgm:cxn modelId="{75AE0EDD-348D-415A-8AE4-F94D12ACB217}" type="presParOf" srcId="{50019AE1-C2CF-4D0A-80F4-BDBBB29E1455}" destId="{25CD242D-910B-4758-BDCD-6C61AA6AE389}" srcOrd="6" destOrd="0" presId="urn:microsoft.com/office/officeart/2005/8/layout/vList5"/>
    <dgm:cxn modelId="{FF7206AA-7130-4F5F-B620-FB681D36BFFA}" type="presParOf" srcId="{25CD242D-910B-4758-BDCD-6C61AA6AE389}" destId="{25D8B658-F942-4983-82C2-29C71B21FEC4}" srcOrd="0" destOrd="0" presId="urn:microsoft.com/office/officeart/2005/8/layout/vList5"/>
    <dgm:cxn modelId="{50356068-85EA-454D-83E0-F921EB87E64A}" type="presParOf" srcId="{25CD242D-910B-4758-BDCD-6C61AA6AE389}" destId="{8F05554E-C6CF-4F85-9AB3-FE6B89C46BCD}"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62C12C3-0CFC-4014-B4BC-BE2FA39D1930}">
      <dsp:nvSpPr>
        <dsp:cNvPr id="0" name=""/>
        <dsp:cNvSpPr/>
      </dsp:nvSpPr>
      <dsp:spPr>
        <a:xfrm rot="5400000">
          <a:off x="3570821" y="-1408375"/>
          <a:ext cx="693367" cy="3687064"/>
        </a:xfrm>
        <a:prstGeom prst="round2SameRect">
          <a:avLst/>
        </a:prstGeom>
        <a:noFill/>
        <a:ln w="25400" cap="flat" cmpd="sng" algn="ctr">
          <a:noFill/>
          <a:prstDash val="solid"/>
        </a:ln>
        <a:effectLst/>
      </dsp:spPr>
      <dsp:style>
        <a:lnRef idx="2">
          <a:scrgbClr r="0" g="0" b="0"/>
        </a:lnRef>
        <a:fillRef idx="1">
          <a:scrgbClr r="0" g="0" b="0"/>
        </a:fillRef>
        <a:effectRef idx="0">
          <a:scrgbClr r="0" g="0" b="0"/>
        </a:effectRef>
        <a:fontRef idx="minor"/>
      </dsp:style>
      <dsp:txBody>
        <a:bodyPr spcFirstLastPara="0" vert="horz" wrap="square" lIns="74676" tIns="74676" rIns="99568" bIns="112014" numCol="1" spcCol="1270" anchor="t" anchorCtr="0">
          <a:noAutofit/>
        </a:bodyPr>
        <a:lstStyle/>
        <a:p>
          <a:pPr marL="87313" lvl="1" indent="-87313" algn="just" defTabSz="622300">
            <a:lnSpc>
              <a:spcPct val="90000"/>
            </a:lnSpc>
            <a:spcBef>
              <a:spcPct val="0"/>
            </a:spcBef>
            <a:spcAft>
              <a:spcPts val="600"/>
            </a:spcAft>
            <a:buClr>
              <a:srgbClr val="D82034"/>
            </a:buClr>
            <a:buSzPct val="100000"/>
            <a:buFont typeface="Arial" panose="020B0604020202020204" pitchFamily="34" charset="0"/>
            <a:buChar char="•"/>
          </a:pPr>
          <a:r>
            <a:rPr lang="fr-CH" sz="1000" baseline="0" dirty="0">
              <a:latin typeface="Arial" panose="020B0604020202020204" pitchFamily="34" charset="0"/>
              <a:ea typeface="Calibri" panose="020F0502020204030204" pitchFamily="34" charset="0"/>
              <a:cs typeface="Calibri" panose="020F0502020204030204" pitchFamily="34" charset="0"/>
            </a:rPr>
            <a:t>Accès au portail </a:t>
          </a:r>
          <a:r>
            <a:rPr lang="fr-CH" sz="1000" b="1" baseline="0" dirty="0">
              <a:latin typeface="Arial" panose="020B0604020202020204" pitchFamily="34" charset="0"/>
              <a:ea typeface="Calibri" panose="020F0502020204030204" pitchFamily="34" charset="0"/>
              <a:cs typeface="Calibri" panose="020F0502020204030204" pitchFamily="34" charset="0"/>
            </a:rPr>
            <a:t>SwissLife One : </a:t>
          </a:r>
          <a:r>
            <a:rPr lang="fr-CH" sz="1000" b="0" u="sng" baseline="0" dirty="0">
              <a:latin typeface="Arial" panose="020B0604020202020204" pitchFamily="34" charset="0"/>
              <a:ea typeface="Calibri" panose="020F0502020204030204" pitchFamily="34" charset="0"/>
              <a:cs typeface="Calibri" panose="020F0502020204030204" pitchFamily="34" charset="0"/>
            </a:rPr>
            <a:t>souscription digitale</a:t>
          </a:r>
          <a:r>
            <a:rPr lang="fr-CH" sz="1000" b="0" u="none" baseline="0" dirty="0">
              <a:latin typeface="Arial" panose="020B0604020202020204" pitchFamily="34" charset="0"/>
              <a:ea typeface="Calibri" panose="020F0502020204030204" pitchFamily="34" charset="0"/>
              <a:cs typeface="Calibri" panose="020F0502020204030204" pitchFamily="34" charset="0"/>
            </a:rPr>
            <a:t>, </a:t>
          </a:r>
          <a:r>
            <a:rPr lang="fr-CH" sz="1000" b="0" baseline="0" dirty="0">
              <a:latin typeface="Arial" panose="020B0604020202020204" pitchFamily="34" charset="0"/>
              <a:ea typeface="Calibri" panose="020F0502020204030204" pitchFamily="34" charset="0"/>
              <a:cs typeface="Calibri" panose="020F0502020204030204" pitchFamily="34" charset="0"/>
            </a:rPr>
            <a:t>mise à disposition des IFU, clients Lux et France regroupés, possibilité d’éditer des valorisations avec mise à jour valo FID le 10 du mois pour le mois passé</a:t>
          </a:r>
          <a:endParaRPr lang="fr-FR" sz="900" kern="1200" dirty="0">
            <a:solidFill>
              <a:srgbClr val="000000">
                <a:hueOff val="0"/>
                <a:satOff val="0"/>
                <a:lumOff val="0"/>
                <a:alphaOff val="0"/>
              </a:srgbClr>
            </a:solidFill>
            <a:latin typeface="Arial" panose="020B0604020202020204" pitchFamily="34" charset="0"/>
            <a:ea typeface="Calibri" panose="020F0502020204030204" pitchFamily="34" charset="0"/>
            <a:cs typeface="Calibri" panose="020F0502020204030204" pitchFamily="34" charset="0"/>
          </a:endParaRPr>
        </a:p>
      </dsp:txBody>
      <dsp:txXfrm rot="-5400000">
        <a:off x="2073973" y="122320"/>
        <a:ext cx="3653217" cy="625673"/>
      </dsp:txXfrm>
    </dsp:sp>
    <dsp:sp modelId="{F8694A3B-7AB3-49CD-B338-8E15F30F0BBD}">
      <dsp:nvSpPr>
        <dsp:cNvPr id="0" name=""/>
        <dsp:cNvSpPr/>
      </dsp:nvSpPr>
      <dsp:spPr>
        <a:xfrm>
          <a:off x="0" y="1801"/>
          <a:ext cx="2073973" cy="866709"/>
        </a:xfrm>
        <a:prstGeom prst="roundRect">
          <a:avLst/>
        </a:prstGeom>
        <a:solidFill>
          <a:srgbClr val="DFDFDF"/>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56896" rIns="99568" bIns="56896" numCol="1" spcCol="1270" anchor="ctr" anchorCtr="0">
          <a:noAutofit/>
        </a:bodyPr>
        <a:lstStyle/>
        <a:p>
          <a:pPr marL="0" lvl="0" indent="0" algn="ctr" defTabSz="622300">
            <a:lnSpc>
              <a:spcPct val="90000"/>
            </a:lnSpc>
            <a:spcBef>
              <a:spcPct val="0"/>
            </a:spcBef>
            <a:spcAft>
              <a:spcPct val="35000"/>
            </a:spcAft>
            <a:buNone/>
          </a:pPr>
          <a:r>
            <a:rPr lang="fr-FR" sz="1400" kern="1200" dirty="0">
              <a:solidFill>
                <a:schemeClr val="accent3"/>
              </a:solidFill>
              <a:latin typeface="+mn-lt"/>
              <a:ea typeface="Calibri" panose="020F0502020204030204" pitchFamily="34" charset="0"/>
              <a:cs typeface="Calibri" panose="020F0502020204030204" pitchFamily="34" charset="0"/>
            </a:rPr>
            <a:t>L’accès SwissLife One</a:t>
          </a:r>
        </a:p>
      </dsp:txBody>
      <dsp:txXfrm>
        <a:off x="42309" y="44110"/>
        <a:ext cx="1989355" cy="782091"/>
      </dsp:txXfrm>
    </dsp:sp>
    <dsp:sp modelId="{E65D9FE8-D260-47D5-BEF1-7629AA44BBF9}">
      <dsp:nvSpPr>
        <dsp:cNvPr id="0" name=""/>
        <dsp:cNvSpPr/>
      </dsp:nvSpPr>
      <dsp:spPr>
        <a:xfrm rot="5400000">
          <a:off x="3488397" y="-491056"/>
          <a:ext cx="858216" cy="3687064"/>
        </a:xfrm>
        <a:prstGeom prst="round2SameRect">
          <a:avLst/>
        </a:prstGeom>
        <a:noFill/>
        <a:ln w="2540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4676" tIns="36000" rIns="72000" bIns="72000" numCol="1" spcCol="1270" anchor="t" anchorCtr="0">
          <a:noAutofit/>
        </a:bodyPr>
        <a:lstStyle/>
        <a:p>
          <a:pPr marL="87313" lvl="1" indent="-87313" algn="just" defTabSz="622300">
            <a:lnSpc>
              <a:spcPct val="90000"/>
            </a:lnSpc>
            <a:spcBef>
              <a:spcPct val="0"/>
            </a:spcBef>
            <a:spcAft>
              <a:spcPts val="600"/>
            </a:spcAft>
            <a:buClr>
              <a:srgbClr val="D82034"/>
            </a:buClr>
            <a:buSzPct val="100000"/>
            <a:buFont typeface="Arial" panose="020B0604020202020204" pitchFamily="34" charset="0"/>
            <a:buChar char="•"/>
          </a:pPr>
          <a:r>
            <a:rPr lang="fr-CH" sz="1000" b="0" kern="1200" dirty="0">
              <a:latin typeface="Arial" panose="020B0604020202020204" pitchFamily="34" charset="0"/>
              <a:ea typeface="Calibri" panose="020F0502020204030204" pitchFamily="34" charset="0"/>
              <a:cs typeface="Calibri" panose="020F0502020204030204" pitchFamily="34" charset="0"/>
            </a:rPr>
            <a:t> Accès client à </a:t>
          </a:r>
          <a:r>
            <a:rPr lang="fr-CH" sz="1000" b="1" kern="1200" dirty="0" err="1">
              <a:latin typeface="Arial" panose="020B0604020202020204" pitchFamily="34" charset="0"/>
              <a:ea typeface="Calibri" panose="020F0502020204030204" pitchFamily="34" charset="0"/>
              <a:cs typeface="Calibri" panose="020F0502020204030204" pitchFamily="34" charset="0"/>
            </a:rPr>
            <a:t>MySwissLife</a:t>
          </a:r>
          <a:r>
            <a:rPr lang="fr-CH" sz="1000" b="1" kern="1200" dirty="0">
              <a:latin typeface="Arial" panose="020B0604020202020204" pitchFamily="34" charset="0"/>
              <a:ea typeface="Calibri" panose="020F0502020204030204" pitchFamily="34" charset="0"/>
              <a:cs typeface="Calibri" panose="020F0502020204030204" pitchFamily="34" charset="0"/>
            </a:rPr>
            <a:t> </a:t>
          </a:r>
          <a:r>
            <a:rPr lang="fr-CH" sz="1000" kern="1200" dirty="0">
              <a:latin typeface="Arial" panose="020B0604020202020204" pitchFamily="34" charset="0"/>
              <a:ea typeface="Calibri" panose="020F0502020204030204" pitchFamily="34" charset="0"/>
              <a:cs typeface="Calibri" panose="020F0502020204030204" pitchFamily="34" charset="0"/>
            </a:rPr>
            <a:t>permettant la consultation de leurs contrats Premium Lux</a:t>
          </a:r>
          <a:endParaRPr lang="fr-FR" sz="1000" b="0" kern="1200" dirty="0">
            <a:solidFill>
              <a:srgbClr val="000000">
                <a:hueOff val="0"/>
                <a:satOff val="0"/>
                <a:lumOff val="0"/>
                <a:alphaOff val="0"/>
              </a:srgbClr>
            </a:solidFill>
            <a:latin typeface="Arial" panose="020B0604020202020204" pitchFamily="34" charset="0"/>
            <a:ea typeface="+mn-ea"/>
            <a:cs typeface="+mn-cs"/>
          </a:endParaRPr>
        </a:p>
      </dsp:txBody>
      <dsp:txXfrm rot="-5400000">
        <a:off x="2073974" y="965262"/>
        <a:ext cx="3645169" cy="774426"/>
      </dsp:txXfrm>
    </dsp:sp>
    <dsp:sp modelId="{B5862097-82C9-4C7F-AAE8-0680A14E9CF5}">
      <dsp:nvSpPr>
        <dsp:cNvPr id="0" name=""/>
        <dsp:cNvSpPr/>
      </dsp:nvSpPr>
      <dsp:spPr>
        <a:xfrm>
          <a:off x="0" y="911847"/>
          <a:ext cx="2073973" cy="866709"/>
        </a:xfrm>
        <a:prstGeom prst="roundRect">
          <a:avLst/>
        </a:prstGeom>
        <a:solidFill>
          <a:srgbClr val="DFDFDF"/>
        </a:solidFill>
        <a:ln w="254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56896" rIns="99568" bIns="56896" numCol="1" spcCol="1270" anchor="ctr" anchorCtr="0">
          <a:noAutofit/>
        </a:bodyPr>
        <a:lstStyle/>
        <a:p>
          <a:pPr marL="0" lvl="0" indent="0" algn="ctr" defTabSz="622300">
            <a:lnSpc>
              <a:spcPct val="90000"/>
            </a:lnSpc>
            <a:spcBef>
              <a:spcPct val="0"/>
            </a:spcBef>
            <a:spcAft>
              <a:spcPct val="35000"/>
            </a:spcAft>
            <a:buNone/>
          </a:pPr>
          <a:r>
            <a:rPr lang="fr-CH" sz="1400" b="0" kern="1200" dirty="0">
              <a:solidFill>
                <a:schemeClr val="accent3"/>
              </a:solidFill>
              <a:latin typeface="+mn-lt"/>
              <a:ea typeface="Calibri" panose="020F0502020204030204" pitchFamily="34" charset="0"/>
              <a:cs typeface="Calibri" panose="020F0502020204030204" pitchFamily="34" charset="0"/>
            </a:rPr>
            <a:t>L’accès </a:t>
          </a:r>
          <a:r>
            <a:rPr lang="fr-CH" sz="1400" b="0" kern="1200" dirty="0" err="1">
              <a:solidFill>
                <a:schemeClr val="accent3"/>
              </a:solidFill>
              <a:latin typeface="+mn-lt"/>
              <a:ea typeface="Calibri" panose="020F0502020204030204" pitchFamily="34" charset="0"/>
              <a:cs typeface="Calibri" panose="020F0502020204030204" pitchFamily="34" charset="0"/>
            </a:rPr>
            <a:t>MySwissLife</a:t>
          </a:r>
          <a:r>
            <a:rPr lang="fr-CH" sz="1400" b="0" kern="1200" dirty="0">
              <a:solidFill>
                <a:schemeClr val="accent3"/>
              </a:solidFill>
              <a:latin typeface="+mn-lt"/>
              <a:ea typeface="Calibri" panose="020F0502020204030204" pitchFamily="34" charset="0"/>
              <a:cs typeface="Calibri" panose="020F0502020204030204" pitchFamily="34" charset="0"/>
            </a:rPr>
            <a:t> </a:t>
          </a:r>
          <a:endParaRPr lang="fr-FR" sz="1400" b="0" kern="1200" dirty="0">
            <a:solidFill>
              <a:schemeClr val="accent3"/>
            </a:solidFill>
            <a:latin typeface="+mn-lt"/>
            <a:ea typeface="Calibri" panose="020F0502020204030204" pitchFamily="34" charset="0"/>
            <a:cs typeface="Calibri" panose="020F0502020204030204" pitchFamily="34" charset="0"/>
          </a:endParaRPr>
        </a:p>
      </dsp:txBody>
      <dsp:txXfrm>
        <a:off x="42309" y="954156"/>
        <a:ext cx="1989355" cy="782091"/>
      </dsp:txXfrm>
    </dsp:sp>
    <dsp:sp modelId="{0E9E6A4C-7459-46DB-89E5-19C35FA23FA3}">
      <dsp:nvSpPr>
        <dsp:cNvPr id="0" name=""/>
        <dsp:cNvSpPr/>
      </dsp:nvSpPr>
      <dsp:spPr>
        <a:xfrm rot="5400000">
          <a:off x="3570821" y="260616"/>
          <a:ext cx="693367" cy="3687064"/>
        </a:xfrm>
        <a:prstGeom prst="round2SameRect">
          <a:avLst/>
        </a:prstGeom>
        <a:noFill/>
        <a:ln w="2540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4676" tIns="74676" rIns="99568" bIns="112014" numCol="1" spcCol="1270" anchor="t" anchorCtr="0">
          <a:noAutofit/>
        </a:bodyPr>
        <a:lstStyle/>
        <a:p>
          <a:pPr marL="57150" lvl="1" indent="-57150" algn="just" defTabSz="444500">
            <a:lnSpc>
              <a:spcPct val="90000"/>
            </a:lnSpc>
            <a:spcBef>
              <a:spcPct val="0"/>
            </a:spcBef>
            <a:spcAft>
              <a:spcPct val="15000"/>
            </a:spcAft>
            <a:buClr>
              <a:srgbClr val="D82034"/>
            </a:buClr>
            <a:buChar char="•"/>
          </a:pPr>
          <a:r>
            <a:rPr lang="de-DE" sz="1000" kern="1200" dirty="0">
              <a:latin typeface="+mn-lt"/>
              <a:ea typeface="Calibri" panose="020F0502020204030204" pitchFamily="34" charset="0"/>
              <a:cs typeface="Calibri" panose="020F0502020204030204" pitchFamily="34" charset="0"/>
            </a:rPr>
            <a:t> </a:t>
          </a:r>
          <a:r>
            <a:rPr lang="de-DE" sz="1000" kern="1200" dirty="0" err="1">
              <a:latin typeface="+mn-lt"/>
              <a:ea typeface="Calibri" panose="020F0502020204030204" pitchFamily="34" charset="0"/>
              <a:cs typeface="Calibri" panose="020F0502020204030204" pitchFamily="34" charset="0"/>
            </a:rPr>
            <a:t>Ligne</a:t>
          </a:r>
          <a:r>
            <a:rPr lang="de-DE" sz="1000" kern="1200" dirty="0">
              <a:latin typeface="+mn-lt"/>
              <a:ea typeface="Calibri" panose="020F0502020204030204" pitchFamily="34" charset="0"/>
              <a:cs typeface="Calibri" panose="020F0502020204030204" pitchFamily="34" charset="0"/>
            </a:rPr>
            <a:t> </a:t>
          </a:r>
          <a:r>
            <a:rPr lang="de-DE" sz="1000" kern="1200" dirty="0" err="1">
              <a:latin typeface="+mn-lt"/>
              <a:ea typeface="Calibri" panose="020F0502020204030204" pitchFamily="34" charset="0"/>
              <a:cs typeface="Calibri" panose="020F0502020204030204" pitchFamily="34" charset="0"/>
            </a:rPr>
            <a:t>téléphonique</a:t>
          </a:r>
          <a:r>
            <a:rPr lang="de-DE" sz="1000" kern="1200" dirty="0">
              <a:latin typeface="+mn-lt"/>
              <a:ea typeface="Calibri" panose="020F0502020204030204" pitchFamily="34" charset="0"/>
              <a:cs typeface="Calibri" panose="020F0502020204030204" pitchFamily="34" charset="0"/>
            </a:rPr>
            <a:t> de </a:t>
          </a:r>
          <a:r>
            <a:rPr lang="de-DE" sz="1000" kern="1200" dirty="0" err="1">
              <a:latin typeface="+mn-lt"/>
              <a:ea typeface="Calibri" panose="020F0502020204030204" pitchFamily="34" charset="0"/>
              <a:cs typeface="Calibri" panose="020F0502020204030204" pitchFamily="34" charset="0"/>
            </a:rPr>
            <a:t>l‘équipe</a:t>
          </a:r>
          <a:r>
            <a:rPr lang="de-DE" sz="1000" kern="1200" dirty="0">
              <a:latin typeface="+mn-lt"/>
              <a:ea typeface="Calibri" panose="020F0502020204030204" pitchFamily="34" charset="0"/>
              <a:cs typeface="Calibri" panose="020F0502020204030204" pitchFamily="34" charset="0"/>
            </a:rPr>
            <a:t> ouverte de 9h à 11h30 et 14h à 17h du </a:t>
          </a:r>
          <a:r>
            <a:rPr lang="de-DE" sz="1000" kern="1200" dirty="0" err="1">
              <a:latin typeface="+mn-lt"/>
              <a:ea typeface="Calibri" panose="020F0502020204030204" pitchFamily="34" charset="0"/>
              <a:cs typeface="Calibri" panose="020F0502020204030204" pitchFamily="34" charset="0"/>
            </a:rPr>
            <a:t>lundi</a:t>
          </a:r>
          <a:r>
            <a:rPr lang="de-DE" sz="1000" kern="1200" dirty="0">
              <a:latin typeface="+mn-lt"/>
              <a:ea typeface="Calibri" panose="020F0502020204030204" pitchFamily="34" charset="0"/>
              <a:cs typeface="Calibri" panose="020F0502020204030204" pitchFamily="34" charset="0"/>
            </a:rPr>
            <a:t> au </a:t>
          </a:r>
          <a:r>
            <a:rPr lang="de-DE" sz="1000" kern="1200" dirty="0" err="1">
              <a:latin typeface="+mn-lt"/>
              <a:ea typeface="Calibri" panose="020F0502020204030204" pitchFamily="34" charset="0"/>
              <a:cs typeface="Calibri" panose="020F0502020204030204" pitchFamily="34" charset="0"/>
            </a:rPr>
            <a:t>vendredi</a:t>
          </a:r>
          <a:r>
            <a:rPr lang="de-DE" sz="1000" kern="1200" dirty="0">
              <a:latin typeface="+mn-lt"/>
              <a:ea typeface="Calibri" panose="020F0502020204030204" pitchFamily="34" charset="0"/>
              <a:cs typeface="Calibri" panose="020F0502020204030204" pitchFamily="34" charset="0"/>
            </a:rPr>
            <a:t> : </a:t>
          </a:r>
          <a:r>
            <a:rPr lang="de-DE" sz="1000" kern="1200" dirty="0" err="1">
              <a:latin typeface="+mn-lt"/>
              <a:ea typeface="Calibri" panose="020F0502020204030204" pitchFamily="34" charset="0"/>
              <a:cs typeface="Calibri" panose="020F0502020204030204" pitchFamily="34" charset="0"/>
            </a:rPr>
            <a:t>avec</a:t>
          </a:r>
          <a:r>
            <a:rPr lang="de-DE" sz="1000" kern="1200" dirty="0">
              <a:latin typeface="+mn-lt"/>
              <a:ea typeface="Calibri" panose="020F0502020204030204" pitchFamily="34" charset="0"/>
              <a:cs typeface="Calibri" panose="020F0502020204030204" pitchFamily="34" charset="0"/>
            </a:rPr>
            <a:t> </a:t>
          </a:r>
          <a:r>
            <a:rPr lang="de-DE" sz="1000" kern="1200" dirty="0" err="1">
              <a:latin typeface="+mn-lt"/>
              <a:ea typeface="Calibri" panose="020F0502020204030204" pitchFamily="34" charset="0"/>
              <a:cs typeface="Calibri" panose="020F0502020204030204" pitchFamily="34" charset="0"/>
            </a:rPr>
            <a:t>un</a:t>
          </a:r>
          <a:r>
            <a:rPr lang="de-DE" sz="1000" kern="1200" dirty="0">
              <a:latin typeface="+mn-lt"/>
              <a:ea typeface="Calibri" panose="020F0502020204030204" pitchFamily="34" charset="0"/>
              <a:cs typeface="Calibri" panose="020F0502020204030204" pitchFamily="34" charset="0"/>
            </a:rPr>
            <a:t> </a:t>
          </a:r>
          <a:r>
            <a:rPr lang="de-DE" sz="1000" kern="1200" dirty="0" err="1">
              <a:latin typeface="+mn-lt"/>
              <a:ea typeface="Calibri" panose="020F0502020204030204" pitchFamily="34" charset="0"/>
              <a:cs typeface="Calibri" panose="020F0502020204030204" pitchFamily="34" charset="0"/>
            </a:rPr>
            <a:t>taux</a:t>
          </a:r>
          <a:r>
            <a:rPr lang="de-DE" sz="1000" kern="1200" dirty="0">
              <a:latin typeface="+mn-lt"/>
              <a:ea typeface="Calibri" panose="020F0502020204030204" pitchFamily="34" charset="0"/>
              <a:cs typeface="Calibri" panose="020F0502020204030204" pitchFamily="34" charset="0"/>
            </a:rPr>
            <a:t> de </a:t>
          </a:r>
          <a:r>
            <a:rPr lang="de-DE" sz="1000" kern="1200" dirty="0" err="1">
              <a:latin typeface="+mn-lt"/>
              <a:ea typeface="Calibri" panose="020F0502020204030204" pitchFamily="34" charset="0"/>
              <a:cs typeface="Calibri" panose="020F0502020204030204" pitchFamily="34" charset="0"/>
            </a:rPr>
            <a:t>décroché</a:t>
          </a:r>
          <a:r>
            <a:rPr lang="de-DE" sz="1000" kern="1200" dirty="0">
              <a:latin typeface="+mn-lt"/>
              <a:ea typeface="Calibri" panose="020F0502020204030204" pitchFamily="34" charset="0"/>
              <a:cs typeface="Calibri" panose="020F0502020204030204" pitchFamily="34" charset="0"/>
            </a:rPr>
            <a:t> de plus de 91 % (</a:t>
          </a:r>
          <a:r>
            <a:rPr lang="de-DE" sz="1000" kern="1200" dirty="0" err="1">
              <a:latin typeface="+mn-lt"/>
              <a:ea typeface="Calibri" panose="020F0502020204030204" pitchFamily="34" charset="0"/>
              <a:cs typeface="Calibri" panose="020F0502020204030204" pitchFamily="34" charset="0"/>
            </a:rPr>
            <a:t>depuis</a:t>
          </a:r>
          <a:r>
            <a:rPr lang="de-DE" sz="1000" kern="1200" dirty="0">
              <a:latin typeface="+mn-lt"/>
              <a:ea typeface="Calibri" panose="020F0502020204030204" pitchFamily="34" charset="0"/>
              <a:cs typeface="Calibri" panose="020F0502020204030204" pitchFamily="34" charset="0"/>
            </a:rPr>
            <a:t> le 01/01/2024)</a:t>
          </a:r>
          <a:endParaRPr lang="fr-FR" sz="1000" kern="1200" dirty="0">
            <a:latin typeface="+mn-lt"/>
            <a:ea typeface="Calibri" panose="020F0502020204030204" pitchFamily="34" charset="0"/>
            <a:cs typeface="Calibri" panose="020F0502020204030204" pitchFamily="34" charset="0"/>
          </a:endParaRPr>
        </a:p>
        <a:p>
          <a:pPr marL="57150" lvl="1" indent="-57150" algn="just" defTabSz="444500">
            <a:lnSpc>
              <a:spcPct val="90000"/>
            </a:lnSpc>
            <a:spcBef>
              <a:spcPct val="0"/>
            </a:spcBef>
            <a:spcAft>
              <a:spcPct val="15000"/>
            </a:spcAft>
            <a:buClr>
              <a:srgbClr val="D82034"/>
            </a:buClr>
            <a:buFont typeface="Arial" panose="020B0604020202020204" pitchFamily="34" charset="0"/>
            <a:buChar char="•"/>
          </a:pPr>
          <a:r>
            <a:rPr lang="fr-FR" sz="1000" kern="1200" dirty="0">
              <a:latin typeface="+mn-lt"/>
              <a:ea typeface="Calibri" panose="020F0502020204030204" pitchFamily="34" charset="0"/>
              <a:cs typeface="Calibri" panose="020F0502020204030204" pitchFamily="34" charset="0"/>
            </a:rPr>
            <a:t> Une équipe disponible en avant-vente pour des calls avec inspecteurs ou partenaires </a:t>
          </a:r>
        </a:p>
      </dsp:txBody>
      <dsp:txXfrm rot="-5400000">
        <a:off x="2073973" y="1791312"/>
        <a:ext cx="3653217" cy="625673"/>
      </dsp:txXfrm>
    </dsp:sp>
    <dsp:sp modelId="{E0023872-CCD7-41B9-AD66-1DBC4CC8D852}">
      <dsp:nvSpPr>
        <dsp:cNvPr id="0" name=""/>
        <dsp:cNvSpPr/>
      </dsp:nvSpPr>
      <dsp:spPr>
        <a:xfrm>
          <a:off x="0" y="1821892"/>
          <a:ext cx="2073973" cy="866709"/>
        </a:xfrm>
        <a:prstGeom prst="roundRect">
          <a:avLst/>
        </a:prstGeom>
        <a:solidFill>
          <a:srgbClr val="DFDFDF"/>
        </a:solidFill>
        <a:ln w="254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56896" rIns="99568" bIns="56896" numCol="1" spcCol="1270" anchor="ctr" anchorCtr="0">
          <a:noAutofit/>
        </a:bodyPr>
        <a:lstStyle/>
        <a:p>
          <a:pPr marL="0" lvl="0" indent="0" algn="ctr" defTabSz="622300">
            <a:lnSpc>
              <a:spcPct val="90000"/>
            </a:lnSpc>
            <a:spcBef>
              <a:spcPct val="0"/>
            </a:spcBef>
            <a:spcAft>
              <a:spcPct val="35000"/>
            </a:spcAft>
            <a:buNone/>
          </a:pPr>
          <a:r>
            <a:rPr lang="de-DE" sz="1400" kern="1200" dirty="0">
              <a:solidFill>
                <a:schemeClr val="accent3"/>
              </a:solidFill>
              <a:latin typeface="+mn-lt"/>
              <a:ea typeface="Calibri" panose="020F0502020204030204" pitchFamily="34" charset="0"/>
              <a:cs typeface="Calibri" panose="020F0502020204030204" pitchFamily="34" charset="0"/>
            </a:rPr>
            <a:t>Des </a:t>
          </a:r>
          <a:r>
            <a:rPr lang="de-DE" sz="1400" kern="1200" dirty="0" err="1">
              <a:solidFill>
                <a:schemeClr val="accent3"/>
              </a:solidFill>
              <a:latin typeface="+mn-lt"/>
              <a:ea typeface="Calibri" panose="020F0502020204030204" pitchFamily="34" charset="0"/>
              <a:cs typeface="Calibri" panose="020F0502020204030204" pitchFamily="34" charset="0"/>
            </a:rPr>
            <a:t>contacts</a:t>
          </a:r>
          <a:r>
            <a:rPr lang="de-DE" sz="1400" kern="1200" dirty="0">
              <a:solidFill>
                <a:schemeClr val="accent3"/>
              </a:solidFill>
              <a:latin typeface="+mn-lt"/>
              <a:ea typeface="Calibri" panose="020F0502020204030204" pitchFamily="34" charset="0"/>
              <a:cs typeface="Calibri" panose="020F0502020204030204" pitchFamily="34" charset="0"/>
            </a:rPr>
            <a:t> </a:t>
          </a:r>
          <a:r>
            <a:rPr lang="fr-FR" sz="1400" kern="1200" noProof="1">
              <a:solidFill>
                <a:schemeClr val="accent3"/>
              </a:solidFill>
              <a:latin typeface="+mn-lt"/>
              <a:ea typeface="Calibri" panose="020F0502020204030204" pitchFamily="34" charset="0"/>
              <a:cs typeface="Calibri" panose="020F0502020204030204" pitchFamily="34" charset="0"/>
            </a:rPr>
            <a:t>facilités</a:t>
          </a:r>
          <a:r>
            <a:rPr lang="de-DE" sz="1400" kern="1200" dirty="0">
              <a:solidFill>
                <a:schemeClr val="accent3"/>
              </a:solidFill>
              <a:latin typeface="+mn-lt"/>
              <a:ea typeface="Calibri" panose="020F0502020204030204" pitchFamily="34" charset="0"/>
              <a:cs typeface="Calibri" panose="020F0502020204030204" pitchFamily="34" charset="0"/>
            </a:rPr>
            <a:t> </a:t>
          </a:r>
          <a:endParaRPr lang="fr-FR" sz="1400" kern="1200" dirty="0">
            <a:solidFill>
              <a:schemeClr val="accent3"/>
            </a:solidFill>
            <a:latin typeface="+mn-lt"/>
            <a:ea typeface="Calibri" panose="020F0502020204030204" pitchFamily="34" charset="0"/>
            <a:cs typeface="Calibri" panose="020F0502020204030204" pitchFamily="34" charset="0"/>
          </a:endParaRPr>
        </a:p>
      </dsp:txBody>
      <dsp:txXfrm>
        <a:off x="42309" y="1864201"/>
        <a:ext cx="1989355" cy="782091"/>
      </dsp:txXfrm>
    </dsp:sp>
    <dsp:sp modelId="{8F05554E-C6CF-4F85-9AB3-FE6B89C46BCD}">
      <dsp:nvSpPr>
        <dsp:cNvPr id="0" name=""/>
        <dsp:cNvSpPr/>
      </dsp:nvSpPr>
      <dsp:spPr>
        <a:xfrm rot="5400000">
          <a:off x="3570821" y="1321760"/>
          <a:ext cx="693367" cy="3687064"/>
        </a:xfrm>
        <a:prstGeom prst="round2SameRect">
          <a:avLst/>
        </a:prstGeom>
        <a:noFill/>
        <a:ln w="2540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4676" tIns="74676" rIns="99568" bIns="112014" numCol="1" spcCol="1270" anchor="t" anchorCtr="0">
          <a:noAutofit/>
        </a:bodyPr>
        <a:lstStyle/>
        <a:p>
          <a:pPr marL="87313" lvl="1" indent="-87313" algn="just" defTabSz="622300">
            <a:lnSpc>
              <a:spcPct val="90000"/>
            </a:lnSpc>
            <a:spcBef>
              <a:spcPct val="0"/>
            </a:spcBef>
            <a:spcAft>
              <a:spcPts val="600"/>
            </a:spcAft>
            <a:buClr>
              <a:srgbClr val="D82034"/>
            </a:buClr>
            <a:buChar char="•"/>
          </a:pPr>
          <a:r>
            <a:rPr lang="de-DE" sz="1000" kern="1200" dirty="0">
              <a:solidFill>
                <a:srgbClr val="000000">
                  <a:hueOff val="0"/>
                  <a:satOff val="0"/>
                  <a:lumOff val="0"/>
                  <a:alphaOff val="0"/>
                </a:srgbClr>
              </a:solidFill>
              <a:latin typeface="+mn-lt"/>
              <a:ea typeface="Calibri" panose="020F0502020204030204" pitchFamily="34" charset="0"/>
              <a:cs typeface="Calibri" panose="020F0502020204030204" pitchFamily="34" charset="0"/>
            </a:rPr>
            <a:t> Pré-</a:t>
          </a:r>
          <a:r>
            <a:rPr lang="de-DE" sz="1000" kern="1200" dirty="0" err="1">
              <a:solidFill>
                <a:srgbClr val="000000">
                  <a:hueOff val="0"/>
                  <a:satOff val="0"/>
                  <a:lumOff val="0"/>
                  <a:alphaOff val="0"/>
                </a:srgbClr>
              </a:solidFill>
              <a:latin typeface="+mn-lt"/>
              <a:ea typeface="Calibri" panose="020F0502020204030204" pitchFamily="34" charset="0"/>
              <a:cs typeface="Calibri" panose="020F0502020204030204" pitchFamily="34" charset="0"/>
            </a:rPr>
            <a:t>étude</a:t>
          </a:r>
          <a:r>
            <a:rPr lang="de-DE" sz="1000" kern="1200" dirty="0">
              <a:solidFill>
                <a:srgbClr val="000000">
                  <a:hueOff val="0"/>
                  <a:satOff val="0"/>
                  <a:lumOff val="0"/>
                  <a:alphaOff val="0"/>
                </a:srgbClr>
              </a:solidFill>
              <a:latin typeface="+mn-lt"/>
              <a:ea typeface="Calibri" panose="020F0502020204030204" pitchFamily="34" charset="0"/>
              <a:cs typeface="Calibri" panose="020F0502020204030204" pitchFamily="34" charset="0"/>
            </a:rPr>
            <a:t> de </a:t>
          </a:r>
          <a:r>
            <a:rPr lang="de-DE" sz="1000" kern="1200" dirty="0" err="1">
              <a:solidFill>
                <a:srgbClr val="000000">
                  <a:hueOff val="0"/>
                  <a:satOff val="0"/>
                  <a:lumOff val="0"/>
                  <a:alphaOff val="0"/>
                </a:srgbClr>
              </a:solidFill>
              <a:latin typeface="+mn-lt"/>
              <a:ea typeface="Calibri" panose="020F0502020204030204" pitchFamily="34" charset="0"/>
              <a:cs typeface="Calibri" panose="020F0502020204030204" pitchFamily="34" charset="0"/>
            </a:rPr>
            <a:t>tous</a:t>
          </a:r>
          <a:r>
            <a:rPr lang="de-DE" sz="1000" kern="1200" dirty="0">
              <a:solidFill>
                <a:srgbClr val="000000">
                  <a:hueOff val="0"/>
                  <a:satOff val="0"/>
                  <a:lumOff val="0"/>
                  <a:alphaOff val="0"/>
                </a:srgbClr>
              </a:solidFill>
              <a:latin typeface="+mn-lt"/>
              <a:ea typeface="Calibri" panose="020F0502020204030204" pitchFamily="34" charset="0"/>
              <a:cs typeface="Calibri" panose="020F0502020204030204" pitchFamily="34" charset="0"/>
            </a:rPr>
            <a:t> </a:t>
          </a:r>
          <a:r>
            <a:rPr lang="de-DE" sz="1000" kern="1200" dirty="0" err="1">
              <a:solidFill>
                <a:srgbClr val="000000">
                  <a:hueOff val="0"/>
                  <a:satOff val="0"/>
                  <a:lumOff val="0"/>
                  <a:alphaOff val="0"/>
                </a:srgbClr>
              </a:solidFill>
              <a:latin typeface="+mn-lt"/>
              <a:ea typeface="Calibri" panose="020F0502020204030204" pitchFamily="34" charset="0"/>
              <a:cs typeface="Calibri" panose="020F0502020204030204" pitchFamily="34" charset="0"/>
            </a:rPr>
            <a:t>les</a:t>
          </a:r>
          <a:r>
            <a:rPr lang="de-DE" sz="1000" kern="1200" dirty="0">
              <a:solidFill>
                <a:srgbClr val="000000">
                  <a:hueOff val="0"/>
                  <a:satOff val="0"/>
                  <a:lumOff val="0"/>
                  <a:alphaOff val="0"/>
                </a:srgbClr>
              </a:solidFill>
              <a:latin typeface="+mn-lt"/>
              <a:ea typeface="Calibri" panose="020F0502020204030204" pitchFamily="34" charset="0"/>
              <a:cs typeface="Calibri" panose="020F0502020204030204" pitchFamily="34" charset="0"/>
            </a:rPr>
            <a:t> </a:t>
          </a:r>
          <a:r>
            <a:rPr lang="de-DE" sz="1000" kern="1200" dirty="0" err="1">
              <a:solidFill>
                <a:srgbClr val="000000">
                  <a:hueOff val="0"/>
                  <a:satOff val="0"/>
                  <a:lumOff val="0"/>
                  <a:alphaOff val="0"/>
                </a:srgbClr>
              </a:solidFill>
              <a:latin typeface="+mn-lt"/>
              <a:ea typeface="Calibri" panose="020F0502020204030204" pitchFamily="34" charset="0"/>
              <a:cs typeface="Calibri" panose="020F0502020204030204" pitchFamily="34" charset="0"/>
            </a:rPr>
            <a:t>dossiers</a:t>
          </a:r>
          <a:r>
            <a:rPr lang="de-DE" sz="1000" kern="1200" dirty="0">
              <a:solidFill>
                <a:srgbClr val="000000">
                  <a:hueOff val="0"/>
                  <a:satOff val="0"/>
                  <a:lumOff val="0"/>
                  <a:alphaOff val="0"/>
                </a:srgbClr>
              </a:solidFill>
              <a:latin typeface="+mn-lt"/>
              <a:ea typeface="Calibri" panose="020F0502020204030204" pitchFamily="34" charset="0"/>
              <a:cs typeface="Calibri" panose="020F0502020204030204" pitchFamily="34" charset="0"/>
            </a:rPr>
            <a:t>  </a:t>
          </a:r>
          <a:endParaRPr lang="fr-FR" sz="1000" kern="1200" dirty="0">
            <a:solidFill>
              <a:srgbClr val="000000">
                <a:hueOff val="0"/>
                <a:satOff val="0"/>
                <a:lumOff val="0"/>
                <a:alphaOff val="0"/>
              </a:srgbClr>
            </a:solidFill>
            <a:latin typeface="+mn-lt"/>
            <a:ea typeface="Calibri" panose="020F0502020204030204" pitchFamily="34" charset="0"/>
            <a:cs typeface="Calibri" panose="020F0502020204030204" pitchFamily="34" charset="0"/>
          </a:endParaRPr>
        </a:p>
        <a:p>
          <a:pPr marL="87313" lvl="1" indent="-87313" algn="just" defTabSz="622300">
            <a:lnSpc>
              <a:spcPct val="90000"/>
            </a:lnSpc>
            <a:spcBef>
              <a:spcPct val="0"/>
            </a:spcBef>
            <a:spcAft>
              <a:spcPts val="600"/>
            </a:spcAft>
            <a:buClr>
              <a:srgbClr val="D82034"/>
            </a:buClr>
            <a:buChar char="•"/>
          </a:pPr>
          <a:r>
            <a:rPr lang="fr-FR" sz="1000" kern="1200" noProof="0" dirty="0">
              <a:solidFill>
                <a:srgbClr val="000000">
                  <a:hueOff val="0"/>
                  <a:satOff val="0"/>
                  <a:lumOff val="0"/>
                  <a:alphaOff val="0"/>
                </a:srgbClr>
              </a:solidFill>
              <a:latin typeface="+mn-lt"/>
              <a:ea typeface="Calibri" panose="020F0502020204030204" pitchFamily="34" charset="0"/>
              <a:cs typeface="Calibri" panose="020F0502020204030204" pitchFamily="34" charset="0"/>
            </a:rPr>
            <a:t> L‘instance réalisée par email sur tous les dossiers sera accompagnée d‘un appel sortant pour vous prévenir et vous expliquer les éléments attendus </a:t>
          </a:r>
        </a:p>
      </dsp:txBody>
      <dsp:txXfrm rot="-5400000">
        <a:off x="2073973" y="2852456"/>
        <a:ext cx="3653217" cy="625673"/>
      </dsp:txXfrm>
    </dsp:sp>
    <dsp:sp modelId="{25D8B658-F942-4983-82C2-29C71B21FEC4}">
      <dsp:nvSpPr>
        <dsp:cNvPr id="0" name=""/>
        <dsp:cNvSpPr/>
      </dsp:nvSpPr>
      <dsp:spPr>
        <a:xfrm>
          <a:off x="0" y="2731938"/>
          <a:ext cx="2073973" cy="866709"/>
        </a:xfrm>
        <a:prstGeom prst="roundRect">
          <a:avLst/>
        </a:prstGeom>
        <a:solidFill>
          <a:srgbClr val="DFDFDF"/>
        </a:solidFill>
        <a:ln w="254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56896" rIns="99568" bIns="56896" numCol="1" spcCol="1270" anchor="ctr" anchorCtr="0">
          <a:noAutofit/>
        </a:bodyPr>
        <a:lstStyle/>
        <a:p>
          <a:pPr marL="0" lvl="0" indent="0" algn="ctr" defTabSz="622300">
            <a:lnSpc>
              <a:spcPct val="90000"/>
            </a:lnSpc>
            <a:spcBef>
              <a:spcPct val="0"/>
            </a:spcBef>
            <a:spcAft>
              <a:spcPct val="35000"/>
            </a:spcAft>
            <a:buNone/>
          </a:pPr>
          <a:r>
            <a:rPr lang="de-DE" sz="1400" kern="1200" dirty="0" err="1">
              <a:solidFill>
                <a:schemeClr val="accent3"/>
              </a:solidFill>
              <a:latin typeface="+mn-lt"/>
              <a:ea typeface="Calibri" panose="020F0502020204030204" pitchFamily="34" charset="0"/>
              <a:cs typeface="Calibri" panose="020F0502020204030204" pitchFamily="34" charset="0"/>
            </a:rPr>
            <a:t>Un</a:t>
          </a:r>
          <a:r>
            <a:rPr lang="de-DE" sz="1400" kern="1200" dirty="0">
              <a:solidFill>
                <a:schemeClr val="accent3"/>
              </a:solidFill>
              <a:latin typeface="+mn-lt"/>
              <a:ea typeface="Calibri" panose="020F0502020204030204" pitchFamily="34" charset="0"/>
              <a:cs typeface="Calibri" panose="020F0502020204030204" pitchFamily="34" charset="0"/>
            </a:rPr>
            <a:t> </a:t>
          </a:r>
          <a:r>
            <a:rPr lang="de-DE" sz="1400" kern="1200" dirty="0" err="1">
              <a:solidFill>
                <a:schemeClr val="accent3"/>
              </a:solidFill>
              <a:latin typeface="+mn-lt"/>
              <a:ea typeface="Calibri" panose="020F0502020204030204" pitchFamily="34" charset="0"/>
              <a:cs typeface="Calibri" panose="020F0502020204030204" pitchFamily="34" charset="0"/>
            </a:rPr>
            <a:t>accompagnement</a:t>
          </a:r>
          <a:r>
            <a:rPr lang="de-DE" sz="1400" kern="1200" dirty="0">
              <a:solidFill>
                <a:schemeClr val="accent3"/>
              </a:solidFill>
              <a:latin typeface="+mn-lt"/>
              <a:ea typeface="Calibri" panose="020F0502020204030204" pitchFamily="34" charset="0"/>
              <a:cs typeface="Calibri" panose="020F0502020204030204" pitchFamily="34" charset="0"/>
            </a:rPr>
            <a:t> à nos </a:t>
          </a:r>
          <a:r>
            <a:rPr lang="de-DE" sz="1400" kern="1200" dirty="0" err="1">
              <a:solidFill>
                <a:schemeClr val="accent3"/>
              </a:solidFill>
              <a:latin typeface="+mn-lt"/>
              <a:ea typeface="Calibri" panose="020F0502020204030204" pitchFamily="34" charset="0"/>
              <a:cs typeface="Calibri" panose="020F0502020204030204" pitchFamily="34" charset="0"/>
            </a:rPr>
            <a:t>process</a:t>
          </a:r>
          <a:r>
            <a:rPr lang="de-DE" sz="1400" kern="1200" dirty="0">
              <a:solidFill>
                <a:schemeClr val="accent3"/>
              </a:solidFill>
              <a:latin typeface="+mn-lt"/>
              <a:ea typeface="Calibri" panose="020F0502020204030204" pitchFamily="34" charset="0"/>
              <a:cs typeface="Calibri" panose="020F0502020204030204" pitchFamily="34" charset="0"/>
            </a:rPr>
            <a:t> LCB-FT </a:t>
          </a:r>
          <a:endParaRPr lang="fr-FR" sz="1400" kern="1200" dirty="0">
            <a:solidFill>
              <a:schemeClr val="accent3"/>
            </a:solidFill>
            <a:latin typeface="+mn-lt"/>
            <a:ea typeface="Calibri" panose="020F0502020204030204" pitchFamily="34" charset="0"/>
            <a:cs typeface="Calibri" panose="020F0502020204030204" pitchFamily="34" charset="0"/>
          </a:endParaRPr>
        </a:p>
      </dsp:txBody>
      <dsp:txXfrm>
        <a:off x="42309" y="2774247"/>
        <a:ext cx="1989355" cy="782091"/>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2945659" cy="496411"/>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850444" y="1"/>
            <a:ext cx="2945659" cy="496411"/>
          </a:xfrm>
          <a:prstGeom prst="rect">
            <a:avLst/>
          </a:prstGeom>
        </p:spPr>
        <p:txBody>
          <a:bodyPr vert="horz" lIns="91440" tIns="45720" rIns="91440" bIns="45720" rtlCol="0"/>
          <a:lstStyle>
            <a:lvl1pPr algn="r">
              <a:defRPr sz="1200"/>
            </a:lvl1pPr>
          </a:lstStyle>
          <a:p>
            <a:fld id="{0EFC0025-D9A6-4733-84A8-1C8173CC511E}" type="datetimeFigureOut">
              <a:rPr lang="en-GB" smtClean="0"/>
              <a:t>21/02/2025</a:t>
            </a:fld>
            <a:endParaRPr lang="en-GB"/>
          </a:p>
        </p:txBody>
      </p:sp>
      <p:sp>
        <p:nvSpPr>
          <p:cNvPr id="4" name="Footer Placeholder 3"/>
          <p:cNvSpPr>
            <a:spLocks noGrp="1"/>
          </p:cNvSpPr>
          <p:nvPr>
            <p:ph type="ftr" sz="quarter" idx="2"/>
          </p:nvPr>
        </p:nvSpPr>
        <p:spPr>
          <a:xfrm>
            <a:off x="1" y="9430092"/>
            <a:ext cx="2945659" cy="496411"/>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850444" y="9430092"/>
            <a:ext cx="2945659" cy="496411"/>
          </a:xfrm>
          <a:prstGeom prst="rect">
            <a:avLst/>
          </a:prstGeom>
        </p:spPr>
        <p:txBody>
          <a:bodyPr vert="horz" lIns="91440" tIns="45720" rIns="91440" bIns="45720" rtlCol="0" anchor="b"/>
          <a:lstStyle>
            <a:lvl1pPr algn="r">
              <a:defRPr sz="1200"/>
            </a:lvl1pPr>
          </a:lstStyle>
          <a:p>
            <a:fld id="{C756E4D8-A29D-49D7-8203-CE6165357BCA}" type="slidenum">
              <a:rPr lang="en-GB" smtClean="0"/>
              <a:t>‹#›</a:t>
            </a:fld>
            <a:endParaRPr lang="en-GB"/>
          </a:p>
        </p:txBody>
      </p:sp>
    </p:spTree>
    <p:extLst>
      <p:ext uri="{BB962C8B-B14F-4D97-AF65-F5344CB8AC3E}">
        <p14:creationId xmlns:p14="http://schemas.microsoft.com/office/powerpoint/2010/main" val="222923777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2945659" cy="496411"/>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50444" y="1"/>
            <a:ext cx="2945659" cy="496411"/>
          </a:xfrm>
          <a:prstGeom prst="rect">
            <a:avLst/>
          </a:prstGeom>
        </p:spPr>
        <p:txBody>
          <a:bodyPr vert="horz" lIns="91440" tIns="45720" rIns="91440" bIns="45720" rtlCol="0"/>
          <a:lstStyle>
            <a:lvl1pPr algn="r">
              <a:defRPr sz="1200"/>
            </a:lvl1pPr>
          </a:lstStyle>
          <a:p>
            <a:fld id="{4968FD12-72FF-404D-9644-766ED5A34FEC}" type="datetimeFigureOut">
              <a:rPr lang="en-GB" smtClean="0"/>
              <a:t>21/02/2025</a:t>
            </a:fld>
            <a:endParaRPr lang="en-GB"/>
          </a:p>
        </p:txBody>
      </p:sp>
      <p:sp>
        <p:nvSpPr>
          <p:cNvPr id="4" name="Slide Image Placeholder 3"/>
          <p:cNvSpPr>
            <a:spLocks noGrp="1" noRot="1" noChangeAspect="1"/>
          </p:cNvSpPr>
          <p:nvPr>
            <p:ph type="sldImg" idx="2"/>
          </p:nvPr>
        </p:nvSpPr>
        <p:spPr>
          <a:xfrm>
            <a:off x="420688" y="744538"/>
            <a:ext cx="5956300" cy="3722687"/>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79768" y="4715907"/>
            <a:ext cx="5438140" cy="4467701"/>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1" y="9430092"/>
            <a:ext cx="2945659" cy="496411"/>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50444" y="9430092"/>
            <a:ext cx="2945659" cy="496411"/>
          </a:xfrm>
          <a:prstGeom prst="rect">
            <a:avLst/>
          </a:prstGeom>
        </p:spPr>
        <p:txBody>
          <a:bodyPr vert="horz" lIns="91440" tIns="45720" rIns="91440" bIns="45720" rtlCol="0" anchor="b"/>
          <a:lstStyle>
            <a:lvl1pPr algn="r">
              <a:defRPr sz="1200"/>
            </a:lvl1pPr>
          </a:lstStyle>
          <a:p>
            <a:fld id="{43B6037E-FD10-4B5A-B8DF-BE8A41E026DF}" type="slidenum">
              <a:rPr lang="en-GB" smtClean="0"/>
              <a:t>‹#›</a:t>
            </a:fld>
            <a:endParaRPr lang="en-GB"/>
          </a:p>
        </p:txBody>
      </p:sp>
    </p:spTree>
    <p:extLst>
      <p:ext uri="{BB962C8B-B14F-4D97-AF65-F5344CB8AC3E}">
        <p14:creationId xmlns:p14="http://schemas.microsoft.com/office/powerpoint/2010/main" val="36254935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3B6037E-FD10-4B5A-B8DF-BE8A41E026DF}" type="slidenum">
              <a:rPr kumimoji="0" lang="en-GB"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GB"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434802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sz="1000" dirty="0">
              <a:solidFill>
                <a:srgbClr val="000000"/>
              </a:solidFill>
            </a:endParaRPr>
          </a:p>
        </p:txBody>
      </p:sp>
      <p:sp>
        <p:nvSpPr>
          <p:cNvPr id="4" name="Foliennummernplatzhalter 3"/>
          <p:cNvSpPr>
            <a:spLocks noGrp="1"/>
          </p:cNvSpPr>
          <p:nvPr>
            <p:ph type="sldNum" sz="quarter" idx="10"/>
          </p:nvPr>
        </p:nvSpPr>
        <p:spPr/>
        <p:txBody>
          <a:bodyPr/>
          <a:lstStyle/>
          <a:p>
            <a:fld id="{43B6037E-FD10-4B5A-B8DF-BE8A41E026DF}" type="slidenum">
              <a:rPr lang="en-GB" smtClean="0"/>
              <a:t>2</a:t>
            </a:fld>
            <a:endParaRPr lang="en-GB"/>
          </a:p>
        </p:txBody>
      </p:sp>
    </p:spTree>
    <p:extLst>
      <p:ext uri="{BB962C8B-B14F-4D97-AF65-F5344CB8AC3E}">
        <p14:creationId xmlns:p14="http://schemas.microsoft.com/office/powerpoint/2010/main" val="34817850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43B6037E-FD10-4B5A-B8DF-BE8A41E026DF}" type="slidenum">
              <a:rPr lang="en-GB" smtClean="0"/>
              <a:t>3</a:t>
            </a:fld>
            <a:endParaRPr lang="en-GB"/>
          </a:p>
        </p:txBody>
      </p:sp>
    </p:spTree>
    <p:extLst>
      <p:ext uri="{BB962C8B-B14F-4D97-AF65-F5344CB8AC3E}">
        <p14:creationId xmlns:p14="http://schemas.microsoft.com/office/powerpoint/2010/main" val="42493004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GB" dirty="0"/>
          </a:p>
        </p:txBody>
      </p:sp>
      <p:sp>
        <p:nvSpPr>
          <p:cNvPr id="4" name="Foliennummernplatzhalt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3B6037E-FD10-4B5A-B8DF-BE8A41E026DF}" type="slidenum">
              <a:rPr kumimoji="0" lang="en-GB" sz="12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GB" sz="1200" b="0" i="0" u="none" strike="noStrike" kern="1200" cap="none" spc="0" normalizeH="0" baseline="0" noProof="0">
              <a:ln>
                <a:noFill/>
              </a:ln>
              <a:solidFill>
                <a:prstClr val="black"/>
              </a:solidFill>
              <a:effectLst/>
              <a:uLnTx/>
              <a:uFillTx/>
              <a:latin typeface="Arial"/>
              <a:ea typeface="+mn-ea"/>
              <a:cs typeface="+mn-cs"/>
            </a:endParaRPr>
          </a:p>
        </p:txBody>
      </p:sp>
    </p:spTree>
    <p:extLst>
      <p:ext uri="{BB962C8B-B14F-4D97-AF65-F5344CB8AC3E}">
        <p14:creationId xmlns:p14="http://schemas.microsoft.com/office/powerpoint/2010/main" val="1003746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p:spPr>
        <p:txBody>
          <a:bodyPr/>
          <a:lstStyle>
            <a:lvl1pPr defTabSz="949101">
              <a:defRPr sz="1500">
                <a:solidFill>
                  <a:schemeClr val="tx1"/>
                </a:solidFill>
                <a:latin typeface="Arial" panose="020B0604020202020204" pitchFamily="34" charset="0"/>
                <a:cs typeface="Arial" panose="020B0604020202020204" pitchFamily="34" charset="0"/>
              </a:defRPr>
            </a:lvl1pPr>
            <a:lvl2pPr marL="745268" indent="-286641" defTabSz="949101">
              <a:defRPr sz="1500">
                <a:solidFill>
                  <a:schemeClr val="tx1"/>
                </a:solidFill>
                <a:latin typeface="Arial" panose="020B0604020202020204" pitchFamily="34" charset="0"/>
                <a:cs typeface="Arial" panose="020B0604020202020204" pitchFamily="34" charset="0"/>
              </a:defRPr>
            </a:lvl2pPr>
            <a:lvl3pPr marL="1146565" indent="-229312" defTabSz="949101">
              <a:defRPr sz="1500">
                <a:solidFill>
                  <a:schemeClr val="tx1"/>
                </a:solidFill>
                <a:latin typeface="Arial" panose="020B0604020202020204" pitchFamily="34" charset="0"/>
                <a:cs typeface="Arial" panose="020B0604020202020204" pitchFamily="34" charset="0"/>
              </a:defRPr>
            </a:lvl3pPr>
            <a:lvl4pPr marL="1605191" indent="-229312" defTabSz="949101">
              <a:defRPr sz="1500">
                <a:solidFill>
                  <a:schemeClr val="tx1"/>
                </a:solidFill>
                <a:latin typeface="Arial" panose="020B0604020202020204" pitchFamily="34" charset="0"/>
                <a:cs typeface="Arial" panose="020B0604020202020204" pitchFamily="34" charset="0"/>
              </a:defRPr>
            </a:lvl4pPr>
            <a:lvl5pPr marL="2063818" indent="-229312" defTabSz="949101">
              <a:defRPr sz="1500">
                <a:solidFill>
                  <a:schemeClr val="tx1"/>
                </a:solidFill>
                <a:latin typeface="Arial" panose="020B0604020202020204" pitchFamily="34" charset="0"/>
                <a:cs typeface="Arial" panose="020B0604020202020204" pitchFamily="34" charset="0"/>
              </a:defRPr>
            </a:lvl5pPr>
            <a:lvl6pPr marL="2522444" indent="-229312" defTabSz="949101" eaLnBrk="0" fontAlgn="base" hangingPunct="0">
              <a:spcBef>
                <a:spcPct val="0"/>
              </a:spcBef>
              <a:spcAft>
                <a:spcPct val="0"/>
              </a:spcAft>
              <a:defRPr sz="1500">
                <a:solidFill>
                  <a:schemeClr val="tx1"/>
                </a:solidFill>
                <a:latin typeface="Arial" panose="020B0604020202020204" pitchFamily="34" charset="0"/>
                <a:cs typeface="Arial" panose="020B0604020202020204" pitchFamily="34" charset="0"/>
              </a:defRPr>
            </a:lvl6pPr>
            <a:lvl7pPr marL="2981069" indent="-229312" defTabSz="949101" eaLnBrk="0" fontAlgn="base" hangingPunct="0">
              <a:spcBef>
                <a:spcPct val="0"/>
              </a:spcBef>
              <a:spcAft>
                <a:spcPct val="0"/>
              </a:spcAft>
              <a:defRPr sz="1500">
                <a:solidFill>
                  <a:schemeClr val="tx1"/>
                </a:solidFill>
                <a:latin typeface="Arial" panose="020B0604020202020204" pitchFamily="34" charset="0"/>
                <a:cs typeface="Arial" panose="020B0604020202020204" pitchFamily="34" charset="0"/>
              </a:defRPr>
            </a:lvl7pPr>
            <a:lvl8pPr marL="3439695" indent="-229312" defTabSz="949101" eaLnBrk="0" fontAlgn="base" hangingPunct="0">
              <a:spcBef>
                <a:spcPct val="0"/>
              </a:spcBef>
              <a:spcAft>
                <a:spcPct val="0"/>
              </a:spcAft>
              <a:defRPr sz="1500">
                <a:solidFill>
                  <a:schemeClr val="tx1"/>
                </a:solidFill>
                <a:latin typeface="Arial" panose="020B0604020202020204" pitchFamily="34" charset="0"/>
                <a:cs typeface="Arial" panose="020B0604020202020204" pitchFamily="34" charset="0"/>
              </a:defRPr>
            </a:lvl8pPr>
            <a:lvl9pPr marL="3898321" indent="-229312" defTabSz="949101" eaLnBrk="0" fontAlgn="base" hangingPunct="0">
              <a:spcBef>
                <a:spcPct val="0"/>
              </a:spcBef>
              <a:spcAft>
                <a:spcPct val="0"/>
              </a:spcAft>
              <a:defRPr sz="1500">
                <a:solidFill>
                  <a:schemeClr val="tx1"/>
                </a:solidFill>
                <a:latin typeface="Arial" panose="020B0604020202020204" pitchFamily="34" charset="0"/>
                <a:cs typeface="Arial" panose="020B0604020202020204" pitchFamily="34" charset="0"/>
              </a:defRPr>
            </a:lvl9pPr>
          </a:lstStyle>
          <a:p>
            <a:fld id="{0ADF4657-BFBE-473F-9277-940E76A6C2B3}" type="slidenum">
              <a:rPr lang="de-DE" altLang="de-DE" sz="1200">
                <a:solidFill>
                  <a:prstClr val="black"/>
                </a:solidFill>
              </a:rPr>
              <a:pPr/>
              <a:t>13</a:t>
            </a:fld>
            <a:endParaRPr lang="de-DE" altLang="de-DE" sz="1200">
              <a:solidFill>
                <a:prstClr val="black"/>
              </a:solidFill>
            </a:endParaRPr>
          </a:p>
        </p:txBody>
      </p:sp>
      <p:sp>
        <p:nvSpPr>
          <p:cNvPr id="19459" name="Rectangle 2"/>
          <p:cNvSpPr>
            <a:spLocks noGrp="1" noRot="1" noChangeAspect="1" noChangeArrowheads="1" noTextEdit="1"/>
          </p:cNvSpPr>
          <p:nvPr>
            <p:ph type="sldImg"/>
          </p:nvPr>
        </p:nvSpPr>
        <p:spPr>
          <a:xfrm>
            <a:off x="2990850" y="531813"/>
            <a:ext cx="4256088" cy="2660650"/>
          </a:xfrm>
          <a:ln/>
        </p:spPr>
      </p:sp>
      <p:sp>
        <p:nvSpPr>
          <p:cNvPr id="19460" name="Rectangle 3"/>
          <p:cNvSpPr>
            <a:spLocks noGrp="1" noChangeArrowheads="1"/>
          </p:cNvSpPr>
          <p:nvPr>
            <p:ph type="body" idx="1"/>
          </p:nvPr>
        </p:nvSpPr>
        <p:spPr>
          <a:xfrm>
            <a:off x="1023940" y="3370264"/>
            <a:ext cx="8186737" cy="3197224"/>
          </a:xfrm>
          <a:noFill/>
        </p:spPr>
        <p:txBody>
          <a:bodyPr lIns="99668" tIns="49834" rIns="99668" bIns="49834"/>
          <a:lstStyle/>
          <a:p>
            <a:pPr eaLnBrk="1" hangingPunct="1"/>
            <a:endParaRPr lang="fr-CH" altLang="de-DE"/>
          </a:p>
        </p:txBody>
      </p:sp>
    </p:spTree>
    <p:extLst>
      <p:ext uri="{BB962C8B-B14F-4D97-AF65-F5344CB8AC3E}">
        <p14:creationId xmlns:p14="http://schemas.microsoft.com/office/powerpoint/2010/main" val="39702729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GB" dirty="0"/>
          </a:p>
        </p:txBody>
      </p:sp>
      <p:sp>
        <p:nvSpPr>
          <p:cNvPr id="4" name="Foliennummernplatzhalt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3B6037E-FD10-4B5A-B8DF-BE8A41E026DF}" type="slidenum">
              <a:rPr kumimoji="0" lang="en-GB" sz="12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GB" sz="1200" b="0" i="0" u="none" strike="noStrike" kern="1200" cap="none" spc="0" normalizeH="0" baseline="0" noProof="0">
              <a:ln>
                <a:noFill/>
              </a:ln>
              <a:solidFill>
                <a:prstClr val="black"/>
              </a:solidFill>
              <a:effectLst/>
              <a:uLnTx/>
              <a:uFillTx/>
              <a:latin typeface="Arial"/>
              <a:ea typeface="+mn-ea"/>
              <a:cs typeface="+mn-cs"/>
            </a:endParaRPr>
          </a:p>
        </p:txBody>
      </p:sp>
    </p:spTree>
    <p:extLst>
      <p:ext uri="{BB962C8B-B14F-4D97-AF65-F5344CB8AC3E}">
        <p14:creationId xmlns:p14="http://schemas.microsoft.com/office/powerpoint/2010/main" val="12921478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43B6037E-FD10-4B5A-B8DF-BE8A41E026DF}" type="slidenum">
              <a:rPr lang="en-GB" smtClean="0"/>
              <a:t>21</a:t>
            </a:fld>
            <a:endParaRPr lang="en-GB"/>
          </a:p>
        </p:txBody>
      </p:sp>
    </p:spTree>
    <p:extLst>
      <p:ext uri="{BB962C8B-B14F-4D97-AF65-F5344CB8AC3E}">
        <p14:creationId xmlns:p14="http://schemas.microsoft.com/office/powerpoint/2010/main" val="20347693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GB" dirty="0"/>
          </a:p>
        </p:txBody>
      </p:sp>
      <p:sp>
        <p:nvSpPr>
          <p:cNvPr id="4" name="Foliennummernplatzhalter 3"/>
          <p:cNvSpPr>
            <a:spLocks noGrp="1"/>
          </p:cNvSpPr>
          <p:nvPr>
            <p:ph type="sldNum" sz="quarter" idx="10"/>
          </p:nvPr>
        </p:nvSpPr>
        <p:spPr/>
        <p:txBody>
          <a:bodyPr/>
          <a:lstStyle/>
          <a:p>
            <a:fld id="{43B6037E-FD10-4B5A-B8DF-BE8A41E026DF}" type="slidenum">
              <a:rPr lang="en-GB" smtClean="0"/>
              <a:t>23</a:t>
            </a:fld>
            <a:endParaRPr lang="en-GB"/>
          </a:p>
        </p:txBody>
      </p:sp>
    </p:spTree>
    <p:extLst>
      <p:ext uri="{BB962C8B-B14F-4D97-AF65-F5344CB8AC3E}">
        <p14:creationId xmlns:p14="http://schemas.microsoft.com/office/powerpoint/2010/main" val="23881546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GB" dirty="0"/>
          </a:p>
        </p:txBody>
      </p:sp>
      <p:sp>
        <p:nvSpPr>
          <p:cNvPr id="4" name="Foliennummernplatzhalter 3"/>
          <p:cNvSpPr>
            <a:spLocks noGrp="1"/>
          </p:cNvSpPr>
          <p:nvPr>
            <p:ph type="sldNum" sz="quarter" idx="5"/>
          </p:nvPr>
        </p:nvSpPr>
        <p:spPr/>
        <p:txBody>
          <a:bodyPr/>
          <a:lstStyle/>
          <a:p>
            <a:fld id="{43B6037E-FD10-4B5A-B8DF-BE8A41E026DF}" type="slidenum">
              <a:rPr lang="en-GB" smtClean="0"/>
              <a:t>25</a:t>
            </a:fld>
            <a:endParaRPr lang="en-GB"/>
          </a:p>
        </p:txBody>
      </p:sp>
    </p:spTree>
    <p:extLst>
      <p:ext uri="{BB962C8B-B14F-4D97-AF65-F5344CB8AC3E}">
        <p14:creationId xmlns:p14="http://schemas.microsoft.com/office/powerpoint/2010/main" val="27116856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GB" dirty="0"/>
          </a:p>
        </p:txBody>
      </p:sp>
      <p:sp>
        <p:nvSpPr>
          <p:cNvPr id="4" name="Foliennummernplatzhalter 3"/>
          <p:cNvSpPr>
            <a:spLocks noGrp="1"/>
          </p:cNvSpPr>
          <p:nvPr>
            <p:ph type="sldNum" sz="quarter" idx="5"/>
          </p:nvPr>
        </p:nvSpPr>
        <p:spPr/>
        <p:txBody>
          <a:bodyPr/>
          <a:lstStyle/>
          <a:p>
            <a:fld id="{43B6037E-FD10-4B5A-B8DF-BE8A41E026DF}" type="slidenum">
              <a:rPr lang="en-GB" smtClean="0"/>
              <a:t>26</a:t>
            </a:fld>
            <a:endParaRPr lang="en-GB"/>
          </a:p>
        </p:txBody>
      </p:sp>
    </p:spTree>
    <p:extLst>
      <p:ext uri="{BB962C8B-B14F-4D97-AF65-F5344CB8AC3E}">
        <p14:creationId xmlns:p14="http://schemas.microsoft.com/office/powerpoint/2010/main" val="9922069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43B6037E-FD10-4B5A-B8DF-BE8A41E026DF}" type="slidenum">
              <a:rPr lang="en-GB" smtClean="0"/>
              <a:t>27</a:t>
            </a:fld>
            <a:endParaRPr lang="en-GB"/>
          </a:p>
        </p:txBody>
      </p:sp>
    </p:spTree>
    <p:extLst>
      <p:ext uri="{BB962C8B-B14F-4D97-AF65-F5344CB8AC3E}">
        <p14:creationId xmlns:p14="http://schemas.microsoft.com/office/powerpoint/2010/main" val="27612555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GB"/>
          </a:p>
        </p:txBody>
      </p:sp>
      <p:sp>
        <p:nvSpPr>
          <p:cNvPr id="4" name="Foliennummernplatzhalter 3"/>
          <p:cNvSpPr>
            <a:spLocks noGrp="1"/>
          </p:cNvSpPr>
          <p:nvPr>
            <p:ph type="sldNum" sz="quarter" idx="10"/>
          </p:nvPr>
        </p:nvSpPr>
        <p:spPr/>
        <p:txBody>
          <a:bodyPr/>
          <a:lstStyle/>
          <a:p>
            <a:fld id="{43B6037E-FD10-4B5A-B8DF-BE8A41E026DF}" type="slidenum">
              <a:rPr lang="en-GB" smtClean="0"/>
              <a:t>29</a:t>
            </a:fld>
            <a:endParaRPr lang="en-GB"/>
          </a:p>
        </p:txBody>
      </p:sp>
    </p:spTree>
    <p:extLst>
      <p:ext uri="{BB962C8B-B14F-4D97-AF65-F5344CB8AC3E}">
        <p14:creationId xmlns:p14="http://schemas.microsoft.com/office/powerpoint/2010/main" val="23869346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GB"/>
          </a:p>
        </p:txBody>
      </p:sp>
      <p:sp>
        <p:nvSpPr>
          <p:cNvPr id="4" name="Foliennummernplatzhalt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3B6037E-FD10-4B5A-B8DF-BE8A41E026DF}" type="slidenum">
              <a:rPr kumimoji="0" lang="en-GB" sz="12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GB" sz="1200" b="0" i="0" u="none" strike="noStrike" kern="1200" cap="none" spc="0" normalizeH="0" baseline="0" noProof="0">
              <a:ln>
                <a:noFill/>
              </a:ln>
              <a:solidFill>
                <a:prstClr val="black"/>
              </a:solidFill>
              <a:effectLst/>
              <a:uLnTx/>
              <a:uFillTx/>
              <a:latin typeface="Arial"/>
              <a:ea typeface="+mn-ea"/>
              <a:cs typeface="+mn-cs"/>
            </a:endParaRPr>
          </a:p>
        </p:txBody>
      </p:sp>
    </p:spTree>
    <p:extLst>
      <p:ext uri="{BB962C8B-B14F-4D97-AF65-F5344CB8AC3E}">
        <p14:creationId xmlns:p14="http://schemas.microsoft.com/office/powerpoint/2010/main" val="6158061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GB"/>
          </a:p>
        </p:txBody>
      </p:sp>
      <p:sp>
        <p:nvSpPr>
          <p:cNvPr id="4" name="Foliennummernplatzhalter 3"/>
          <p:cNvSpPr>
            <a:spLocks noGrp="1"/>
          </p:cNvSpPr>
          <p:nvPr>
            <p:ph type="sldNum" sz="quarter" idx="10"/>
          </p:nvPr>
        </p:nvSpPr>
        <p:spPr/>
        <p:txBody>
          <a:bodyPr/>
          <a:lstStyle/>
          <a:p>
            <a:fld id="{43B6037E-FD10-4B5A-B8DF-BE8A41E026DF}" type="slidenum">
              <a:rPr lang="en-GB" smtClean="0"/>
              <a:t>32</a:t>
            </a:fld>
            <a:endParaRPr lang="en-GB"/>
          </a:p>
        </p:txBody>
      </p:sp>
    </p:spTree>
    <p:extLst>
      <p:ext uri="{BB962C8B-B14F-4D97-AF65-F5344CB8AC3E}">
        <p14:creationId xmlns:p14="http://schemas.microsoft.com/office/powerpoint/2010/main" val="3952966475"/>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tags" Target="../tags/tag8.xml"/><Relationship Id="rId7" Type="http://schemas.openxmlformats.org/officeDocument/2006/relationships/slideMaster" Target="../slideMasters/slideMaster1.xml"/><Relationship Id="rId2" Type="http://schemas.openxmlformats.org/officeDocument/2006/relationships/tags" Target="../tags/tag7.xml"/><Relationship Id="rId1" Type="http://schemas.openxmlformats.org/officeDocument/2006/relationships/themeOverride" Target="../theme/themeOverride1.xml"/><Relationship Id="rId6" Type="http://schemas.openxmlformats.org/officeDocument/2006/relationships/tags" Target="../tags/tag11.xml"/><Relationship Id="rId5" Type="http://schemas.openxmlformats.org/officeDocument/2006/relationships/tags" Target="../tags/tag10.xml"/><Relationship Id="rId4" Type="http://schemas.openxmlformats.org/officeDocument/2006/relationships/tags" Target="../tags/tag9.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2.xml"/></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13.xml"/><Relationship Id="rId7" Type="http://schemas.openxmlformats.org/officeDocument/2006/relationships/image" Target="../media/image1.emf"/><Relationship Id="rId2" Type="http://schemas.openxmlformats.org/officeDocument/2006/relationships/tags" Target="../tags/tag12.xml"/><Relationship Id="rId1" Type="http://schemas.openxmlformats.org/officeDocument/2006/relationships/themeOverride" Target="../theme/themeOverride3.xml"/><Relationship Id="rId6" Type="http://schemas.openxmlformats.org/officeDocument/2006/relationships/slideMaster" Target="../slideMasters/slideMaster1.xml"/><Relationship Id="rId5" Type="http://schemas.openxmlformats.org/officeDocument/2006/relationships/tags" Target="../tags/tag15.xml"/><Relationship Id="rId4" Type="http://schemas.openxmlformats.org/officeDocument/2006/relationships/tags" Target="../tags/tag14.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17.xml"/><Relationship Id="rId7" Type="http://schemas.openxmlformats.org/officeDocument/2006/relationships/image" Target="../media/image1.emf"/><Relationship Id="rId2" Type="http://schemas.openxmlformats.org/officeDocument/2006/relationships/tags" Target="../tags/tag16.xml"/><Relationship Id="rId1" Type="http://schemas.openxmlformats.org/officeDocument/2006/relationships/themeOverride" Target="../theme/themeOverride4.xml"/><Relationship Id="rId6" Type="http://schemas.openxmlformats.org/officeDocument/2006/relationships/slideMaster" Target="../slideMasters/slideMaster1.xml"/><Relationship Id="rId5" Type="http://schemas.openxmlformats.org/officeDocument/2006/relationships/tags" Target="../tags/tag19.xml"/><Relationship Id="rId4" Type="http://schemas.openxmlformats.org/officeDocument/2006/relationships/tags" Target="../tags/tag18.xml"/></Relationships>
</file>

<file path=ppt/slideLayouts/_rels/slideLayout5.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tags" Target="../tags/tag21.xml"/><Relationship Id="rId7" Type="http://schemas.openxmlformats.org/officeDocument/2006/relationships/slideMaster" Target="../slideMasters/slideMaster1.xml"/><Relationship Id="rId2" Type="http://schemas.openxmlformats.org/officeDocument/2006/relationships/tags" Target="../tags/tag20.xml"/><Relationship Id="rId1" Type="http://schemas.openxmlformats.org/officeDocument/2006/relationships/themeOverride" Target="../theme/themeOverride5.xml"/><Relationship Id="rId6" Type="http://schemas.openxmlformats.org/officeDocument/2006/relationships/tags" Target="../tags/tag24.xml"/><Relationship Id="rId5" Type="http://schemas.openxmlformats.org/officeDocument/2006/relationships/tags" Target="../tags/tag23.xml"/><Relationship Id="rId4" Type="http://schemas.openxmlformats.org/officeDocument/2006/relationships/tags" Target="../tags/tag22.xml"/></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6.xml"/></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7.xml"/></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8.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9.xml"/></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0.xml"/></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1.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2.xml"/></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3.xml"/></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4.xml"/></Relationships>
</file>

<file path=ppt/slideLayouts/_rels/slideLayout15.xml.rels><?xml version="1.0" encoding="UTF-8" standalone="yes"?>
<Relationships xmlns="http://schemas.openxmlformats.org/package/2006/relationships"><Relationship Id="rId3" Type="http://schemas.openxmlformats.org/officeDocument/2006/relationships/tags" Target="../tags/tag26.xml"/><Relationship Id="rId2" Type="http://schemas.openxmlformats.org/officeDocument/2006/relationships/tags" Target="../tags/tag25.xml"/><Relationship Id="rId1" Type="http://schemas.openxmlformats.org/officeDocument/2006/relationships/themeOverride" Target="../theme/themeOverride15.xml"/><Relationship Id="rId6" Type="http://schemas.openxmlformats.org/officeDocument/2006/relationships/image" Target="../media/image1.emf"/><Relationship Id="rId5" Type="http://schemas.openxmlformats.org/officeDocument/2006/relationships/slideMaster" Target="../slideMasters/slideMaster1.xml"/><Relationship Id="rId4" Type="http://schemas.openxmlformats.org/officeDocument/2006/relationships/tags" Target="../tags/tag27.xml"/></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tags" Target="../tags/tag29.xml"/><Relationship Id="rId7" Type="http://schemas.openxmlformats.org/officeDocument/2006/relationships/slideMaster" Target="../slideMasters/slideMaster1.xml"/><Relationship Id="rId2" Type="http://schemas.openxmlformats.org/officeDocument/2006/relationships/tags" Target="../tags/tag28.xml"/><Relationship Id="rId1" Type="http://schemas.openxmlformats.org/officeDocument/2006/relationships/themeOverride" Target="../theme/themeOverride16.xml"/><Relationship Id="rId6" Type="http://schemas.openxmlformats.org/officeDocument/2006/relationships/tags" Target="../tags/tag32.xml"/><Relationship Id="rId5" Type="http://schemas.openxmlformats.org/officeDocument/2006/relationships/tags" Target="../tags/tag31.xml"/><Relationship Id="rId4" Type="http://schemas.openxmlformats.org/officeDocument/2006/relationships/tags" Target="../tags/tag30.xml"/></Relationships>
</file>

<file path=ppt/slideLayouts/_rels/slideLayout1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7.xml"/></Relationships>
</file>

<file path=ppt/slideLayouts/_rels/slideLayout18.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tags" Target="../tags/tag39.xml"/><Relationship Id="rId7" Type="http://schemas.openxmlformats.org/officeDocument/2006/relationships/slideMaster" Target="../slideMasters/slideMaster2.xml"/><Relationship Id="rId2" Type="http://schemas.openxmlformats.org/officeDocument/2006/relationships/tags" Target="../tags/tag38.xml"/><Relationship Id="rId1" Type="http://schemas.openxmlformats.org/officeDocument/2006/relationships/themeOverride" Target="../theme/themeOverride18.xml"/><Relationship Id="rId6" Type="http://schemas.openxmlformats.org/officeDocument/2006/relationships/tags" Target="../tags/tag42.xml"/><Relationship Id="rId5" Type="http://schemas.openxmlformats.org/officeDocument/2006/relationships/tags" Target="../tags/tag41.xml"/><Relationship Id="rId4" Type="http://schemas.openxmlformats.org/officeDocument/2006/relationships/tags" Target="../tags/tag40.xml"/></Relationships>
</file>

<file path=ppt/slideLayouts/_rels/slideLayout19.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19.xml"/></Relationships>
</file>

<file path=ppt/slideLayouts/_rels/slideLayout20.xml.rels><?xml version="1.0" encoding="UTF-8" standalone="yes"?>
<Relationships xmlns="http://schemas.openxmlformats.org/package/2006/relationships"><Relationship Id="rId3" Type="http://schemas.openxmlformats.org/officeDocument/2006/relationships/tags" Target="../tags/tag44.xml"/><Relationship Id="rId7" Type="http://schemas.openxmlformats.org/officeDocument/2006/relationships/image" Target="../media/image1.emf"/><Relationship Id="rId2" Type="http://schemas.openxmlformats.org/officeDocument/2006/relationships/tags" Target="../tags/tag43.xml"/><Relationship Id="rId1" Type="http://schemas.openxmlformats.org/officeDocument/2006/relationships/themeOverride" Target="../theme/themeOverride20.xml"/><Relationship Id="rId6" Type="http://schemas.openxmlformats.org/officeDocument/2006/relationships/slideMaster" Target="../slideMasters/slideMaster2.xml"/><Relationship Id="rId5" Type="http://schemas.openxmlformats.org/officeDocument/2006/relationships/tags" Target="../tags/tag46.xml"/><Relationship Id="rId4" Type="http://schemas.openxmlformats.org/officeDocument/2006/relationships/tags" Target="../tags/tag45.xml"/></Relationships>
</file>

<file path=ppt/slideLayouts/_rels/slideLayout21.xml.rels><?xml version="1.0" encoding="UTF-8" standalone="yes"?>
<Relationships xmlns="http://schemas.openxmlformats.org/package/2006/relationships"><Relationship Id="rId3" Type="http://schemas.openxmlformats.org/officeDocument/2006/relationships/tags" Target="../tags/tag48.xml"/><Relationship Id="rId7" Type="http://schemas.openxmlformats.org/officeDocument/2006/relationships/image" Target="../media/image1.emf"/><Relationship Id="rId2" Type="http://schemas.openxmlformats.org/officeDocument/2006/relationships/tags" Target="../tags/tag47.xml"/><Relationship Id="rId1" Type="http://schemas.openxmlformats.org/officeDocument/2006/relationships/themeOverride" Target="../theme/themeOverride21.xml"/><Relationship Id="rId6" Type="http://schemas.openxmlformats.org/officeDocument/2006/relationships/slideMaster" Target="../slideMasters/slideMaster2.xml"/><Relationship Id="rId5" Type="http://schemas.openxmlformats.org/officeDocument/2006/relationships/tags" Target="../tags/tag50.xml"/><Relationship Id="rId4" Type="http://schemas.openxmlformats.org/officeDocument/2006/relationships/tags" Target="../tags/tag49.xml"/></Relationships>
</file>

<file path=ppt/slideLayouts/_rels/slideLayout22.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tags" Target="../tags/tag52.xml"/><Relationship Id="rId7" Type="http://schemas.openxmlformats.org/officeDocument/2006/relationships/slideMaster" Target="../slideMasters/slideMaster2.xml"/><Relationship Id="rId2" Type="http://schemas.openxmlformats.org/officeDocument/2006/relationships/tags" Target="../tags/tag51.xml"/><Relationship Id="rId1" Type="http://schemas.openxmlformats.org/officeDocument/2006/relationships/themeOverride" Target="../theme/themeOverride22.xml"/><Relationship Id="rId6" Type="http://schemas.openxmlformats.org/officeDocument/2006/relationships/tags" Target="../tags/tag55.xml"/><Relationship Id="rId5" Type="http://schemas.openxmlformats.org/officeDocument/2006/relationships/tags" Target="../tags/tag54.xml"/><Relationship Id="rId4" Type="http://schemas.openxmlformats.org/officeDocument/2006/relationships/tags" Target="../tags/tag53.xml"/></Relationships>
</file>

<file path=ppt/slideLayouts/_rels/slideLayout2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23.xml"/></Relationships>
</file>

<file path=ppt/slideLayouts/_rels/slideLayout2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24.xml"/></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25.xml"/></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26.xml"/></Relationships>
</file>

<file path=ppt/slideLayouts/_rels/slideLayout27.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27.xml"/></Relationships>
</file>

<file path=ppt/slideLayouts/_rels/slideLayout28.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28.xml"/></Relationships>
</file>

<file path=ppt/slideLayouts/_rels/slideLayout29.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29.xml"/></Relationships>
</file>

<file path=ppt/slideLayouts/_rels/slideLayout30.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30.xml"/></Relationships>
</file>

<file path=ppt/slideLayouts/_rels/slideLayout31.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31.xml"/></Relationships>
</file>

<file path=ppt/slideLayouts/_rels/slideLayout32.xml.rels><?xml version="1.0" encoding="UTF-8" standalone="yes"?>
<Relationships xmlns="http://schemas.openxmlformats.org/package/2006/relationships"><Relationship Id="rId3" Type="http://schemas.openxmlformats.org/officeDocument/2006/relationships/tags" Target="../tags/tag57.xml"/><Relationship Id="rId2" Type="http://schemas.openxmlformats.org/officeDocument/2006/relationships/tags" Target="../tags/tag56.xml"/><Relationship Id="rId1" Type="http://schemas.openxmlformats.org/officeDocument/2006/relationships/themeOverride" Target="../theme/themeOverride32.xml"/><Relationship Id="rId6" Type="http://schemas.openxmlformats.org/officeDocument/2006/relationships/image" Target="../media/image1.emf"/><Relationship Id="rId5" Type="http://schemas.openxmlformats.org/officeDocument/2006/relationships/slideMaster" Target="../slideMasters/slideMaster2.xml"/><Relationship Id="rId4" Type="http://schemas.openxmlformats.org/officeDocument/2006/relationships/tags" Target="../tags/tag58.xml"/></Relationships>
</file>

<file path=ppt/slideLayouts/_rels/slideLayout33.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tags" Target="../tags/tag60.xml"/><Relationship Id="rId7" Type="http://schemas.openxmlformats.org/officeDocument/2006/relationships/slideMaster" Target="../slideMasters/slideMaster2.xml"/><Relationship Id="rId2" Type="http://schemas.openxmlformats.org/officeDocument/2006/relationships/tags" Target="../tags/tag59.xml"/><Relationship Id="rId1" Type="http://schemas.openxmlformats.org/officeDocument/2006/relationships/themeOverride" Target="../theme/themeOverride33.xml"/><Relationship Id="rId6" Type="http://schemas.openxmlformats.org/officeDocument/2006/relationships/tags" Target="../tags/tag63.xml"/><Relationship Id="rId5" Type="http://schemas.openxmlformats.org/officeDocument/2006/relationships/tags" Target="../tags/tag62.xml"/><Relationship Id="rId4" Type="http://schemas.openxmlformats.org/officeDocument/2006/relationships/tags" Target="../tags/tag6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preserve="1" userDrawn="1">
  <p:cSld name="Title Slide">
    <p:spTree>
      <p:nvGrpSpPr>
        <p:cNvPr id="1" name=""/>
        <p:cNvGrpSpPr/>
        <p:nvPr/>
      </p:nvGrpSpPr>
      <p:grpSpPr>
        <a:xfrm>
          <a:off x="0" y="0"/>
          <a:ext cx="0" cy="0"/>
          <a:chOff x="0" y="0"/>
          <a:chExt cx="0" cy="0"/>
        </a:xfrm>
      </p:grpSpPr>
      <p:sp>
        <p:nvSpPr>
          <p:cNvPr id="2" name="EcoBackground" hidden="1"/>
          <p:cNvSpPr/>
          <p:nvPr userDrawn="1">
            <p:custDataLst>
              <p:tags r:id="rId2"/>
            </p:custDataLst>
          </p:nvPr>
        </p:nvSpPr>
        <p:spPr bwMode="white">
          <a:xfrm>
            <a:off x="0" y="0"/>
            <a:ext cx="9144000" cy="5715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rgbClr val="FFFFFF"/>
              </a:solidFill>
              <a:latin typeface="Arial" panose="020B0604020202020204" pitchFamily="34" charset="0"/>
              <a:cs typeface="Arial" panose="020B0604020202020204" pitchFamily="34" charset="0"/>
            </a:endParaRPr>
          </a:p>
        </p:txBody>
      </p:sp>
      <p:sp>
        <p:nvSpPr>
          <p:cNvPr id="8" name="Title 1"/>
          <p:cNvSpPr>
            <a:spLocks noGrp="1"/>
          </p:cNvSpPr>
          <p:nvPr>
            <p:ph type="ctrTitle"/>
            <p:custDataLst>
              <p:tags r:id="rId3"/>
            </p:custDataLst>
          </p:nvPr>
        </p:nvSpPr>
        <p:spPr>
          <a:xfrm>
            <a:off x="395286" y="4104038"/>
            <a:ext cx="3528641" cy="353943"/>
          </a:xfrm>
        </p:spPr>
        <p:txBody>
          <a:bodyPr vert="horz" wrap="square" lIns="0" tIns="0" rIns="0" bIns="0" rtlCol="0" anchor="b" anchorCtr="0">
            <a:spAutoFit/>
          </a:bodyPr>
          <a:lstStyle>
            <a:lvl1pPr>
              <a:defRPr lang="en-GB" sz="2300" b="0" cap="none" baseline="0" noProof="0" dirty="0">
                <a:solidFill>
                  <a:schemeClr val="tx1"/>
                </a:solidFill>
              </a:defRPr>
            </a:lvl1pPr>
          </a:lstStyle>
          <a:p>
            <a:pPr lvl="0"/>
            <a:r>
              <a:rPr lang="fr-FR" noProof="0"/>
              <a:t>Click to edit Master title style</a:t>
            </a:r>
            <a:endParaRPr lang="fr-FR" noProof="0" dirty="0"/>
          </a:p>
        </p:txBody>
      </p:sp>
      <p:sp>
        <p:nvSpPr>
          <p:cNvPr id="9" name="Subtitle 2"/>
          <p:cNvSpPr>
            <a:spLocks noGrp="1"/>
          </p:cNvSpPr>
          <p:nvPr>
            <p:ph type="subTitle" idx="1"/>
            <p:custDataLst>
              <p:tags r:id="rId4"/>
            </p:custDataLst>
          </p:nvPr>
        </p:nvSpPr>
        <p:spPr>
          <a:xfrm>
            <a:off x="395288" y="4600733"/>
            <a:ext cx="3528640" cy="138499"/>
          </a:xfrm>
        </p:spPr>
        <p:txBody>
          <a:bodyPr wrap="square" lIns="0">
            <a:spAutoFit/>
          </a:bodyPr>
          <a:lstStyle>
            <a:lvl1pPr marL="0" indent="0" algn="l">
              <a:spcAft>
                <a:spcPts val="0"/>
              </a:spcAft>
              <a:buNone/>
              <a:defRPr sz="9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noProof="0"/>
              <a:t>Click to edit Master subtitle style</a:t>
            </a:r>
            <a:endParaRPr lang="fr-FR" noProof="0" dirty="0"/>
          </a:p>
        </p:txBody>
      </p:sp>
      <p:sp>
        <p:nvSpPr>
          <p:cNvPr id="11" name="Status" hidden="1"/>
          <p:cNvSpPr txBox="1">
            <a:spLocks/>
          </p:cNvSpPr>
          <p:nvPr userDrawn="1">
            <p:custDataLst>
              <p:tags r:id="rId5"/>
            </p:custDataLst>
          </p:nvPr>
        </p:nvSpPr>
        <p:spPr bwMode="gray">
          <a:xfrm>
            <a:off x="8744068" y="1374493"/>
            <a:ext cx="399932" cy="169277"/>
          </a:xfrm>
          <a:prstGeom prst="rect">
            <a:avLst/>
          </a:prstGeom>
          <a:solidFill>
            <a:srgbClr val="DFDFDF"/>
          </a:solidFill>
        </p:spPr>
        <p:txBody>
          <a:bodyPr wrap="none" lIns="72000" tIns="0" rIns="324000" bIns="0" rtlCol="0" anchor="ctr">
            <a:spAutoFit/>
          </a:bodyPr>
          <a:lstStyle/>
          <a:p>
            <a:pPr algn="r"/>
            <a:endParaRPr lang="fr-FR" sz="1100" cap="none" baseline="0" dirty="0">
              <a:solidFill>
                <a:srgbClr val="000000"/>
              </a:solidFill>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98156219-86A2-5D9B-7B6F-30912E0EE692}"/>
              </a:ext>
            </a:extLst>
          </p:cNvPr>
          <p:cNvPicPr>
            <a:picLocks noChangeAspect="1"/>
          </p:cNvPicPr>
          <p:nvPr userDrawn="1">
            <p:custDataLst>
              <p:tags r:id="rId6"/>
            </p:custDataLst>
          </p:nvPr>
        </p:nvPicPr>
        <p:blipFill>
          <a:blip r:embed="rId8">
            <a:extLst>
              <a:ext uri="{28A0092B-C50C-407E-A947-70E740481C1C}">
                <a14:useLocalDpi xmlns:a14="http://schemas.microsoft.com/office/drawing/2010/main" val="0"/>
              </a:ext>
            </a:extLst>
          </a:blip>
          <a:stretch>
            <a:fillRect/>
          </a:stretch>
        </p:blipFill>
        <p:spPr bwMode="gray">
          <a:xfrm>
            <a:off x="7523286" y="308924"/>
            <a:ext cx="961108" cy="669343"/>
          </a:xfrm>
          <a:prstGeom prst="rect">
            <a:avLst/>
          </a:prstGeom>
        </p:spPr>
      </p:pic>
    </p:spTree>
    <p:extLst>
      <p:ext uri="{BB962C8B-B14F-4D97-AF65-F5344CB8AC3E}">
        <p14:creationId xmlns:p14="http://schemas.microsoft.com/office/powerpoint/2010/main" val="2701133977"/>
      </p:ext>
    </p:extLst>
  </p:cSld>
  <p:clrMapOvr>
    <a:masterClrMapping/>
  </p:clrMapOvr>
  <p:hf sldNum="0" hdr="0" ftr="0"/>
  <p:extLst>
    <p:ext uri="{DCECCB84-F9BA-43D5-87BE-67443E8EF086}">
      <p15:sldGuideLst xmlns:p15="http://schemas.microsoft.com/office/powerpoint/2012/main">
        <p15:guide id="1" pos="249" userDrawn="1">
          <p15:clr>
            <a:srgbClr val="FBAE40"/>
          </p15:clr>
        </p15:guide>
        <p15:guide id="2" orient="horz" pos="2765" userDrawn="1">
          <p15:clr>
            <a:srgbClr val="FBAE40"/>
          </p15:clr>
        </p15:guide>
        <p15:guide id="3" orient="horz" pos="2967"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0826" y="121196"/>
            <a:ext cx="7201494" cy="1080542"/>
          </a:xfrm>
        </p:spPr>
        <p:txBody>
          <a:bodyPr/>
          <a:lstStyle/>
          <a:p>
            <a:r>
              <a:rPr lang="fr-FR" noProof="0"/>
              <a:t>Click to edit Master title style</a:t>
            </a:r>
            <a:endParaRPr lang="fr-FR" noProof="0" dirty="0"/>
          </a:p>
        </p:txBody>
      </p:sp>
      <p:sp>
        <p:nvSpPr>
          <p:cNvPr id="3" name="Content Placeholder 2"/>
          <p:cNvSpPr>
            <a:spLocks noGrp="1"/>
          </p:cNvSpPr>
          <p:nvPr>
            <p:ph idx="1"/>
          </p:nvPr>
        </p:nvSpPr>
        <p:spPr>
          <a:xfrm>
            <a:off x="250824" y="1562100"/>
            <a:ext cx="5761038" cy="3600450"/>
          </a:xfrm>
        </p:spPr>
        <p:txBody>
          <a:bodyPr/>
          <a:lstStyle/>
          <a:p>
            <a:pPr lvl="0"/>
            <a:r>
              <a:rPr lang="fr-FR" noProof="0"/>
              <a:t>Click to edit Master text styles</a:t>
            </a:r>
          </a:p>
          <a:p>
            <a:pPr lvl="1"/>
            <a:r>
              <a:rPr lang="fr-FR" noProof="0"/>
              <a:t>Second level</a:t>
            </a:r>
          </a:p>
          <a:p>
            <a:pPr lvl="2"/>
            <a:r>
              <a:rPr lang="fr-FR" noProof="0"/>
              <a:t>Third level</a:t>
            </a:r>
          </a:p>
          <a:p>
            <a:pPr lvl="3"/>
            <a:r>
              <a:rPr lang="fr-FR" noProof="0"/>
              <a:t>Fourth level</a:t>
            </a:r>
          </a:p>
          <a:p>
            <a:pPr lvl="4"/>
            <a:r>
              <a:rPr lang="fr-FR" noProof="0"/>
              <a:t>Fifth level</a:t>
            </a:r>
            <a:endParaRPr lang="fr-FR" noProof="0" dirty="0"/>
          </a:p>
        </p:txBody>
      </p:sp>
      <p:sp>
        <p:nvSpPr>
          <p:cNvPr id="6" name="Text Placeholder 5"/>
          <p:cNvSpPr>
            <a:spLocks noGrp="1"/>
          </p:cNvSpPr>
          <p:nvPr>
            <p:ph type="body" sz="quarter" idx="12"/>
          </p:nvPr>
        </p:nvSpPr>
        <p:spPr>
          <a:xfrm>
            <a:off x="7524750" y="1561356"/>
            <a:ext cx="1295400" cy="3601194"/>
          </a:xfrm>
        </p:spPr>
        <p:txBody>
          <a:bodyPr/>
          <a:lstStyle>
            <a:lvl1pPr marL="0" indent="0">
              <a:lnSpc>
                <a:spcPts val="1200"/>
              </a:lnSpc>
              <a:spcAft>
                <a:spcPts val="0"/>
              </a:spcAft>
              <a:buFontTx/>
              <a:buNone/>
              <a:defRPr sz="1000">
                <a:solidFill>
                  <a:schemeClr val="tx2"/>
                </a:solidFill>
              </a:defRPr>
            </a:lvl1pPr>
            <a:lvl2pPr marL="216000" indent="0">
              <a:lnSpc>
                <a:spcPct val="100000"/>
              </a:lnSpc>
              <a:spcAft>
                <a:spcPts val="0"/>
              </a:spcAft>
              <a:buFontTx/>
              <a:buNone/>
              <a:defRPr sz="1000"/>
            </a:lvl2pPr>
            <a:lvl3pPr marL="360000" indent="0">
              <a:lnSpc>
                <a:spcPct val="100000"/>
              </a:lnSpc>
              <a:spcAft>
                <a:spcPts val="0"/>
              </a:spcAft>
              <a:buFontTx/>
              <a:buNone/>
              <a:defRPr sz="1000"/>
            </a:lvl3pPr>
            <a:lvl4pPr marL="539750" indent="0">
              <a:lnSpc>
                <a:spcPct val="100000"/>
              </a:lnSpc>
              <a:spcAft>
                <a:spcPts val="0"/>
              </a:spcAft>
              <a:buFontTx/>
              <a:buNone/>
              <a:defRPr sz="1000"/>
            </a:lvl4pPr>
            <a:lvl5pPr marL="712787" indent="0">
              <a:lnSpc>
                <a:spcPct val="100000"/>
              </a:lnSpc>
              <a:spcAft>
                <a:spcPts val="0"/>
              </a:spcAft>
              <a:buFontTx/>
              <a:buNone/>
              <a:defRPr sz="1000"/>
            </a:lvl5pPr>
          </a:lstStyle>
          <a:p>
            <a:pPr lvl="0"/>
            <a:r>
              <a:rPr lang="fr-FR"/>
              <a:t>Click to edit Master text styles</a:t>
            </a:r>
            <a:endParaRPr lang="fr-FR" dirty="0"/>
          </a:p>
        </p:txBody>
      </p:sp>
    </p:spTree>
    <p:extLst>
      <p:ext uri="{BB962C8B-B14F-4D97-AF65-F5344CB8AC3E}">
        <p14:creationId xmlns:p14="http://schemas.microsoft.com/office/powerpoint/2010/main" val="1529914333"/>
      </p:ext>
    </p:extLst>
  </p:cSld>
  <p:clrMapOvr>
    <a:masterClrMapping/>
  </p:clrMapOvr>
  <p:hf sldNum="0" hdr="0" ftr="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Title Slide with Image" preserve="1" userDrawn="1">
  <p:cSld name="Title Slide with Image">
    <p:bg>
      <p:bgPr>
        <a:solidFill>
          <a:schemeClr val="accent4">
            <a:lumMod val="40000"/>
            <a:lumOff val="60000"/>
          </a:schemeClr>
        </a:solidFill>
        <a:effectLst/>
      </p:bgPr>
    </p:bg>
    <p:spTree>
      <p:nvGrpSpPr>
        <p:cNvPr id="1" name=""/>
        <p:cNvGrpSpPr/>
        <p:nvPr/>
      </p:nvGrpSpPr>
      <p:grpSpPr>
        <a:xfrm>
          <a:off x="0" y="0"/>
          <a:ext cx="0" cy="0"/>
          <a:chOff x="0" y="0"/>
          <a:chExt cx="0" cy="0"/>
        </a:xfrm>
      </p:grpSpPr>
      <p:sp>
        <p:nvSpPr>
          <p:cNvPr id="11" name="Picture Placeholder 4"/>
          <p:cNvSpPr>
            <a:spLocks noGrp="1"/>
          </p:cNvSpPr>
          <p:nvPr>
            <p:ph type="pic" sz="quarter" idx="10"/>
            <p:custDataLst>
              <p:tags r:id="rId2"/>
            </p:custDataLst>
          </p:nvPr>
        </p:nvSpPr>
        <p:spPr>
          <a:xfrm>
            <a:off x="0" y="0"/>
            <a:ext cx="9144000" cy="5715000"/>
          </a:xfrm>
          <a:noFill/>
        </p:spPr>
        <p:txBody>
          <a:bodyPr lIns="0" tIns="0" bIns="468000" anchor="ctr" anchorCtr="0"/>
          <a:lstStyle>
            <a:lvl1pPr marL="0" indent="0" algn="ctr">
              <a:buNone/>
              <a:defRPr>
                <a:solidFill>
                  <a:schemeClr val="tx1"/>
                </a:solidFill>
              </a:defRPr>
            </a:lvl1pPr>
          </a:lstStyle>
          <a:p>
            <a:r>
              <a:rPr lang="fr-FR" noProof="0"/>
              <a:t>Click icon to add picture</a:t>
            </a:r>
            <a:endParaRPr lang="fr-FR" noProof="0" dirty="0"/>
          </a:p>
        </p:txBody>
      </p:sp>
      <p:sp>
        <p:nvSpPr>
          <p:cNvPr id="12" name="Subtitle 2"/>
          <p:cNvSpPr>
            <a:spLocks noGrp="1"/>
          </p:cNvSpPr>
          <p:nvPr>
            <p:ph type="subTitle" idx="1"/>
          </p:nvPr>
        </p:nvSpPr>
        <p:spPr bwMode="ltGray">
          <a:xfrm>
            <a:off x="0" y="4529242"/>
            <a:ext cx="3923928" cy="374785"/>
          </a:xfrm>
          <a:solidFill>
            <a:schemeClr val="bg1"/>
          </a:solidFill>
        </p:spPr>
        <p:txBody>
          <a:bodyPr lIns="396000" tIns="72000" rIns="144000" bIns="162000">
            <a:spAutoFit/>
          </a:bodyPr>
          <a:lstStyle>
            <a:lvl1pPr marL="0" indent="0" algn="l">
              <a:spcAft>
                <a:spcPts val="0"/>
              </a:spcAft>
              <a:buNone/>
              <a:defRPr sz="9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noProof="0"/>
              <a:t>Click to edit Master subtitle style</a:t>
            </a:r>
            <a:endParaRPr lang="fr-FR" noProof="0" dirty="0"/>
          </a:p>
        </p:txBody>
      </p:sp>
      <p:sp>
        <p:nvSpPr>
          <p:cNvPr id="13" name="Title 1"/>
          <p:cNvSpPr>
            <a:spLocks noGrp="1"/>
          </p:cNvSpPr>
          <p:nvPr>
            <p:ph type="ctrTitle"/>
          </p:nvPr>
        </p:nvSpPr>
        <p:spPr bwMode="ltGray">
          <a:xfrm>
            <a:off x="0" y="3615550"/>
            <a:ext cx="3923928" cy="961499"/>
          </a:xfrm>
          <a:solidFill>
            <a:schemeClr val="bg1"/>
          </a:solidFill>
        </p:spPr>
        <p:txBody>
          <a:bodyPr lIns="396000" tIns="147600" rIns="144000" bIns="118800" anchor="b" anchorCtr="0">
            <a:spAutoFit/>
          </a:bodyPr>
          <a:lstStyle>
            <a:lvl1pPr algn="l">
              <a:lnSpc>
                <a:spcPts val="2700"/>
              </a:lnSpc>
              <a:defRPr sz="2300" baseline="0">
                <a:solidFill>
                  <a:schemeClr val="tx1"/>
                </a:solidFill>
              </a:defRPr>
            </a:lvl1pPr>
          </a:lstStyle>
          <a:p>
            <a:r>
              <a:rPr lang="fr-FR" noProof="0"/>
              <a:t>Click to edit Master title style</a:t>
            </a:r>
            <a:endParaRPr lang="fr-FR" noProof="0" dirty="0"/>
          </a:p>
        </p:txBody>
      </p:sp>
      <p:sp>
        <p:nvSpPr>
          <p:cNvPr id="9" name="Status" hidden="1"/>
          <p:cNvSpPr txBox="1">
            <a:spLocks/>
          </p:cNvSpPr>
          <p:nvPr userDrawn="1">
            <p:custDataLst>
              <p:tags r:id="rId3"/>
            </p:custDataLst>
          </p:nvPr>
        </p:nvSpPr>
        <p:spPr bwMode="gray">
          <a:xfrm>
            <a:off x="8744068" y="1374493"/>
            <a:ext cx="399932" cy="169277"/>
          </a:xfrm>
          <a:prstGeom prst="rect">
            <a:avLst/>
          </a:prstGeom>
          <a:solidFill>
            <a:srgbClr val="DFDFDF"/>
          </a:solidFill>
        </p:spPr>
        <p:txBody>
          <a:bodyPr wrap="none" lIns="72000" tIns="0" rIns="324000" bIns="0" rtlCol="0" anchor="ctr">
            <a:spAutoFit/>
          </a:bodyPr>
          <a:lstStyle/>
          <a:p>
            <a:pPr algn="r"/>
            <a:endParaRPr lang="fr-FR" sz="1100" cap="none" baseline="0" dirty="0">
              <a:solidFill>
                <a:srgbClr val="000000"/>
              </a:solidFill>
              <a:latin typeface="Arial" panose="020B0604020202020204" pitchFamily="34" charset="0"/>
              <a:cs typeface="Arial" panose="020B0604020202020204" pitchFamily="34" charset="0"/>
            </a:endParaRPr>
          </a:p>
        </p:txBody>
      </p:sp>
      <p:sp>
        <p:nvSpPr>
          <p:cNvPr id="8" name="LogoFrame"/>
          <p:cNvSpPr>
            <a:spLocks/>
          </p:cNvSpPr>
          <p:nvPr userDrawn="1">
            <p:custDataLst>
              <p:tags r:id="rId4"/>
            </p:custDataLst>
          </p:nvPr>
        </p:nvSpPr>
        <p:spPr bwMode="white">
          <a:xfrm>
            <a:off x="7192950" y="-7200"/>
            <a:ext cx="1627200" cy="1368458"/>
          </a:xfrm>
          <a:custGeom>
            <a:avLst/>
            <a:gdLst>
              <a:gd name="connsiteX0" fmla="*/ 0 w 4824537"/>
              <a:gd name="connsiteY0" fmla="*/ 0 h 4112861"/>
              <a:gd name="connsiteX1" fmla="*/ 4824537 w 4824537"/>
              <a:gd name="connsiteY1" fmla="*/ 0 h 4112861"/>
              <a:gd name="connsiteX2" fmla="*/ 4824537 w 4824537"/>
              <a:gd name="connsiteY2" fmla="*/ 4112861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51737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51737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51737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51737 h 4112861"/>
              <a:gd name="connsiteX3" fmla="*/ 0 w 4824537"/>
              <a:gd name="connsiteY3" fmla="*/ 4112861 h 4112861"/>
              <a:gd name="connsiteX4" fmla="*/ 0 w 4824537"/>
              <a:gd name="connsiteY4" fmla="*/ 0 h 41128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24537" h="4112861">
                <a:moveTo>
                  <a:pt x="0" y="0"/>
                </a:moveTo>
                <a:lnTo>
                  <a:pt x="4824537" y="0"/>
                </a:lnTo>
                <a:lnTo>
                  <a:pt x="4824537" y="3751737"/>
                </a:lnTo>
                <a:cubicBezTo>
                  <a:pt x="3231541" y="3785819"/>
                  <a:pt x="1634302" y="3906720"/>
                  <a:pt x="0" y="4112861"/>
                </a:cubicBezTo>
                <a:lnTo>
                  <a:pt x="0" y="0"/>
                </a:lnTo>
                <a:close/>
              </a:path>
            </a:pathLst>
          </a:custGeom>
          <a:solidFill>
            <a:srgbClr val="FFFFFF"/>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chemeClr val="tx1"/>
              </a:solidFill>
            </a:endParaRPr>
          </a:p>
        </p:txBody>
      </p:sp>
      <p:pic>
        <p:nvPicPr>
          <p:cNvPr id="4" name="Picture 3">
            <a:extLst>
              <a:ext uri="{FF2B5EF4-FFF2-40B4-BE49-F238E27FC236}">
                <a16:creationId xmlns:a16="http://schemas.microsoft.com/office/drawing/2014/main" id="{C430B941-A983-F425-F3C9-C3CD69F608DE}"/>
              </a:ext>
            </a:extLst>
          </p:cNvPr>
          <p:cNvPicPr>
            <a:picLocks noChangeAspect="1"/>
          </p:cNvPicPr>
          <p:nvPr userDrawn="1">
            <p:custDataLst>
              <p:tags r:id="rId5"/>
            </p:custDataLst>
          </p:nvPr>
        </p:nvPicPr>
        <p:blipFill>
          <a:blip r:embed="rId7">
            <a:extLst>
              <a:ext uri="{28A0092B-C50C-407E-A947-70E740481C1C}">
                <a14:useLocalDpi xmlns:a14="http://schemas.microsoft.com/office/drawing/2010/main" val="0"/>
              </a:ext>
            </a:extLst>
          </a:blip>
          <a:stretch>
            <a:fillRect/>
          </a:stretch>
        </p:blipFill>
        <p:spPr bwMode="gray">
          <a:xfrm>
            <a:off x="7523286" y="308924"/>
            <a:ext cx="961108" cy="669343"/>
          </a:xfrm>
          <a:prstGeom prst="rect">
            <a:avLst/>
          </a:prstGeom>
        </p:spPr>
      </p:pic>
    </p:spTree>
    <p:extLst>
      <p:ext uri="{BB962C8B-B14F-4D97-AF65-F5344CB8AC3E}">
        <p14:creationId xmlns:p14="http://schemas.microsoft.com/office/powerpoint/2010/main" val="1095844999"/>
      </p:ext>
    </p:extLst>
  </p:cSld>
  <p:clrMapOvr>
    <a:masterClrMapping/>
  </p:clrMapOvr>
  <p:hf sldNum="0" hdr="0" ftr="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Section Header" preserve="1" userDrawn="1">
  <p:cSld name="Section Header">
    <p:spTree>
      <p:nvGrpSpPr>
        <p:cNvPr id="1" name=""/>
        <p:cNvGrpSpPr/>
        <p:nvPr/>
      </p:nvGrpSpPr>
      <p:grpSpPr>
        <a:xfrm>
          <a:off x="0" y="0"/>
          <a:ext cx="0" cy="0"/>
          <a:chOff x="0" y="0"/>
          <a:chExt cx="0" cy="0"/>
        </a:xfrm>
      </p:grpSpPr>
      <p:sp>
        <p:nvSpPr>
          <p:cNvPr id="8" name="EcoBackground" hidden="1"/>
          <p:cNvSpPr/>
          <p:nvPr userDrawn="1">
            <p:custDataLst>
              <p:tags r:id="rId2"/>
            </p:custDataLst>
          </p:nvPr>
        </p:nvSpPr>
        <p:spPr bwMode="gray">
          <a:xfrm>
            <a:off x="0" y="0"/>
            <a:ext cx="9144000" cy="5715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rgbClr val="FFFFFF"/>
              </a:solidFill>
              <a:latin typeface="Arial" panose="020B0604020202020204" pitchFamily="34" charset="0"/>
              <a:cs typeface="Arial" panose="020B0604020202020204" pitchFamily="34" charset="0"/>
            </a:endParaRPr>
          </a:p>
        </p:txBody>
      </p:sp>
      <p:sp>
        <p:nvSpPr>
          <p:cNvPr id="2" name="Title 1"/>
          <p:cNvSpPr>
            <a:spLocks noGrp="1"/>
          </p:cNvSpPr>
          <p:nvPr>
            <p:ph type="title"/>
            <p:custDataLst>
              <p:tags r:id="rId3"/>
            </p:custDataLst>
          </p:nvPr>
        </p:nvSpPr>
        <p:spPr>
          <a:xfrm>
            <a:off x="359821" y="2154428"/>
            <a:ext cx="3528464" cy="390295"/>
          </a:xfrm>
        </p:spPr>
        <p:txBody>
          <a:bodyPr lIns="36000" anchor="b" anchorCtr="0">
            <a:noAutofit/>
          </a:bodyPr>
          <a:lstStyle>
            <a:lvl1pPr algn="l">
              <a:defRPr sz="2300" b="0" cap="none" baseline="0">
                <a:solidFill>
                  <a:schemeClr val="tx1"/>
                </a:solidFill>
              </a:defRPr>
            </a:lvl1pPr>
          </a:lstStyle>
          <a:p>
            <a:r>
              <a:rPr lang="fr-FR"/>
              <a:t>Click to edit Master title style</a:t>
            </a:r>
            <a:endParaRPr lang="fr-FR" dirty="0"/>
          </a:p>
        </p:txBody>
      </p:sp>
      <p:sp>
        <p:nvSpPr>
          <p:cNvPr id="9" name="Status" hidden="1"/>
          <p:cNvSpPr txBox="1">
            <a:spLocks/>
          </p:cNvSpPr>
          <p:nvPr userDrawn="1">
            <p:custDataLst>
              <p:tags r:id="rId4"/>
            </p:custDataLst>
          </p:nvPr>
        </p:nvSpPr>
        <p:spPr bwMode="gray">
          <a:xfrm>
            <a:off x="8744068" y="1374493"/>
            <a:ext cx="399932" cy="169277"/>
          </a:xfrm>
          <a:prstGeom prst="rect">
            <a:avLst/>
          </a:prstGeom>
          <a:solidFill>
            <a:srgbClr val="DFDFDF"/>
          </a:solidFill>
        </p:spPr>
        <p:txBody>
          <a:bodyPr wrap="none" lIns="72000" tIns="0" rIns="324000" bIns="0" rtlCol="0" anchor="ctr">
            <a:spAutoFit/>
          </a:bodyPr>
          <a:lstStyle/>
          <a:p>
            <a:pPr algn="r"/>
            <a:endParaRPr lang="fr-FR" sz="1100" cap="none" baseline="0" dirty="0">
              <a:solidFill>
                <a:srgbClr val="000000"/>
              </a:solidFill>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90AB951B-BF5A-A54D-658F-E1AEDFC78F06}"/>
              </a:ext>
            </a:extLst>
          </p:cNvPr>
          <p:cNvPicPr>
            <a:picLocks noChangeAspect="1"/>
          </p:cNvPicPr>
          <p:nvPr userDrawn="1">
            <p:custDataLst>
              <p:tags r:id="rId5"/>
            </p:custDataLst>
          </p:nvPr>
        </p:nvPicPr>
        <p:blipFill>
          <a:blip r:embed="rId7" cstate="print">
            <a:extLst>
              <a:ext uri="{28A0092B-C50C-407E-A947-70E740481C1C}">
                <a14:useLocalDpi xmlns:a14="http://schemas.microsoft.com/office/drawing/2010/main" val="0"/>
              </a:ext>
            </a:extLst>
          </a:blip>
          <a:stretch>
            <a:fillRect/>
          </a:stretch>
        </p:blipFill>
        <p:spPr bwMode="gray">
          <a:xfrm>
            <a:off x="8150398" y="5133975"/>
            <a:ext cx="584769" cy="407250"/>
          </a:xfrm>
          <a:prstGeom prst="rect">
            <a:avLst/>
          </a:prstGeom>
        </p:spPr>
      </p:pic>
    </p:spTree>
    <p:extLst>
      <p:ext uri="{BB962C8B-B14F-4D97-AF65-F5344CB8AC3E}">
        <p14:creationId xmlns:p14="http://schemas.microsoft.com/office/powerpoint/2010/main" val="3997662418"/>
      </p:ext>
    </p:extLst>
  </p:cSld>
  <p:clrMapOvr>
    <a:masterClrMapping/>
  </p:clrMapOvr>
  <p:hf sldNum="0" hdr="0" ftr="0"/>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Section Header with Image" preserve="1" userDrawn="1">
  <p:cSld name="Section Header with Image">
    <p:bg>
      <p:bgPr>
        <a:solidFill>
          <a:schemeClr val="accent4">
            <a:lumMod val="40000"/>
            <a:lumOff val="60000"/>
          </a:schemeClr>
        </a:solidFill>
        <a:effectLst/>
      </p:bgPr>
    </p:bg>
    <p:spTree>
      <p:nvGrpSpPr>
        <p:cNvPr id="1" name=""/>
        <p:cNvGrpSpPr/>
        <p:nvPr/>
      </p:nvGrpSpPr>
      <p:grpSpPr>
        <a:xfrm>
          <a:off x="0" y="0"/>
          <a:ext cx="0" cy="0"/>
          <a:chOff x="0" y="0"/>
          <a:chExt cx="0" cy="0"/>
        </a:xfrm>
      </p:grpSpPr>
      <p:sp>
        <p:nvSpPr>
          <p:cNvPr id="7" name="Picture Placeholder 4"/>
          <p:cNvSpPr>
            <a:spLocks noGrp="1"/>
          </p:cNvSpPr>
          <p:nvPr>
            <p:ph type="pic" sz="quarter" idx="10"/>
            <p:custDataLst>
              <p:tags r:id="rId2"/>
            </p:custDataLst>
          </p:nvPr>
        </p:nvSpPr>
        <p:spPr>
          <a:xfrm>
            <a:off x="0" y="0"/>
            <a:ext cx="9144000" cy="4945732"/>
          </a:xfrm>
        </p:spPr>
        <p:txBody>
          <a:bodyPr lIns="0" tIns="0" bIns="468000" anchor="ctr" anchorCtr="0"/>
          <a:lstStyle>
            <a:lvl1pPr marL="0" indent="0" algn="ctr">
              <a:buNone/>
              <a:defRPr>
                <a:solidFill>
                  <a:schemeClr val="tx1"/>
                </a:solidFill>
              </a:defRPr>
            </a:lvl1pPr>
          </a:lstStyle>
          <a:p>
            <a:r>
              <a:rPr lang="fr-FR" noProof="0"/>
              <a:t>Click icon to add picture</a:t>
            </a:r>
            <a:endParaRPr lang="fr-FR" noProof="0" dirty="0"/>
          </a:p>
        </p:txBody>
      </p:sp>
      <p:sp>
        <p:nvSpPr>
          <p:cNvPr id="13" name="EcoBackground" hidden="1"/>
          <p:cNvSpPr/>
          <p:nvPr userDrawn="1">
            <p:custDataLst>
              <p:tags r:id="rId3"/>
            </p:custDataLst>
          </p:nvPr>
        </p:nvSpPr>
        <p:spPr bwMode="white">
          <a:xfrm>
            <a:off x="0" y="0"/>
            <a:ext cx="9144000" cy="5715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6" name="Hider"/>
          <p:cNvSpPr/>
          <p:nvPr userDrawn="1"/>
        </p:nvSpPr>
        <p:spPr bwMode="white">
          <a:xfrm>
            <a:off x="0" y="4945732"/>
            <a:ext cx="9144000" cy="769268"/>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10" name="Status" hidden="1"/>
          <p:cNvSpPr txBox="1">
            <a:spLocks/>
          </p:cNvSpPr>
          <p:nvPr userDrawn="1">
            <p:custDataLst>
              <p:tags r:id="rId4"/>
            </p:custDataLst>
          </p:nvPr>
        </p:nvSpPr>
        <p:spPr bwMode="gray">
          <a:xfrm>
            <a:off x="8744068" y="1374493"/>
            <a:ext cx="399932" cy="169277"/>
          </a:xfrm>
          <a:prstGeom prst="rect">
            <a:avLst/>
          </a:prstGeom>
          <a:solidFill>
            <a:srgbClr val="DFDFDF"/>
          </a:solidFill>
        </p:spPr>
        <p:txBody>
          <a:bodyPr wrap="none" lIns="72000" tIns="0" rIns="324000" bIns="0" rtlCol="0" anchor="ctr">
            <a:spAutoFit/>
          </a:bodyPr>
          <a:lstStyle/>
          <a:p>
            <a:pPr algn="r"/>
            <a:endParaRPr lang="fr-FR" sz="1100" cap="none" baseline="0" dirty="0">
              <a:solidFill>
                <a:srgbClr val="000000"/>
              </a:solidFill>
              <a:latin typeface="Arial" panose="020B0604020202020204" pitchFamily="34" charset="0"/>
              <a:cs typeface="Arial" panose="020B0604020202020204" pitchFamily="34" charset="0"/>
            </a:endParaRPr>
          </a:p>
        </p:txBody>
      </p:sp>
      <p:sp>
        <p:nvSpPr>
          <p:cNvPr id="2" name="Title 1"/>
          <p:cNvSpPr>
            <a:spLocks noGrp="1"/>
          </p:cNvSpPr>
          <p:nvPr>
            <p:ph type="title"/>
            <p:custDataLst>
              <p:tags r:id="rId5"/>
            </p:custDataLst>
          </p:nvPr>
        </p:nvSpPr>
        <p:spPr bwMode="ltGray">
          <a:xfrm>
            <a:off x="0" y="2046987"/>
            <a:ext cx="3924000" cy="644756"/>
          </a:xfrm>
          <a:solidFill>
            <a:schemeClr val="bg1"/>
          </a:solidFill>
        </p:spPr>
        <p:txBody>
          <a:bodyPr lIns="396000" tIns="144000" bIns="144000" anchor="ctr" anchorCtr="0">
            <a:spAutoFit/>
          </a:bodyPr>
          <a:lstStyle>
            <a:lvl1pPr algn="l">
              <a:defRPr sz="2300" b="0" cap="none" baseline="0">
                <a:solidFill>
                  <a:schemeClr val="tx1"/>
                </a:solidFill>
              </a:defRPr>
            </a:lvl1pPr>
          </a:lstStyle>
          <a:p>
            <a:r>
              <a:rPr lang="fr-FR" noProof="0"/>
              <a:t>Click to edit Master title style</a:t>
            </a:r>
            <a:endParaRPr lang="fr-FR" noProof="0" dirty="0"/>
          </a:p>
        </p:txBody>
      </p:sp>
      <p:pic>
        <p:nvPicPr>
          <p:cNvPr id="5" name="Picture 4">
            <a:extLst>
              <a:ext uri="{FF2B5EF4-FFF2-40B4-BE49-F238E27FC236}">
                <a16:creationId xmlns:a16="http://schemas.microsoft.com/office/drawing/2014/main" id="{B70B16F9-E371-E73E-6DF9-CAE8C4072330}"/>
              </a:ext>
            </a:extLst>
          </p:cNvPr>
          <p:cNvPicPr>
            <a:picLocks noChangeAspect="1"/>
          </p:cNvPicPr>
          <p:nvPr userDrawn="1">
            <p:custDataLst>
              <p:tags r:id="rId6"/>
            </p:custDataLst>
          </p:nvPr>
        </p:nvPicPr>
        <p:blipFill>
          <a:blip r:embed="rId8" cstate="print">
            <a:extLst>
              <a:ext uri="{28A0092B-C50C-407E-A947-70E740481C1C}">
                <a14:useLocalDpi xmlns:a14="http://schemas.microsoft.com/office/drawing/2010/main" val="0"/>
              </a:ext>
            </a:extLst>
          </a:blip>
          <a:stretch>
            <a:fillRect/>
          </a:stretch>
        </p:blipFill>
        <p:spPr bwMode="gray">
          <a:xfrm>
            <a:off x="8150398" y="5133975"/>
            <a:ext cx="584769" cy="407250"/>
          </a:xfrm>
          <a:prstGeom prst="rect">
            <a:avLst/>
          </a:prstGeom>
        </p:spPr>
      </p:pic>
    </p:spTree>
    <p:extLst>
      <p:ext uri="{BB962C8B-B14F-4D97-AF65-F5344CB8AC3E}">
        <p14:creationId xmlns:p14="http://schemas.microsoft.com/office/powerpoint/2010/main" val="249588569"/>
      </p:ext>
    </p:extLst>
  </p:cSld>
  <p:clrMapOvr>
    <a:masterClrMapping/>
  </p:clrMapOvr>
  <p:hf sldNum="0" hdr="0" ftr="0"/>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Image and Content 2/3 - 1/3" preserve="1" userDrawn="1">
  <p:cSld name="Image and Content 2/3 - 1/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Click to edit Master title style</a:t>
            </a:r>
            <a:endParaRPr lang="fr-FR" dirty="0"/>
          </a:p>
        </p:txBody>
      </p:sp>
      <p:sp>
        <p:nvSpPr>
          <p:cNvPr id="7" name="Picture Placeholder 6"/>
          <p:cNvSpPr>
            <a:spLocks noGrp="1"/>
          </p:cNvSpPr>
          <p:nvPr>
            <p:ph type="pic" sz="quarter" idx="12"/>
          </p:nvPr>
        </p:nvSpPr>
        <p:spPr>
          <a:xfrm>
            <a:off x="250825" y="1562100"/>
            <a:ext cx="5761038" cy="3600450"/>
          </a:xfrm>
        </p:spPr>
        <p:txBody>
          <a:bodyPr lIns="0" bIns="432000" anchor="ctr" anchorCtr="0"/>
          <a:lstStyle>
            <a:lvl1pPr marL="0" indent="0" algn="ctr">
              <a:buNone/>
              <a:defRPr>
                <a:solidFill>
                  <a:srgbClr val="808080"/>
                </a:solidFill>
              </a:defRPr>
            </a:lvl1pPr>
          </a:lstStyle>
          <a:p>
            <a:r>
              <a:rPr lang="fr-FR"/>
              <a:t>Click icon to add picture</a:t>
            </a:r>
            <a:endParaRPr lang="fr-FR" dirty="0"/>
          </a:p>
        </p:txBody>
      </p:sp>
      <p:sp>
        <p:nvSpPr>
          <p:cNvPr id="9" name="Content Placeholder 8"/>
          <p:cNvSpPr>
            <a:spLocks noGrp="1"/>
          </p:cNvSpPr>
          <p:nvPr>
            <p:ph sz="quarter" idx="13"/>
          </p:nvPr>
        </p:nvSpPr>
        <p:spPr>
          <a:xfrm>
            <a:off x="6084167" y="1562100"/>
            <a:ext cx="2735983" cy="3600450"/>
          </a:xfrm>
        </p:spPr>
        <p:txBody>
          <a:bodyPr/>
          <a:lstStyle>
            <a:lvl1pPr>
              <a:defRPr sz="1600"/>
            </a:lvl1pPr>
            <a:lvl2pPr>
              <a:defRPr sz="1500"/>
            </a:lvl2pPr>
            <a:lvl3pPr>
              <a:defRPr sz="1400"/>
            </a:lvl3pPr>
            <a:lvl4pPr>
              <a:defRPr sz="1300"/>
            </a:lvl4pPr>
            <a:lvl5pPr>
              <a:defRPr sz="1200"/>
            </a:lvl5pPr>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endParaRPr lang="fr-FR" dirty="0"/>
          </a:p>
        </p:txBody>
      </p:sp>
    </p:spTree>
    <p:extLst>
      <p:ext uri="{BB962C8B-B14F-4D97-AF65-F5344CB8AC3E}">
        <p14:creationId xmlns:p14="http://schemas.microsoft.com/office/powerpoint/2010/main" val="454296883"/>
      </p:ext>
    </p:extLst>
  </p:cSld>
  <p:clrMapOvr>
    <a:masterClrMapping/>
  </p:clrMapOvr>
  <p:hf sldNum="0" hdr="0" ftr="0"/>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Image and Content 1/3 - 2/3" preserve="1" userDrawn="1">
  <p:cSld name="Image and Content 1/3 - 2/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Click to edit Master title style</a:t>
            </a:r>
            <a:endParaRPr lang="fr-FR" dirty="0"/>
          </a:p>
        </p:txBody>
      </p:sp>
      <p:sp>
        <p:nvSpPr>
          <p:cNvPr id="4" name="Picture Placeholder 3"/>
          <p:cNvSpPr>
            <a:spLocks noGrp="1"/>
          </p:cNvSpPr>
          <p:nvPr>
            <p:ph type="pic" sz="quarter" idx="13"/>
          </p:nvPr>
        </p:nvSpPr>
        <p:spPr>
          <a:xfrm>
            <a:off x="250823" y="1562100"/>
            <a:ext cx="2808000" cy="3600449"/>
          </a:xfrm>
        </p:spPr>
        <p:txBody>
          <a:bodyPr lIns="0" bIns="432000" anchor="ctr" anchorCtr="0"/>
          <a:lstStyle>
            <a:lvl1pPr marL="0" indent="0" algn="ctr">
              <a:buNone/>
              <a:defRPr>
                <a:solidFill>
                  <a:srgbClr val="808080"/>
                </a:solidFill>
              </a:defRPr>
            </a:lvl1pPr>
          </a:lstStyle>
          <a:p>
            <a:r>
              <a:rPr lang="fr-FR"/>
              <a:t>Click icon to add picture</a:t>
            </a:r>
            <a:endParaRPr lang="fr-FR" dirty="0"/>
          </a:p>
        </p:txBody>
      </p:sp>
      <p:sp>
        <p:nvSpPr>
          <p:cNvPr id="8" name="Content Placeholder 7"/>
          <p:cNvSpPr>
            <a:spLocks noGrp="1"/>
          </p:cNvSpPr>
          <p:nvPr>
            <p:ph sz="quarter" idx="14"/>
          </p:nvPr>
        </p:nvSpPr>
        <p:spPr>
          <a:xfrm>
            <a:off x="3132137" y="1562100"/>
            <a:ext cx="5688013" cy="3600448"/>
          </a:xfrm>
        </p:spPr>
        <p:txBody>
          <a:bodyPr/>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endParaRPr lang="fr-FR" dirty="0"/>
          </a:p>
        </p:txBody>
      </p:sp>
    </p:spTree>
    <p:extLst>
      <p:ext uri="{BB962C8B-B14F-4D97-AF65-F5344CB8AC3E}">
        <p14:creationId xmlns:p14="http://schemas.microsoft.com/office/powerpoint/2010/main" val="79256209"/>
      </p:ext>
    </p:extLst>
  </p:cSld>
  <p:clrMapOvr>
    <a:masterClrMapping/>
  </p:clrMapOvr>
  <p:hf sldNum="0" hdr="0" ftr="0"/>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wo Content 1/3 - 2/3" preserve="1" userDrawn="1">
  <p:cSld name="Two Content 1/3 - 2/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Click to edit Master title style</a:t>
            </a:r>
            <a:endParaRPr lang="fr-FR" dirty="0"/>
          </a:p>
        </p:txBody>
      </p:sp>
      <p:sp>
        <p:nvSpPr>
          <p:cNvPr id="9" name="Content Placeholder 8"/>
          <p:cNvSpPr>
            <a:spLocks noGrp="1"/>
          </p:cNvSpPr>
          <p:nvPr>
            <p:ph sz="quarter" idx="13"/>
          </p:nvPr>
        </p:nvSpPr>
        <p:spPr>
          <a:xfrm>
            <a:off x="3706812" y="1562100"/>
            <a:ext cx="5113338" cy="3600450"/>
          </a:xfrm>
        </p:spPr>
        <p:txBody>
          <a:bodyPr/>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endParaRPr lang="fr-FR" dirty="0"/>
          </a:p>
        </p:txBody>
      </p:sp>
      <p:sp>
        <p:nvSpPr>
          <p:cNvPr id="10" name="Content Placeholder 8"/>
          <p:cNvSpPr>
            <a:spLocks noGrp="1"/>
          </p:cNvSpPr>
          <p:nvPr>
            <p:ph sz="quarter" idx="14"/>
          </p:nvPr>
        </p:nvSpPr>
        <p:spPr>
          <a:xfrm>
            <a:off x="250825" y="1562100"/>
            <a:ext cx="2881313" cy="3600450"/>
          </a:xfrm>
        </p:spPr>
        <p:txBody>
          <a:bodyPr/>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endParaRPr lang="fr-FR" dirty="0"/>
          </a:p>
        </p:txBody>
      </p:sp>
    </p:spTree>
    <p:extLst>
      <p:ext uri="{BB962C8B-B14F-4D97-AF65-F5344CB8AC3E}">
        <p14:creationId xmlns:p14="http://schemas.microsoft.com/office/powerpoint/2010/main" val="1792368844"/>
      </p:ext>
    </p:extLst>
  </p:cSld>
  <p:clrMapOvr>
    <a:masterClrMapping/>
  </p:clrMapOvr>
  <p:hf sldNum="0" hdr="0" ftr="0"/>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wo Content 2/3 - 1/3" preserve="1" userDrawn="1">
  <p:cSld name="Two Content 2/3 - 1/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Click to edit Master title style</a:t>
            </a:r>
            <a:endParaRPr lang="fr-FR" dirty="0"/>
          </a:p>
        </p:txBody>
      </p:sp>
      <p:sp>
        <p:nvSpPr>
          <p:cNvPr id="9" name="Content Placeholder 8"/>
          <p:cNvSpPr>
            <a:spLocks noGrp="1"/>
          </p:cNvSpPr>
          <p:nvPr>
            <p:ph sz="quarter" idx="13"/>
          </p:nvPr>
        </p:nvSpPr>
        <p:spPr>
          <a:xfrm>
            <a:off x="250824" y="1562100"/>
            <a:ext cx="5185668" cy="3600450"/>
          </a:xfrm>
        </p:spPr>
        <p:txBody>
          <a:bodyPr/>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endParaRPr lang="fr-FR" dirty="0"/>
          </a:p>
        </p:txBody>
      </p:sp>
      <p:sp>
        <p:nvSpPr>
          <p:cNvPr id="10" name="Content Placeholder 8"/>
          <p:cNvSpPr>
            <a:spLocks noGrp="1"/>
          </p:cNvSpPr>
          <p:nvPr>
            <p:ph sz="quarter" idx="14"/>
          </p:nvPr>
        </p:nvSpPr>
        <p:spPr>
          <a:xfrm>
            <a:off x="6011863" y="1562100"/>
            <a:ext cx="2808287" cy="3600450"/>
          </a:xfrm>
        </p:spPr>
        <p:txBody>
          <a:bodyPr/>
          <a:lstStyle>
            <a:lvl1pPr>
              <a:defRPr sz="1600"/>
            </a:lvl1pPr>
            <a:lvl2pPr>
              <a:defRPr sz="1500"/>
            </a:lvl2pPr>
            <a:lvl3pPr>
              <a:defRPr sz="1400"/>
            </a:lvl3pPr>
            <a:lvl4pPr>
              <a:defRPr sz="1300"/>
            </a:lvl4pPr>
            <a:lvl5pPr>
              <a:defRPr sz="1200"/>
            </a:lvl5pPr>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endParaRPr lang="fr-FR" dirty="0"/>
          </a:p>
        </p:txBody>
      </p:sp>
    </p:spTree>
    <p:extLst>
      <p:ext uri="{BB962C8B-B14F-4D97-AF65-F5344CB8AC3E}">
        <p14:creationId xmlns:p14="http://schemas.microsoft.com/office/powerpoint/2010/main" val="3903784623"/>
      </p:ext>
    </p:extLst>
  </p:cSld>
  <p:clrMapOvr>
    <a:masterClrMapping/>
  </p:clrMapOvr>
  <p:hf sldNum="0" hdr="0" ftr="0"/>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full width Content" preserve="1" userDrawn="1">
  <p:cSld name="Title and full width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Click to edit Master title style</a:t>
            </a:r>
            <a:endParaRPr lang="fr-FR" dirty="0"/>
          </a:p>
        </p:txBody>
      </p:sp>
      <p:sp>
        <p:nvSpPr>
          <p:cNvPr id="5" name="Content Placeholder 4"/>
          <p:cNvSpPr>
            <a:spLocks noGrp="1"/>
          </p:cNvSpPr>
          <p:nvPr>
            <p:ph sz="quarter" idx="12"/>
          </p:nvPr>
        </p:nvSpPr>
        <p:spPr>
          <a:xfrm>
            <a:off x="250823" y="1562099"/>
            <a:ext cx="8569327" cy="3600450"/>
          </a:xfrm>
        </p:spPr>
        <p:txBody>
          <a:bodyPr/>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endParaRPr lang="fr-FR" dirty="0"/>
          </a:p>
        </p:txBody>
      </p:sp>
    </p:spTree>
    <p:extLst>
      <p:ext uri="{BB962C8B-B14F-4D97-AF65-F5344CB8AC3E}">
        <p14:creationId xmlns:p14="http://schemas.microsoft.com/office/powerpoint/2010/main" val="155198292"/>
      </p:ext>
    </p:extLst>
  </p:cSld>
  <p:clrMapOvr>
    <a:masterClrMapping/>
  </p:clrMapOvr>
  <p:hf sldNum="0" hdr="0" ftr="0"/>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Key Message" preserve="1" userDrawn="1">
  <p:cSld name="Key Message">
    <p:spTree>
      <p:nvGrpSpPr>
        <p:cNvPr id="1" name=""/>
        <p:cNvGrpSpPr/>
        <p:nvPr/>
      </p:nvGrpSpPr>
      <p:grpSpPr>
        <a:xfrm>
          <a:off x="0" y="0"/>
          <a:ext cx="0" cy="0"/>
          <a:chOff x="0" y="0"/>
          <a:chExt cx="0" cy="0"/>
        </a:xfrm>
      </p:grpSpPr>
      <p:sp>
        <p:nvSpPr>
          <p:cNvPr id="2" name="Title 1"/>
          <p:cNvSpPr>
            <a:spLocks noGrp="1"/>
          </p:cNvSpPr>
          <p:nvPr>
            <p:ph type="title"/>
          </p:nvPr>
        </p:nvSpPr>
        <p:spPr>
          <a:xfrm>
            <a:off x="250826" y="121196"/>
            <a:ext cx="7200900" cy="528794"/>
          </a:xfrm>
        </p:spPr>
        <p:txBody>
          <a:bodyPr>
            <a:noAutofit/>
          </a:bodyPr>
          <a:lstStyle>
            <a:lvl1pPr>
              <a:defRPr>
                <a:solidFill>
                  <a:schemeClr val="tx1"/>
                </a:solidFill>
              </a:defRPr>
            </a:lvl1pPr>
          </a:lstStyle>
          <a:p>
            <a:r>
              <a:rPr lang="fr-FR"/>
              <a:t>Click to edit Master title style</a:t>
            </a:r>
            <a:endParaRPr lang="fr-FR" dirty="0"/>
          </a:p>
        </p:txBody>
      </p:sp>
      <p:sp>
        <p:nvSpPr>
          <p:cNvPr id="6" name="Table Placeholder 5"/>
          <p:cNvSpPr>
            <a:spLocks noGrp="1"/>
          </p:cNvSpPr>
          <p:nvPr>
            <p:ph type="tbl" sz="quarter" idx="12"/>
          </p:nvPr>
        </p:nvSpPr>
        <p:spPr>
          <a:xfrm>
            <a:off x="3203575" y="1023938"/>
            <a:ext cx="5616575" cy="3994150"/>
          </a:xfrm>
        </p:spPr>
        <p:txBody>
          <a:bodyPr bIns="432000" anchor="ctr" anchorCtr="0"/>
          <a:lstStyle>
            <a:lvl1pPr marL="0" indent="0" algn="ctr">
              <a:buNone/>
              <a:defRPr>
                <a:solidFill>
                  <a:srgbClr val="808080"/>
                </a:solidFill>
              </a:defRPr>
            </a:lvl1pPr>
          </a:lstStyle>
          <a:p>
            <a:r>
              <a:rPr lang="fr-FR"/>
              <a:t>Click icon to add table</a:t>
            </a:r>
            <a:endParaRPr lang="fr-FR" dirty="0"/>
          </a:p>
        </p:txBody>
      </p:sp>
      <p:sp>
        <p:nvSpPr>
          <p:cNvPr id="8" name="Text Placeholder 6"/>
          <p:cNvSpPr>
            <a:spLocks noGrp="1"/>
          </p:cNvSpPr>
          <p:nvPr>
            <p:ph type="body" sz="quarter" idx="13"/>
          </p:nvPr>
        </p:nvSpPr>
        <p:spPr bwMode="ltGray">
          <a:xfrm>
            <a:off x="317499" y="1023392"/>
            <a:ext cx="2736999" cy="637849"/>
          </a:xfrm>
          <a:solidFill>
            <a:schemeClr val="accent1"/>
          </a:solidFill>
        </p:spPr>
        <p:txBody>
          <a:bodyPr lIns="108000" tIns="72000" rIns="108000" bIns="72000" anchor="t" anchorCtr="0">
            <a:spAutoFit/>
          </a:bodyPr>
          <a:lstStyle>
            <a:lvl1pPr marL="0" indent="0">
              <a:spcAft>
                <a:spcPts val="0"/>
              </a:spcAft>
              <a:buNone/>
              <a:defRPr b="1">
                <a:solidFill>
                  <a:srgbClr val="FFFFFF"/>
                </a:solidFill>
              </a:defRPr>
            </a:lvl1pPr>
          </a:lstStyle>
          <a:p>
            <a:pPr lvl="0"/>
            <a:r>
              <a:rPr lang="fr-FR"/>
              <a:t>Click to edit Master text styles</a:t>
            </a:r>
            <a:endParaRPr lang="fr-FR" dirty="0"/>
          </a:p>
        </p:txBody>
      </p:sp>
    </p:spTree>
    <p:extLst>
      <p:ext uri="{BB962C8B-B14F-4D97-AF65-F5344CB8AC3E}">
        <p14:creationId xmlns:p14="http://schemas.microsoft.com/office/powerpoint/2010/main" val="3589824436"/>
      </p:ext>
    </p:extLst>
  </p:cSld>
  <p:clrMapOvr>
    <a:masterClrMapping/>
  </p:clrMapOvr>
  <p:hf sldNum="0" hdr="0" ftr="0"/>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Only"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Click to edit Master title style</a:t>
            </a:r>
            <a:endParaRPr lang="fr-FR" dirty="0"/>
          </a:p>
        </p:txBody>
      </p:sp>
    </p:spTree>
    <p:extLst>
      <p:ext uri="{BB962C8B-B14F-4D97-AF65-F5344CB8AC3E}">
        <p14:creationId xmlns:p14="http://schemas.microsoft.com/office/powerpoint/2010/main" val="1541096246"/>
      </p:ext>
    </p:extLst>
  </p:cSld>
  <p:clrMapOvr>
    <a:masterClrMapping/>
  </p:clrMapOvr>
  <p:hf sldNum="0" hdr="0" ftr="0"/>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Agenda" type="titleOnly" preserve="1">
  <p:cSld name="Agenda">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Click to edit Master title style</a:t>
            </a:r>
            <a:endParaRPr lang="fr-FR" dirty="0"/>
          </a:p>
        </p:txBody>
      </p:sp>
    </p:spTree>
    <p:extLst>
      <p:ext uri="{BB962C8B-B14F-4D97-AF65-F5344CB8AC3E}">
        <p14:creationId xmlns:p14="http://schemas.microsoft.com/office/powerpoint/2010/main" val="372953344"/>
      </p:ext>
    </p:extLst>
  </p:cSld>
  <p:clrMapOvr>
    <a:masterClrMapping/>
  </p:clrMapOvr>
  <p:hf sldNum="0" hdr="0" ftr="0"/>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lank"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680791720"/>
      </p:ext>
    </p:extLst>
  </p:cSld>
  <p:clrMapOvr>
    <a:masterClrMapping/>
  </p:clrMapOvr>
  <p:hf sldNum="0" hdr="0" ftr="0"/>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matchingName="Closing Slide" preserve="1" userDrawn="1">
  <p:cSld name="Closing Slide">
    <p:spTree>
      <p:nvGrpSpPr>
        <p:cNvPr id="1" name=""/>
        <p:cNvGrpSpPr/>
        <p:nvPr/>
      </p:nvGrpSpPr>
      <p:grpSpPr>
        <a:xfrm>
          <a:off x="0" y="0"/>
          <a:ext cx="0" cy="0"/>
          <a:chOff x="0" y="0"/>
          <a:chExt cx="0" cy="0"/>
        </a:xfrm>
      </p:grpSpPr>
      <p:sp>
        <p:nvSpPr>
          <p:cNvPr id="9" name="EcoBackground" hidden="1"/>
          <p:cNvSpPr/>
          <p:nvPr userDrawn="1">
            <p:custDataLst>
              <p:tags r:id="rId2"/>
            </p:custDataLst>
          </p:nvPr>
        </p:nvSpPr>
        <p:spPr bwMode="white">
          <a:xfrm>
            <a:off x="0" y="0"/>
            <a:ext cx="9144000" cy="5715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rgbClr val="FFFFFF"/>
              </a:solidFill>
              <a:latin typeface="Arial" panose="020B0604020202020204" pitchFamily="34" charset="0"/>
              <a:cs typeface="Arial" panose="020B0604020202020204" pitchFamily="34" charset="0"/>
            </a:endParaRPr>
          </a:p>
        </p:txBody>
      </p:sp>
      <p:sp>
        <p:nvSpPr>
          <p:cNvPr id="10" name="Status" hidden="1"/>
          <p:cNvSpPr txBox="1">
            <a:spLocks/>
          </p:cNvSpPr>
          <p:nvPr userDrawn="1">
            <p:custDataLst>
              <p:tags r:id="rId3"/>
            </p:custDataLst>
          </p:nvPr>
        </p:nvSpPr>
        <p:spPr>
          <a:xfrm>
            <a:off x="8744068" y="1374493"/>
            <a:ext cx="399932" cy="169277"/>
          </a:xfrm>
          <a:prstGeom prst="rect">
            <a:avLst/>
          </a:prstGeom>
          <a:solidFill>
            <a:srgbClr val="DFDFDF"/>
          </a:solidFill>
        </p:spPr>
        <p:txBody>
          <a:bodyPr wrap="none" lIns="72000" tIns="0" rIns="324000" bIns="0" rtlCol="0" anchor="ctr">
            <a:spAutoFit/>
          </a:bodyPr>
          <a:lstStyle/>
          <a:p>
            <a:pPr algn="r"/>
            <a:endParaRPr lang="fr-FR" sz="1100" cap="none" baseline="0" dirty="0">
              <a:solidFill>
                <a:srgbClr val="000000"/>
              </a:solidFill>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22E1AA46-997F-9A0A-BEA8-0B30D91A2A6A}"/>
              </a:ext>
            </a:extLst>
          </p:cNvPr>
          <p:cNvPicPr>
            <a:picLocks noChangeAspect="1"/>
          </p:cNvPicPr>
          <p:nvPr userDrawn="1">
            <p:custDataLst>
              <p:tags r:id="rId4"/>
            </p:custDataLst>
          </p:nvPr>
        </p:nvPicPr>
        <p:blipFill>
          <a:blip r:embed="rId6">
            <a:extLst>
              <a:ext uri="{28A0092B-C50C-407E-A947-70E740481C1C}">
                <a14:useLocalDpi xmlns:a14="http://schemas.microsoft.com/office/drawing/2010/main" val="0"/>
              </a:ext>
            </a:extLst>
          </a:blip>
          <a:stretch>
            <a:fillRect/>
          </a:stretch>
        </p:blipFill>
        <p:spPr bwMode="gray">
          <a:xfrm>
            <a:off x="7523286" y="308924"/>
            <a:ext cx="961108" cy="669343"/>
          </a:xfrm>
          <a:prstGeom prst="rect">
            <a:avLst/>
          </a:prstGeom>
        </p:spPr>
      </p:pic>
    </p:spTree>
    <p:extLst>
      <p:ext uri="{BB962C8B-B14F-4D97-AF65-F5344CB8AC3E}">
        <p14:creationId xmlns:p14="http://schemas.microsoft.com/office/powerpoint/2010/main" val="4012665463"/>
      </p:ext>
    </p:extLst>
  </p:cSld>
  <p:clrMapOvr>
    <a:masterClrMapping/>
  </p:clrMapOvr>
  <p:hf sldNum="0" hdr="0" ftr="0"/>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matchingName="Closing Slide with Image" preserve="1" userDrawn="1">
  <p:cSld name="Closing Slide with Image">
    <p:bg>
      <p:bgPr>
        <a:solidFill>
          <a:schemeClr val="accent4"/>
        </a:solidFill>
        <a:effectLst/>
      </p:bgPr>
    </p:bg>
    <p:spTree>
      <p:nvGrpSpPr>
        <p:cNvPr id="1" name=""/>
        <p:cNvGrpSpPr/>
        <p:nvPr/>
      </p:nvGrpSpPr>
      <p:grpSpPr>
        <a:xfrm>
          <a:off x="0" y="0"/>
          <a:ext cx="0" cy="0"/>
          <a:chOff x="0" y="0"/>
          <a:chExt cx="0" cy="0"/>
        </a:xfrm>
      </p:grpSpPr>
      <p:sp>
        <p:nvSpPr>
          <p:cNvPr id="10" name="EcoBackground" hidden="1"/>
          <p:cNvSpPr/>
          <p:nvPr userDrawn="1">
            <p:custDataLst>
              <p:tags r:id="rId2"/>
            </p:custDataLst>
          </p:nvPr>
        </p:nvSpPr>
        <p:spPr bwMode="white">
          <a:xfrm>
            <a:off x="0" y="0"/>
            <a:ext cx="9144000" cy="5715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rgbClr val="FFFFFF"/>
              </a:solidFill>
              <a:latin typeface="Arial" panose="020B0604020202020204" pitchFamily="34" charset="0"/>
              <a:cs typeface="Arial" panose="020B0604020202020204" pitchFamily="34" charset="0"/>
            </a:endParaRPr>
          </a:p>
        </p:txBody>
      </p:sp>
      <p:sp>
        <p:nvSpPr>
          <p:cNvPr id="4" name="Picture Placeholder 4"/>
          <p:cNvSpPr>
            <a:spLocks noGrp="1"/>
          </p:cNvSpPr>
          <p:nvPr>
            <p:ph type="pic" sz="quarter" idx="10"/>
            <p:custDataLst>
              <p:tags r:id="rId3"/>
            </p:custDataLst>
          </p:nvPr>
        </p:nvSpPr>
        <p:spPr>
          <a:xfrm>
            <a:off x="0" y="0"/>
            <a:ext cx="9144000" cy="5715000"/>
          </a:xfrm>
          <a:noFill/>
        </p:spPr>
        <p:txBody>
          <a:bodyPr bIns="432000" anchor="ctr" anchorCtr="0"/>
          <a:lstStyle>
            <a:lvl1pPr marL="0" indent="0" algn="ctr">
              <a:buNone/>
              <a:defRPr>
                <a:solidFill>
                  <a:schemeClr val="bg1"/>
                </a:solidFill>
              </a:defRPr>
            </a:lvl1pPr>
          </a:lstStyle>
          <a:p>
            <a:r>
              <a:rPr lang="fr-FR"/>
              <a:t>Click icon to add picture</a:t>
            </a:r>
            <a:endParaRPr lang="fr-FR" dirty="0"/>
          </a:p>
        </p:txBody>
      </p:sp>
      <p:sp>
        <p:nvSpPr>
          <p:cNvPr id="6" name="LogoFrame"/>
          <p:cNvSpPr>
            <a:spLocks/>
          </p:cNvSpPr>
          <p:nvPr userDrawn="1">
            <p:custDataLst>
              <p:tags r:id="rId4"/>
            </p:custDataLst>
          </p:nvPr>
        </p:nvSpPr>
        <p:spPr bwMode="white">
          <a:xfrm>
            <a:off x="7192950" y="-7200"/>
            <a:ext cx="1627200" cy="1368458"/>
          </a:xfrm>
          <a:custGeom>
            <a:avLst/>
            <a:gdLst>
              <a:gd name="connsiteX0" fmla="*/ 0 w 4824537"/>
              <a:gd name="connsiteY0" fmla="*/ 0 h 4112861"/>
              <a:gd name="connsiteX1" fmla="*/ 4824537 w 4824537"/>
              <a:gd name="connsiteY1" fmla="*/ 0 h 4112861"/>
              <a:gd name="connsiteX2" fmla="*/ 4824537 w 4824537"/>
              <a:gd name="connsiteY2" fmla="*/ 4112861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51737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51737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51737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51737 h 4112861"/>
              <a:gd name="connsiteX3" fmla="*/ 0 w 4824537"/>
              <a:gd name="connsiteY3" fmla="*/ 4112861 h 4112861"/>
              <a:gd name="connsiteX4" fmla="*/ 0 w 4824537"/>
              <a:gd name="connsiteY4" fmla="*/ 0 h 41128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24537" h="4112861">
                <a:moveTo>
                  <a:pt x="0" y="0"/>
                </a:moveTo>
                <a:lnTo>
                  <a:pt x="4824537" y="0"/>
                </a:lnTo>
                <a:lnTo>
                  <a:pt x="4824537" y="3751737"/>
                </a:lnTo>
                <a:cubicBezTo>
                  <a:pt x="3231541" y="3785819"/>
                  <a:pt x="1634302" y="3906720"/>
                  <a:pt x="0" y="4112861"/>
                </a:cubicBezTo>
                <a:lnTo>
                  <a:pt x="0" y="0"/>
                </a:lnTo>
                <a:close/>
              </a:path>
            </a:pathLst>
          </a:custGeom>
          <a:solidFill>
            <a:srgbClr val="FFFFFF"/>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chemeClr val="tx1"/>
              </a:solidFill>
            </a:endParaRPr>
          </a:p>
        </p:txBody>
      </p:sp>
      <p:sp>
        <p:nvSpPr>
          <p:cNvPr id="11" name="Status" hidden="1"/>
          <p:cNvSpPr txBox="1">
            <a:spLocks/>
          </p:cNvSpPr>
          <p:nvPr userDrawn="1">
            <p:custDataLst>
              <p:tags r:id="rId5"/>
            </p:custDataLst>
          </p:nvPr>
        </p:nvSpPr>
        <p:spPr bwMode="gray">
          <a:xfrm>
            <a:off x="8744068" y="1374493"/>
            <a:ext cx="399932" cy="169277"/>
          </a:xfrm>
          <a:prstGeom prst="rect">
            <a:avLst/>
          </a:prstGeom>
          <a:solidFill>
            <a:srgbClr val="DFDFDF"/>
          </a:solidFill>
        </p:spPr>
        <p:txBody>
          <a:bodyPr wrap="none" lIns="72000" tIns="0" rIns="324000" bIns="0" rtlCol="0" anchor="ctr">
            <a:spAutoFit/>
          </a:bodyPr>
          <a:lstStyle/>
          <a:p>
            <a:pPr algn="r"/>
            <a:endParaRPr lang="fr-FR" sz="1100" cap="none" baseline="0" dirty="0">
              <a:solidFill>
                <a:srgbClr val="000000"/>
              </a:solidFill>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1A74A69E-4549-0935-538C-7EEE2BF9C442}"/>
              </a:ext>
            </a:extLst>
          </p:cNvPr>
          <p:cNvPicPr>
            <a:picLocks noChangeAspect="1"/>
          </p:cNvPicPr>
          <p:nvPr userDrawn="1">
            <p:custDataLst>
              <p:tags r:id="rId6"/>
            </p:custDataLst>
          </p:nvPr>
        </p:nvPicPr>
        <p:blipFill>
          <a:blip r:embed="rId8">
            <a:extLst>
              <a:ext uri="{28A0092B-C50C-407E-A947-70E740481C1C}">
                <a14:useLocalDpi xmlns:a14="http://schemas.microsoft.com/office/drawing/2010/main" val="0"/>
              </a:ext>
            </a:extLst>
          </a:blip>
          <a:stretch>
            <a:fillRect/>
          </a:stretch>
        </p:blipFill>
        <p:spPr bwMode="gray">
          <a:xfrm>
            <a:off x="7523286" y="308924"/>
            <a:ext cx="961108" cy="669343"/>
          </a:xfrm>
          <a:prstGeom prst="rect">
            <a:avLst/>
          </a:prstGeom>
        </p:spPr>
      </p:pic>
    </p:spTree>
    <p:extLst>
      <p:ext uri="{BB962C8B-B14F-4D97-AF65-F5344CB8AC3E}">
        <p14:creationId xmlns:p14="http://schemas.microsoft.com/office/powerpoint/2010/main" val="133466147"/>
      </p:ext>
    </p:extLst>
  </p:cSld>
  <p:clrMapOvr>
    <a:masterClrMapping/>
  </p:clrMapOvr>
  <p:hf sldNum="0" hdr="0" ftr="0"/>
</p:sldLayout>
</file>

<file path=ppt/slideLayouts/slideLayout17.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543249" y="526364"/>
            <a:ext cx="8057501" cy="348878"/>
          </a:xfrm>
        </p:spPr>
        <p:txBody>
          <a:bodyPr lIns="0" tIns="0" rIns="0" bIns="0"/>
          <a:lstStyle>
            <a:lvl1pPr>
              <a:defRPr sz="2267" b="0" i="1">
                <a:solidFill>
                  <a:srgbClr val="231F20"/>
                </a:solidFill>
                <a:latin typeface="Cambria"/>
                <a:cs typeface="Cambria"/>
              </a:defRPr>
            </a:lvl1pPr>
          </a:lstStyle>
          <a:p>
            <a:endParaRPr lang="fr-FR" dirty="0"/>
          </a:p>
        </p:txBody>
      </p:sp>
      <p:sp>
        <p:nvSpPr>
          <p:cNvPr id="3" name="Holder 3"/>
          <p:cNvSpPr>
            <a:spLocks noGrp="1"/>
          </p:cNvSpPr>
          <p:nvPr>
            <p:ph type="body" idx="1"/>
          </p:nvPr>
        </p:nvSpPr>
        <p:spPr/>
        <p:txBody>
          <a:bodyPr lIns="0" tIns="0" rIns="0" bIns="0"/>
          <a:lstStyle>
            <a:lvl1pPr>
              <a:defRPr/>
            </a:lvl1pPr>
          </a:lstStyle>
          <a:p>
            <a:endParaRPr lang="fr-FR" dirty="0"/>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lang="fr-FR"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fr-FR" smtClean="0"/>
              <a:t>21/02/2025</a:t>
            </a:fld>
            <a:endParaRPr lang="fr-FR" dirty="0"/>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FD08171C-ABD1-49C6-9EE7-1E1477CCD206}" type="slidenum">
              <a:rPr lang="fr-FR" smtClean="0"/>
              <a:pPr/>
              <a:t>‹#›</a:t>
            </a:fld>
            <a:endParaRPr lang="fr-FR" dirty="0"/>
          </a:p>
        </p:txBody>
      </p:sp>
    </p:spTree>
    <p:extLst>
      <p:ext uri="{BB962C8B-B14F-4D97-AF65-F5344CB8AC3E}">
        <p14:creationId xmlns:p14="http://schemas.microsoft.com/office/powerpoint/2010/main" val="406613704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matchingName="Title Slide" preserve="1" userDrawn="1">
  <p:cSld name="Title Slide">
    <p:spTree>
      <p:nvGrpSpPr>
        <p:cNvPr id="1" name=""/>
        <p:cNvGrpSpPr/>
        <p:nvPr/>
      </p:nvGrpSpPr>
      <p:grpSpPr>
        <a:xfrm>
          <a:off x="0" y="0"/>
          <a:ext cx="0" cy="0"/>
          <a:chOff x="0" y="0"/>
          <a:chExt cx="0" cy="0"/>
        </a:xfrm>
      </p:grpSpPr>
      <p:sp>
        <p:nvSpPr>
          <p:cNvPr id="2" name="EcoBackground" hidden="1"/>
          <p:cNvSpPr/>
          <p:nvPr userDrawn="1">
            <p:custDataLst>
              <p:tags r:id="rId2"/>
            </p:custDataLst>
          </p:nvPr>
        </p:nvSpPr>
        <p:spPr bwMode="white">
          <a:xfrm>
            <a:off x="0" y="0"/>
            <a:ext cx="9144000" cy="5715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rgbClr val="FFFFFF"/>
              </a:solidFill>
              <a:latin typeface="Arial" panose="020B0604020202020204" pitchFamily="34" charset="0"/>
              <a:cs typeface="Arial" panose="020B0604020202020204" pitchFamily="34" charset="0"/>
            </a:endParaRPr>
          </a:p>
        </p:txBody>
      </p:sp>
      <p:sp>
        <p:nvSpPr>
          <p:cNvPr id="8" name="Title 1"/>
          <p:cNvSpPr>
            <a:spLocks noGrp="1"/>
          </p:cNvSpPr>
          <p:nvPr>
            <p:ph type="ctrTitle"/>
            <p:custDataLst>
              <p:tags r:id="rId3"/>
            </p:custDataLst>
          </p:nvPr>
        </p:nvSpPr>
        <p:spPr>
          <a:xfrm>
            <a:off x="395286" y="4104038"/>
            <a:ext cx="3528641" cy="353943"/>
          </a:xfrm>
        </p:spPr>
        <p:txBody>
          <a:bodyPr vert="horz" wrap="square" lIns="0" tIns="0" rIns="0" bIns="0" rtlCol="0" anchor="b" anchorCtr="0">
            <a:spAutoFit/>
          </a:bodyPr>
          <a:lstStyle>
            <a:lvl1pPr>
              <a:defRPr lang="en-GB" sz="2300" b="0" cap="none" baseline="0" noProof="0" dirty="0">
                <a:solidFill>
                  <a:schemeClr val="tx1"/>
                </a:solidFill>
              </a:defRPr>
            </a:lvl1pPr>
          </a:lstStyle>
          <a:p>
            <a:pPr lvl="0"/>
            <a:r>
              <a:rPr lang="fr-FR" noProof="0"/>
              <a:t>Click to edit Master title style</a:t>
            </a:r>
            <a:endParaRPr lang="fr-FR" noProof="0" dirty="0"/>
          </a:p>
        </p:txBody>
      </p:sp>
      <p:sp>
        <p:nvSpPr>
          <p:cNvPr id="9" name="Subtitle 2"/>
          <p:cNvSpPr>
            <a:spLocks noGrp="1"/>
          </p:cNvSpPr>
          <p:nvPr>
            <p:ph type="subTitle" idx="1"/>
            <p:custDataLst>
              <p:tags r:id="rId4"/>
            </p:custDataLst>
          </p:nvPr>
        </p:nvSpPr>
        <p:spPr>
          <a:xfrm>
            <a:off x="395288" y="4600733"/>
            <a:ext cx="3528640" cy="138499"/>
          </a:xfrm>
        </p:spPr>
        <p:txBody>
          <a:bodyPr wrap="square" lIns="0">
            <a:spAutoFit/>
          </a:bodyPr>
          <a:lstStyle>
            <a:lvl1pPr marL="0" indent="0" algn="l">
              <a:spcAft>
                <a:spcPts val="0"/>
              </a:spcAft>
              <a:buNone/>
              <a:defRPr sz="9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noProof="0"/>
              <a:t>Click to edit Master subtitle style</a:t>
            </a:r>
            <a:endParaRPr lang="fr-FR" noProof="0" dirty="0"/>
          </a:p>
        </p:txBody>
      </p:sp>
      <p:sp>
        <p:nvSpPr>
          <p:cNvPr id="11" name="Status" hidden="1"/>
          <p:cNvSpPr txBox="1">
            <a:spLocks/>
          </p:cNvSpPr>
          <p:nvPr userDrawn="1">
            <p:custDataLst>
              <p:tags r:id="rId5"/>
            </p:custDataLst>
          </p:nvPr>
        </p:nvSpPr>
        <p:spPr bwMode="gray">
          <a:xfrm>
            <a:off x="8744068" y="1374493"/>
            <a:ext cx="399932" cy="169277"/>
          </a:xfrm>
          <a:prstGeom prst="rect">
            <a:avLst/>
          </a:prstGeom>
          <a:solidFill>
            <a:srgbClr val="DFDFDF"/>
          </a:solidFill>
        </p:spPr>
        <p:txBody>
          <a:bodyPr wrap="none" lIns="72000" tIns="0" rIns="324000" bIns="0" rtlCol="0" anchor="ctr">
            <a:spAutoFit/>
          </a:bodyPr>
          <a:lstStyle/>
          <a:p>
            <a:pPr algn="r"/>
            <a:endParaRPr lang="fr-FR" sz="1100" cap="none" baseline="0" dirty="0">
              <a:solidFill>
                <a:srgbClr val="000000"/>
              </a:solidFill>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06861644-23B7-DC01-88C8-65D3342B9434}"/>
              </a:ext>
            </a:extLst>
          </p:cNvPr>
          <p:cNvPicPr>
            <a:picLocks noChangeAspect="1"/>
          </p:cNvPicPr>
          <p:nvPr userDrawn="1">
            <p:custDataLst>
              <p:tags r:id="rId6"/>
            </p:custDataLst>
          </p:nvPr>
        </p:nvPicPr>
        <p:blipFill>
          <a:blip r:embed="rId8">
            <a:extLst>
              <a:ext uri="{28A0092B-C50C-407E-A947-70E740481C1C}">
                <a14:useLocalDpi xmlns:a14="http://schemas.microsoft.com/office/drawing/2010/main" val="0"/>
              </a:ext>
            </a:extLst>
          </a:blip>
          <a:stretch>
            <a:fillRect/>
          </a:stretch>
        </p:blipFill>
        <p:spPr bwMode="gray">
          <a:xfrm>
            <a:off x="7523286" y="308924"/>
            <a:ext cx="961108" cy="669343"/>
          </a:xfrm>
          <a:prstGeom prst="rect">
            <a:avLst/>
          </a:prstGeom>
        </p:spPr>
      </p:pic>
    </p:spTree>
    <p:extLst>
      <p:ext uri="{BB962C8B-B14F-4D97-AF65-F5344CB8AC3E}">
        <p14:creationId xmlns:p14="http://schemas.microsoft.com/office/powerpoint/2010/main" val="3058190270"/>
      </p:ext>
    </p:extLst>
  </p:cSld>
  <p:clrMapOvr>
    <a:masterClrMapping/>
  </p:clrMapOvr>
  <p:hf sldNum="0" hdr="0" ftr="0"/>
  <p:extLst>
    <p:ext uri="{DCECCB84-F9BA-43D5-87BE-67443E8EF086}">
      <p15:sldGuideLst xmlns:p15="http://schemas.microsoft.com/office/powerpoint/2012/main">
        <p15:guide id="1" pos="249">
          <p15:clr>
            <a:srgbClr val="FBAE40"/>
          </p15:clr>
        </p15:guide>
        <p15:guide id="2" orient="horz" pos="2765">
          <p15:clr>
            <a:srgbClr val="FBAE40"/>
          </p15:clr>
        </p15:guide>
        <p15:guide id="3" orient="horz" pos="2967">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Content"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0826" y="121196"/>
            <a:ext cx="7201494" cy="1080542"/>
          </a:xfrm>
        </p:spPr>
        <p:txBody>
          <a:bodyPr/>
          <a:lstStyle/>
          <a:p>
            <a:r>
              <a:rPr lang="fr-FR" noProof="0"/>
              <a:t>Click to edit Master title style</a:t>
            </a:r>
            <a:endParaRPr lang="fr-FR" noProof="0" dirty="0"/>
          </a:p>
        </p:txBody>
      </p:sp>
      <p:sp>
        <p:nvSpPr>
          <p:cNvPr id="3" name="Content Placeholder 2"/>
          <p:cNvSpPr>
            <a:spLocks noGrp="1"/>
          </p:cNvSpPr>
          <p:nvPr>
            <p:ph idx="1"/>
          </p:nvPr>
        </p:nvSpPr>
        <p:spPr>
          <a:xfrm>
            <a:off x="250824" y="1562100"/>
            <a:ext cx="5761038" cy="3600450"/>
          </a:xfrm>
        </p:spPr>
        <p:txBody>
          <a:bodyPr/>
          <a:lstStyle/>
          <a:p>
            <a:pPr lvl="0"/>
            <a:r>
              <a:rPr lang="fr-FR" noProof="0"/>
              <a:t>Click to edit Master text styles</a:t>
            </a:r>
          </a:p>
          <a:p>
            <a:pPr lvl="1"/>
            <a:r>
              <a:rPr lang="fr-FR" noProof="0"/>
              <a:t>Second level</a:t>
            </a:r>
          </a:p>
          <a:p>
            <a:pPr lvl="2"/>
            <a:r>
              <a:rPr lang="fr-FR" noProof="0"/>
              <a:t>Third level</a:t>
            </a:r>
          </a:p>
          <a:p>
            <a:pPr lvl="3"/>
            <a:r>
              <a:rPr lang="fr-FR" noProof="0"/>
              <a:t>Fourth level</a:t>
            </a:r>
          </a:p>
          <a:p>
            <a:pPr lvl="4"/>
            <a:r>
              <a:rPr lang="fr-FR" noProof="0"/>
              <a:t>Fifth level</a:t>
            </a:r>
            <a:endParaRPr lang="fr-FR" noProof="0" dirty="0"/>
          </a:p>
        </p:txBody>
      </p:sp>
      <p:sp>
        <p:nvSpPr>
          <p:cNvPr id="6" name="Text Placeholder 5"/>
          <p:cNvSpPr>
            <a:spLocks noGrp="1"/>
          </p:cNvSpPr>
          <p:nvPr>
            <p:ph type="body" sz="quarter" idx="12"/>
          </p:nvPr>
        </p:nvSpPr>
        <p:spPr>
          <a:xfrm>
            <a:off x="7524750" y="1561356"/>
            <a:ext cx="1295400" cy="3601194"/>
          </a:xfrm>
        </p:spPr>
        <p:txBody>
          <a:bodyPr/>
          <a:lstStyle>
            <a:lvl1pPr marL="0" indent="0">
              <a:lnSpc>
                <a:spcPts val="1200"/>
              </a:lnSpc>
              <a:spcAft>
                <a:spcPts val="0"/>
              </a:spcAft>
              <a:buFontTx/>
              <a:buNone/>
              <a:defRPr sz="1000">
                <a:solidFill>
                  <a:schemeClr val="tx2"/>
                </a:solidFill>
              </a:defRPr>
            </a:lvl1pPr>
            <a:lvl2pPr marL="216000" indent="0">
              <a:lnSpc>
                <a:spcPct val="100000"/>
              </a:lnSpc>
              <a:spcAft>
                <a:spcPts val="0"/>
              </a:spcAft>
              <a:buFontTx/>
              <a:buNone/>
              <a:defRPr sz="1000"/>
            </a:lvl2pPr>
            <a:lvl3pPr marL="360000" indent="0">
              <a:lnSpc>
                <a:spcPct val="100000"/>
              </a:lnSpc>
              <a:spcAft>
                <a:spcPts val="0"/>
              </a:spcAft>
              <a:buFontTx/>
              <a:buNone/>
              <a:defRPr sz="1000"/>
            </a:lvl3pPr>
            <a:lvl4pPr marL="539750" indent="0">
              <a:lnSpc>
                <a:spcPct val="100000"/>
              </a:lnSpc>
              <a:spcAft>
                <a:spcPts val="0"/>
              </a:spcAft>
              <a:buFontTx/>
              <a:buNone/>
              <a:defRPr sz="1000"/>
            </a:lvl4pPr>
            <a:lvl5pPr marL="712787" indent="0">
              <a:lnSpc>
                <a:spcPct val="100000"/>
              </a:lnSpc>
              <a:spcAft>
                <a:spcPts val="0"/>
              </a:spcAft>
              <a:buFontTx/>
              <a:buNone/>
              <a:defRPr sz="1000"/>
            </a:lvl5pPr>
          </a:lstStyle>
          <a:p>
            <a:pPr lvl="0"/>
            <a:r>
              <a:rPr lang="fr-FR"/>
              <a:t>Click to edit Master text styles</a:t>
            </a:r>
            <a:endParaRPr lang="fr-FR" dirty="0"/>
          </a:p>
        </p:txBody>
      </p:sp>
    </p:spTree>
    <p:extLst>
      <p:ext uri="{BB962C8B-B14F-4D97-AF65-F5344CB8AC3E}">
        <p14:creationId xmlns:p14="http://schemas.microsoft.com/office/powerpoint/2010/main" val="1473235226"/>
      </p:ext>
    </p:extLst>
  </p:cSld>
  <p:clrMapOvr>
    <a:masterClrMapping/>
  </p:clrMapOvr>
  <p:hf sldNum="0" hdr="0" ftr="0"/>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matchingName="Title Slide with Image" preserve="1" userDrawn="1">
  <p:cSld name="Title Slide with Image">
    <p:bg>
      <p:bgPr>
        <a:solidFill>
          <a:schemeClr val="accent4">
            <a:lumMod val="40000"/>
            <a:lumOff val="60000"/>
          </a:schemeClr>
        </a:solidFill>
        <a:effectLst/>
      </p:bgPr>
    </p:bg>
    <p:spTree>
      <p:nvGrpSpPr>
        <p:cNvPr id="1" name=""/>
        <p:cNvGrpSpPr/>
        <p:nvPr/>
      </p:nvGrpSpPr>
      <p:grpSpPr>
        <a:xfrm>
          <a:off x="0" y="0"/>
          <a:ext cx="0" cy="0"/>
          <a:chOff x="0" y="0"/>
          <a:chExt cx="0" cy="0"/>
        </a:xfrm>
      </p:grpSpPr>
      <p:sp>
        <p:nvSpPr>
          <p:cNvPr id="11" name="Picture Placeholder 4"/>
          <p:cNvSpPr>
            <a:spLocks noGrp="1"/>
          </p:cNvSpPr>
          <p:nvPr>
            <p:ph type="pic" sz="quarter" idx="10"/>
            <p:custDataLst>
              <p:tags r:id="rId2"/>
            </p:custDataLst>
          </p:nvPr>
        </p:nvSpPr>
        <p:spPr>
          <a:xfrm>
            <a:off x="0" y="0"/>
            <a:ext cx="9144000" cy="5715000"/>
          </a:xfrm>
          <a:noFill/>
        </p:spPr>
        <p:txBody>
          <a:bodyPr lIns="0" tIns="0" bIns="468000" anchor="ctr" anchorCtr="0"/>
          <a:lstStyle>
            <a:lvl1pPr marL="0" indent="0" algn="ctr">
              <a:buNone/>
              <a:defRPr>
                <a:solidFill>
                  <a:schemeClr val="tx1"/>
                </a:solidFill>
              </a:defRPr>
            </a:lvl1pPr>
          </a:lstStyle>
          <a:p>
            <a:r>
              <a:rPr lang="fr-FR" noProof="0"/>
              <a:t>Click icon to add picture</a:t>
            </a:r>
            <a:endParaRPr lang="fr-FR" noProof="0" dirty="0"/>
          </a:p>
        </p:txBody>
      </p:sp>
      <p:sp>
        <p:nvSpPr>
          <p:cNvPr id="12" name="Subtitle 2"/>
          <p:cNvSpPr>
            <a:spLocks noGrp="1"/>
          </p:cNvSpPr>
          <p:nvPr>
            <p:ph type="subTitle" idx="1"/>
          </p:nvPr>
        </p:nvSpPr>
        <p:spPr bwMode="ltGray">
          <a:xfrm>
            <a:off x="0" y="4529242"/>
            <a:ext cx="3923928" cy="374785"/>
          </a:xfrm>
          <a:solidFill>
            <a:schemeClr val="bg1"/>
          </a:solidFill>
        </p:spPr>
        <p:txBody>
          <a:bodyPr lIns="396000" tIns="72000" rIns="144000" bIns="162000">
            <a:spAutoFit/>
          </a:bodyPr>
          <a:lstStyle>
            <a:lvl1pPr marL="0" indent="0" algn="l">
              <a:spcAft>
                <a:spcPts val="0"/>
              </a:spcAft>
              <a:buNone/>
              <a:defRPr sz="9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noProof="0"/>
              <a:t>Click to edit Master subtitle style</a:t>
            </a:r>
            <a:endParaRPr lang="fr-FR" noProof="0" dirty="0"/>
          </a:p>
        </p:txBody>
      </p:sp>
      <p:sp>
        <p:nvSpPr>
          <p:cNvPr id="13" name="Title 1"/>
          <p:cNvSpPr>
            <a:spLocks noGrp="1"/>
          </p:cNvSpPr>
          <p:nvPr>
            <p:ph type="ctrTitle"/>
          </p:nvPr>
        </p:nvSpPr>
        <p:spPr bwMode="ltGray">
          <a:xfrm>
            <a:off x="0" y="3615550"/>
            <a:ext cx="3923928" cy="961499"/>
          </a:xfrm>
          <a:solidFill>
            <a:schemeClr val="bg1"/>
          </a:solidFill>
        </p:spPr>
        <p:txBody>
          <a:bodyPr lIns="396000" tIns="147600" rIns="144000" bIns="118800" anchor="b" anchorCtr="0">
            <a:spAutoFit/>
          </a:bodyPr>
          <a:lstStyle>
            <a:lvl1pPr algn="l">
              <a:lnSpc>
                <a:spcPts val="2700"/>
              </a:lnSpc>
              <a:defRPr sz="2300" baseline="0">
                <a:solidFill>
                  <a:schemeClr val="tx1"/>
                </a:solidFill>
              </a:defRPr>
            </a:lvl1pPr>
          </a:lstStyle>
          <a:p>
            <a:r>
              <a:rPr lang="fr-FR" noProof="0"/>
              <a:t>Click to edit Master title style</a:t>
            </a:r>
            <a:endParaRPr lang="fr-FR" noProof="0" dirty="0"/>
          </a:p>
        </p:txBody>
      </p:sp>
      <p:sp>
        <p:nvSpPr>
          <p:cNvPr id="9" name="Status" hidden="1"/>
          <p:cNvSpPr txBox="1">
            <a:spLocks/>
          </p:cNvSpPr>
          <p:nvPr userDrawn="1">
            <p:custDataLst>
              <p:tags r:id="rId3"/>
            </p:custDataLst>
          </p:nvPr>
        </p:nvSpPr>
        <p:spPr bwMode="gray">
          <a:xfrm>
            <a:off x="8744068" y="1374493"/>
            <a:ext cx="399932" cy="169277"/>
          </a:xfrm>
          <a:prstGeom prst="rect">
            <a:avLst/>
          </a:prstGeom>
          <a:solidFill>
            <a:srgbClr val="DFDFDF"/>
          </a:solidFill>
        </p:spPr>
        <p:txBody>
          <a:bodyPr wrap="none" lIns="72000" tIns="0" rIns="324000" bIns="0" rtlCol="0" anchor="ctr">
            <a:spAutoFit/>
          </a:bodyPr>
          <a:lstStyle/>
          <a:p>
            <a:pPr algn="r"/>
            <a:endParaRPr lang="fr-FR" sz="1100" cap="none" baseline="0" dirty="0">
              <a:solidFill>
                <a:srgbClr val="000000"/>
              </a:solidFill>
              <a:latin typeface="Arial" panose="020B0604020202020204" pitchFamily="34" charset="0"/>
              <a:cs typeface="Arial" panose="020B0604020202020204" pitchFamily="34" charset="0"/>
            </a:endParaRPr>
          </a:p>
        </p:txBody>
      </p:sp>
      <p:sp>
        <p:nvSpPr>
          <p:cNvPr id="8" name="LogoFrame"/>
          <p:cNvSpPr>
            <a:spLocks/>
          </p:cNvSpPr>
          <p:nvPr userDrawn="1">
            <p:custDataLst>
              <p:tags r:id="rId4"/>
            </p:custDataLst>
          </p:nvPr>
        </p:nvSpPr>
        <p:spPr bwMode="white">
          <a:xfrm>
            <a:off x="7192950" y="-7200"/>
            <a:ext cx="1627200" cy="1368458"/>
          </a:xfrm>
          <a:custGeom>
            <a:avLst/>
            <a:gdLst>
              <a:gd name="connsiteX0" fmla="*/ 0 w 4824537"/>
              <a:gd name="connsiteY0" fmla="*/ 0 h 4112861"/>
              <a:gd name="connsiteX1" fmla="*/ 4824537 w 4824537"/>
              <a:gd name="connsiteY1" fmla="*/ 0 h 4112861"/>
              <a:gd name="connsiteX2" fmla="*/ 4824537 w 4824537"/>
              <a:gd name="connsiteY2" fmla="*/ 4112861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51737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51737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51737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51737 h 4112861"/>
              <a:gd name="connsiteX3" fmla="*/ 0 w 4824537"/>
              <a:gd name="connsiteY3" fmla="*/ 4112861 h 4112861"/>
              <a:gd name="connsiteX4" fmla="*/ 0 w 4824537"/>
              <a:gd name="connsiteY4" fmla="*/ 0 h 41128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24537" h="4112861">
                <a:moveTo>
                  <a:pt x="0" y="0"/>
                </a:moveTo>
                <a:lnTo>
                  <a:pt x="4824537" y="0"/>
                </a:lnTo>
                <a:lnTo>
                  <a:pt x="4824537" y="3751737"/>
                </a:lnTo>
                <a:cubicBezTo>
                  <a:pt x="3231541" y="3785819"/>
                  <a:pt x="1634302" y="3906720"/>
                  <a:pt x="0" y="4112861"/>
                </a:cubicBezTo>
                <a:lnTo>
                  <a:pt x="0" y="0"/>
                </a:lnTo>
                <a:close/>
              </a:path>
            </a:pathLst>
          </a:custGeom>
          <a:solidFill>
            <a:srgbClr val="FFFFFF"/>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chemeClr val="tx1"/>
              </a:solidFill>
            </a:endParaRPr>
          </a:p>
        </p:txBody>
      </p:sp>
      <p:pic>
        <p:nvPicPr>
          <p:cNvPr id="4" name="Picture 3">
            <a:extLst>
              <a:ext uri="{FF2B5EF4-FFF2-40B4-BE49-F238E27FC236}">
                <a16:creationId xmlns:a16="http://schemas.microsoft.com/office/drawing/2014/main" id="{097E600D-40EA-7D96-76F2-D10B1DFBEC1A}"/>
              </a:ext>
            </a:extLst>
          </p:cNvPr>
          <p:cNvPicPr>
            <a:picLocks noChangeAspect="1"/>
          </p:cNvPicPr>
          <p:nvPr userDrawn="1">
            <p:custDataLst>
              <p:tags r:id="rId5"/>
            </p:custDataLst>
          </p:nvPr>
        </p:nvPicPr>
        <p:blipFill>
          <a:blip r:embed="rId7">
            <a:extLst>
              <a:ext uri="{28A0092B-C50C-407E-A947-70E740481C1C}">
                <a14:useLocalDpi xmlns:a14="http://schemas.microsoft.com/office/drawing/2010/main" val="0"/>
              </a:ext>
            </a:extLst>
          </a:blip>
          <a:stretch>
            <a:fillRect/>
          </a:stretch>
        </p:blipFill>
        <p:spPr bwMode="gray">
          <a:xfrm>
            <a:off x="7523286" y="308924"/>
            <a:ext cx="961108" cy="669343"/>
          </a:xfrm>
          <a:prstGeom prst="rect">
            <a:avLst/>
          </a:prstGeom>
        </p:spPr>
      </p:pic>
    </p:spTree>
    <p:extLst>
      <p:ext uri="{BB962C8B-B14F-4D97-AF65-F5344CB8AC3E}">
        <p14:creationId xmlns:p14="http://schemas.microsoft.com/office/powerpoint/2010/main" val="3863659348"/>
      </p:ext>
    </p:extLst>
  </p:cSld>
  <p:clrMapOvr>
    <a:masterClrMapping/>
  </p:clrMapOvr>
  <p:hf sldNum="0" hdr="0" ftr="0"/>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matchingName="Section Header" preserve="1" userDrawn="1">
  <p:cSld name="Section Header">
    <p:spTree>
      <p:nvGrpSpPr>
        <p:cNvPr id="1" name=""/>
        <p:cNvGrpSpPr/>
        <p:nvPr/>
      </p:nvGrpSpPr>
      <p:grpSpPr>
        <a:xfrm>
          <a:off x="0" y="0"/>
          <a:ext cx="0" cy="0"/>
          <a:chOff x="0" y="0"/>
          <a:chExt cx="0" cy="0"/>
        </a:xfrm>
      </p:grpSpPr>
      <p:sp>
        <p:nvSpPr>
          <p:cNvPr id="8" name="EcoBackground" hidden="1"/>
          <p:cNvSpPr/>
          <p:nvPr userDrawn="1">
            <p:custDataLst>
              <p:tags r:id="rId2"/>
            </p:custDataLst>
          </p:nvPr>
        </p:nvSpPr>
        <p:spPr bwMode="gray">
          <a:xfrm>
            <a:off x="0" y="0"/>
            <a:ext cx="9144000" cy="5715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rgbClr val="FFFFFF"/>
              </a:solidFill>
              <a:latin typeface="Arial" panose="020B0604020202020204" pitchFamily="34" charset="0"/>
              <a:cs typeface="Arial" panose="020B0604020202020204" pitchFamily="34" charset="0"/>
            </a:endParaRPr>
          </a:p>
        </p:txBody>
      </p:sp>
      <p:sp>
        <p:nvSpPr>
          <p:cNvPr id="2" name="Title 1"/>
          <p:cNvSpPr>
            <a:spLocks noGrp="1"/>
          </p:cNvSpPr>
          <p:nvPr>
            <p:ph type="title"/>
            <p:custDataLst>
              <p:tags r:id="rId3"/>
            </p:custDataLst>
          </p:nvPr>
        </p:nvSpPr>
        <p:spPr>
          <a:xfrm>
            <a:off x="359821" y="2154428"/>
            <a:ext cx="3528464" cy="390295"/>
          </a:xfrm>
        </p:spPr>
        <p:txBody>
          <a:bodyPr lIns="36000" anchor="b" anchorCtr="0">
            <a:noAutofit/>
          </a:bodyPr>
          <a:lstStyle>
            <a:lvl1pPr algn="l">
              <a:defRPr sz="2300" b="0" cap="none" baseline="0">
                <a:solidFill>
                  <a:schemeClr val="tx1"/>
                </a:solidFill>
              </a:defRPr>
            </a:lvl1pPr>
          </a:lstStyle>
          <a:p>
            <a:r>
              <a:rPr lang="fr-FR"/>
              <a:t>Click to edit Master title style</a:t>
            </a:r>
            <a:endParaRPr lang="fr-FR" dirty="0"/>
          </a:p>
        </p:txBody>
      </p:sp>
      <p:sp>
        <p:nvSpPr>
          <p:cNvPr id="9" name="Status" hidden="1"/>
          <p:cNvSpPr txBox="1">
            <a:spLocks/>
          </p:cNvSpPr>
          <p:nvPr userDrawn="1">
            <p:custDataLst>
              <p:tags r:id="rId4"/>
            </p:custDataLst>
          </p:nvPr>
        </p:nvSpPr>
        <p:spPr bwMode="gray">
          <a:xfrm>
            <a:off x="8744068" y="1374493"/>
            <a:ext cx="399932" cy="169277"/>
          </a:xfrm>
          <a:prstGeom prst="rect">
            <a:avLst/>
          </a:prstGeom>
          <a:solidFill>
            <a:srgbClr val="DFDFDF"/>
          </a:solidFill>
        </p:spPr>
        <p:txBody>
          <a:bodyPr wrap="none" lIns="72000" tIns="0" rIns="324000" bIns="0" rtlCol="0" anchor="ctr">
            <a:spAutoFit/>
          </a:bodyPr>
          <a:lstStyle/>
          <a:p>
            <a:pPr algn="r"/>
            <a:endParaRPr lang="fr-FR" sz="1100" cap="none" baseline="0" dirty="0">
              <a:solidFill>
                <a:srgbClr val="000000"/>
              </a:solidFill>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5DAD425E-067D-AA27-763E-339B7080F08A}"/>
              </a:ext>
            </a:extLst>
          </p:cNvPr>
          <p:cNvPicPr>
            <a:picLocks noChangeAspect="1"/>
          </p:cNvPicPr>
          <p:nvPr userDrawn="1">
            <p:custDataLst>
              <p:tags r:id="rId5"/>
            </p:custDataLst>
          </p:nvPr>
        </p:nvPicPr>
        <p:blipFill>
          <a:blip r:embed="rId7" cstate="print">
            <a:extLst>
              <a:ext uri="{28A0092B-C50C-407E-A947-70E740481C1C}">
                <a14:useLocalDpi xmlns:a14="http://schemas.microsoft.com/office/drawing/2010/main" val="0"/>
              </a:ext>
            </a:extLst>
          </a:blip>
          <a:stretch>
            <a:fillRect/>
          </a:stretch>
        </p:blipFill>
        <p:spPr bwMode="gray">
          <a:xfrm>
            <a:off x="8150398" y="5133975"/>
            <a:ext cx="584769" cy="407250"/>
          </a:xfrm>
          <a:prstGeom prst="rect">
            <a:avLst/>
          </a:prstGeom>
        </p:spPr>
      </p:pic>
    </p:spTree>
    <p:extLst>
      <p:ext uri="{BB962C8B-B14F-4D97-AF65-F5344CB8AC3E}">
        <p14:creationId xmlns:p14="http://schemas.microsoft.com/office/powerpoint/2010/main" val="4219201373"/>
      </p:ext>
    </p:extLst>
  </p:cSld>
  <p:clrMapOvr>
    <a:masterClrMapping/>
  </p:clrMapOvr>
  <p:hf sldNum="0" hdr="0" ftr="0"/>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matchingName="Section Header with Image" preserve="1" userDrawn="1">
  <p:cSld name="Section Header with Image">
    <p:bg>
      <p:bgPr>
        <a:solidFill>
          <a:schemeClr val="accent4">
            <a:lumMod val="40000"/>
            <a:lumOff val="60000"/>
          </a:schemeClr>
        </a:solidFill>
        <a:effectLst/>
      </p:bgPr>
    </p:bg>
    <p:spTree>
      <p:nvGrpSpPr>
        <p:cNvPr id="1" name=""/>
        <p:cNvGrpSpPr/>
        <p:nvPr/>
      </p:nvGrpSpPr>
      <p:grpSpPr>
        <a:xfrm>
          <a:off x="0" y="0"/>
          <a:ext cx="0" cy="0"/>
          <a:chOff x="0" y="0"/>
          <a:chExt cx="0" cy="0"/>
        </a:xfrm>
      </p:grpSpPr>
      <p:sp>
        <p:nvSpPr>
          <p:cNvPr id="7" name="Picture Placeholder 4"/>
          <p:cNvSpPr>
            <a:spLocks noGrp="1"/>
          </p:cNvSpPr>
          <p:nvPr>
            <p:ph type="pic" sz="quarter" idx="10"/>
            <p:custDataLst>
              <p:tags r:id="rId2"/>
            </p:custDataLst>
          </p:nvPr>
        </p:nvSpPr>
        <p:spPr>
          <a:xfrm>
            <a:off x="0" y="0"/>
            <a:ext cx="9144000" cy="4945732"/>
          </a:xfrm>
        </p:spPr>
        <p:txBody>
          <a:bodyPr lIns="0" tIns="0" bIns="468000" anchor="ctr" anchorCtr="0"/>
          <a:lstStyle>
            <a:lvl1pPr marL="0" indent="0" algn="ctr">
              <a:buNone/>
              <a:defRPr>
                <a:solidFill>
                  <a:schemeClr val="tx1"/>
                </a:solidFill>
              </a:defRPr>
            </a:lvl1pPr>
          </a:lstStyle>
          <a:p>
            <a:r>
              <a:rPr lang="fr-FR" noProof="0"/>
              <a:t>Click icon to add picture</a:t>
            </a:r>
            <a:endParaRPr lang="fr-FR" noProof="0" dirty="0"/>
          </a:p>
        </p:txBody>
      </p:sp>
      <p:sp>
        <p:nvSpPr>
          <p:cNvPr id="13" name="EcoBackground" hidden="1"/>
          <p:cNvSpPr/>
          <p:nvPr userDrawn="1">
            <p:custDataLst>
              <p:tags r:id="rId3"/>
            </p:custDataLst>
          </p:nvPr>
        </p:nvSpPr>
        <p:spPr bwMode="white">
          <a:xfrm>
            <a:off x="0" y="0"/>
            <a:ext cx="9144000" cy="5715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6" name="Hider"/>
          <p:cNvSpPr/>
          <p:nvPr userDrawn="1"/>
        </p:nvSpPr>
        <p:spPr bwMode="white">
          <a:xfrm>
            <a:off x="0" y="4945732"/>
            <a:ext cx="9144000" cy="769268"/>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10" name="Status" hidden="1"/>
          <p:cNvSpPr txBox="1">
            <a:spLocks/>
          </p:cNvSpPr>
          <p:nvPr userDrawn="1">
            <p:custDataLst>
              <p:tags r:id="rId4"/>
            </p:custDataLst>
          </p:nvPr>
        </p:nvSpPr>
        <p:spPr bwMode="gray">
          <a:xfrm>
            <a:off x="8744068" y="1374493"/>
            <a:ext cx="399932" cy="169277"/>
          </a:xfrm>
          <a:prstGeom prst="rect">
            <a:avLst/>
          </a:prstGeom>
          <a:solidFill>
            <a:srgbClr val="DFDFDF"/>
          </a:solidFill>
        </p:spPr>
        <p:txBody>
          <a:bodyPr wrap="none" lIns="72000" tIns="0" rIns="324000" bIns="0" rtlCol="0" anchor="ctr">
            <a:spAutoFit/>
          </a:bodyPr>
          <a:lstStyle/>
          <a:p>
            <a:pPr algn="r"/>
            <a:endParaRPr lang="fr-FR" sz="1100" cap="none" baseline="0" dirty="0">
              <a:solidFill>
                <a:srgbClr val="000000"/>
              </a:solidFill>
              <a:latin typeface="Arial" panose="020B0604020202020204" pitchFamily="34" charset="0"/>
              <a:cs typeface="Arial" panose="020B0604020202020204" pitchFamily="34" charset="0"/>
            </a:endParaRPr>
          </a:p>
        </p:txBody>
      </p:sp>
      <p:sp>
        <p:nvSpPr>
          <p:cNvPr id="2" name="Title 1"/>
          <p:cNvSpPr>
            <a:spLocks noGrp="1"/>
          </p:cNvSpPr>
          <p:nvPr>
            <p:ph type="title"/>
            <p:custDataLst>
              <p:tags r:id="rId5"/>
            </p:custDataLst>
          </p:nvPr>
        </p:nvSpPr>
        <p:spPr bwMode="ltGray">
          <a:xfrm>
            <a:off x="0" y="2046987"/>
            <a:ext cx="3924000" cy="644756"/>
          </a:xfrm>
          <a:solidFill>
            <a:schemeClr val="bg1"/>
          </a:solidFill>
        </p:spPr>
        <p:txBody>
          <a:bodyPr lIns="396000" tIns="144000" bIns="144000" anchor="ctr" anchorCtr="0">
            <a:spAutoFit/>
          </a:bodyPr>
          <a:lstStyle>
            <a:lvl1pPr algn="l">
              <a:defRPr sz="2300" b="0" cap="none" baseline="0">
                <a:solidFill>
                  <a:schemeClr val="tx1"/>
                </a:solidFill>
              </a:defRPr>
            </a:lvl1pPr>
          </a:lstStyle>
          <a:p>
            <a:r>
              <a:rPr lang="fr-FR" noProof="0"/>
              <a:t>Click to edit Master title style</a:t>
            </a:r>
            <a:endParaRPr lang="fr-FR" noProof="0" dirty="0"/>
          </a:p>
        </p:txBody>
      </p:sp>
      <p:pic>
        <p:nvPicPr>
          <p:cNvPr id="5" name="Picture 4">
            <a:extLst>
              <a:ext uri="{FF2B5EF4-FFF2-40B4-BE49-F238E27FC236}">
                <a16:creationId xmlns:a16="http://schemas.microsoft.com/office/drawing/2014/main" id="{9E0DCF60-A2E0-263B-6695-478D9C7FE33C}"/>
              </a:ext>
            </a:extLst>
          </p:cNvPr>
          <p:cNvPicPr>
            <a:picLocks noChangeAspect="1"/>
          </p:cNvPicPr>
          <p:nvPr userDrawn="1">
            <p:custDataLst>
              <p:tags r:id="rId6"/>
            </p:custDataLst>
          </p:nvPr>
        </p:nvPicPr>
        <p:blipFill>
          <a:blip r:embed="rId8" cstate="print">
            <a:extLst>
              <a:ext uri="{28A0092B-C50C-407E-A947-70E740481C1C}">
                <a14:useLocalDpi xmlns:a14="http://schemas.microsoft.com/office/drawing/2010/main" val="0"/>
              </a:ext>
            </a:extLst>
          </a:blip>
          <a:stretch>
            <a:fillRect/>
          </a:stretch>
        </p:blipFill>
        <p:spPr bwMode="gray">
          <a:xfrm>
            <a:off x="8150398" y="5133975"/>
            <a:ext cx="584769" cy="407250"/>
          </a:xfrm>
          <a:prstGeom prst="rect">
            <a:avLst/>
          </a:prstGeom>
        </p:spPr>
      </p:pic>
    </p:spTree>
    <p:extLst>
      <p:ext uri="{BB962C8B-B14F-4D97-AF65-F5344CB8AC3E}">
        <p14:creationId xmlns:p14="http://schemas.microsoft.com/office/powerpoint/2010/main" val="2679322477"/>
      </p:ext>
    </p:extLst>
  </p:cSld>
  <p:clrMapOvr>
    <a:masterClrMapping/>
  </p:clrMapOvr>
  <p:hf sldNum="0" hdr="0" ftr="0"/>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Image and Content 2/3 - 1/3" preserve="1" userDrawn="1">
  <p:cSld name="Image and Content 2/3 - 1/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Click to edit Master title style</a:t>
            </a:r>
            <a:endParaRPr lang="fr-FR" dirty="0"/>
          </a:p>
        </p:txBody>
      </p:sp>
      <p:sp>
        <p:nvSpPr>
          <p:cNvPr id="7" name="Picture Placeholder 6"/>
          <p:cNvSpPr>
            <a:spLocks noGrp="1"/>
          </p:cNvSpPr>
          <p:nvPr>
            <p:ph type="pic" sz="quarter" idx="12"/>
          </p:nvPr>
        </p:nvSpPr>
        <p:spPr>
          <a:xfrm>
            <a:off x="250825" y="1562100"/>
            <a:ext cx="5761038" cy="3600450"/>
          </a:xfrm>
        </p:spPr>
        <p:txBody>
          <a:bodyPr lIns="0" bIns="432000" anchor="ctr" anchorCtr="0"/>
          <a:lstStyle>
            <a:lvl1pPr marL="0" indent="0" algn="ctr">
              <a:buNone/>
              <a:defRPr>
                <a:solidFill>
                  <a:srgbClr val="808080"/>
                </a:solidFill>
              </a:defRPr>
            </a:lvl1pPr>
          </a:lstStyle>
          <a:p>
            <a:r>
              <a:rPr lang="fr-FR"/>
              <a:t>Click icon to add picture</a:t>
            </a:r>
            <a:endParaRPr lang="fr-FR" dirty="0"/>
          </a:p>
        </p:txBody>
      </p:sp>
      <p:sp>
        <p:nvSpPr>
          <p:cNvPr id="9" name="Content Placeholder 8"/>
          <p:cNvSpPr>
            <a:spLocks noGrp="1"/>
          </p:cNvSpPr>
          <p:nvPr>
            <p:ph sz="quarter" idx="13"/>
          </p:nvPr>
        </p:nvSpPr>
        <p:spPr>
          <a:xfrm>
            <a:off x="6084167" y="1562100"/>
            <a:ext cx="2735983" cy="3600450"/>
          </a:xfrm>
        </p:spPr>
        <p:txBody>
          <a:bodyPr/>
          <a:lstStyle>
            <a:lvl1pPr>
              <a:defRPr sz="1600"/>
            </a:lvl1pPr>
            <a:lvl2pPr>
              <a:defRPr sz="1500"/>
            </a:lvl2pPr>
            <a:lvl3pPr>
              <a:defRPr sz="1400"/>
            </a:lvl3pPr>
            <a:lvl4pPr>
              <a:defRPr sz="1300"/>
            </a:lvl4pPr>
            <a:lvl5pPr>
              <a:defRPr sz="1200"/>
            </a:lvl5pPr>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endParaRPr lang="fr-FR" dirty="0"/>
          </a:p>
        </p:txBody>
      </p:sp>
    </p:spTree>
    <p:extLst>
      <p:ext uri="{BB962C8B-B14F-4D97-AF65-F5344CB8AC3E}">
        <p14:creationId xmlns:p14="http://schemas.microsoft.com/office/powerpoint/2010/main" val="855234453"/>
      </p:ext>
    </p:extLst>
  </p:cSld>
  <p:clrMapOvr>
    <a:masterClrMapping/>
  </p:clrMapOvr>
  <p:hf sldNum="0" hdr="0" ftr="0"/>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Image and Content 1/3 - 2/3" preserve="1" userDrawn="1">
  <p:cSld name="Image and Content 1/3 - 2/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Click to edit Master title style</a:t>
            </a:r>
            <a:endParaRPr lang="fr-FR" dirty="0"/>
          </a:p>
        </p:txBody>
      </p:sp>
      <p:sp>
        <p:nvSpPr>
          <p:cNvPr id="4" name="Picture Placeholder 3"/>
          <p:cNvSpPr>
            <a:spLocks noGrp="1"/>
          </p:cNvSpPr>
          <p:nvPr>
            <p:ph type="pic" sz="quarter" idx="13"/>
          </p:nvPr>
        </p:nvSpPr>
        <p:spPr>
          <a:xfrm>
            <a:off x="250823" y="1562100"/>
            <a:ext cx="2808000" cy="3600449"/>
          </a:xfrm>
        </p:spPr>
        <p:txBody>
          <a:bodyPr lIns="0" bIns="432000" anchor="ctr" anchorCtr="0"/>
          <a:lstStyle>
            <a:lvl1pPr marL="0" indent="0" algn="ctr">
              <a:buNone/>
              <a:defRPr>
                <a:solidFill>
                  <a:srgbClr val="808080"/>
                </a:solidFill>
              </a:defRPr>
            </a:lvl1pPr>
          </a:lstStyle>
          <a:p>
            <a:r>
              <a:rPr lang="fr-FR"/>
              <a:t>Click icon to add picture</a:t>
            </a:r>
            <a:endParaRPr lang="fr-FR" dirty="0"/>
          </a:p>
        </p:txBody>
      </p:sp>
      <p:sp>
        <p:nvSpPr>
          <p:cNvPr id="8" name="Content Placeholder 7"/>
          <p:cNvSpPr>
            <a:spLocks noGrp="1"/>
          </p:cNvSpPr>
          <p:nvPr>
            <p:ph sz="quarter" idx="14"/>
          </p:nvPr>
        </p:nvSpPr>
        <p:spPr>
          <a:xfrm>
            <a:off x="3132137" y="1562100"/>
            <a:ext cx="5688013" cy="3600448"/>
          </a:xfrm>
        </p:spPr>
        <p:txBody>
          <a:bodyPr/>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endParaRPr lang="fr-FR" dirty="0"/>
          </a:p>
        </p:txBody>
      </p:sp>
    </p:spTree>
    <p:extLst>
      <p:ext uri="{BB962C8B-B14F-4D97-AF65-F5344CB8AC3E}">
        <p14:creationId xmlns:p14="http://schemas.microsoft.com/office/powerpoint/2010/main" val="2616572057"/>
      </p:ext>
    </p:extLst>
  </p:cSld>
  <p:clrMapOvr>
    <a:masterClrMapping/>
  </p:clrMapOvr>
  <p:hf sldNum="0" hdr="0" ftr="0"/>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wo Content 1/3 - 2/3" preserve="1" userDrawn="1">
  <p:cSld name="Two Content 1/3 - 2/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Click to edit Master title style</a:t>
            </a:r>
            <a:endParaRPr lang="fr-FR" dirty="0"/>
          </a:p>
        </p:txBody>
      </p:sp>
      <p:sp>
        <p:nvSpPr>
          <p:cNvPr id="9" name="Content Placeholder 8"/>
          <p:cNvSpPr>
            <a:spLocks noGrp="1"/>
          </p:cNvSpPr>
          <p:nvPr>
            <p:ph sz="quarter" idx="13"/>
          </p:nvPr>
        </p:nvSpPr>
        <p:spPr>
          <a:xfrm>
            <a:off x="3706812" y="1562100"/>
            <a:ext cx="5113338" cy="3600450"/>
          </a:xfrm>
        </p:spPr>
        <p:txBody>
          <a:bodyPr/>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endParaRPr lang="fr-FR" dirty="0"/>
          </a:p>
        </p:txBody>
      </p:sp>
      <p:sp>
        <p:nvSpPr>
          <p:cNvPr id="10" name="Content Placeholder 8"/>
          <p:cNvSpPr>
            <a:spLocks noGrp="1"/>
          </p:cNvSpPr>
          <p:nvPr>
            <p:ph sz="quarter" idx="14"/>
          </p:nvPr>
        </p:nvSpPr>
        <p:spPr>
          <a:xfrm>
            <a:off x="250825" y="1562100"/>
            <a:ext cx="2881313" cy="3600450"/>
          </a:xfrm>
        </p:spPr>
        <p:txBody>
          <a:bodyPr/>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endParaRPr lang="fr-FR" dirty="0"/>
          </a:p>
        </p:txBody>
      </p:sp>
    </p:spTree>
    <p:extLst>
      <p:ext uri="{BB962C8B-B14F-4D97-AF65-F5344CB8AC3E}">
        <p14:creationId xmlns:p14="http://schemas.microsoft.com/office/powerpoint/2010/main" val="1233406870"/>
      </p:ext>
    </p:extLst>
  </p:cSld>
  <p:clrMapOvr>
    <a:masterClrMapping/>
  </p:clrMapOvr>
  <p:hf sldNum="0" hdr="0" ftr="0"/>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wo Content 2/3 - 1/3" preserve="1" userDrawn="1">
  <p:cSld name="Two Content 2/3 - 1/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Click to edit Master title style</a:t>
            </a:r>
            <a:endParaRPr lang="fr-FR" dirty="0"/>
          </a:p>
        </p:txBody>
      </p:sp>
      <p:sp>
        <p:nvSpPr>
          <p:cNvPr id="9" name="Content Placeholder 8"/>
          <p:cNvSpPr>
            <a:spLocks noGrp="1"/>
          </p:cNvSpPr>
          <p:nvPr>
            <p:ph sz="quarter" idx="13"/>
          </p:nvPr>
        </p:nvSpPr>
        <p:spPr>
          <a:xfrm>
            <a:off x="250824" y="1562100"/>
            <a:ext cx="5185668" cy="3600450"/>
          </a:xfrm>
        </p:spPr>
        <p:txBody>
          <a:bodyPr/>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endParaRPr lang="fr-FR" dirty="0"/>
          </a:p>
        </p:txBody>
      </p:sp>
      <p:sp>
        <p:nvSpPr>
          <p:cNvPr id="10" name="Content Placeholder 8"/>
          <p:cNvSpPr>
            <a:spLocks noGrp="1"/>
          </p:cNvSpPr>
          <p:nvPr>
            <p:ph sz="quarter" idx="14"/>
          </p:nvPr>
        </p:nvSpPr>
        <p:spPr>
          <a:xfrm>
            <a:off x="6011863" y="1562100"/>
            <a:ext cx="2808287" cy="3600450"/>
          </a:xfrm>
        </p:spPr>
        <p:txBody>
          <a:bodyPr/>
          <a:lstStyle>
            <a:lvl1pPr>
              <a:defRPr sz="1600"/>
            </a:lvl1pPr>
            <a:lvl2pPr>
              <a:defRPr sz="1500"/>
            </a:lvl2pPr>
            <a:lvl3pPr>
              <a:defRPr sz="1400"/>
            </a:lvl3pPr>
            <a:lvl4pPr>
              <a:defRPr sz="1300"/>
            </a:lvl4pPr>
            <a:lvl5pPr>
              <a:defRPr sz="1200"/>
            </a:lvl5pPr>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endParaRPr lang="fr-FR" dirty="0"/>
          </a:p>
        </p:txBody>
      </p:sp>
    </p:spTree>
    <p:extLst>
      <p:ext uri="{BB962C8B-B14F-4D97-AF65-F5344CB8AC3E}">
        <p14:creationId xmlns:p14="http://schemas.microsoft.com/office/powerpoint/2010/main" val="3625600537"/>
      </p:ext>
    </p:extLst>
  </p:cSld>
  <p:clrMapOvr>
    <a:masterClrMapping/>
  </p:clrMapOvr>
  <p:hf sldNum="0" hdr="0" ftr="0"/>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full width Content" preserve="1" userDrawn="1">
  <p:cSld name="Title and full width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Click to edit Master title style</a:t>
            </a:r>
            <a:endParaRPr lang="fr-FR" dirty="0"/>
          </a:p>
        </p:txBody>
      </p:sp>
      <p:sp>
        <p:nvSpPr>
          <p:cNvPr id="5" name="Content Placeholder 4"/>
          <p:cNvSpPr>
            <a:spLocks noGrp="1"/>
          </p:cNvSpPr>
          <p:nvPr>
            <p:ph sz="quarter" idx="12"/>
          </p:nvPr>
        </p:nvSpPr>
        <p:spPr>
          <a:xfrm>
            <a:off x="250823" y="1562099"/>
            <a:ext cx="8569327" cy="3600450"/>
          </a:xfrm>
        </p:spPr>
        <p:txBody>
          <a:bodyPr/>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endParaRPr lang="fr-FR" dirty="0"/>
          </a:p>
        </p:txBody>
      </p:sp>
    </p:spTree>
    <p:extLst>
      <p:ext uri="{BB962C8B-B14F-4D97-AF65-F5344CB8AC3E}">
        <p14:creationId xmlns:p14="http://schemas.microsoft.com/office/powerpoint/2010/main" val="3214154451"/>
      </p:ext>
    </p:extLst>
  </p:cSld>
  <p:clrMapOvr>
    <a:masterClrMapping/>
  </p:clrMapOvr>
  <p:hf sldNum="0" hdr="0" ftr="0"/>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Key Message" preserve="1" userDrawn="1">
  <p:cSld name="Key Message">
    <p:spTree>
      <p:nvGrpSpPr>
        <p:cNvPr id="1" name=""/>
        <p:cNvGrpSpPr/>
        <p:nvPr/>
      </p:nvGrpSpPr>
      <p:grpSpPr>
        <a:xfrm>
          <a:off x="0" y="0"/>
          <a:ext cx="0" cy="0"/>
          <a:chOff x="0" y="0"/>
          <a:chExt cx="0" cy="0"/>
        </a:xfrm>
      </p:grpSpPr>
      <p:sp>
        <p:nvSpPr>
          <p:cNvPr id="2" name="Title 1"/>
          <p:cNvSpPr>
            <a:spLocks noGrp="1"/>
          </p:cNvSpPr>
          <p:nvPr>
            <p:ph type="title"/>
          </p:nvPr>
        </p:nvSpPr>
        <p:spPr>
          <a:xfrm>
            <a:off x="250826" y="121196"/>
            <a:ext cx="7200900" cy="528794"/>
          </a:xfrm>
        </p:spPr>
        <p:txBody>
          <a:bodyPr>
            <a:noAutofit/>
          </a:bodyPr>
          <a:lstStyle>
            <a:lvl1pPr>
              <a:defRPr>
                <a:solidFill>
                  <a:schemeClr val="tx1"/>
                </a:solidFill>
              </a:defRPr>
            </a:lvl1pPr>
          </a:lstStyle>
          <a:p>
            <a:r>
              <a:rPr lang="fr-FR"/>
              <a:t>Click to edit Master title style</a:t>
            </a:r>
            <a:endParaRPr lang="fr-FR" dirty="0"/>
          </a:p>
        </p:txBody>
      </p:sp>
      <p:sp>
        <p:nvSpPr>
          <p:cNvPr id="6" name="Table Placeholder 5"/>
          <p:cNvSpPr>
            <a:spLocks noGrp="1"/>
          </p:cNvSpPr>
          <p:nvPr>
            <p:ph type="tbl" sz="quarter" idx="12"/>
          </p:nvPr>
        </p:nvSpPr>
        <p:spPr>
          <a:xfrm>
            <a:off x="3203575" y="1023938"/>
            <a:ext cx="5616575" cy="3994150"/>
          </a:xfrm>
        </p:spPr>
        <p:txBody>
          <a:bodyPr bIns="432000" anchor="ctr" anchorCtr="0"/>
          <a:lstStyle>
            <a:lvl1pPr marL="0" indent="0" algn="ctr">
              <a:buNone/>
              <a:defRPr>
                <a:solidFill>
                  <a:srgbClr val="808080"/>
                </a:solidFill>
              </a:defRPr>
            </a:lvl1pPr>
          </a:lstStyle>
          <a:p>
            <a:r>
              <a:rPr lang="fr-FR"/>
              <a:t>Click icon to add table</a:t>
            </a:r>
            <a:endParaRPr lang="fr-FR" dirty="0"/>
          </a:p>
        </p:txBody>
      </p:sp>
      <p:sp>
        <p:nvSpPr>
          <p:cNvPr id="8" name="Text Placeholder 6"/>
          <p:cNvSpPr>
            <a:spLocks noGrp="1"/>
          </p:cNvSpPr>
          <p:nvPr>
            <p:ph type="body" sz="quarter" idx="13"/>
          </p:nvPr>
        </p:nvSpPr>
        <p:spPr bwMode="ltGray">
          <a:xfrm>
            <a:off x="317499" y="1023392"/>
            <a:ext cx="2736999" cy="637849"/>
          </a:xfrm>
          <a:solidFill>
            <a:schemeClr val="accent1"/>
          </a:solidFill>
        </p:spPr>
        <p:txBody>
          <a:bodyPr lIns="108000" tIns="72000" rIns="108000" bIns="72000" anchor="t" anchorCtr="0">
            <a:spAutoFit/>
          </a:bodyPr>
          <a:lstStyle>
            <a:lvl1pPr marL="0" indent="0">
              <a:spcAft>
                <a:spcPts val="0"/>
              </a:spcAft>
              <a:buNone/>
              <a:defRPr b="1">
                <a:solidFill>
                  <a:srgbClr val="FFFFFF"/>
                </a:solidFill>
              </a:defRPr>
            </a:lvl1pPr>
          </a:lstStyle>
          <a:p>
            <a:pPr lvl="0"/>
            <a:r>
              <a:rPr lang="fr-FR"/>
              <a:t>Click to edit Master text styles</a:t>
            </a:r>
            <a:endParaRPr lang="fr-FR" dirty="0"/>
          </a:p>
        </p:txBody>
      </p:sp>
    </p:spTree>
    <p:extLst>
      <p:ext uri="{BB962C8B-B14F-4D97-AF65-F5344CB8AC3E}">
        <p14:creationId xmlns:p14="http://schemas.microsoft.com/office/powerpoint/2010/main" val="1456805294"/>
      </p:ext>
    </p:extLst>
  </p:cSld>
  <p:clrMapOvr>
    <a:masterClrMapping/>
  </p:clrMapOvr>
  <p:hf sldNum="0" hdr="0" ftr="0"/>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Only"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Click to edit Master title style</a:t>
            </a:r>
            <a:endParaRPr lang="fr-FR" dirty="0"/>
          </a:p>
        </p:txBody>
      </p:sp>
    </p:spTree>
    <p:extLst>
      <p:ext uri="{BB962C8B-B14F-4D97-AF65-F5344CB8AC3E}">
        <p14:creationId xmlns:p14="http://schemas.microsoft.com/office/powerpoint/2010/main" val="3047416156"/>
      </p:ext>
    </p:extLst>
  </p:cSld>
  <p:clrMapOvr>
    <a:masterClrMapping/>
  </p:clrMapOvr>
  <p:hf sldNum="0" hdr="0" ftr="0"/>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Agenda" type="titleOnly" preserve="1">
  <p:cSld name="Agenda">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Click to edit Master title style</a:t>
            </a:r>
            <a:endParaRPr lang="fr-FR" dirty="0"/>
          </a:p>
        </p:txBody>
      </p:sp>
    </p:spTree>
    <p:extLst>
      <p:ext uri="{BB962C8B-B14F-4D97-AF65-F5344CB8AC3E}">
        <p14:creationId xmlns:p14="http://schemas.microsoft.com/office/powerpoint/2010/main" val="4250722008"/>
      </p:ext>
    </p:extLst>
  </p:cSld>
  <p:clrMapOvr>
    <a:masterClrMapping/>
  </p:clrMapOvr>
  <p:hf sldNum="0" hdr="0" ftr="0"/>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Blank"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010781798"/>
      </p:ext>
    </p:extLst>
  </p:cSld>
  <p:clrMapOvr>
    <a:masterClrMapping/>
  </p:clrMapOvr>
  <p:hf sldNum="0" hdr="0" ftr="0"/>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matchingName="Closing Slide" preserve="1" userDrawn="1">
  <p:cSld name="Closing Slide">
    <p:spTree>
      <p:nvGrpSpPr>
        <p:cNvPr id="1" name=""/>
        <p:cNvGrpSpPr/>
        <p:nvPr/>
      </p:nvGrpSpPr>
      <p:grpSpPr>
        <a:xfrm>
          <a:off x="0" y="0"/>
          <a:ext cx="0" cy="0"/>
          <a:chOff x="0" y="0"/>
          <a:chExt cx="0" cy="0"/>
        </a:xfrm>
      </p:grpSpPr>
      <p:sp>
        <p:nvSpPr>
          <p:cNvPr id="9" name="EcoBackground" hidden="1"/>
          <p:cNvSpPr/>
          <p:nvPr userDrawn="1">
            <p:custDataLst>
              <p:tags r:id="rId2"/>
            </p:custDataLst>
          </p:nvPr>
        </p:nvSpPr>
        <p:spPr bwMode="white">
          <a:xfrm>
            <a:off x="0" y="0"/>
            <a:ext cx="9144000" cy="5715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rgbClr val="FFFFFF"/>
              </a:solidFill>
              <a:latin typeface="Arial" panose="020B0604020202020204" pitchFamily="34" charset="0"/>
              <a:cs typeface="Arial" panose="020B0604020202020204" pitchFamily="34" charset="0"/>
            </a:endParaRPr>
          </a:p>
        </p:txBody>
      </p:sp>
      <p:sp>
        <p:nvSpPr>
          <p:cNvPr id="10" name="Status" hidden="1"/>
          <p:cNvSpPr txBox="1">
            <a:spLocks/>
          </p:cNvSpPr>
          <p:nvPr userDrawn="1">
            <p:custDataLst>
              <p:tags r:id="rId3"/>
            </p:custDataLst>
          </p:nvPr>
        </p:nvSpPr>
        <p:spPr>
          <a:xfrm>
            <a:off x="8744068" y="1374493"/>
            <a:ext cx="399932" cy="169277"/>
          </a:xfrm>
          <a:prstGeom prst="rect">
            <a:avLst/>
          </a:prstGeom>
          <a:solidFill>
            <a:srgbClr val="DFDFDF"/>
          </a:solidFill>
        </p:spPr>
        <p:txBody>
          <a:bodyPr wrap="none" lIns="72000" tIns="0" rIns="324000" bIns="0" rtlCol="0" anchor="ctr">
            <a:spAutoFit/>
          </a:bodyPr>
          <a:lstStyle/>
          <a:p>
            <a:pPr algn="r"/>
            <a:endParaRPr lang="fr-FR" sz="1100" cap="none" baseline="0" dirty="0">
              <a:solidFill>
                <a:srgbClr val="000000"/>
              </a:solidFill>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20AD9C90-AFA4-0505-7E56-8A60A581997F}"/>
              </a:ext>
            </a:extLst>
          </p:cNvPr>
          <p:cNvPicPr>
            <a:picLocks noChangeAspect="1"/>
          </p:cNvPicPr>
          <p:nvPr userDrawn="1">
            <p:custDataLst>
              <p:tags r:id="rId4"/>
            </p:custDataLst>
          </p:nvPr>
        </p:nvPicPr>
        <p:blipFill>
          <a:blip r:embed="rId6">
            <a:extLst>
              <a:ext uri="{28A0092B-C50C-407E-A947-70E740481C1C}">
                <a14:useLocalDpi xmlns:a14="http://schemas.microsoft.com/office/drawing/2010/main" val="0"/>
              </a:ext>
            </a:extLst>
          </a:blip>
          <a:stretch>
            <a:fillRect/>
          </a:stretch>
        </p:blipFill>
        <p:spPr bwMode="gray">
          <a:xfrm>
            <a:off x="7523286" y="308924"/>
            <a:ext cx="961108" cy="669343"/>
          </a:xfrm>
          <a:prstGeom prst="rect">
            <a:avLst/>
          </a:prstGeom>
        </p:spPr>
      </p:pic>
    </p:spTree>
    <p:extLst>
      <p:ext uri="{BB962C8B-B14F-4D97-AF65-F5344CB8AC3E}">
        <p14:creationId xmlns:p14="http://schemas.microsoft.com/office/powerpoint/2010/main" val="2381956615"/>
      </p:ext>
    </p:extLst>
  </p:cSld>
  <p:clrMapOvr>
    <a:masterClrMapping/>
  </p:clrMapOvr>
  <p:hf sldNum="0" hdr="0" ftr="0"/>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matchingName="Closing Slide with Image" preserve="1" userDrawn="1">
  <p:cSld name="Closing Slide with Image">
    <p:bg>
      <p:bgPr>
        <a:solidFill>
          <a:schemeClr val="accent4"/>
        </a:solidFill>
        <a:effectLst/>
      </p:bgPr>
    </p:bg>
    <p:spTree>
      <p:nvGrpSpPr>
        <p:cNvPr id="1" name=""/>
        <p:cNvGrpSpPr/>
        <p:nvPr/>
      </p:nvGrpSpPr>
      <p:grpSpPr>
        <a:xfrm>
          <a:off x="0" y="0"/>
          <a:ext cx="0" cy="0"/>
          <a:chOff x="0" y="0"/>
          <a:chExt cx="0" cy="0"/>
        </a:xfrm>
      </p:grpSpPr>
      <p:sp>
        <p:nvSpPr>
          <p:cNvPr id="10" name="EcoBackground" hidden="1"/>
          <p:cNvSpPr/>
          <p:nvPr userDrawn="1">
            <p:custDataLst>
              <p:tags r:id="rId2"/>
            </p:custDataLst>
          </p:nvPr>
        </p:nvSpPr>
        <p:spPr bwMode="white">
          <a:xfrm>
            <a:off x="0" y="0"/>
            <a:ext cx="9144000" cy="5715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rgbClr val="FFFFFF"/>
              </a:solidFill>
              <a:latin typeface="Arial" panose="020B0604020202020204" pitchFamily="34" charset="0"/>
              <a:cs typeface="Arial" panose="020B0604020202020204" pitchFamily="34" charset="0"/>
            </a:endParaRPr>
          </a:p>
        </p:txBody>
      </p:sp>
      <p:sp>
        <p:nvSpPr>
          <p:cNvPr id="4" name="Picture Placeholder 4"/>
          <p:cNvSpPr>
            <a:spLocks noGrp="1"/>
          </p:cNvSpPr>
          <p:nvPr>
            <p:ph type="pic" sz="quarter" idx="10"/>
            <p:custDataLst>
              <p:tags r:id="rId3"/>
            </p:custDataLst>
          </p:nvPr>
        </p:nvSpPr>
        <p:spPr>
          <a:xfrm>
            <a:off x="0" y="0"/>
            <a:ext cx="9144000" cy="5715000"/>
          </a:xfrm>
          <a:noFill/>
        </p:spPr>
        <p:txBody>
          <a:bodyPr bIns="432000" anchor="ctr" anchorCtr="0"/>
          <a:lstStyle>
            <a:lvl1pPr marL="0" indent="0" algn="ctr">
              <a:buNone/>
              <a:defRPr>
                <a:solidFill>
                  <a:schemeClr val="bg1"/>
                </a:solidFill>
              </a:defRPr>
            </a:lvl1pPr>
          </a:lstStyle>
          <a:p>
            <a:r>
              <a:rPr lang="fr-FR"/>
              <a:t>Click icon to add picture</a:t>
            </a:r>
            <a:endParaRPr lang="fr-FR" dirty="0"/>
          </a:p>
        </p:txBody>
      </p:sp>
      <p:sp>
        <p:nvSpPr>
          <p:cNvPr id="6" name="LogoFrame"/>
          <p:cNvSpPr>
            <a:spLocks/>
          </p:cNvSpPr>
          <p:nvPr userDrawn="1">
            <p:custDataLst>
              <p:tags r:id="rId4"/>
            </p:custDataLst>
          </p:nvPr>
        </p:nvSpPr>
        <p:spPr bwMode="white">
          <a:xfrm>
            <a:off x="7192950" y="-7200"/>
            <a:ext cx="1627200" cy="1368458"/>
          </a:xfrm>
          <a:custGeom>
            <a:avLst/>
            <a:gdLst>
              <a:gd name="connsiteX0" fmla="*/ 0 w 4824537"/>
              <a:gd name="connsiteY0" fmla="*/ 0 h 4112861"/>
              <a:gd name="connsiteX1" fmla="*/ 4824537 w 4824537"/>
              <a:gd name="connsiteY1" fmla="*/ 0 h 4112861"/>
              <a:gd name="connsiteX2" fmla="*/ 4824537 w 4824537"/>
              <a:gd name="connsiteY2" fmla="*/ 4112861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51737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51737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51737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51737 h 4112861"/>
              <a:gd name="connsiteX3" fmla="*/ 0 w 4824537"/>
              <a:gd name="connsiteY3" fmla="*/ 4112861 h 4112861"/>
              <a:gd name="connsiteX4" fmla="*/ 0 w 4824537"/>
              <a:gd name="connsiteY4" fmla="*/ 0 h 41128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24537" h="4112861">
                <a:moveTo>
                  <a:pt x="0" y="0"/>
                </a:moveTo>
                <a:lnTo>
                  <a:pt x="4824537" y="0"/>
                </a:lnTo>
                <a:lnTo>
                  <a:pt x="4824537" y="3751737"/>
                </a:lnTo>
                <a:cubicBezTo>
                  <a:pt x="3231541" y="3785819"/>
                  <a:pt x="1634302" y="3906720"/>
                  <a:pt x="0" y="4112861"/>
                </a:cubicBezTo>
                <a:lnTo>
                  <a:pt x="0" y="0"/>
                </a:lnTo>
                <a:close/>
              </a:path>
            </a:pathLst>
          </a:custGeom>
          <a:solidFill>
            <a:srgbClr val="FFFFFF"/>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chemeClr val="tx1"/>
              </a:solidFill>
            </a:endParaRPr>
          </a:p>
        </p:txBody>
      </p:sp>
      <p:sp>
        <p:nvSpPr>
          <p:cNvPr id="11" name="Status" hidden="1"/>
          <p:cNvSpPr txBox="1">
            <a:spLocks/>
          </p:cNvSpPr>
          <p:nvPr userDrawn="1">
            <p:custDataLst>
              <p:tags r:id="rId5"/>
            </p:custDataLst>
          </p:nvPr>
        </p:nvSpPr>
        <p:spPr bwMode="gray">
          <a:xfrm>
            <a:off x="8744068" y="1374493"/>
            <a:ext cx="399932" cy="169277"/>
          </a:xfrm>
          <a:prstGeom prst="rect">
            <a:avLst/>
          </a:prstGeom>
          <a:solidFill>
            <a:srgbClr val="DFDFDF"/>
          </a:solidFill>
        </p:spPr>
        <p:txBody>
          <a:bodyPr wrap="none" lIns="72000" tIns="0" rIns="324000" bIns="0" rtlCol="0" anchor="ctr">
            <a:spAutoFit/>
          </a:bodyPr>
          <a:lstStyle/>
          <a:p>
            <a:pPr algn="r"/>
            <a:endParaRPr lang="fr-FR" sz="1100" cap="none" baseline="0" dirty="0">
              <a:solidFill>
                <a:srgbClr val="000000"/>
              </a:solidFill>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A04108BF-92C0-209B-2F8F-1EEA9775882E}"/>
              </a:ext>
            </a:extLst>
          </p:cNvPr>
          <p:cNvPicPr>
            <a:picLocks noChangeAspect="1"/>
          </p:cNvPicPr>
          <p:nvPr userDrawn="1">
            <p:custDataLst>
              <p:tags r:id="rId6"/>
            </p:custDataLst>
          </p:nvPr>
        </p:nvPicPr>
        <p:blipFill>
          <a:blip r:embed="rId8">
            <a:extLst>
              <a:ext uri="{28A0092B-C50C-407E-A947-70E740481C1C}">
                <a14:useLocalDpi xmlns:a14="http://schemas.microsoft.com/office/drawing/2010/main" val="0"/>
              </a:ext>
            </a:extLst>
          </a:blip>
          <a:stretch>
            <a:fillRect/>
          </a:stretch>
        </p:blipFill>
        <p:spPr bwMode="gray">
          <a:xfrm>
            <a:off x="7523286" y="308924"/>
            <a:ext cx="961108" cy="669343"/>
          </a:xfrm>
          <a:prstGeom prst="rect">
            <a:avLst/>
          </a:prstGeom>
        </p:spPr>
      </p:pic>
    </p:spTree>
    <p:extLst>
      <p:ext uri="{BB962C8B-B14F-4D97-AF65-F5344CB8AC3E}">
        <p14:creationId xmlns:p14="http://schemas.microsoft.com/office/powerpoint/2010/main" val="1516998320"/>
      </p:ext>
    </p:extLst>
  </p:cSld>
  <p:clrMapOvr>
    <a:masterClrMapping/>
  </p:clrMapOvr>
  <p:hf sldNum="0" hdr="0" ftr="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tags" Target="../tags/tag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ags" Target="../tags/tag3.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1.emf"/><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ags" Target="../tags/tag6.xml"/><Relationship Id="rId10" Type="http://schemas.openxmlformats.org/officeDocument/2006/relationships/slideLayout" Target="../slideLayouts/slideLayout10.xml"/><Relationship Id="rId19" Type="http://schemas.openxmlformats.org/officeDocument/2006/relationships/tags" Target="../tags/tag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ags" Target="../tags/tag5.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13" Type="http://schemas.openxmlformats.org/officeDocument/2006/relationships/slideLayout" Target="../slideLayouts/slideLayout30.xml"/><Relationship Id="rId18" Type="http://schemas.openxmlformats.org/officeDocument/2006/relationships/tags" Target="../tags/tag33.xml"/><Relationship Id="rId3" Type="http://schemas.openxmlformats.org/officeDocument/2006/relationships/slideLayout" Target="../slideLayouts/slideLayout20.xml"/><Relationship Id="rId21" Type="http://schemas.openxmlformats.org/officeDocument/2006/relationships/tags" Target="../tags/tag36.xml"/><Relationship Id="rId7" Type="http://schemas.openxmlformats.org/officeDocument/2006/relationships/slideLayout" Target="../slideLayouts/slideLayout24.xml"/><Relationship Id="rId12" Type="http://schemas.openxmlformats.org/officeDocument/2006/relationships/slideLayout" Target="../slideLayouts/slideLayout29.xml"/><Relationship Id="rId17" Type="http://schemas.openxmlformats.org/officeDocument/2006/relationships/theme" Target="../theme/theme2.xml"/><Relationship Id="rId2" Type="http://schemas.openxmlformats.org/officeDocument/2006/relationships/slideLayout" Target="../slideLayouts/slideLayout19.xml"/><Relationship Id="rId16" Type="http://schemas.openxmlformats.org/officeDocument/2006/relationships/slideLayout" Target="../slideLayouts/slideLayout33.xml"/><Relationship Id="rId20" Type="http://schemas.openxmlformats.org/officeDocument/2006/relationships/tags" Target="../tags/tag35.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5" Type="http://schemas.openxmlformats.org/officeDocument/2006/relationships/slideLayout" Target="../slideLayouts/slideLayout32.xml"/><Relationship Id="rId23" Type="http://schemas.openxmlformats.org/officeDocument/2006/relationships/image" Target="../media/image1.emf"/><Relationship Id="rId10" Type="http://schemas.openxmlformats.org/officeDocument/2006/relationships/slideLayout" Target="../slideLayouts/slideLayout27.xml"/><Relationship Id="rId19" Type="http://schemas.openxmlformats.org/officeDocument/2006/relationships/tags" Target="../tags/tag34.xml"/><Relationship Id="rId4" Type="http://schemas.openxmlformats.org/officeDocument/2006/relationships/slideLayout" Target="../slideLayouts/slideLayout21.xml"/><Relationship Id="rId9" Type="http://schemas.openxmlformats.org/officeDocument/2006/relationships/slideLayout" Target="../slideLayouts/slideLayout26.xml"/><Relationship Id="rId14" Type="http://schemas.openxmlformats.org/officeDocument/2006/relationships/slideLayout" Target="../slideLayouts/slideLayout31.xml"/><Relationship Id="rId22" Type="http://schemas.openxmlformats.org/officeDocument/2006/relationships/tags" Target="../tags/tag3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50826" y="121196"/>
            <a:ext cx="7200900" cy="1080542"/>
          </a:xfrm>
          <a:prstGeom prst="rect">
            <a:avLst/>
          </a:prstGeom>
        </p:spPr>
        <p:txBody>
          <a:bodyPr vert="horz" lIns="36000" tIns="36000" rIns="0" bIns="0" rtlCol="0" anchor="t" anchorCtr="0">
            <a:noAutofit/>
          </a:bodyPr>
          <a:lstStyle/>
          <a:p>
            <a:r>
              <a:rPr lang="fr-FR" noProof="0"/>
              <a:t>Click to edit Master title style</a:t>
            </a:r>
            <a:endParaRPr lang="fr-FR" noProof="0" dirty="0"/>
          </a:p>
        </p:txBody>
      </p:sp>
      <p:sp>
        <p:nvSpPr>
          <p:cNvPr id="3" name="Text Placeholder 2"/>
          <p:cNvSpPr>
            <a:spLocks noGrp="1"/>
          </p:cNvSpPr>
          <p:nvPr>
            <p:ph type="body" idx="1"/>
          </p:nvPr>
        </p:nvSpPr>
        <p:spPr>
          <a:xfrm>
            <a:off x="250825" y="1562100"/>
            <a:ext cx="5761038" cy="3600450"/>
          </a:xfrm>
          <a:prstGeom prst="rect">
            <a:avLst/>
          </a:prstGeom>
        </p:spPr>
        <p:txBody>
          <a:bodyPr vert="horz" lIns="36000" tIns="0" rIns="0" bIns="0" rtlCol="0">
            <a:noAutofit/>
          </a:bodyPr>
          <a:lstStyle/>
          <a:p>
            <a:pPr lvl="0"/>
            <a:r>
              <a:rPr lang="fr-FR" noProof="0"/>
              <a:t>Click to edit Master text styles</a:t>
            </a:r>
          </a:p>
          <a:p>
            <a:pPr lvl="1"/>
            <a:r>
              <a:rPr lang="fr-FR" noProof="0"/>
              <a:t>Second level</a:t>
            </a:r>
          </a:p>
          <a:p>
            <a:pPr lvl="2"/>
            <a:r>
              <a:rPr lang="fr-FR" noProof="0"/>
              <a:t>Third level</a:t>
            </a:r>
          </a:p>
          <a:p>
            <a:pPr lvl="3"/>
            <a:r>
              <a:rPr lang="fr-FR" noProof="0"/>
              <a:t>Fourth level</a:t>
            </a:r>
          </a:p>
          <a:p>
            <a:pPr lvl="4"/>
            <a:r>
              <a:rPr lang="fr-FR" noProof="0"/>
              <a:t>Fifth level</a:t>
            </a:r>
            <a:endParaRPr lang="fr-FR" noProof="0" dirty="0"/>
          </a:p>
        </p:txBody>
      </p:sp>
      <p:sp>
        <p:nvSpPr>
          <p:cNvPr id="12" name="Footnote" hidden="1"/>
          <p:cNvSpPr txBox="1"/>
          <p:nvPr>
            <p:custDataLst>
              <p:tags r:id="rId19"/>
            </p:custDataLst>
          </p:nvPr>
        </p:nvSpPr>
        <p:spPr>
          <a:xfrm>
            <a:off x="250824" y="5234558"/>
            <a:ext cx="5761039" cy="184666"/>
          </a:xfrm>
          <a:prstGeom prst="rect">
            <a:avLst/>
          </a:prstGeom>
          <a:noFill/>
        </p:spPr>
        <p:txBody>
          <a:bodyPr wrap="square" lIns="36000" tIns="0" rIns="0" bIns="0" rtlCol="0">
            <a:noAutofit/>
          </a:bodyPr>
          <a:lstStyle/>
          <a:p>
            <a:endParaRPr lang="fr-FR" sz="600" noProof="0" dirty="0">
              <a:latin typeface="Arial" panose="020B0604020202020204" pitchFamily="34" charset="0"/>
              <a:cs typeface="Arial" panose="020B0604020202020204" pitchFamily="34" charset="0"/>
            </a:endParaRPr>
          </a:p>
        </p:txBody>
      </p:sp>
      <p:sp>
        <p:nvSpPr>
          <p:cNvPr id="4" name="AgendaTitleFrame" hidden="1"/>
          <p:cNvSpPr>
            <a:spLocks/>
          </p:cNvSpPr>
          <p:nvPr userDrawn="1">
            <p:custDataLst>
              <p:tags r:id="rId20"/>
            </p:custDataLst>
          </p:nvPr>
        </p:nvSpPr>
        <p:spPr bwMode="gray">
          <a:xfrm>
            <a:off x="7524328" y="-5680"/>
            <a:ext cx="1296144" cy="622742"/>
          </a:xfrm>
          <a:custGeom>
            <a:avLst/>
            <a:gdLst>
              <a:gd name="connsiteX0" fmla="*/ 0 w 3746846"/>
              <a:gd name="connsiteY0" fmla="*/ 0 h 1800200"/>
              <a:gd name="connsiteX1" fmla="*/ 3746846 w 3746846"/>
              <a:gd name="connsiteY1" fmla="*/ 0 h 1800200"/>
              <a:gd name="connsiteX2" fmla="*/ 3746846 w 3746846"/>
              <a:gd name="connsiteY2" fmla="*/ 1800200 h 1800200"/>
              <a:gd name="connsiteX3" fmla="*/ 0 w 3746846"/>
              <a:gd name="connsiteY3" fmla="*/ 1800200 h 1800200"/>
              <a:gd name="connsiteX4" fmla="*/ 0 w 3746846"/>
              <a:gd name="connsiteY4" fmla="*/ 0 h 1800200"/>
              <a:gd name="connsiteX0" fmla="*/ 0 w 3746846"/>
              <a:gd name="connsiteY0" fmla="*/ 0 h 1800200"/>
              <a:gd name="connsiteX1" fmla="*/ 3746846 w 3746846"/>
              <a:gd name="connsiteY1" fmla="*/ 0 h 1800200"/>
              <a:gd name="connsiteX2" fmla="*/ 3746846 w 3746846"/>
              <a:gd name="connsiteY2" fmla="*/ 1800200 h 1800200"/>
              <a:gd name="connsiteX3" fmla="*/ 0 w 3746846"/>
              <a:gd name="connsiteY3" fmla="*/ 1800200 h 1800200"/>
              <a:gd name="connsiteX4" fmla="*/ 0 w 3746846"/>
              <a:gd name="connsiteY4" fmla="*/ 0 h 1800200"/>
              <a:gd name="connsiteX0" fmla="*/ 0 w 3746846"/>
              <a:gd name="connsiteY0" fmla="*/ 0 h 1800200"/>
              <a:gd name="connsiteX1" fmla="*/ 3746846 w 3746846"/>
              <a:gd name="connsiteY1" fmla="*/ 0 h 1800200"/>
              <a:gd name="connsiteX2" fmla="*/ 3746846 w 3746846"/>
              <a:gd name="connsiteY2" fmla="*/ 1508652 h 1800200"/>
              <a:gd name="connsiteX3" fmla="*/ 0 w 3746846"/>
              <a:gd name="connsiteY3" fmla="*/ 1800200 h 1800200"/>
              <a:gd name="connsiteX4" fmla="*/ 0 w 3746846"/>
              <a:gd name="connsiteY4" fmla="*/ 0 h 1800200"/>
              <a:gd name="connsiteX0" fmla="*/ 0 w 3746846"/>
              <a:gd name="connsiteY0" fmla="*/ 0 h 1800200"/>
              <a:gd name="connsiteX1" fmla="*/ 3746846 w 3746846"/>
              <a:gd name="connsiteY1" fmla="*/ 0 h 1800200"/>
              <a:gd name="connsiteX2" fmla="*/ 3740220 w 3746846"/>
              <a:gd name="connsiteY2" fmla="*/ 1515278 h 1800200"/>
              <a:gd name="connsiteX3" fmla="*/ 0 w 3746846"/>
              <a:gd name="connsiteY3" fmla="*/ 1800200 h 1800200"/>
              <a:gd name="connsiteX4" fmla="*/ 0 w 3746846"/>
              <a:gd name="connsiteY4" fmla="*/ 0 h 1800200"/>
              <a:gd name="connsiteX0" fmla="*/ 0 w 3746846"/>
              <a:gd name="connsiteY0" fmla="*/ 0 h 1800200"/>
              <a:gd name="connsiteX1" fmla="*/ 3746846 w 3746846"/>
              <a:gd name="connsiteY1" fmla="*/ 0 h 1800200"/>
              <a:gd name="connsiteX2" fmla="*/ 3746846 w 3746846"/>
              <a:gd name="connsiteY2" fmla="*/ 1515278 h 1800200"/>
              <a:gd name="connsiteX3" fmla="*/ 0 w 3746846"/>
              <a:gd name="connsiteY3" fmla="*/ 1800200 h 1800200"/>
              <a:gd name="connsiteX4" fmla="*/ 0 w 3746846"/>
              <a:gd name="connsiteY4" fmla="*/ 0 h 1800200"/>
              <a:gd name="connsiteX0" fmla="*/ 0 w 3746846"/>
              <a:gd name="connsiteY0" fmla="*/ 0 h 1800200"/>
              <a:gd name="connsiteX1" fmla="*/ 3746846 w 3746846"/>
              <a:gd name="connsiteY1" fmla="*/ 0 h 1800200"/>
              <a:gd name="connsiteX2" fmla="*/ 3746846 w 3746846"/>
              <a:gd name="connsiteY2" fmla="*/ 1515278 h 1800200"/>
              <a:gd name="connsiteX3" fmla="*/ 0 w 3746846"/>
              <a:gd name="connsiteY3" fmla="*/ 1800200 h 1800200"/>
              <a:gd name="connsiteX4" fmla="*/ 0 w 3746846"/>
              <a:gd name="connsiteY4" fmla="*/ 0 h 1800200"/>
              <a:gd name="connsiteX0" fmla="*/ 0 w 3746846"/>
              <a:gd name="connsiteY0" fmla="*/ 0 h 1800200"/>
              <a:gd name="connsiteX1" fmla="*/ 3746846 w 3746846"/>
              <a:gd name="connsiteY1" fmla="*/ 0 h 1800200"/>
              <a:gd name="connsiteX2" fmla="*/ 3746846 w 3746846"/>
              <a:gd name="connsiteY2" fmla="*/ 1515278 h 1800200"/>
              <a:gd name="connsiteX3" fmla="*/ 0 w 3746846"/>
              <a:gd name="connsiteY3" fmla="*/ 1800200 h 1800200"/>
              <a:gd name="connsiteX4" fmla="*/ 0 w 3746846"/>
              <a:gd name="connsiteY4" fmla="*/ 0 h 1800200"/>
              <a:gd name="connsiteX0" fmla="*/ 0 w 3746846"/>
              <a:gd name="connsiteY0" fmla="*/ 0 h 1800200"/>
              <a:gd name="connsiteX1" fmla="*/ 3746846 w 3746846"/>
              <a:gd name="connsiteY1" fmla="*/ 0 h 1800200"/>
              <a:gd name="connsiteX2" fmla="*/ 3746846 w 3746846"/>
              <a:gd name="connsiteY2" fmla="*/ 1515278 h 1800200"/>
              <a:gd name="connsiteX3" fmla="*/ 0 w 3746846"/>
              <a:gd name="connsiteY3" fmla="*/ 1800200 h 1800200"/>
              <a:gd name="connsiteX4" fmla="*/ 0 w 3746846"/>
              <a:gd name="connsiteY4" fmla="*/ 0 h 1800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46846" h="1800200">
                <a:moveTo>
                  <a:pt x="0" y="0"/>
                </a:moveTo>
                <a:lnTo>
                  <a:pt x="3746846" y="0"/>
                </a:lnTo>
                <a:cubicBezTo>
                  <a:pt x="3746846" y="600067"/>
                  <a:pt x="3740220" y="1233263"/>
                  <a:pt x="3746846" y="1515278"/>
                </a:cubicBezTo>
                <a:cubicBezTo>
                  <a:pt x="2544280" y="1530739"/>
                  <a:pt x="1255575" y="1665470"/>
                  <a:pt x="0" y="1800200"/>
                </a:cubicBezTo>
                <a:lnTo>
                  <a:pt x="0" y="0"/>
                </a:lnTo>
                <a:close/>
              </a:path>
            </a:pathLst>
          </a:custGeom>
          <a:solidFill>
            <a:srgbClr val="C0C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b="1" dirty="0">
              <a:solidFill>
                <a:srgbClr val="000000"/>
              </a:solidFill>
              <a:latin typeface="Arial" panose="020B0604020202020204" pitchFamily="34" charset="0"/>
              <a:cs typeface="Arial" panose="020B0604020202020204" pitchFamily="34" charset="0"/>
            </a:endParaRPr>
          </a:p>
        </p:txBody>
      </p:sp>
      <p:sp>
        <p:nvSpPr>
          <p:cNvPr id="13" name="Status" hidden="1"/>
          <p:cNvSpPr txBox="1">
            <a:spLocks/>
          </p:cNvSpPr>
          <p:nvPr userDrawn="1">
            <p:custDataLst>
              <p:tags r:id="rId21"/>
            </p:custDataLst>
          </p:nvPr>
        </p:nvSpPr>
        <p:spPr bwMode="gray">
          <a:xfrm>
            <a:off x="8744068" y="1374493"/>
            <a:ext cx="399932" cy="169277"/>
          </a:xfrm>
          <a:prstGeom prst="rect">
            <a:avLst/>
          </a:prstGeom>
          <a:solidFill>
            <a:srgbClr val="DFDFDF"/>
          </a:solidFill>
        </p:spPr>
        <p:txBody>
          <a:bodyPr wrap="none" lIns="72000" tIns="0" rIns="324000" bIns="0" rtlCol="0" anchor="ctr">
            <a:spAutoFit/>
          </a:bodyPr>
          <a:lstStyle/>
          <a:p>
            <a:pPr algn="r"/>
            <a:endParaRPr lang="fr-FR" sz="1100" cap="none" baseline="0" dirty="0">
              <a:solidFill>
                <a:srgbClr val="000000"/>
              </a:solidFill>
              <a:latin typeface="Arial" panose="020B0604020202020204" pitchFamily="34" charset="0"/>
              <a:cs typeface="Arial" panose="020B0604020202020204" pitchFamily="34" charset="0"/>
            </a:endParaRPr>
          </a:p>
        </p:txBody>
      </p:sp>
      <p:sp>
        <p:nvSpPr>
          <p:cNvPr id="6" name="Footer" hidden="1"/>
          <p:cNvSpPr txBox="1">
            <a:spLocks/>
          </p:cNvSpPr>
          <p:nvPr userDrawn="1">
            <p:custDataLst>
              <p:tags r:id="rId22"/>
            </p:custDataLst>
          </p:nvPr>
        </p:nvSpPr>
        <p:spPr>
          <a:xfrm>
            <a:off x="250825" y="5377780"/>
            <a:ext cx="5761038" cy="232263"/>
          </a:xfrm>
          <a:prstGeom prst="rect">
            <a:avLst/>
          </a:prstGeom>
          <a:noFill/>
        </p:spPr>
        <p:txBody>
          <a:bodyPr wrap="square" lIns="0" tIns="0" rIns="0" bIns="0" rtlCol="0" anchor="ctr" anchorCtr="0">
            <a:noAutofit/>
          </a:bodyPr>
          <a:lstStyle/>
          <a:p>
            <a:r>
              <a:rPr lang="fr-FR" sz="700">
                <a:solidFill>
                  <a:srgbClr val="808080"/>
                </a:solidFill>
                <a:latin typeface="Arial" panose="020B0604020202020204" pitchFamily="34" charset="0"/>
                <a:cs typeface="Arial" panose="020B0604020202020204" pitchFamily="34" charset="0"/>
              </a:rPr>
              <a:t>Insurance solutions for  clients residing in Portugal | Public</a:t>
            </a:r>
            <a:endParaRPr lang="fr-FR" sz="700" dirty="0">
              <a:solidFill>
                <a:srgbClr val="808080"/>
              </a:solidFill>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915C7751-858D-7CC7-1862-AB29F4306664}"/>
              </a:ext>
            </a:extLst>
          </p:cNvPr>
          <p:cNvPicPr>
            <a:picLocks noChangeAspect="1"/>
          </p:cNvPicPr>
          <p:nvPr userDrawn="1">
            <p:custDataLst>
              <p:tags r:id="rId23"/>
            </p:custDataLst>
          </p:nvPr>
        </p:nvPicPr>
        <p:blipFill>
          <a:blip r:embed="rId24" cstate="print">
            <a:extLst>
              <a:ext uri="{28A0092B-C50C-407E-A947-70E740481C1C}">
                <a14:useLocalDpi xmlns:a14="http://schemas.microsoft.com/office/drawing/2010/main" val="0"/>
              </a:ext>
            </a:extLst>
          </a:blip>
          <a:stretch>
            <a:fillRect/>
          </a:stretch>
        </p:blipFill>
        <p:spPr bwMode="gray">
          <a:xfrm>
            <a:off x="8411665" y="5251874"/>
            <a:ext cx="401341" cy="279505"/>
          </a:xfrm>
          <a:prstGeom prst="rect">
            <a:avLst/>
          </a:prstGeom>
        </p:spPr>
      </p:pic>
    </p:spTree>
    <p:extLst>
      <p:ext uri="{BB962C8B-B14F-4D97-AF65-F5344CB8AC3E}">
        <p14:creationId xmlns:p14="http://schemas.microsoft.com/office/powerpoint/2010/main" val="4233894228"/>
      </p:ext>
    </p:extLst>
  </p:cSld>
  <p:clrMap bg1="lt1" tx1="dk1" bg2="lt2" tx2="dk2" accent1="accent1" accent2="accent2" accent3="accent3" accent4="accent4" accent5="accent5" accent6="accent6" hlink="hlink" folHlink="folHlink"/>
  <p:sldLayoutIdLst>
    <p:sldLayoutId id="2147483658" r:id="rId1"/>
    <p:sldLayoutId id="2147483650" r:id="rId2"/>
    <p:sldLayoutId id="2147483649" r:id="rId3"/>
    <p:sldLayoutId id="2147483667" r:id="rId4"/>
    <p:sldLayoutId id="2147483651" r:id="rId5"/>
    <p:sldLayoutId id="2147483659" r:id="rId6"/>
    <p:sldLayoutId id="2147483661" r:id="rId7"/>
    <p:sldLayoutId id="2147483662" r:id="rId8"/>
    <p:sldLayoutId id="2147483663" r:id="rId9"/>
    <p:sldLayoutId id="2147483665" r:id="rId10"/>
    <p:sldLayoutId id="2147483670" r:id="rId11"/>
    <p:sldLayoutId id="2147483654" r:id="rId12"/>
    <p:sldLayoutId id="2147483671" r:id="rId13"/>
    <p:sldLayoutId id="2147483655" r:id="rId14"/>
    <p:sldLayoutId id="2147483668" r:id="rId15"/>
    <p:sldLayoutId id="2147483669" r:id="rId16"/>
    <p:sldLayoutId id="2147483689" r:id="rId17"/>
  </p:sldLayoutIdLst>
  <p:hf sldNum="0" hdr="0" ftr="0"/>
  <p:txStyles>
    <p:titleStyle>
      <a:lvl1pPr algn="l" defTabSz="914400" rtl="0" eaLnBrk="1" latinLnBrk="0" hangingPunct="1">
        <a:spcBef>
          <a:spcPct val="0"/>
        </a:spcBef>
        <a:buNone/>
        <a:defRPr sz="3200" kern="1200">
          <a:solidFill>
            <a:schemeClr val="tx1"/>
          </a:solidFill>
          <a:latin typeface="Times New Roman" panose="02020603050405020304" pitchFamily="18" charset="0"/>
          <a:ea typeface="+mj-ea"/>
          <a:cs typeface="Times New Roman" panose="02020603050405020304" pitchFamily="18" charset="0"/>
        </a:defRPr>
      </a:lvl1pPr>
    </p:titleStyle>
    <p:bodyStyle>
      <a:lvl1pPr marL="180000" indent="-180000" algn="l" defTabSz="914400" rtl="0" eaLnBrk="1" latinLnBrk="0" hangingPunct="1">
        <a:lnSpc>
          <a:spcPct val="100000"/>
        </a:lnSpc>
        <a:spcBef>
          <a:spcPts val="0"/>
        </a:spcBef>
        <a:spcAft>
          <a:spcPts val="800"/>
        </a:spcAft>
        <a:buClr>
          <a:srgbClr val="D82034"/>
        </a:buClr>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1pPr>
      <a:lvl2pPr marL="396000" indent="-180000" algn="l" defTabSz="914400" rtl="0" eaLnBrk="1" latinLnBrk="0" hangingPunct="1">
        <a:lnSpc>
          <a:spcPct val="100000"/>
        </a:lnSpc>
        <a:spcBef>
          <a:spcPts val="0"/>
        </a:spcBef>
        <a:spcAft>
          <a:spcPts val="600"/>
        </a:spcAft>
        <a:buClr>
          <a:srgbClr val="D82034"/>
        </a:buClr>
        <a:buFont typeface="Arial" panose="020B0604020202020204" pitchFamily="34" charset="0"/>
        <a:buChar char="–"/>
        <a:defRPr sz="1500" kern="1200">
          <a:solidFill>
            <a:schemeClr val="tx1"/>
          </a:solidFill>
          <a:latin typeface="Arial" panose="020B0604020202020204" pitchFamily="34" charset="0"/>
          <a:ea typeface="+mn-ea"/>
          <a:cs typeface="Arial" panose="020B0604020202020204" pitchFamily="34" charset="0"/>
        </a:defRPr>
      </a:lvl2pPr>
      <a:lvl3pPr marL="540000" indent="-180000" algn="l" defTabSz="914400" rtl="0" eaLnBrk="1" latinLnBrk="0" hangingPunct="1">
        <a:lnSpc>
          <a:spcPct val="100000"/>
        </a:lnSpc>
        <a:spcBef>
          <a:spcPts val="0"/>
        </a:spcBef>
        <a:spcAft>
          <a:spcPts val="600"/>
        </a:spcAft>
        <a:buClr>
          <a:srgbClr val="D82034"/>
        </a:buClr>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3pPr>
      <a:lvl4pPr marL="719138" indent="-179388" algn="l" defTabSz="914400" rtl="0" eaLnBrk="1" latinLnBrk="0" hangingPunct="1">
        <a:lnSpc>
          <a:spcPct val="100000"/>
        </a:lnSpc>
        <a:spcBef>
          <a:spcPts val="0"/>
        </a:spcBef>
        <a:spcAft>
          <a:spcPts val="600"/>
        </a:spcAft>
        <a:buClr>
          <a:srgbClr val="D82034"/>
        </a:buClr>
        <a:buFont typeface="Arial" panose="020B0604020202020204" pitchFamily="34" charset="0"/>
        <a:buChar char="–"/>
        <a:defRPr sz="1300" kern="1200">
          <a:solidFill>
            <a:schemeClr val="tx1"/>
          </a:solidFill>
          <a:latin typeface="Arial" panose="020B0604020202020204" pitchFamily="34" charset="0"/>
          <a:ea typeface="+mn-ea"/>
          <a:cs typeface="Arial" panose="020B0604020202020204" pitchFamily="34" charset="0"/>
        </a:defRPr>
      </a:lvl4pPr>
      <a:lvl5pPr marL="892800" indent="-179388" algn="l" defTabSz="1076325" rtl="0" eaLnBrk="1" latinLnBrk="0" hangingPunct="1">
        <a:lnSpc>
          <a:spcPct val="100000"/>
        </a:lnSpc>
        <a:spcBef>
          <a:spcPts val="0"/>
        </a:spcBef>
        <a:spcAft>
          <a:spcPts val="600"/>
        </a:spcAft>
        <a:buClr>
          <a:srgbClr val="D82034"/>
        </a:buClr>
        <a:buFont typeface="Arial" panose="020B0604020202020204" pitchFamily="34" charset="0"/>
        <a:buChar char="•"/>
        <a:tabLst/>
        <a:defRPr sz="1200" kern="1200">
          <a:solidFill>
            <a:schemeClr val="tx1"/>
          </a:solidFill>
          <a:latin typeface="Arial" panose="020B0604020202020204" pitchFamily="34" charset="0"/>
          <a:ea typeface="+mn-ea"/>
          <a:cs typeface="Arial" panose="020B0604020202020204" pitchFamily="34" charset="0"/>
        </a:defRPr>
      </a:lvl5pPr>
      <a:lvl6pPr marL="1072800" indent="-180000" algn="l" defTabSz="914400" rtl="0" eaLnBrk="1" latinLnBrk="0" hangingPunct="1">
        <a:spcBef>
          <a:spcPts val="0"/>
        </a:spcBef>
        <a:spcAft>
          <a:spcPts val="600"/>
        </a:spcAft>
        <a:buClr>
          <a:srgbClr val="D82034"/>
        </a:buClr>
        <a:buFont typeface="Arial" panose="020B0604020202020204" pitchFamily="34" charset="0"/>
        <a:buChar char="–"/>
        <a:defRPr sz="1200" kern="1200">
          <a:solidFill>
            <a:schemeClr val="tx1"/>
          </a:solidFill>
          <a:latin typeface="+mn-lt"/>
          <a:ea typeface="+mn-ea"/>
          <a:cs typeface="+mn-cs"/>
        </a:defRPr>
      </a:lvl6pPr>
      <a:lvl7pPr marL="1227600" indent="-180000" algn="l" defTabSz="914400" rtl="0" eaLnBrk="1" latinLnBrk="0" hangingPunct="1">
        <a:spcBef>
          <a:spcPts val="0"/>
        </a:spcBef>
        <a:spcAft>
          <a:spcPts val="600"/>
        </a:spcAft>
        <a:buClr>
          <a:srgbClr val="D82034"/>
        </a:buClr>
        <a:buFont typeface="Arial" panose="020B0604020202020204" pitchFamily="34" charset="0"/>
        <a:buChar char="•"/>
        <a:defRPr sz="1200" kern="1200">
          <a:solidFill>
            <a:schemeClr val="tx1"/>
          </a:solidFill>
          <a:latin typeface="+mn-lt"/>
          <a:ea typeface="+mn-ea"/>
          <a:cs typeface="+mn-cs"/>
        </a:defRPr>
      </a:lvl7pPr>
      <a:lvl8pPr marL="1414800" indent="-180000" algn="l" defTabSz="914400" rtl="0" eaLnBrk="1" latinLnBrk="0" hangingPunct="1">
        <a:spcBef>
          <a:spcPts val="0"/>
        </a:spcBef>
        <a:spcAft>
          <a:spcPts val="600"/>
        </a:spcAft>
        <a:buClr>
          <a:srgbClr val="D82034"/>
        </a:buClr>
        <a:buFont typeface="Arial" panose="020B0604020202020204" pitchFamily="34" charset="0"/>
        <a:buChar char="–"/>
        <a:defRPr sz="1200" kern="1200">
          <a:solidFill>
            <a:schemeClr val="tx1"/>
          </a:solidFill>
          <a:latin typeface="+mn-lt"/>
          <a:ea typeface="+mn-ea"/>
          <a:cs typeface="+mn-cs"/>
        </a:defRPr>
      </a:lvl8pPr>
      <a:lvl9pPr marL="1602000" indent="-180000" algn="l" defTabSz="914400" rtl="0" eaLnBrk="1" latinLnBrk="0" hangingPunct="1">
        <a:spcBef>
          <a:spcPts val="0"/>
        </a:spcBef>
        <a:spcAft>
          <a:spcPts val="600"/>
        </a:spcAft>
        <a:buClr>
          <a:srgbClr val="D82034"/>
        </a:buClr>
        <a:buFont typeface="Arial" panose="020B0604020202020204" pitchFamily="34" charset="0"/>
        <a:buChar char="•"/>
        <a:defRPr sz="12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58" userDrawn="1">
          <p15:clr>
            <a:srgbClr val="F26B43"/>
          </p15:clr>
        </p15:guide>
        <p15:guide id="2" pos="3787" userDrawn="1">
          <p15:clr>
            <a:srgbClr val="F26B43"/>
          </p15:clr>
        </p15:guide>
        <p15:guide id="3" pos="4740" userDrawn="1">
          <p15:clr>
            <a:srgbClr val="F26B43"/>
          </p15:clr>
        </p15:guide>
        <p15:guide id="4" pos="5556" userDrawn="1">
          <p15:clr>
            <a:srgbClr val="F26B43"/>
          </p15:clr>
        </p15:guide>
        <p15:guide id="5" orient="horz" pos="984" userDrawn="1">
          <p15:clr>
            <a:srgbClr val="F26B43"/>
          </p15:clr>
        </p15:guide>
        <p15:guide id="6" orient="horz" pos="3252" userDrawn="1">
          <p15:clr>
            <a:srgbClr val="F26B43"/>
          </p15:clr>
        </p15:guide>
        <p15:guide id="7" orient="horz" pos="76"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50826" y="121196"/>
            <a:ext cx="7200900" cy="1080542"/>
          </a:xfrm>
          <a:prstGeom prst="rect">
            <a:avLst/>
          </a:prstGeom>
        </p:spPr>
        <p:txBody>
          <a:bodyPr vert="horz" lIns="36000" tIns="36000" rIns="0" bIns="0" rtlCol="0" anchor="t" anchorCtr="0">
            <a:noAutofit/>
          </a:bodyPr>
          <a:lstStyle/>
          <a:p>
            <a:r>
              <a:rPr lang="fr-FR" noProof="0"/>
              <a:t>Click to edit Master title style</a:t>
            </a:r>
            <a:endParaRPr lang="fr-FR" noProof="0" dirty="0"/>
          </a:p>
        </p:txBody>
      </p:sp>
      <p:sp>
        <p:nvSpPr>
          <p:cNvPr id="3" name="Text Placeholder 2"/>
          <p:cNvSpPr>
            <a:spLocks noGrp="1"/>
          </p:cNvSpPr>
          <p:nvPr>
            <p:ph type="body" idx="1"/>
          </p:nvPr>
        </p:nvSpPr>
        <p:spPr>
          <a:xfrm>
            <a:off x="250825" y="1562100"/>
            <a:ext cx="5761038" cy="3600450"/>
          </a:xfrm>
          <a:prstGeom prst="rect">
            <a:avLst/>
          </a:prstGeom>
        </p:spPr>
        <p:txBody>
          <a:bodyPr vert="horz" lIns="36000" tIns="0" rIns="0" bIns="0" rtlCol="0">
            <a:noAutofit/>
          </a:bodyPr>
          <a:lstStyle/>
          <a:p>
            <a:pPr lvl="0"/>
            <a:r>
              <a:rPr lang="fr-FR" noProof="0"/>
              <a:t>Click to edit Master text styles</a:t>
            </a:r>
          </a:p>
          <a:p>
            <a:pPr lvl="1"/>
            <a:r>
              <a:rPr lang="fr-FR" noProof="0"/>
              <a:t>Second level</a:t>
            </a:r>
          </a:p>
          <a:p>
            <a:pPr lvl="2"/>
            <a:r>
              <a:rPr lang="fr-FR" noProof="0"/>
              <a:t>Third level</a:t>
            </a:r>
          </a:p>
          <a:p>
            <a:pPr lvl="3"/>
            <a:r>
              <a:rPr lang="fr-FR" noProof="0"/>
              <a:t>Fourth level</a:t>
            </a:r>
          </a:p>
          <a:p>
            <a:pPr lvl="4"/>
            <a:r>
              <a:rPr lang="fr-FR" noProof="0"/>
              <a:t>Fifth level</a:t>
            </a:r>
            <a:endParaRPr lang="fr-FR" noProof="0" dirty="0"/>
          </a:p>
        </p:txBody>
      </p:sp>
      <p:sp>
        <p:nvSpPr>
          <p:cNvPr id="12" name="Footnote" hidden="1"/>
          <p:cNvSpPr txBox="1"/>
          <p:nvPr>
            <p:custDataLst>
              <p:tags r:id="rId18"/>
            </p:custDataLst>
          </p:nvPr>
        </p:nvSpPr>
        <p:spPr>
          <a:xfrm>
            <a:off x="250824" y="5234558"/>
            <a:ext cx="5761039" cy="184666"/>
          </a:xfrm>
          <a:prstGeom prst="rect">
            <a:avLst/>
          </a:prstGeom>
          <a:noFill/>
        </p:spPr>
        <p:txBody>
          <a:bodyPr wrap="square" lIns="36000" tIns="0" rIns="0" bIns="0" rtlCol="0">
            <a:noAutofit/>
          </a:bodyPr>
          <a:lstStyle/>
          <a:p>
            <a:endParaRPr lang="fr-FR" sz="600" noProof="0" dirty="0">
              <a:latin typeface="Arial" panose="020B0604020202020204" pitchFamily="34" charset="0"/>
              <a:cs typeface="Arial" panose="020B0604020202020204" pitchFamily="34" charset="0"/>
            </a:endParaRPr>
          </a:p>
        </p:txBody>
      </p:sp>
      <p:sp>
        <p:nvSpPr>
          <p:cNvPr id="4" name="AgendaTitleFrame" hidden="1"/>
          <p:cNvSpPr>
            <a:spLocks/>
          </p:cNvSpPr>
          <p:nvPr userDrawn="1">
            <p:custDataLst>
              <p:tags r:id="rId19"/>
            </p:custDataLst>
          </p:nvPr>
        </p:nvSpPr>
        <p:spPr bwMode="gray">
          <a:xfrm>
            <a:off x="7524328" y="-5680"/>
            <a:ext cx="1296144" cy="622742"/>
          </a:xfrm>
          <a:custGeom>
            <a:avLst/>
            <a:gdLst>
              <a:gd name="connsiteX0" fmla="*/ 0 w 3746846"/>
              <a:gd name="connsiteY0" fmla="*/ 0 h 1800200"/>
              <a:gd name="connsiteX1" fmla="*/ 3746846 w 3746846"/>
              <a:gd name="connsiteY1" fmla="*/ 0 h 1800200"/>
              <a:gd name="connsiteX2" fmla="*/ 3746846 w 3746846"/>
              <a:gd name="connsiteY2" fmla="*/ 1800200 h 1800200"/>
              <a:gd name="connsiteX3" fmla="*/ 0 w 3746846"/>
              <a:gd name="connsiteY3" fmla="*/ 1800200 h 1800200"/>
              <a:gd name="connsiteX4" fmla="*/ 0 w 3746846"/>
              <a:gd name="connsiteY4" fmla="*/ 0 h 1800200"/>
              <a:gd name="connsiteX0" fmla="*/ 0 w 3746846"/>
              <a:gd name="connsiteY0" fmla="*/ 0 h 1800200"/>
              <a:gd name="connsiteX1" fmla="*/ 3746846 w 3746846"/>
              <a:gd name="connsiteY1" fmla="*/ 0 h 1800200"/>
              <a:gd name="connsiteX2" fmla="*/ 3746846 w 3746846"/>
              <a:gd name="connsiteY2" fmla="*/ 1800200 h 1800200"/>
              <a:gd name="connsiteX3" fmla="*/ 0 w 3746846"/>
              <a:gd name="connsiteY3" fmla="*/ 1800200 h 1800200"/>
              <a:gd name="connsiteX4" fmla="*/ 0 w 3746846"/>
              <a:gd name="connsiteY4" fmla="*/ 0 h 1800200"/>
              <a:gd name="connsiteX0" fmla="*/ 0 w 3746846"/>
              <a:gd name="connsiteY0" fmla="*/ 0 h 1800200"/>
              <a:gd name="connsiteX1" fmla="*/ 3746846 w 3746846"/>
              <a:gd name="connsiteY1" fmla="*/ 0 h 1800200"/>
              <a:gd name="connsiteX2" fmla="*/ 3746846 w 3746846"/>
              <a:gd name="connsiteY2" fmla="*/ 1508652 h 1800200"/>
              <a:gd name="connsiteX3" fmla="*/ 0 w 3746846"/>
              <a:gd name="connsiteY3" fmla="*/ 1800200 h 1800200"/>
              <a:gd name="connsiteX4" fmla="*/ 0 w 3746846"/>
              <a:gd name="connsiteY4" fmla="*/ 0 h 1800200"/>
              <a:gd name="connsiteX0" fmla="*/ 0 w 3746846"/>
              <a:gd name="connsiteY0" fmla="*/ 0 h 1800200"/>
              <a:gd name="connsiteX1" fmla="*/ 3746846 w 3746846"/>
              <a:gd name="connsiteY1" fmla="*/ 0 h 1800200"/>
              <a:gd name="connsiteX2" fmla="*/ 3740220 w 3746846"/>
              <a:gd name="connsiteY2" fmla="*/ 1515278 h 1800200"/>
              <a:gd name="connsiteX3" fmla="*/ 0 w 3746846"/>
              <a:gd name="connsiteY3" fmla="*/ 1800200 h 1800200"/>
              <a:gd name="connsiteX4" fmla="*/ 0 w 3746846"/>
              <a:gd name="connsiteY4" fmla="*/ 0 h 1800200"/>
              <a:gd name="connsiteX0" fmla="*/ 0 w 3746846"/>
              <a:gd name="connsiteY0" fmla="*/ 0 h 1800200"/>
              <a:gd name="connsiteX1" fmla="*/ 3746846 w 3746846"/>
              <a:gd name="connsiteY1" fmla="*/ 0 h 1800200"/>
              <a:gd name="connsiteX2" fmla="*/ 3746846 w 3746846"/>
              <a:gd name="connsiteY2" fmla="*/ 1515278 h 1800200"/>
              <a:gd name="connsiteX3" fmla="*/ 0 w 3746846"/>
              <a:gd name="connsiteY3" fmla="*/ 1800200 h 1800200"/>
              <a:gd name="connsiteX4" fmla="*/ 0 w 3746846"/>
              <a:gd name="connsiteY4" fmla="*/ 0 h 1800200"/>
              <a:gd name="connsiteX0" fmla="*/ 0 w 3746846"/>
              <a:gd name="connsiteY0" fmla="*/ 0 h 1800200"/>
              <a:gd name="connsiteX1" fmla="*/ 3746846 w 3746846"/>
              <a:gd name="connsiteY1" fmla="*/ 0 h 1800200"/>
              <a:gd name="connsiteX2" fmla="*/ 3746846 w 3746846"/>
              <a:gd name="connsiteY2" fmla="*/ 1515278 h 1800200"/>
              <a:gd name="connsiteX3" fmla="*/ 0 w 3746846"/>
              <a:gd name="connsiteY3" fmla="*/ 1800200 h 1800200"/>
              <a:gd name="connsiteX4" fmla="*/ 0 w 3746846"/>
              <a:gd name="connsiteY4" fmla="*/ 0 h 1800200"/>
              <a:gd name="connsiteX0" fmla="*/ 0 w 3746846"/>
              <a:gd name="connsiteY0" fmla="*/ 0 h 1800200"/>
              <a:gd name="connsiteX1" fmla="*/ 3746846 w 3746846"/>
              <a:gd name="connsiteY1" fmla="*/ 0 h 1800200"/>
              <a:gd name="connsiteX2" fmla="*/ 3746846 w 3746846"/>
              <a:gd name="connsiteY2" fmla="*/ 1515278 h 1800200"/>
              <a:gd name="connsiteX3" fmla="*/ 0 w 3746846"/>
              <a:gd name="connsiteY3" fmla="*/ 1800200 h 1800200"/>
              <a:gd name="connsiteX4" fmla="*/ 0 w 3746846"/>
              <a:gd name="connsiteY4" fmla="*/ 0 h 1800200"/>
              <a:gd name="connsiteX0" fmla="*/ 0 w 3746846"/>
              <a:gd name="connsiteY0" fmla="*/ 0 h 1800200"/>
              <a:gd name="connsiteX1" fmla="*/ 3746846 w 3746846"/>
              <a:gd name="connsiteY1" fmla="*/ 0 h 1800200"/>
              <a:gd name="connsiteX2" fmla="*/ 3746846 w 3746846"/>
              <a:gd name="connsiteY2" fmla="*/ 1515278 h 1800200"/>
              <a:gd name="connsiteX3" fmla="*/ 0 w 3746846"/>
              <a:gd name="connsiteY3" fmla="*/ 1800200 h 1800200"/>
              <a:gd name="connsiteX4" fmla="*/ 0 w 3746846"/>
              <a:gd name="connsiteY4" fmla="*/ 0 h 1800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46846" h="1800200">
                <a:moveTo>
                  <a:pt x="0" y="0"/>
                </a:moveTo>
                <a:lnTo>
                  <a:pt x="3746846" y="0"/>
                </a:lnTo>
                <a:cubicBezTo>
                  <a:pt x="3746846" y="600067"/>
                  <a:pt x="3740220" y="1233263"/>
                  <a:pt x="3746846" y="1515278"/>
                </a:cubicBezTo>
                <a:cubicBezTo>
                  <a:pt x="2544280" y="1530739"/>
                  <a:pt x="1255575" y="1665470"/>
                  <a:pt x="0" y="1800200"/>
                </a:cubicBezTo>
                <a:lnTo>
                  <a:pt x="0" y="0"/>
                </a:lnTo>
                <a:close/>
              </a:path>
            </a:pathLst>
          </a:custGeom>
          <a:solidFill>
            <a:srgbClr val="C0C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b="1" dirty="0">
              <a:solidFill>
                <a:srgbClr val="000000"/>
              </a:solidFill>
              <a:latin typeface="Arial" panose="020B0604020202020204" pitchFamily="34" charset="0"/>
              <a:cs typeface="Arial" panose="020B0604020202020204" pitchFamily="34" charset="0"/>
            </a:endParaRPr>
          </a:p>
        </p:txBody>
      </p:sp>
      <p:sp>
        <p:nvSpPr>
          <p:cNvPr id="13" name="Status" hidden="1"/>
          <p:cNvSpPr txBox="1">
            <a:spLocks/>
          </p:cNvSpPr>
          <p:nvPr userDrawn="1">
            <p:custDataLst>
              <p:tags r:id="rId20"/>
            </p:custDataLst>
          </p:nvPr>
        </p:nvSpPr>
        <p:spPr bwMode="gray">
          <a:xfrm>
            <a:off x="8744068" y="1374493"/>
            <a:ext cx="399932" cy="169277"/>
          </a:xfrm>
          <a:prstGeom prst="rect">
            <a:avLst/>
          </a:prstGeom>
          <a:solidFill>
            <a:srgbClr val="DFDFDF"/>
          </a:solidFill>
        </p:spPr>
        <p:txBody>
          <a:bodyPr wrap="none" lIns="72000" tIns="0" rIns="324000" bIns="0" rtlCol="0" anchor="ctr">
            <a:spAutoFit/>
          </a:bodyPr>
          <a:lstStyle/>
          <a:p>
            <a:pPr algn="r"/>
            <a:endParaRPr lang="fr-FR" sz="1100" cap="none" baseline="0" dirty="0">
              <a:solidFill>
                <a:srgbClr val="000000"/>
              </a:solidFill>
              <a:latin typeface="Arial" panose="020B0604020202020204" pitchFamily="34" charset="0"/>
              <a:cs typeface="Arial" panose="020B0604020202020204" pitchFamily="34" charset="0"/>
            </a:endParaRPr>
          </a:p>
        </p:txBody>
      </p:sp>
      <p:sp>
        <p:nvSpPr>
          <p:cNvPr id="6" name="Footer" hidden="1"/>
          <p:cNvSpPr txBox="1">
            <a:spLocks/>
          </p:cNvSpPr>
          <p:nvPr userDrawn="1">
            <p:custDataLst>
              <p:tags r:id="rId21"/>
            </p:custDataLst>
          </p:nvPr>
        </p:nvSpPr>
        <p:spPr>
          <a:xfrm>
            <a:off x="250825" y="5377780"/>
            <a:ext cx="5761038" cy="232263"/>
          </a:xfrm>
          <a:prstGeom prst="rect">
            <a:avLst/>
          </a:prstGeom>
          <a:noFill/>
        </p:spPr>
        <p:txBody>
          <a:bodyPr wrap="square" lIns="0" tIns="0" rIns="0" bIns="0" rtlCol="0" anchor="ctr" anchorCtr="0">
            <a:noAutofit/>
          </a:bodyPr>
          <a:lstStyle/>
          <a:p>
            <a:r>
              <a:rPr lang="fr-FR" sz="700">
                <a:solidFill>
                  <a:srgbClr val="808080"/>
                </a:solidFill>
                <a:latin typeface="Arial" panose="020B0604020202020204" pitchFamily="34" charset="0"/>
                <a:cs typeface="Arial" panose="020B0604020202020204" pitchFamily="34" charset="0"/>
              </a:rPr>
              <a:t>Insurance solutions for  clients residing in Portugal | Public</a:t>
            </a:r>
            <a:endParaRPr lang="fr-FR" sz="700" dirty="0">
              <a:solidFill>
                <a:srgbClr val="808080"/>
              </a:solidFill>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617AE410-228E-1ABF-20BA-1F03E9495037}"/>
              </a:ext>
            </a:extLst>
          </p:cNvPr>
          <p:cNvPicPr>
            <a:picLocks noChangeAspect="1"/>
          </p:cNvPicPr>
          <p:nvPr userDrawn="1">
            <p:custDataLst>
              <p:tags r:id="rId22"/>
            </p:custDataLst>
          </p:nvPr>
        </p:nvPicPr>
        <p:blipFill>
          <a:blip r:embed="rId23" cstate="print">
            <a:extLst>
              <a:ext uri="{28A0092B-C50C-407E-A947-70E740481C1C}">
                <a14:useLocalDpi xmlns:a14="http://schemas.microsoft.com/office/drawing/2010/main" val="0"/>
              </a:ext>
            </a:extLst>
          </a:blip>
          <a:stretch>
            <a:fillRect/>
          </a:stretch>
        </p:blipFill>
        <p:spPr bwMode="gray">
          <a:xfrm>
            <a:off x="8411665" y="5251874"/>
            <a:ext cx="401341" cy="279505"/>
          </a:xfrm>
          <a:prstGeom prst="rect">
            <a:avLst/>
          </a:prstGeom>
        </p:spPr>
      </p:pic>
    </p:spTree>
    <p:extLst>
      <p:ext uri="{BB962C8B-B14F-4D97-AF65-F5344CB8AC3E}">
        <p14:creationId xmlns:p14="http://schemas.microsoft.com/office/powerpoint/2010/main" val="175190455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Lst>
  <p:hf sldNum="0" hdr="0" ftr="0"/>
  <p:txStyles>
    <p:titleStyle>
      <a:lvl1pPr algn="l" defTabSz="914400" rtl="0" eaLnBrk="1" latinLnBrk="0" hangingPunct="1">
        <a:spcBef>
          <a:spcPct val="0"/>
        </a:spcBef>
        <a:buNone/>
        <a:defRPr sz="3200" kern="1200">
          <a:solidFill>
            <a:schemeClr val="tx1"/>
          </a:solidFill>
          <a:latin typeface="Times New Roman" panose="02020603050405020304" pitchFamily="18" charset="0"/>
          <a:ea typeface="+mj-ea"/>
          <a:cs typeface="Times New Roman" panose="02020603050405020304" pitchFamily="18" charset="0"/>
        </a:defRPr>
      </a:lvl1pPr>
    </p:titleStyle>
    <p:bodyStyle>
      <a:lvl1pPr marL="180000" indent="-180000" algn="l" defTabSz="914400" rtl="0" eaLnBrk="1" latinLnBrk="0" hangingPunct="1">
        <a:lnSpc>
          <a:spcPct val="100000"/>
        </a:lnSpc>
        <a:spcBef>
          <a:spcPts val="0"/>
        </a:spcBef>
        <a:spcAft>
          <a:spcPts val="800"/>
        </a:spcAft>
        <a:buClr>
          <a:srgbClr val="D82034"/>
        </a:buClr>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1pPr>
      <a:lvl2pPr marL="396000" indent="-180000" algn="l" defTabSz="914400" rtl="0" eaLnBrk="1" latinLnBrk="0" hangingPunct="1">
        <a:lnSpc>
          <a:spcPct val="100000"/>
        </a:lnSpc>
        <a:spcBef>
          <a:spcPts val="0"/>
        </a:spcBef>
        <a:spcAft>
          <a:spcPts val="600"/>
        </a:spcAft>
        <a:buClr>
          <a:srgbClr val="D82034"/>
        </a:buClr>
        <a:buFont typeface="Arial" panose="020B0604020202020204" pitchFamily="34" charset="0"/>
        <a:buChar char="–"/>
        <a:defRPr sz="1500" kern="1200">
          <a:solidFill>
            <a:schemeClr val="tx1"/>
          </a:solidFill>
          <a:latin typeface="Arial" panose="020B0604020202020204" pitchFamily="34" charset="0"/>
          <a:ea typeface="+mn-ea"/>
          <a:cs typeface="Arial" panose="020B0604020202020204" pitchFamily="34" charset="0"/>
        </a:defRPr>
      </a:lvl2pPr>
      <a:lvl3pPr marL="540000" indent="-180000" algn="l" defTabSz="914400" rtl="0" eaLnBrk="1" latinLnBrk="0" hangingPunct="1">
        <a:lnSpc>
          <a:spcPct val="100000"/>
        </a:lnSpc>
        <a:spcBef>
          <a:spcPts val="0"/>
        </a:spcBef>
        <a:spcAft>
          <a:spcPts val="600"/>
        </a:spcAft>
        <a:buClr>
          <a:srgbClr val="D82034"/>
        </a:buClr>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3pPr>
      <a:lvl4pPr marL="719138" indent="-179388" algn="l" defTabSz="914400" rtl="0" eaLnBrk="1" latinLnBrk="0" hangingPunct="1">
        <a:lnSpc>
          <a:spcPct val="100000"/>
        </a:lnSpc>
        <a:spcBef>
          <a:spcPts val="0"/>
        </a:spcBef>
        <a:spcAft>
          <a:spcPts val="600"/>
        </a:spcAft>
        <a:buClr>
          <a:srgbClr val="D82034"/>
        </a:buClr>
        <a:buFont typeface="Arial" panose="020B0604020202020204" pitchFamily="34" charset="0"/>
        <a:buChar char="–"/>
        <a:defRPr sz="1300" kern="1200">
          <a:solidFill>
            <a:schemeClr val="tx1"/>
          </a:solidFill>
          <a:latin typeface="Arial" panose="020B0604020202020204" pitchFamily="34" charset="0"/>
          <a:ea typeface="+mn-ea"/>
          <a:cs typeface="Arial" panose="020B0604020202020204" pitchFamily="34" charset="0"/>
        </a:defRPr>
      </a:lvl4pPr>
      <a:lvl5pPr marL="892800" indent="-179388" algn="l" defTabSz="1076325" rtl="0" eaLnBrk="1" latinLnBrk="0" hangingPunct="1">
        <a:lnSpc>
          <a:spcPct val="100000"/>
        </a:lnSpc>
        <a:spcBef>
          <a:spcPts val="0"/>
        </a:spcBef>
        <a:spcAft>
          <a:spcPts val="600"/>
        </a:spcAft>
        <a:buClr>
          <a:srgbClr val="D82034"/>
        </a:buClr>
        <a:buFont typeface="Arial" panose="020B0604020202020204" pitchFamily="34" charset="0"/>
        <a:buChar char="•"/>
        <a:tabLst/>
        <a:defRPr sz="1200" kern="1200">
          <a:solidFill>
            <a:schemeClr val="tx1"/>
          </a:solidFill>
          <a:latin typeface="Arial" panose="020B0604020202020204" pitchFamily="34" charset="0"/>
          <a:ea typeface="+mn-ea"/>
          <a:cs typeface="Arial" panose="020B0604020202020204" pitchFamily="34" charset="0"/>
        </a:defRPr>
      </a:lvl5pPr>
      <a:lvl6pPr marL="1072800" indent="-180000" algn="l" defTabSz="914400" rtl="0" eaLnBrk="1" latinLnBrk="0" hangingPunct="1">
        <a:spcBef>
          <a:spcPts val="0"/>
        </a:spcBef>
        <a:spcAft>
          <a:spcPts val="600"/>
        </a:spcAft>
        <a:buClr>
          <a:srgbClr val="D82034"/>
        </a:buClr>
        <a:buFont typeface="Arial" panose="020B0604020202020204" pitchFamily="34" charset="0"/>
        <a:buChar char="–"/>
        <a:defRPr sz="1200" kern="1200">
          <a:solidFill>
            <a:schemeClr val="tx1"/>
          </a:solidFill>
          <a:latin typeface="+mn-lt"/>
          <a:ea typeface="+mn-ea"/>
          <a:cs typeface="+mn-cs"/>
        </a:defRPr>
      </a:lvl6pPr>
      <a:lvl7pPr marL="1227600" indent="-180000" algn="l" defTabSz="914400" rtl="0" eaLnBrk="1" latinLnBrk="0" hangingPunct="1">
        <a:spcBef>
          <a:spcPts val="0"/>
        </a:spcBef>
        <a:spcAft>
          <a:spcPts val="600"/>
        </a:spcAft>
        <a:buClr>
          <a:srgbClr val="D82034"/>
        </a:buClr>
        <a:buFont typeface="Arial" panose="020B0604020202020204" pitchFamily="34" charset="0"/>
        <a:buChar char="•"/>
        <a:defRPr sz="1200" kern="1200">
          <a:solidFill>
            <a:schemeClr val="tx1"/>
          </a:solidFill>
          <a:latin typeface="+mn-lt"/>
          <a:ea typeface="+mn-ea"/>
          <a:cs typeface="+mn-cs"/>
        </a:defRPr>
      </a:lvl7pPr>
      <a:lvl8pPr marL="1414800" indent="-180000" algn="l" defTabSz="914400" rtl="0" eaLnBrk="1" latinLnBrk="0" hangingPunct="1">
        <a:spcBef>
          <a:spcPts val="0"/>
        </a:spcBef>
        <a:spcAft>
          <a:spcPts val="600"/>
        </a:spcAft>
        <a:buClr>
          <a:srgbClr val="D82034"/>
        </a:buClr>
        <a:buFont typeface="Arial" panose="020B0604020202020204" pitchFamily="34" charset="0"/>
        <a:buChar char="–"/>
        <a:defRPr sz="1200" kern="1200">
          <a:solidFill>
            <a:schemeClr val="tx1"/>
          </a:solidFill>
          <a:latin typeface="+mn-lt"/>
          <a:ea typeface="+mn-ea"/>
          <a:cs typeface="+mn-cs"/>
        </a:defRPr>
      </a:lvl8pPr>
      <a:lvl9pPr marL="1602000" indent="-180000" algn="l" defTabSz="914400" rtl="0" eaLnBrk="1" latinLnBrk="0" hangingPunct="1">
        <a:spcBef>
          <a:spcPts val="0"/>
        </a:spcBef>
        <a:spcAft>
          <a:spcPts val="600"/>
        </a:spcAft>
        <a:buClr>
          <a:srgbClr val="D82034"/>
        </a:buClr>
        <a:buFont typeface="Arial" panose="020B0604020202020204" pitchFamily="34" charset="0"/>
        <a:buChar char="•"/>
        <a:defRPr sz="12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58">
          <p15:clr>
            <a:srgbClr val="F26B43"/>
          </p15:clr>
        </p15:guide>
        <p15:guide id="2" pos="3787">
          <p15:clr>
            <a:srgbClr val="F26B43"/>
          </p15:clr>
        </p15:guide>
        <p15:guide id="3" pos="4740">
          <p15:clr>
            <a:srgbClr val="F26B43"/>
          </p15:clr>
        </p15:guide>
        <p15:guide id="4" pos="5556">
          <p15:clr>
            <a:srgbClr val="F26B43"/>
          </p15:clr>
        </p15:guide>
        <p15:guide id="5" orient="horz" pos="984">
          <p15:clr>
            <a:srgbClr val="F26B43"/>
          </p15:clr>
        </p15:guide>
        <p15:guide id="6" orient="horz" pos="3252">
          <p15:clr>
            <a:srgbClr val="F26B43"/>
          </p15:clr>
        </p15:guide>
        <p15:guide id="7" orient="horz" pos="76">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tags" Target="../tags/tag65.xml"/><Relationship Id="rId1" Type="http://schemas.openxmlformats.org/officeDocument/2006/relationships/tags" Target="../tags/tag64.xml"/><Relationship Id="rId6" Type="http://schemas.openxmlformats.org/officeDocument/2006/relationships/image" Target="../media/image1.emf"/><Relationship Id="rId5" Type="http://schemas.openxmlformats.org/officeDocument/2006/relationships/image" Target="../media/image2.jpe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3.xml"/><Relationship Id="rId1" Type="http://schemas.openxmlformats.org/officeDocument/2006/relationships/tags" Target="../tags/tag66.xml"/><Relationship Id="rId4" Type="http://schemas.openxmlformats.org/officeDocument/2006/relationships/image" Target="../media/image1.emf"/></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3.xml"/><Relationship Id="rId2" Type="http://schemas.openxmlformats.org/officeDocument/2006/relationships/tags" Target="../tags/tag68.xml"/><Relationship Id="rId1" Type="http://schemas.openxmlformats.org/officeDocument/2006/relationships/tags" Target="../tags/tag67.xml"/><Relationship Id="rId6" Type="http://schemas.openxmlformats.org/officeDocument/2006/relationships/image" Target="../media/image1.emf"/><Relationship Id="rId5" Type="http://schemas.openxmlformats.org/officeDocument/2006/relationships/image" Target="../media/image3.jp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2.xml"/><Relationship Id="rId2" Type="http://schemas.openxmlformats.org/officeDocument/2006/relationships/tags" Target="../tags/tag70.xml"/><Relationship Id="rId1" Type="http://schemas.openxmlformats.org/officeDocument/2006/relationships/tags" Target="../tags/tag69.xml"/><Relationship Id="rId5" Type="http://schemas.openxmlformats.org/officeDocument/2006/relationships/image" Target="../media/image1.emf"/><Relationship Id="rId4" Type="http://schemas.openxmlformats.org/officeDocument/2006/relationships/image" Target="../media/image4.jpeg"/></Relationships>
</file>

<file path=ppt/slides/_rels/slide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slideLayout" Target="../slideLayouts/slideLayout29.xml"/><Relationship Id="rId7" Type="http://schemas.openxmlformats.org/officeDocument/2006/relationships/image" Target="../media/image6.png"/><Relationship Id="rId2" Type="http://schemas.openxmlformats.org/officeDocument/2006/relationships/tags" Target="../tags/tag72.xml"/><Relationship Id="rId1" Type="http://schemas.openxmlformats.org/officeDocument/2006/relationships/tags" Target="../tags/tag71.xml"/><Relationship Id="rId6" Type="http://schemas.microsoft.com/office/2007/relationships/hdphoto" Target="../media/hdphoto1.wdp"/><Relationship Id="rId5" Type="http://schemas.openxmlformats.org/officeDocument/2006/relationships/image" Target="../media/image5.png"/><Relationship Id="rId10" Type="http://schemas.openxmlformats.org/officeDocument/2006/relationships/image" Target="../media/image9.png"/><Relationship Id="rId4" Type="http://schemas.openxmlformats.org/officeDocument/2006/relationships/notesSlide" Target="../notesSlides/notesSlide4.xml"/><Relationship Id="rId9" Type="http://schemas.openxmlformats.org/officeDocument/2006/relationships/image" Target="../media/image8.png"/></Relationships>
</file>

<file path=ppt/slides/_rels/slide6.xml.rels><?xml version="1.0" encoding="UTF-8" standalone="yes"?>
<Relationships xmlns="http://schemas.openxmlformats.org/package/2006/relationships"><Relationship Id="rId8" Type="http://schemas.openxmlformats.org/officeDocument/2006/relationships/image" Target="../media/image11.jpeg"/><Relationship Id="rId13" Type="http://schemas.openxmlformats.org/officeDocument/2006/relationships/image" Target="../media/image16.png"/><Relationship Id="rId3" Type="http://schemas.openxmlformats.org/officeDocument/2006/relationships/tags" Target="../tags/tag75.xml"/><Relationship Id="rId7" Type="http://schemas.openxmlformats.org/officeDocument/2006/relationships/image" Target="../media/image10.emf"/><Relationship Id="rId12" Type="http://schemas.openxmlformats.org/officeDocument/2006/relationships/image" Target="../media/image15.png"/><Relationship Id="rId2" Type="http://schemas.openxmlformats.org/officeDocument/2006/relationships/tags" Target="../tags/tag74.xml"/><Relationship Id="rId1" Type="http://schemas.openxmlformats.org/officeDocument/2006/relationships/tags" Target="../tags/tag73.xml"/><Relationship Id="rId6" Type="http://schemas.openxmlformats.org/officeDocument/2006/relationships/oleObject" Target="../embeddings/oleObject1.bin"/><Relationship Id="rId11" Type="http://schemas.openxmlformats.org/officeDocument/2006/relationships/image" Target="../media/image14.png"/><Relationship Id="rId5" Type="http://schemas.openxmlformats.org/officeDocument/2006/relationships/slideLayout" Target="../slideLayouts/slideLayout19.xml"/><Relationship Id="rId10" Type="http://schemas.openxmlformats.org/officeDocument/2006/relationships/image" Target="../media/image13.png"/><Relationship Id="rId4" Type="http://schemas.openxmlformats.org/officeDocument/2006/relationships/tags" Target="../tags/tag76.xml"/><Relationship Id="rId9" Type="http://schemas.openxmlformats.org/officeDocument/2006/relationships/image" Target="../media/image12.emf"/></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9.xml"/><Relationship Id="rId5" Type="http://schemas.openxmlformats.org/officeDocument/2006/relationships/image" Target="../media/image20.png"/><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5.png"/><Relationship Id="rId1" Type="http://schemas.openxmlformats.org/officeDocument/2006/relationships/slideLayout" Target="../slideLayouts/slideLayout19.xml"/><Relationship Id="rId5" Type="http://schemas.openxmlformats.org/officeDocument/2006/relationships/image" Target="../media/image22.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8" Type="http://schemas.openxmlformats.org/officeDocument/2006/relationships/image" Target="../media/image29.svg"/><Relationship Id="rId3" Type="http://schemas.openxmlformats.org/officeDocument/2006/relationships/image" Target="../media/image24.svg"/><Relationship Id="rId7" Type="http://schemas.openxmlformats.org/officeDocument/2006/relationships/image" Target="../media/image28.png"/><Relationship Id="rId2" Type="http://schemas.openxmlformats.org/officeDocument/2006/relationships/image" Target="../media/image23.png"/><Relationship Id="rId1" Type="http://schemas.openxmlformats.org/officeDocument/2006/relationships/slideLayout" Target="../slideLayouts/slideLayout29.xml"/><Relationship Id="rId6" Type="http://schemas.openxmlformats.org/officeDocument/2006/relationships/image" Target="../media/image27.png"/><Relationship Id="rId5" Type="http://schemas.openxmlformats.org/officeDocument/2006/relationships/image" Target="../media/image26.svg"/><Relationship Id="rId10" Type="http://schemas.openxmlformats.org/officeDocument/2006/relationships/image" Target="../media/image31.svg"/><Relationship Id="rId4" Type="http://schemas.openxmlformats.org/officeDocument/2006/relationships/image" Target="../media/image25.png"/><Relationship Id="rId9" Type="http://schemas.openxmlformats.org/officeDocument/2006/relationships/image" Target="../media/image3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1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9.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2.xml"/><Relationship Id="rId2" Type="http://schemas.openxmlformats.org/officeDocument/2006/relationships/tags" Target="../tags/tag78.xml"/><Relationship Id="rId1" Type="http://schemas.openxmlformats.org/officeDocument/2006/relationships/tags" Target="../tags/tag77.xml"/><Relationship Id="rId6" Type="http://schemas.openxmlformats.org/officeDocument/2006/relationships/image" Target="../media/image1.emf"/><Relationship Id="rId5" Type="http://schemas.openxmlformats.org/officeDocument/2006/relationships/image" Target="../media/image37.jpeg"/><Relationship Id="rId4" Type="http://schemas.openxmlformats.org/officeDocument/2006/relationships/notesSlide" Target="../notesSlides/notesSlide5.xml"/></Relationships>
</file>

<file path=ppt/slides/_rels/slide1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7.xml"/></Relationships>
</file>

<file path=ppt/slides/_rels/slide15.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39.png"/><Relationship Id="rId7" Type="http://schemas.openxmlformats.org/officeDocument/2006/relationships/image" Target="../media/image44.png"/><Relationship Id="rId2" Type="http://schemas.openxmlformats.org/officeDocument/2006/relationships/image" Target="../media/image40.png"/><Relationship Id="rId1" Type="http://schemas.openxmlformats.org/officeDocument/2006/relationships/slideLayout" Target="../slideLayouts/slideLayout29.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 Id="rId9" Type="http://schemas.openxmlformats.org/officeDocument/2006/relationships/image" Target="../media/image46.png"/></Relationships>
</file>

<file path=ppt/slides/_rels/slide16.xml.rels><?xml version="1.0" encoding="UTF-8" standalone="yes"?>
<Relationships xmlns="http://schemas.openxmlformats.org/package/2006/relationships"><Relationship Id="rId8" Type="http://schemas.openxmlformats.org/officeDocument/2006/relationships/image" Target="../media/image48.png"/><Relationship Id="rId13" Type="http://schemas.openxmlformats.org/officeDocument/2006/relationships/image" Target="../media/image52.png"/><Relationship Id="rId3" Type="http://schemas.openxmlformats.org/officeDocument/2006/relationships/slideLayout" Target="../slideLayouts/slideLayout19.xml"/><Relationship Id="rId7" Type="http://schemas.openxmlformats.org/officeDocument/2006/relationships/image" Target="../media/image47.png"/><Relationship Id="rId12" Type="http://schemas.openxmlformats.org/officeDocument/2006/relationships/image" Target="../media/image51.png"/><Relationship Id="rId2" Type="http://schemas.openxmlformats.org/officeDocument/2006/relationships/tags" Target="../tags/tag80.xml"/><Relationship Id="rId1" Type="http://schemas.openxmlformats.org/officeDocument/2006/relationships/tags" Target="../tags/tag79.xml"/><Relationship Id="rId6" Type="http://schemas.openxmlformats.org/officeDocument/2006/relationships/image" Target="../media/image10.emf"/><Relationship Id="rId11" Type="http://schemas.openxmlformats.org/officeDocument/2006/relationships/image" Target="../media/image50.png"/><Relationship Id="rId5" Type="http://schemas.openxmlformats.org/officeDocument/2006/relationships/oleObject" Target="../embeddings/oleObject2.bin"/><Relationship Id="rId15" Type="http://schemas.openxmlformats.org/officeDocument/2006/relationships/image" Target="../media/image54.png"/><Relationship Id="rId10" Type="http://schemas.openxmlformats.org/officeDocument/2006/relationships/image" Target="../media/image14.png"/><Relationship Id="rId4" Type="http://schemas.openxmlformats.org/officeDocument/2006/relationships/notesSlide" Target="../notesSlides/notesSlide6.xml"/><Relationship Id="rId9" Type="http://schemas.openxmlformats.org/officeDocument/2006/relationships/image" Target="../media/image49.png"/><Relationship Id="rId14" Type="http://schemas.openxmlformats.org/officeDocument/2006/relationships/image" Target="../media/image53.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2.xml"/><Relationship Id="rId2" Type="http://schemas.openxmlformats.org/officeDocument/2006/relationships/tags" Target="../tags/tag82.xml"/><Relationship Id="rId1" Type="http://schemas.openxmlformats.org/officeDocument/2006/relationships/tags" Target="../tags/tag81.xml"/><Relationship Id="rId5" Type="http://schemas.openxmlformats.org/officeDocument/2006/relationships/image" Target="../media/image1.emf"/><Relationship Id="rId4" Type="http://schemas.openxmlformats.org/officeDocument/2006/relationships/image" Target="../media/image4.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7.xml"/><Relationship Id="rId1" Type="http://schemas.openxmlformats.org/officeDocument/2006/relationships/slideLayout" Target="../slideLayouts/slideLayout19.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9.xml"/><Relationship Id="rId1" Type="http://schemas.openxmlformats.org/officeDocument/2006/relationships/tags" Target="../tags/tag83.xml"/><Relationship Id="rId6" Type="http://schemas.openxmlformats.org/officeDocument/2006/relationships/image" Target="../media/image57.jpeg"/><Relationship Id="rId5" Type="http://schemas.openxmlformats.org/officeDocument/2006/relationships/image" Target="../media/image56.png"/><Relationship Id="rId4" Type="http://schemas.openxmlformats.org/officeDocument/2006/relationships/image" Target="../media/image55.jpe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tags" Target="../tags/tag85.xml"/><Relationship Id="rId1" Type="http://schemas.openxmlformats.org/officeDocument/2006/relationships/tags" Target="../tags/tag84.xml"/><Relationship Id="rId5" Type="http://schemas.openxmlformats.org/officeDocument/2006/relationships/image" Target="../media/image58.emf"/><Relationship Id="rId4" Type="http://schemas.openxmlformats.org/officeDocument/2006/relationships/oleObject" Target="../embeddings/oleObject3.bin"/></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9.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19.xml"/><Relationship Id="rId7" Type="http://schemas.openxmlformats.org/officeDocument/2006/relationships/image" Target="../media/image58.emf"/><Relationship Id="rId2" Type="http://schemas.openxmlformats.org/officeDocument/2006/relationships/tags" Target="../tags/tag87.xml"/><Relationship Id="rId1" Type="http://schemas.openxmlformats.org/officeDocument/2006/relationships/tags" Target="../tags/tag86.xml"/><Relationship Id="rId6" Type="http://schemas.openxmlformats.org/officeDocument/2006/relationships/oleObject" Target="../embeddings/oleObject4.bin"/><Relationship Id="rId5" Type="http://schemas.openxmlformats.org/officeDocument/2006/relationships/image" Target="../media/image59.jpeg"/><Relationship Id="rId4" Type="http://schemas.openxmlformats.org/officeDocument/2006/relationships/notesSlide" Target="../notesSlides/notesSlide10.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9.xml"/></Relationships>
</file>

<file path=ppt/slides/_rels/slide2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Layout" Target="../slideLayouts/slideLayout5.xml"/><Relationship Id="rId1" Type="http://schemas.openxmlformats.org/officeDocument/2006/relationships/tags" Target="../tags/tag88.xml"/></Relationships>
</file>

<file path=ppt/slides/_rels/slide29.xml.rels><?xml version="1.0" encoding="UTF-8" standalone="yes"?>
<Relationships xmlns="http://schemas.openxmlformats.org/package/2006/relationships"><Relationship Id="rId8" Type="http://schemas.openxmlformats.org/officeDocument/2006/relationships/image" Target="../media/image58.emf"/><Relationship Id="rId3" Type="http://schemas.openxmlformats.org/officeDocument/2006/relationships/tags" Target="../tags/tag91.xml"/><Relationship Id="rId7" Type="http://schemas.openxmlformats.org/officeDocument/2006/relationships/oleObject" Target="../embeddings/oleObject5.bin"/><Relationship Id="rId2" Type="http://schemas.openxmlformats.org/officeDocument/2006/relationships/tags" Target="../tags/tag90.xml"/><Relationship Id="rId1" Type="http://schemas.openxmlformats.org/officeDocument/2006/relationships/tags" Target="../tags/tag89.xml"/><Relationship Id="rId6" Type="http://schemas.openxmlformats.org/officeDocument/2006/relationships/image" Target="../media/image60.jpeg"/><Relationship Id="rId5" Type="http://schemas.openxmlformats.org/officeDocument/2006/relationships/notesSlide" Target="../notesSlides/notesSlide12.xml"/><Relationship Id="rId4"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8" Type="http://schemas.openxmlformats.org/officeDocument/2006/relationships/image" Target="../media/image58.emf"/><Relationship Id="rId3" Type="http://schemas.openxmlformats.org/officeDocument/2006/relationships/tags" Target="../tags/tag94.xml"/><Relationship Id="rId7" Type="http://schemas.openxmlformats.org/officeDocument/2006/relationships/oleObject" Target="../embeddings/oleObject6.bin"/><Relationship Id="rId12" Type="http://schemas.openxmlformats.org/officeDocument/2006/relationships/image" Target="../media/image65.png"/><Relationship Id="rId2" Type="http://schemas.openxmlformats.org/officeDocument/2006/relationships/tags" Target="../tags/tag93.xml"/><Relationship Id="rId1" Type="http://schemas.openxmlformats.org/officeDocument/2006/relationships/tags" Target="../tags/tag92.xml"/><Relationship Id="rId6" Type="http://schemas.openxmlformats.org/officeDocument/2006/relationships/image" Target="../media/image61.jpeg"/><Relationship Id="rId11" Type="http://schemas.openxmlformats.org/officeDocument/2006/relationships/image" Target="../media/image64.png"/><Relationship Id="rId5" Type="http://schemas.openxmlformats.org/officeDocument/2006/relationships/notesSlide" Target="../notesSlides/notesSlide13.xml"/><Relationship Id="rId10" Type="http://schemas.openxmlformats.org/officeDocument/2006/relationships/image" Target="../media/image63.png"/><Relationship Id="rId4" Type="http://schemas.openxmlformats.org/officeDocument/2006/relationships/slideLayout" Target="../slideLayouts/slideLayout12.xml"/><Relationship Id="rId9" Type="http://schemas.openxmlformats.org/officeDocument/2006/relationships/image" Target="../media/image62.png"/></Relationships>
</file>

<file path=ppt/slides/_rels/slide31.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2.xml"/><Relationship Id="rId6" Type="http://schemas.openxmlformats.org/officeDocument/2006/relationships/image" Target="../media/image70.png"/><Relationship Id="rId5" Type="http://schemas.openxmlformats.org/officeDocument/2006/relationships/image" Target="../media/image69.png"/><Relationship Id="rId4" Type="http://schemas.openxmlformats.org/officeDocument/2006/relationships/image" Target="../media/image68.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descr="A person and person sitting on a couch looking at a computer&#10;&#10;Description automatically generated">
            <a:extLst>
              <a:ext uri="{FF2B5EF4-FFF2-40B4-BE49-F238E27FC236}">
                <a16:creationId xmlns:a16="http://schemas.microsoft.com/office/drawing/2014/main" id="{6FC861A0-56B3-FD18-19C3-5891C6E38BFA}"/>
              </a:ext>
            </a:extLst>
          </p:cNvPr>
          <p:cNvPicPr>
            <a:picLocks noGrp="1" noChangeAspect="1"/>
          </p:cNvPicPr>
          <p:nvPr>
            <p:ph type="pic" sz="quarter" idx="10"/>
          </p:nvPr>
        </p:nvPicPr>
        <p:blipFill>
          <a:blip r:embed="rId5" cstate="screen">
            <a:extLst>
              <a:ext uri="{28A0092B-C50C-407E-A947-70E740481C1C}">
                <a14:useLocalDpi xmlns:a14="http://schemas.microsoft.com/office/drawing/2010/main"/>
              </a:ext>
            </a:extLst>
          </a:blip>
          <a:srcRect/>
          <a:stretch>
            <a:fillRect/>
          </a:stretch>
        </p:blipFill>
        <p:spPr/>
      </p:pic>
      <p:sp>
        <p:nvSpPr>
          <p:cNvPr id="5" name="Title 4"/>
          <p:cNvSpPr>
            <a:spLocks noGrp="1"/>
          </p:cNvSpPr>
          <p:nvPr>
            <p:ph type="ctrTitle"/>
          </p:nvPr>
        </p:nvSpPr>
        <p:spPr>
          <a:xfrm>
            <a:off x="0" y="3307774"/>
            <a:ext cx="3923928" cy="1269275"/>
          </a:xfrm>
          <a:solidFill>
            <a:srgbClr val="FFFFFF"/>
          </a:solidFill>
        </p:spPr>
        <p:txBody>
          <a:bodyPr/>
          <a:lstStyle/>
          <a:p>
            <a:r>
              <a:rPr lang="fr-FR"/>
              <a:t>Solutions d’assurance pour les clients français</a:t>
            </a:r>
            <a:br>
              <a:rPr lang="fr-FR"/>
            </a:br>
            <a:r>
              <a:rPr lang="fr-FR" sz="1600">
                <a:solidFill>
                  <a:schemeClr val="accent3"/>
                </a:solidFill>
              </a:rPr>
              <a:t>Premium Lux &amp; Swiss Life Generations</a:t>
            </a:r>
            <a:endParaRPr lang="fr-FR" sz="1600" dirty="0">
              <a:solidFill>
                <a:schemeClr val="accent3"/>
              </a:solidFill>
            </a:endParaRPr>
          </a:p>
        </p:txBody>
      </p:sp>
      <p:sp>
        <p:nvSpPr>
          <p:cNvPr id="4" name="LogoFrame">
            <a:extLst>
              <a:ext uri="{FF2B5EF4-FFF2-40B4-BE49-F238E27FC236}">
                <a16:creationId xmlns:a16="http://schemas.microsoft.com/office/drawing/2014/main" id="{0EED1C75-5074-90CC-E4B0-4056EFF04CA6}"/>
              </a:ext>
            </a:extLst>
          </p:cNvPr>
          <p:cNvSpPr>
            <a:spLocks/>
          </p:cNvSpPr>
          <p:nvPr>
            <p:custDataLst>
              <p:tags r:id="rId1"/>
            </p:custDataLst>
          </p:nvPr>
        </p:nvSpPr>
        <p:spPr bwMode="white">
          <a:xfrm>
            <a:off x="7192950" y="-7200"/>
            <a:ext cx="1627200" cy="1368458"/>
          </a:xfrm>
          <a:custGeom>
            <a:avLst/>
            <a:gdLst>
              <a:gd name="connsiteX0" fmla="*/ 0 w 4824537"/>
              <a:gd name="connsiteY0" fmla="*/ 0 h 4112861"/>
              <a:gd name="connsiteX1" fmla="*/ 4824537 w 4824537"/>
              <a:gd name="connsiteY1" fmla="*/ 0 h 4112861"/>
              <a:gd name="connsiteX2" fmla="*/ 4824537 w 4824537"/>
              <a:gd name="connsiteY2" fmla="*/ 4112861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51737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51737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51737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51737 h 4112861"/>
              <a:gd name="connsiteX3" fmla="*/ 0 w 4824537"/>
              <a:gd name="connsiteY3" fmla="*/ 4112861 h 4112861"/>
              <a:gd name="connsiteX4" fmla="*/ 0 w 4824537"/>
              <a:gd name="connsiteY4" fmla="*/ 0 h 41128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24537" h="4112861">
                <a:moveTo>
                  <a:pt x="0" y="0"/>
                </a:moveTo>
                <a:lnTo>
                  <a:pt x="4824537" y="0"/>
                </a:lnTo>
                <a:lnTo>
                  <a:pt x="4824537" y="3751737"/>
                </a:lnTo>
                <a:cubicBezTo>
                  <a:pt x="3231541" y="3785819"/>
                  <a:pt x="1634302" y="3906720"/>
                  <a:pt x="0" y="4112861"/>
                </a:cubicBezTo>
                <a:lnTo>
                  <a:pt x="0" y="0"/>
                </a:lnTo>
                <a:close/>
              </a:path>
            </a:pathLst>
          </a:custGeom>
          <a:solidFill>
            <a:srgbClr val="FFFFFF"/>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chemeClr val="tx1"/>
              </a:solidFill>
            </a:endParaRPr>
          </a:p>
        </p:txBody>
      </p:sp>
      <p:pic>
        <p:nvPicPr>
          <p:cNvPr id="6" name="Picture 5">
            <a:extLst>
              <a:ext uri="{FF2B5EF4-FFF2-40B4-BE49-F238E27FC236}">
                <a16:creationId xmlns:a16="http://schemas.microsoft.com/office/drawing/2014/main" id="{6FDDE5C8-E9F1-B38E-E33F-4806691906D0}"/>
              </a:ext>
            </a:extLst>
          </p:cNvPr>
          <p:cNvPicPr>
            <a:picLocks noChangeAspect="1"/>
          </p:cNvPicPr>
          <p:nvPr>
            <p:custDataLst>
              <p:tags r:id="rId2"/>
            </p:custDataLst>
          </p:nvPr>
        </p:nvPicPr>
        <p:blipFill>
          <a:blip r:embed="rId6">
            <a:extLst>
              <a:ext uri="{28A0092B-C50C-407E-A947-70E740481C1C}">
                <a14:useLocalDpi xmlns:a14="http://schemas.microsoft.com/office/drawing/2010/main" val="0"/>
              </a:ext>
            </a:extLst>
          </a:blip>
          <a:stretch>
            <a:fillRect/>
          </a:stretch>
        </p:blipFill>
        <p:spPr bwMode="gray">
          <a:xfrm>
            <a:off x="7523286" y="308924"/>
            <a:ext cx="961108" cy="669343"/>
          </a:xfrm>
          <a:prstGeom prst="rect">
            <a:avLst/>
          </a:prstGeom>
        </p:spPr>
      </p:pic>
    </p:spTree>
    <p:extLst>
      <p:ext uri="{BB962C8B-B14F-4D97-AF65-F5344CB8AC3E}">
        <p14:creationId xmlns:p14="http://schemas.microsoft.com/office/powerpoint/2010/main" val="33091014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250826" y="121196"/>
            <a:ext cx="8893174" cy="1080542"/>
          </a:xfrm>
        </p:spPr>
        <p:txBody>
          <a:bodyPr/>
          <a:lstStyle/>
          <a:p>
            <a:r>
              <a:rPr lang="fr-FR" dirty="0"/>
              <a:t>Acteur majeur du secteur de l'assurance </a:t>
            </a:r>
            <a:r>
              <a:rPr lang="fr-FR"/>
              <a:t>depuis 1857</a:t>
            </a:r>
            <a:endParaRPr lang="fr-FR" dirty="0"/>
          </a:p>
        </p:txBody>
      </p:sp>
      <p:sp>
        <p:nvSpPr>
          <p:cNvPr id="19" name="Rectangle 4"/>
          <p:cNvSpPr/>
          <p:nvPr/>
        </p:nvSpPr>
        <p:spPr>
          <a:xfrm>
            <a:off x="6444208" y="1489348"/>
            <a:ext cx="2448272" cy="2123658"/>
          </a:xfrm>
          <a:prstGeom prst="rect">
            <a:avLst/>
          </a:prstGeom>
        </p:spPr>
        <p:txBody>
          <a:bodyPr wrap="square">
            <a:spAutoFit/>
          </a:bodyPr>
          <a:lstStyle/>
          <a:p>
            <a:r>
              <a:rPr lang="fr-FR" sz="1100" dirty="0"/>
              <a:t>Avec 160 ans d'expérience </a:t>
            </a:r>
            <a:br>
              <a:rPr lang="fr-FR" sz="1100" dirty="0"/>
            </a:br>
            <a:r>
              <a:rPr lang="fr-FR" sz="1100" dirty="0"/>
              <a:t>Swiss Life affirme sa position de fournisseur leader en solutions complètes d’assurance vie, retraite et financement. </a:t>
            </a:r>
            <a:br>
              <a:rPr lang="fr-FR" sz="1100" dirty="0"/>
            </a:br>
            <a:r>
              <a:rPr lang="fr-FR" sz="1100" dirty="0"/>
              <a:t>Nous poursuivons notre mission avec une stratégie claire et soutenons nos clients afin qu'ils puissent mener une vie en toute liberté de choix.</a:t>
            </a:r>
            <a:endParaRPr lang="fr-FR" sz="1100" dirty="0">
              <a:latin typeface="Arial"/>
              <a:cs typeface="Arial"/>
            </a:endParaRPr>
          </a:p>
          <a:p>
            <a:endParaRPr lang="fr-FR" sz="1100" dirty="0">
              <a:latin typeface="Arial"/>
              <a:cs typeface="Arial"/>
            </a:endParaRPr>
          </a:p>
          <a:p>
            <a:r>
              <a:rPr lang="fr-FR" sz="1100" i="1" dirty="0">
                <a:latin typeface="Arial"/>
                <a:cs typeface="Arial"/>
              </a:rPr>
              <a:t>Hier, aujourd’hui et demain.</a:t>
            </a:r>
          </a:p>
        </p:txBody>
      </p:sp>
      <p:sp>
        <p:nvSpPr>
          <p:cNvPr id="21" name="Inhaltsplatzhalter 3"/>
          <p:cNvSpPr txBox="1">
            <a:spLocks/>
          </p:cNvSpPr>
          <p:nvPr/>
        </p:nvSpPr>
        <p:spPr>
          <a:xfrm>
            <a:off x="6290143" y="4981188"/>
            <a:ext cx="2692124" cy="265295"/>
          </a:xfrm>
          <a:prstGeom prst="rect">
            <a:avLst/>
          </a:prstGeom>
        </p:spPr>
        <p:txBody>
          <a:bodyPr vert="horz" lIns="36000" tIns="0" rIns="0" bIns="0" rtlCol="0" anchor="t" anchorCtr="0">
            <a:noAutofit/>
          </a:bodyPr>
          <a:lstStyle>
            <a:lvl1pPr marL="180000" indent="-180000" algn="l" defTabSz="914400" rtl="0" eaLnBrk="1" latinLnBrk="0" hangingPunct="1">
              <a:lnSpc>
                <a:spcPct val="100000"/>
              </a:lnSpc>
              <a:spcBef>
                <a:spcPts val="0"/>
              </a:spcBef>
              <a:spcAft>
                <a:spcPts val="800"/>
              </a:spcAft>
              <a:buClr>
                <a:srgbClr val="D82034"/>
              </a:buClr>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1pPr>
            <a:lvl2pPr marL="396000" indent="-180000" algn="l" defTabSz="914400" rtl="0" eaLnBrk="1" latinLnBrk="0" hangingPunct="1">
              <a:lnSpc>
                <a:spcPct val="100000"/>
              </a:lnSpc>
              <a:spcBef>
                <a:spcPts val="0"/>
              </a:spcBef>
              <a:spcAft>
                <a:spcPts val="600"/>
              </a:spcAft>
              <a:buClr>
                <a:srgbClr val="D82034"/>
              </a:buClr>
              <a:buFont typeface="Arial" panose="020B0604020202020204" pitchFamily="34" charset="0"/>
              <a:buChar char="–"/>
              <a:defRPr sz="1500" kern="1200">
                <a:solidFill>
                  <a:schemeClr val="tx1"/>
                </a:solidFill>
                <a:latin typeface="Arial" panose="020B0604020202020204" pitchFamily="34" charset="0"/>
                <a:ea typeface="+mn-ea"/>
                <a:cs typeface="Arial" panose="020B0604020202020204" pitchFamily="34" charset="0"/>
              </a:defRPr>
            </a:lvl2pPr>
            <a:lvl3pPr marL="540000" indent="-180000" algn="l" defTabSz="914400" rtl="0" eaLnBrk="1" latinLnBrk="0" hangingPunct="1">
              <a:lnSpc>
                <a:spcPct val="100000"/>
              </a:lnSpc>
              <a:spcBef>
                <a:spcPts val="0"/>
              </a:spcBef>
              <a:spcAft>
                <a:spcPts val="600"/>
              </a:spcAft>
              <a:buClr>
                <a:srgbClr val="D82034"/>
              </a:buClr>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3pPr>
            <a:lvl4pPr marL="719138" indent="-179388" algn="l" defTabSz="914400" rtl="0" eaLnBrk="1" latinLnBrk="0" hangingPunct="1">
              <a:lnSpc>
                <a:spcPct val="100000"/>
              </a:lnSpc>
              <a:spcBef>
                <a:spcPts val="0"/>
              </a:spcBef>
              <a:spcAft>
                <a:spcPts val="600"/>
              </a:spcAft>
              <a:buClr>
                <a:srgbClr val="D82034"/>
              </a:buClr>
              <a:buFont typeface="Arial" panose="020B0604020202020204" pitchFamily="34" charset="0"/>
              <a:buChar char="–"/>
              <a:defRPr sz="1300" kern="1200">
                <a:solidFill>
                  <a:schemeClr val="tx1"/>
                </a:solidFill>
                <a:latin typeface="Arial" panose="020B0604020202020204" pitchFamily="34" charset="0"/>
                <a:ea typeface="+mn-ea"/>
                <a:cs typeface="Arial" panose="020B0604020202020204" pitchFamily="34" charset="0"/>
              </a:defRPr>
            </a:lvl4pPr>
            <a:lvl5pPr marL="892175" indent="-179388" algn="l" defTabSz="1076325" rtl="0" eaLnBrk="1" latinLnBrk="0" hangingPunct="1">
              <a:lnSpc>
                <a:spcPct val="100000"/>
              </a:lnSpc>
              <a:spcBef>
                <a:spcPts val="0"/>
              </a:spcBef>
              <a:spcAft>
                <a:spcPts val="600"/>
              </a:spcAft>
              <a:buClr>
                <a:srgbClr val="D82034"/>
              </a:buClr>
              <a:buFont typeface="Arial" panose="020B0604020202020204" pitchFamily="34" charset="0"/>
              <a:buChar char="•"/>
              <a:tabLst/>
              <a:defRPr sz="12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spcAft>
                <a:spcPts val="0"/>
              </a:spcAft>
              <a:buNone/>
            </a:pPr>
            <a:r>
              <a:rPr lang="fr-FR" sz="800" dirty="0">
                <a:solidFill>
                  <a:schemeClr val="bg1">
                    <a:lumMod val="50000"/>
                  </a:schemeClr>
                </a:solidFill>
                <a:latin typeface="Arial"/>
                <a:cs typeface="Arial"/>
              </a:rPr>
              <a:t>Toute information pour l’année 2023</a:t>
            </a:r>
            <a:br>
              <a:rPr lang="fr-FR" sz="800" dirty="0">
                <a:solidFill>
                  <a:schemeClr val="bg1">
                    <a:lumMod val="50000"/>
                  </a:schemeClr>
                </a:solidFill>
                <a:latin typeface="Arial"/>
                <a:cs typeface="Arial"/>
              </a:rPr>
            </a:br>
            <a:r>
              <a:rPr lang="fr-FR" sz="800" dirty="0">
                <a:solidFill>
                  <a:schemeClr val="bg1">
                    <a:lumMod val="50000"/>
                  </a:schemeClr>
                </a:solidFill>
                <a:latin typeface="Arial"/>
                <a:cs typeface="Arial"/>
              </a:rPr>
              <a:t>(Chiffres en CHF)</a:t>
            </a:r>
          </a:p>
        </p:txBody>
      </p:sp>
      <p:sp>
        <p:nvSpPr>
          <p:cNvPr id="13" name="Rectangle 18">
            <a:extLst>
              <a:ext uri="{FF2B5EF4-FFF2-40B4-BE49-F238E27FC236}">
                <a16:creationId xmlns:a16="http://schemas.microsoft.com/office/drawing/2014/main" id="{B30DFB32-A67B-4F79-A9C0-E185F1D70037}"/>
              </a:ext>
            </a:extLst>
          </p:cNvPr>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dirty="0"/>
          </a:p>
        </p:txBody>
      </p:sp>
      <p:sp>
        <p:nvSpPr>
          <p:cNvPr id="14" name="Rectangle 27">
            <a:extLst>
              <a:ext uri="{FF2B5EF4-FFF2-40B4-BE49-F238E27FC236}">
                <a16:creationId xmlns:a16="http://schemas.microsoft.com/office/drawing/2014/main" id="{16449DB1-1F2B-41A4-95F3-627334B33061}"/>
              </a:ext>
            </a:extLst>
          </p:cNvPr>
          <p:cNvSpPr>
            <a:spLocks noChangeArrowheads="1"/>
          </p:cNvSpPr>
          <p:nvPr/>
        </p:nvSpPr>
        <p:spPr bwMode="auto">
          <a:xfrm>
            <a:off x="0" y="2725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dirty="0"/>
          </a:p>
        </p:txBody>
      </p:sp>
      <p:sp>
        <p:nvSpPr>
          <p:cNvPr id="9" name="Rectangle: Rounded Corners 8">
            <a:extLst>
              <a:ext uri="{FF2B5EF4-FFF2-40B4-BE49-F238E27FC236}">
                <a16:creationId xmlns:a16="http://schemas.microsoft.com/office/drawing/2014/main" id="{F811B573-59CC-4D6F-8F41-E661BCAC8812}"/>
              </a:ext>
            </a:extLst>
          </p:cNvPr>
          <p:cNvSpPr/>
          <p:nvPr/>
        </p:nvSpPr>
        <p:spPr>
          <a:xfrm>
            <a:off x="2361565" y="6257290"/>
            <a:ext cx="1367790" cy="1367790"/>
          </a:xfrm>
          <a:prstGeom prst="roundRect">
            <a:avLst>
              <a:gd name="adj" fmla="val 4667"/>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36000" tIns="36000" rIns="36000" bIns="36000" numCol="1" spcCol="0" rtlCol="0" fromWordArt="0" anchor="ctr" anchorCtr="0" forceAA="0" compatLnSpc="1">
            <a:prstTxWarp prst="textNoShape">
              <a:avLst/>
            </a:prstTxWarp>
            <a:noAutofit/>
          </a:bodyPr>
          <a:lstStyle/>
          <a:p>
            <a:endParaRPr lang="fr-FR" dirty="0"/>
          </a:p>
        </p:txBody>
      </p:sp>
      <p:sp>
        <p:nvSpPr>
          <p:cNvPr id="4" name="Rectangle 41">
            <a:extLst>
              <a:ext uri="{FF2B5EF4-FFF2-40B4-BE49-F238E27FC236}">
                <a16:creationId xmlns:a16="http://schemas.microsoft.com/office/drawing/2014/main" id="{4DC34FD4-3176-4CC9-8BE4-DF724FE9CD96}"/>
              </a:ext>
            </a:extLst>
          </p:cNvPr>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dirty="0"/>
          </a:p>
        </p:txBody>
      </p:sp>
      <p:sp>
        <p:nvSpPr>
          <p:cNvPr id="5" name="Rectangle 56">
            <a:extLst>
              <a:ext uri="{FF2B5EF4-FFF2-40B4-BE49-F238E27FC236}">
                <a16:creationId xmlns:a16="http://schemas.microsoft.com/office/drawing/2014/main" id="{5F75BF04-E301-4BD0-A436-4DAF4E178296}"/>
              </a:ext>
            </a:extLst>
          </p:cNvPr>
          <p:cNvSpPr>
            <a:spLocks noChangeArrowheads="1"/>
          </p:cNvSpPr>
          <p:nvPr/>
        </p:nvSpPr>
        <p:spPr bwMode="auto">
          <a:xfrm>
            <a:off x="0" y="2725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dirty="0"/>
          </a:p>
        </p:txBody>
      </p:sp>
      <p:sp>
        <p:nvSpPr>
          <p:cNvPr id="6" name="Rectangle 57">
            <a:extLst>
              <a:ext uri="{FF2B5EF4-FFF2-40B4-BE49-F238E27FC236}">
                <a16:creationId xmlns:a16="http://schemas.microsoft.com/office/drawing/2014/main" id="{653BA6D7-5170-49C9-931D-7683DCCC1FB2}"/>
              </a:ext>
            </a:extLst>
          </p:cNvPr>
          <p:cNvSpPr>
            <a:spLocks noChangeArrowheads="1"/>
          </p:cNvSpPr>
          <p:nvPr/>
        </p:nvSpPr>
        <p:spPr bwMode="auto">
          <a:xfrm>
            <a:off x="0" y="373010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dirty="0"/>
          </a:p>
        </p:txBody>
      </p:sp>
      <p:grpSp>
        <p:nvGrpSpPr>
          <p:cNvPr id="127" name="Group 126">
            <a:extLst>
              <a:ext uri="{FF2B5EF4-FFF2-40B4-BE49-F238E27FC236}">
                <a16:creationId xmlns:a16="http://schemas.microsoft.com/office/drawing/2014/main" id="{46DDAEC0-9ECB-4E0A-A8F8-E2E1AB7ED889}"/>
              </a:ext>
            </a:extLst>
          </p:cNvPr>
          <p:cNvGrpSpPr/>
          <p:nvPr/>
        </p:nvGrpSpPr>
        <p:grpSpPr>
          <a:xfrm>
            <a:off x="611560" y="1063737"/>
            <a:ext cx="5581648" cy="4182746"/>
            <a:chOff x="0" y="0"/>
            <a:chExt cx="5582191" cy="4182761"/>
          </a:xfrm>
        </p:grpSpPr>
        <p:grpSp>
          <p:nvGrpSpPr>
            <p:cNvPr id="128" name="Group 127">
              <a:extLst>
                <a:ext uri="{FF2B5EF4-FFF2-40B4-BE49-F238E27FC236}">
                  <a16:creationId xmlns:a16="http://schemas.microsoft.com/office/drawing/2014/main" id="{F026255A-C491-40ED-A1B0-0ACBF4D7AC6D}"/>
                </a:ext>
              </a:extLst>
            </p:cNvPr>
            <p:cNvGrpSpPr/>
            <p:nvPr/>
          </p:nvGrpSpPr>
          <p:grpSpPr>
            <a:xfrm>
              <a:off x="2806810" y="0"/>
              <a:ext cx="1368000" cy="1368000"/>
              <a:chOff x="0" y="0"/>
              <a:chExt cx="1368000" cy="1368000"/>
            </a:xfrm>
          </p:grpSpPr>
          <p:sp>
            <p:nvSpPr>
              <p:cNvPr id="162" name="Rectangle: Rounded Corners 161">
                <a:extLst>
                  <a:ext uri="{FF2B5EF4-FFF2-40B4-BE49-F238E27FC236}">
                    <a16:creationId xmlns:a16="http://schemas.microsoft.com/office/drawing/2014/main" id="{7295F3D8-1652-4F2C-8B2C-331BAE172A46}"/>
                  </a:ext>
                </a:extLst>
              </p:cNvPr>
              <p:cNvSpPr/>
              <p:nvPr/>
            </p:nvSpPr>
            <p:spPr>
              <a:xfrm>
                <a:off x="0" y="0"/>
                <a:ext cx="1368000" cy="1368000"/>
              </a:xfrm>
              <a:prstGeom prst="roundRect">
                <a:avLst>
                  <a:gd name="adj" fmla="val 4667"/>
                </a:avLst>
              </a:prstGeom>
              <a:solidFill>
                <a:schemeClr val="accent1"/>
              </a:solidFill>
              <a:ln w="25400" cap="flat" cmpd="sng" algn="ctr">
                <a:noFill/>
                <a:prstDash val="solid"/>
              </a:ln>
              <a:effectLst/>
            </p:spPr>
            <p:txBody>
              <a:bodyPr rot="0" spcFirstLastPara="0" vert="horz" wrap="square" lIns="36000" tIns="36000" rIns="36000" bIns="3600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ysClr val="window" lastClr="FFFFFF"/>
                  </a:solidFill>
                  <a:effectLst/>
                  <a:uLnTx/>
                  <a:uFillTx/>
                  <a:latin typeface="Calibri"/>
                  <a:ea typeface="+mn-ea"/>
                  <a:cs typeface="+mn-cs"/>
                </a:endParaRPr>
              </a:p>
            </p:txBody>
          </p:sp>
          <p:sp>
            <p:nvSpPr>
              <p:cNvPr id="163" name="Text Box 2">
                <a:extLst>
                  <a:ext uri="{FF2B5EF4-FFF2-40B4-BE49-F238E27FC236}">
                    <a16:creationId xmlns:a16="http://schemas.microsoft.com/office/drawing/2014/main" id="{A59B5239-EB3C-4195-9E8E-3E7DDCB83AA3}"/>
                  </a:ext>
                </a:extLst>
              </p:cNvPr>
              <p:cNvSpPr txBox="1">
                <a:spLocks noChangeArrowheads="1"/>
              </p:cNvSpPr>
              <p:nvPr/>
            </p:nvSpPr>
            <p:spPr bwMode="auto">
              <a:xfrm>
                <a:off x="7951" y="0"/>
                <a:ext cx="1359535" cy="1311910"/>
              </a:xfrm>
              <a:prstGeom prst="rect">
                <a:avLst/>
              </a:prstGeom>
              <a:noFill/>
              <a:ln w="9525">
                <a:noFill/>
                <a:miter lim="800000"/>
                <a:headEnd/>
                <a:tailEnd/>
              </a:ln>
              <a:extLst>
                <a:ext uri="{909E8E84-426E-40DD-AFC4-6F175D3DCCD1}">
                  <a14:hiddenFill xmlns:a14="http://schemas.microsoft.com/office/drawing/2010/main">
                    <a:solidFill>
                      <a:schemeClr val="accent5"/>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72000" tIns="72000" rIns="72000" bIns="72000" anchor="t" anchorCtr="0">
                <a:noAutofit/>
              </a:bodyPr>
              <a:lstStyle/>
              <a:p>
                <a:pPr marL="0" marR="0" lvl="0" indent="0" algn="ctr" defTabSz="914400" eaLnBrk="1" fontAlgn="auto" latinLnBrk="0" hangingPunct="1">
                  <a:lnSpc>
                    <a:spcPct val="115000"/>
                  </a:lnSpc>
                  <a:spcBef>
                    <a:spcPts val="600"/>
                  </a:spcBef>
                  <a:spcAft>
                    <a:spcPts val="0"/>
                  </a:spcAft>
                  <a:buClrTx/>
                  <a:buSzTx/>
                  <a:buFontTx/>
                  <a:buNone/>
                  <a:tabLst/>
                  <a:defRPr/>
                </a:pPr>
                <a:r>
                  <a:rPr kumimoji="0" lang="fr-FR" sz="3600" b="0" u="none" strike="noStrike" kern="0" cap="none" spc="0" normalizeH="0" baseline="0" noProof="0" dirty="0">
                    <a:ln>
                      <a:noFill/>
                    </a:ln>
                    <a:solidFill>
                      <a:srgbClr val="FFFFFF"/>
                    </a:solidFill>
                    <a:effectLst/>
                    <a:uLnTx/>
                    <a:uFillTx/>
                    <a:latin typeface="Legacy Serif ITC Pro Medium" pitchFamily="50" charset="0"/>
                    <a:ea typeface="Calibri" panose="020F0502020204030204" pitchFamily="34" charset="0"/>
                    <a:cs typeface="Times New Roman" panose="02020603050405020304" pitchFamily="18" charset="0"/>
                  </a:rPr>
                  <a:t>13.7%</a:t>
                </a:r>
                <a:endParaRPr kumimoji="0" lang="fr-FR" sz="1100" b="0" u="none" strike="noStrike" kern="0" cap="none" spc="0" normalizeH="0" baseline="0" noProof="0" dirty="0">
                  <a:ln>
                    <a:noFill/>
                  </a:ln>
                  <a:solidFill>
                    <a:sysClr val="windowText" lastClr="000000"/>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ctr" defTabSz="914400" eaLnBrk="1" fontAlgn="auto" latinLnBrk="0" hangingPunct="1">
                  <a:lnSpc>
                    <a:spcPct val="115000"/>
                  </a:lnSpc>
                  <a:spcBef>
                    <a:spcPts val="0"/>
                  </a:spcBef>
                  <a:spcAft>
                    <a:spcPts val="0"/>
                  </a:spcAft>
                  <a:buClrTx/>
                  <a:buSzTx/>
                  <a:buFontTx/>
                  <a:buNone/>
                  <a:tabLst/>
                  <a:defRPr/>
                </a:pPr>
                <a:r>
                  <a:rPr kumimoji="0" lang="fr-FR" sz="900" b="0" i="0" u="none" strike="noStrike" kern="0" cap="none" spc="0" normalizeH="0" baseline="0" noProof="0" dirty="0">
                    <a:ln>
                      <a:noFill/>
                    </a:ln>
                    <a:solidFill>
                      <a:sysClr val="windowText" lastClr="000000"/>
                    </a:solidFill>
                    <a:effectLst/>
                    <a:uLnTx/>
                    <a:uFillTx/>
                    <a:latin typeface="Legacy Serif ITC Pro Book" pitchFamily="50" charset="0"/>
                    <a:ea typeface="Calibri" panose="020F0502020204030204" pitchFamily="34" charset="0"/>
                    <a:cs typeface="Times New Roman" panose="02020603050405020304" pitchFamily="18" charset="0"/>
                  </a:rPr>
                  <a:t> </a:t>
                </a:r>
                <a:endParaRPr kumimoji="0" lang="fr-FR" sz="1100" b="0" i="0" u="none" strike="noStrike" kern="0" cap="none" spc="0" normalizeH="0" baseline="0" noProof="0" dirty="0">
                  <a:ln>
                    <a:noFill/>
                  </a:ln>
                  <a:solidFill>
                    <a:sysClr val="windowText" lastClr="000000"/>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algn="ctr">
                  <a:lnSpc>
                    <a:spcPct val="115000"/>
                  </a:lnSpc>
                  <a:defRPr/>
                </a:pPr>
                <a:r>
                  <a:rPr lang="fr-FR" sz="900" kern="0" dirty="0">
                    <a:solidFill>
                      <a:schemeClr val="bg1"/>
                    </a:solidFill>
                    <a:latin typeface="ITCLegacySerif LT Book" pitchFamily="50" charset="0"/>
                    <a:ea typeface="Calibri" panose="020F0502020204030204" pitchFamily="34" charset="0"/>
                    <a:cs typeface="Times New Roman" panose="02020603050405020304" pitchFamily="18" charset="0"/>
                  </a:rPr>
                  <a:t>Résultat opérationnel (ajusté)</a:t>
                </a:r>
                <a:endParaRPr kumimoji="0" lang="fr-FR" sz="1100" b="0" i="0" u="none" strike="noStrike" kern="0" cap="none" spc="0" normalizeH="0" baseline="0" noProof="0" dirty="0">
                  <a:ln>
                    <a:noFill/>
                  </a:ln>
                  <a:solidFill>
                    <a:schemeClr val="bg1"/>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grpSp>
        <p:grpSp>
          <p:nvGrpSpPr>
            <p:cNvPr id="129" name="Group 128">
              <a:extLst>
                <a:ext uri="{FF2B5EF4-FFF2-40B4-BE49-F238E27FC236}">
                  <a16:creationId xmlns:a16="http://schemas.microsoft.com/office/drawing/2014/main" id="{03476B99-50B4-46C1-B3E1-6463D9FD1DCC}"/>
                </a:ext>
              </a:extLst>
            </p:cNvPr>
            <p:cNvGrpSpPr/>
            <p:nvPr/>
          </p:nvGrpSpPr>
          <p:grpSpPr>
            <a:xfrm>
              <a:off x="4214191" y="0"/>
              <a:ext cx="1368000" cy="1368000"/>
              <a:chOff x="0" y="0"/>
              <a:chExt cx="1368000" cy="1368000"/>
            </a:xfrm>
          </p:grpSpPr>
          <p:sp>
            <p:nvSpPr>
              <p:cNvPr id="160" name="Rectangle: Rounded Corners 159">
                <a:extLst>
                  <a:ext uri="{FF2B5EF4-FFF2-40B4-BE49-F238E27FC236}">
                    <a16:creationId xmlns:a16="http://schemas.microsoft.com/office/drawing/2014/main" id="{C187536C-58B6-49C0-A91C-8C50F30DB0EB}"/>
                  </a:ext>
                </a:extLst>
              </p:cNvPr>
              <p:cNvSpPr/>
              <p:nvPr/>
            </p:nvSpPr>
            <p:spPr>
              <a:xfrm>
                <a:off x="0" y="0"/>
                <a:ext cx="1368000" cy="1368000"/>
              </a:xfrm>
              <a:prstGeom prst="roundRect">
                <a:avLst>
                  <a:gd name="adj" fmla="val 4667"/>
                </a:avLst>
              </a:prstGeom>
              <a:solidFill>
                <a:schemeClr val="accent4"/>
              </a:solidFill>
              <a:ln w="25400" cap="flat" cmpd="sng" algn="ctr">
                <a:noFill/>
                <a:prstDash val="solid"/>
              </a:ln>
              <a:effectLst/>
            </p:spPr>
            <p:txBody>
              <a:bodyPr rot="0" spcFirstLastPara="0" vert="horz" wrap="square" lIns="36000" tIns="36000" rIns="36000" bIns="3600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ysClr val="window" lastClr="FFFFFF"/>
                  </a:solidFill>
                  <a:effectLst/>
                  <a:uLnTx/>
                  <a:uFillTx/>
                  <a:latin typeface="Calibri"/>
                  <a:ea typeface="+mn-ea"/>
                  <a:cs typeface="+mn-cs"/>
                </a:endParaRPr>
              </a:p>
            </p:txBody>
          </p:sp>
          <p:sp>
            <p:nvSpPr>
              <p:cNvPr id="161" name="Text Box 2">
                <a:extLst>
                  <a:ext uri="{FF2B5EF4-FFF2-40B4-BE49-F238E27FC236}">
                    <a16:creationId xmlns:a16="http://schemas.microsoft.com/office/drawing/2014/main" id="{CEFED8C1-9B0F-43AC-A37B-17F104DB15EA}"/>
                  </a:ext>
                </a:extLst>
              </p:cNvPr>
              <p:cNvSpPr txBox="1">
                <a:spLocks noChangeArrowheads="1"/>
              </p:cNvSpPr>
              <p:nvPr/>
            </p:nvSpPr>
            <p:spPr bwMode="auto">
              <a:xfrm>
                <a:off x="0" y="0"/>
                <a:ext cx="1367790" cy="1311910"/>
              </a:xfrm>
              <a:prstGeom prst="rect">
                <a:avLst/>
              </a:prstGeom>
              <a:noFill/>
              <a:ln w="9525">
                <a:noFill/>
                <a:miter lim="800000"/>
                <a:headEnd/>
                <a:tailEnd/>
              </a:ln>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72000" tIns="72000" rIns="72000" bIns="72000" anchor="t" anchorCtr="0">
                <a:noAutofit/>
              </a:bodyPr>
              <a:lstStyle/>
              <a:p>
                <a:pPr marL="0" marR="0" lvl="0" indent="0" algn="ctr" defTabSz="914400" eaLnBrk="1" fontAlgn="auto" latinLnBrk="0" hangingPunct="1">
                  <a:lnSpc>
                    <a:spcPct val="115000"/>
                  </a:lnSpc>
                  <a:spcBef>
                    <a:spcPts val="600"/>
                  </a:spcBef>
                  <a:spcAft>
                    <a:spcPts val="0"/>
                  </a:spcAft>
                  <a:buClrTx/>
                  <a:buSzTx/>
                  <a:buFontTx/>
                  <a:buNone/>
                  <a:tabLst/>
                  <a:defRPr/>
                </a:pPr>
                <a:r>
                  <a:rPr kumimoji="0" lang="fr-FR" sz="3600" b="0" u="none" strike="noStrike" kern="0" cap="none" spc="0" normalizeH="0" baseline="0" noProof="0" dirty="0">
                    <a:ln>
                      <a:noFill/>
                    </a:ln>
                    <a:solidFill>
                      <a:schemeClr val="accent1"/>
                    </a:solidFill>
                    <a:effectLst/>
                    <a:uLnTx/>
                    <a:uFillTx/>
                    <a:latin typeface="Legacy Serif ITC Pro Medium" pitchFamily="50" charset="0"/>
                    <a:ea typeface="Calibri" panose="020F0502020204030204" pitchFamily="34" charset="0"/>
                    <a:cs typeface="Times New Roman" panose="02020603050405020304" pitchFamily="18" charset="0"/>
                  </a:rPr>
                  <a:t>1857</a:t>
                </a:r>
                <a:endParaRPr kumimoji="0" lang="fr-FR" sz="1100" b="0" u="none" strike="noStrike" kern="0" cap="none" spc="0" normalizeH="0" baseline="0" noProof="0" dirty="0">
                  <a:ln>
                    <a:noFill/>
                  </a:ln>
                  <a:solidFill>
                    <a:schemeClr val="accent1"/>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ctr" defTabSz="914400" eaLnBrk="1" fontAlgn="auto" latinLnBrk="0" hangingPunct="1">
                  <a:lnSpc>
                    <a:spcPct val="115000"/>
                  </a:lnSpc>
                  <a:spcBef>
                    <a:spcPts val="600"/>
                  </a:spcBef>
                  <a:spcAft>
                    <a:spcPts val="1000"/>
                  </a:spcAft>
                  <a:buClrTx/>
                  <a:buSzTx/>
                  <a:buFontTx/>
                  <a:buNone/>
                  <a:tabLst/>
                  <a:defRPr/>
                </a:pPr>
                <a:r>
                  <a:rPr kumimoji="0" lang="fr-FR" sz="900" b="0" i="0" u="none" strike="noStrike" kern="0" cap="none" spc="0" normalizeH="0" baseline="0" noProof="0" dirty="0">
                    <a:ln>
                      <a:noFill/>
                    </a:ln>
                    <a:solidFill>
                      <a:srgbClr val="000000"/>
                    </a:solidFill>
                    <a:effectLst/>
                    <a:uLnTx/>
                    <a:uFillTx/>
                    <a:latin typeface="Legacy Serif ITC Pro Book" pitchFamily="50" charset="0"/>
                    <a:ea typeface="Calibri" panose="020F0502020204030204" pitchFamily="34" charset="0"/>
                    <a:cs typeface="Times New Roman" panose="02020603050405020304" pitchFamily="18" charset="0"/>
                  </a:rPr>
                  <a:t>Fondée en tant que </a:t>
                </a:r>
                <a:r>
                  <a:rPr kumimoji="0" lang="fr-FR" sz="900" b="0" i="0" u="none" strike="noStrike" kern="0" cap="none" spc="0" normalizeH="0" baseline="0" noProof="0" dirty="0" err="1">
                    <a:ln>
                      <a:noFill/>
                    </a:ln>
                    <a:solidFill>
                      <a:srgbClr val="000000"/>
                    </a:solidFill>
                    <a:effectLst/>
                    <a:uLnTx/>
                    <a:uFillTx/>
                    <a:latin typeface="Legacy Serif ITC Pro Book" pitchFamily="50" charset="0"/>
                    <a:ea typeface="Calibri" panose="020F0502020204030204" pitchFamily="34" charset="0"/>
                    <a:cs typeface="Times New Roman" panose="02020603050405020304" pitchFamily="18" charset="0"/>
                  </a:rPr>
                  <a:t>Schweizerische</a:t>
                </a:r>
                <a:r>
                  <a:rPr kumimoji="0" lang="fr-FR" sz="900" b="0" i="0" u="none" strike="noStrike" kern="0" cap="none" spc="0" normalizeH="0" baseline="0" noProof="0" dirty="0">
                    <a:ln>
                      <a:noFill/>
                    </a:ln>
                    <a:solidFill>
                      <a:srgbClr val="000000"/>
                    </a:solidFill>
                    <a:effectLst/>
                    <a:uLnTx/>
                    <a:uFillTx/>
                    <a:latin typeface="Legacy Serif ITC Pro Book" pitchFamily="50" charset="0"/>
                    <a:ea typeface="Calibri" panose="020F0502020204030204" pitchFamily="34" charset="0"/>
                    <a:cs typeface="Times New Roman" panose="02020603050405020304" pitchFamily="18" charset="0"/>
                  </a:rPr>
                  <a:t> </a:t>
                </a:r>
                <a:r>
                  <a:rPr kumimoji="0" lang="fr-FR" sz="900" b="0" i="0" u="none" strike="noStrike" kern="0" cap="none" spc="0" normalizeH="0" baseline="0" noProof="0" dirty="0" err="1">
                    <a:ln>
                      <a:noFill/>
                    </a:ln>
                    <a:solidFill>
                      <a:srgbClr val="000000"/>
                    </a:solidFill>
                    <a:effectLst/>
                    <a:uLnTx/>
                    <a:uFillTx/>
                    <a:latin typeface="Legacy Serif ITC Pro Book" pitchFamily="50" charset="0"/>
                    <a:ea typeface="Calibri" panose="020F0502020204030204" pitchFamily="34" charset="0"/>
                    <a:cs typeface="Times New Roman" panose="02020603050405020304" pitchFamily="18" charset="0"/>
                  </a:rPr>
                  <a:t>Rentenanstalt</a:t>
                </a:r>
                <a:endParaRPr kumimoji="0" lang="fr-FR" sz="11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grpSp>
        <p:grpSp>
          <p:nvGrpSpPr>
            <p:cNvPr id="130" name="Group 129">
              <a:extLst>
                <a:ext uri="{FF2B5EF4-FFF2-40B4-BE49-F238E27FC236}">
                  <a16:creationId xmlns:a16="http://schemas.microsoft.com/office/drawing/2014/main" id="{767E6960-B6BE-489C-9EFB-33CC0DE82E55}"/>
                </a:ext>
              </a:extLst>
            </p:cNvPr>
            <p:cNvGrpSpPr/>
            <p:nvPr/>
          </p:nvGrpSpPr>
          <p:grpSpPr>
            <a:xfrm>
              <a:off x="0" y="1407381"/>
              <a:ext cx="1368000" cy="1368000"/>
              <a:chOff x="0" y="0"/>
              <a:chExt cx="1368000" cy="1368000"/>
            </a:xfrm>
          </p:grpSpPr>
          <p:sp>
            <p:nvSpPr>
              <p:cNvPr id="158" name="Rectangle: Rounded Corners 157">
                <a:extLst>
                  <a:ext uri="{FF2B5EF4-FFF2-40B4-BE49-F238E27FC236}">
                    <a16:creationId xmlns:a16="http://schemas.microsoft.com/office/drawing/2014/main" id="{3939754D-543B-4890-AECB-728D630EBF6D}"/>
                  </a:ext>
                </a:extLst>
              </p:cNvPr>
              <p:cNvSpPr/>
              <p:nvPr/>
            </p:nvSpPr>
            <p:spPr>
              <a:xfrm>
                <a:off x="0" y="0"/>
                <a:ext cx="1368000" cy="1368000"/>
              </a:xfrm>
              <a:prstGeom prst="roundRect">
                <a:avLst>
                  <a:gd name="adj" fmla="val 4667"/>
                </a:avLst>
              </a:prstGeom>
              <a:solidFill>
                <a:schemeClr val="accent1"/>
              </a:solidFill>
              <a:ln w="25400" cap="flat" cmpd="sng" algn="ctr">
                <a:noFill/>
                <a:prstDash val="solid"/>
              </a:ln>
              <a:effectLst/>
            </p:spPr>
            <p:txBody>
              <a:bodyPr rot="0" spcFirstLastPara="0" vert="horz" wrap="square" lIns="36000" tIns="36000" rIns="36000" bIns="3600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ysClr val="window" lastClr="FFFFFF"/>
                  </a:solidFill>
                  <a:effectLst/>
                  <a:uLnTx/>
                  <a:uFillTx/>
                  <a:latin typeface="Calibri"/>
                  <a:ea typeface="+mn-ea"/>
                  <a:cs typeface="+mn-cs"/>
                </a:endParaRPr>
              </a:p>
            </p:txBody>
          </p:sp>
          <p:sp>
            <p:nvSpPr>
              <p:cNvPr id="159" name="Text Box 2">
                <a:extLst>
                  <a:ext uri="{FF2B5EF4-FFF2-40B4-BE49-F238E27FC236}">
                    <a16:creationId xmlns:a16="http://schemas.microsoft.com/office/drawing/2014/main" id="{F40821CF-03C5-40E2-8FF2-EDB3A163793E}"/>
                  </a:ext>
                </a:extLst>
              </p:cNvPr>
              <p:cNvSpPr txBox="1">
                <a:spLocks noChangeArrowheads="1"/>
              </p:cNvSpPr>
              <p:nvPr/>
            </p:nvSpPr>
            <p:spPr bwMode="auto">
              <a:xfrm>
                <a:off x="0" y="0"/>
                <a:ext cx="1367790" cy="1319530"/>
              </a:xfrm>
              <a:prstGeom prst="rect">
                <a:avLst/>
              </a:prstGeom>
              <a:noFill/>
              <a:ln w="9525">
                <a:noFill/>
                <a:miter lim="800000"/>
                <a:headEnd/>
                <a:tailEnd/>
              </a:ln>
              <a:extLst>
                <a:ext uri="{909E8E84-426E-40DD-AFC4-6F175D3DCCD1}">
                  <a14:hiddenFill xmlns:a14="http://schemas.microsoft.com/office/drawing/2010/main">
                    <a:solidFill>
                      <a:srgbClr val="15847B"/>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72000" tIns="72000" rIns="72000" bIns="72000" anchor="t" anchorCtr="0">
                <a:noAutofit/>
              </a:bodyPr>
              <a:lstStyle/>
              <a:p>
                <a:pPr marL="0" marR="0" lvl="0" indent="0" algn="ctr" defTabSz="914400" eaLnBrk="1" fontAlgn="auto" latinLnBrk="0" hangingPunct="1">
                  <a:lnSpc>
                    <a:spcPct val="115000"/>
                  </a:lnSpc>
                  <a:spcBef>
                    <a:spcPts val="300"/>
                  </a:spcBef>
                  <a:spcAft>
                    <a:spcPts val="0"/>
                  </a:spcAft>
                  <a:buClrTx/>
                  <a:buSzTx/>
                  <a:buFontTx/>
                  <a:buNone/>
                  <a:tabLst/>
                  <a:defRPr/>
                </a:pPr>
                <a:r>
                  <a:rPr kumimoji="0" lang="fr-FR" sz="900" b="0" i="0" u="none" strike="noStrike" kern="0" cap="none" spc="0" normalizeH="0" baseline="0" noProof="0" dirty="0">
                    <a:ln>
                      <a:noFill/>
                    </a:ln>
                    <a:solidFill>
                      <a:srgbClr val="FFFFFF"/>
                    </a:solidFill>
                    <a:effectLst/>
                    <a:uLnTx/>
                    <a:uFillTx/>
                    <a:latin typeface="Legacy Serif ITC Pro Book" pitchFamily="50" charset="0"/>
                    <a:ea typeface="Calibri" panose="020F0502020204030204" pitchFamily="34" charset="0"/>
                    <a:cs typeface="Times New Roman" panose="02020603050405020304" pitchFamily="18" charset="0"/>
                  </a:rPr>
                  <a:t>Cotée à la </a:t>
                </a:r>
              </a:p>
              <a:p>
                <a:pPr marL="0" marR="0" lvl="0" indent="0" algn="ctr" defTabSz="914400" eaLnBrk="1" fontAlgn="auto" latinLnBrk="0" hangingPunct="1">
                  <a:spcBef>
                    <a:spcPts val="0"/>
                  </a:spcBef>
                  <a:spcAft>
                    <a:spcPts val="0"/>
                  </a:spcAft>
                  <a:buClrTx/>
                  <a:buSzTx/>
                  <a:buFontTx/>
                  <a:buNone/>
                  <a:tabLst/>
                  <a:defRPr/>
                </a:pPr>
                <a:r>
                  <a:rPr kumimoji="0" lang="fr-FR" sz="3800" b="0" i="1" u="none" strike="noStrike" kern="0" cap="none" spc="0" normalizeH="0" baseline="0" noProof="0" dirty="0">
                    <a:ln>
                      <a:noFill/>
                    </a:ln>
                    <a:solidFill>
                      <a:srgbClr val="FFFFFF"/>
                    </a:solidFill>
                    <a:effectLst/>
                    <a:uLnTx/>
                    <a:uFillTx/>
                    <a:latin typeface="Legacy Serif ITC Pro Medium" pitchFamily="50" charset="0"/>
                    <a:ea typeface="Calibri" panose="020F0502020204030204" pitchFamily="34" charset="0"/>
                    <a:cs typeface="Times New Roman" panose="02020603050405020304" pitchFamily="18" charset="0"/>
                  </a:rPr>
                  <a:t>SIX</a:t>
                </a:r>
                <a:endParaRPr kumimoji="0" lang="fr-FR" sz="1100" b="0" i="0" u="none" strike="noStrike" kern="0" cap="none" spc="0" normalizeH="0" baseline="0" noProof="0" dirty="0">
                  <a:ln>
                    <a:noFill/>
                  </a:ln>
                  <a:solidFill>
                    <a:srgbClr val="FFFFFF"/>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lvl="0" algn="ctr">
                  <a:lnSpc>
                    <a:spcPct val="115000"/>
                  </a:lnSpc>
                  <a:defRPr/>
                </a:pPr>
                <a:r>
                  <a:rPr lang="fr-FR" sz="900" kern="0" dirty="0">
                    <a:solidFill>
                      <a:schemeClr val="bg1"/>
                    </a:solidFill>
                    <a:latin typeface="Legacy Serif ITC Pro Book" pitchFamily="50" charset="0"/>
                    <a:ea typeface="Calibri" panose="020F0502020204030204" pitchFamily="34" charset="0"/>
                    <a:cs typeface="Times New Roman" panose="02020603050405020304" pitchFamily="18" charset="0"/>
                  </a:rPr>
                  <a:t>Bourse suisse </a:t>
                </a:r>
              </a:p>
              <a:p>
                <a:pPr lvl="0" algn="ctr">
                  <a:lnSpc>
                    <a:spcPct val="115000"/>
                  </a:lnSpc>
                  <a:defRPr/>
                </a:pPr>
                <a:r>
                  <a:rPr lang="fr-FR" sz="900" kern="0" spc="-50" dirty="0">
                    <a:solidFill>
                      <a:schemeClr val="bg1"/>
                    </a:solidFill>
                    <a:latin typeface="Legacy Serif ITC Pro Book" pitchFamily="50" charset="0"/>
                    <a:ea typeface="Calibri" panose="020F0502020204030204" pitchFamily="34" charset="0"/>
                    <a:cs typeface="Times New Roman" panose="02020603050405020304" pitchFamily="18" charset="0"/>
                  </a:rPr>
                  <a:t>(comprise dans l’indice du marché suisse SMI)</a:t>
                </a:r>
                <a:endParaRPr kumimoji="0" lang="fr-FR" sz="1100" b="0" i="0" u="none" strike="noStrike" kern="0" cap="none" spc="-50" normalizeH="0" noProof="0" dirty="0">
                  <a:ln>
                    <a:noFill/>
                  </a:ln>
                  <a:solidFill>
                    <a:schemeClr val="bg1"/>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grpSp>
        <p:sp>
          <p:nvSpPr>
            <p:cNvPr id="131" name="Text Box 2">
              <a:extLst>
                <a:ext uri="{FF2B5EF4-FFF2-40B4-BE49-F238E27FC236}">
                  <a16:creationId xmlns:a16="http://schemas.microsoft.com/office/drawing/2014/main" id="{9C125922-40D2-4530-AD37-53407B8CD012}"/>
                </a:ext>
              </a:extLst>
            </p:cNvPr>
            <p:cNvSpPr txBox="1">
              <a:spLocks noChangeArrowheads="1"/>
            </p:cNvSpPr>
            <p:nvPr/>
          </p:nvSpPr>
          <p:spPr bwMode="auto">
            <a:xfrm>
              <a:off x="1407380" y="1407381"/>
              <a:ext cx="1367790" cy="1367790"/>
            </a:xfrm>
            <a:prstGeom prst="rect">
              <a:avLst/>
            </a:prstGeom>
            <a:noFill/>
            <a:ln w="9525">
              <a:noFill/>
              <a:miter lim="800000"/>
              <a:headEnd/>
              <a:tailEnd/>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72000" tIns="72000" rIns="72000" bIns="72000" anchor="t" anchorCtr="0">
              <a:noAutofit/>
            </a:bodyPr>
            <a:lstStyle/>
            <a:p>
              <a:pPr marL="0" marR="0" lvl="0" indent="0" algn="ctr" defTabSz="914400" eaLnBrk="1" fontAlgn="auto" latinLnBrk="0" hangingPunct="1">
                <a:lnSpc>
                  <a:spcPct val="115000"/>
                </a:lnSpc>
                <a:spcBef>
                  <a:spcPts val="1200"/>
                </a:spcBef>
                <a:spcAft>
                  <a:spcPts val="0"/>
                </a:spcAft>
                <a:buClrTx/>
                <a:buSzTx/>
                <a:buFontTx/>
                <a:buNone/>
                <a:tabLst/>
                <a:defRPr/>
              </a:pPr>
              <a:r>
                <a:rPr kumimoji="0" lang="fr-FR" sz="2800" b="0" u="none" strike="noStrike" kern="0" cap="none" spc="-100" normalizeH="0" baseline="0" noProof="0" dirty="0">
                  <a:ln>
                    <a:noFill/>
                  </a:ln>
                  <a:solidFill>
                    <a:schemeClr val="accent1"/>
                  </a:solidFill>
                  <a:effectLst/>
                  <a:uLnTx/>
                  <a:uFillTx/>
                  <a:latin typeface="Legacy Serif ITC Pro Medium" pitchFamily="50" charset="0"/>
                  <a:ea typeface="Calibri" panose="020F0502020204030204" pitchFamily="34" charset="0"/>
                  <a:cs typeface="Times New Roman" panose="02020603050405020304" pitchFamily="18" charset="0"/>
                </a:rPr>
                <a:t>19.8 </a:t>
              </a:r>
              <a:r>
                <a:rPr kumimoji="0" lang="fr-FR" sz="2400" b="0" u="none" strike="noStrike" kern="0" cap="none" spc="-100" normalizeH="0" baseline="0" noProof="0" dirty="0" err="1">
                  <a:ln>
                    <a:noFill/>
                  </a:ln>
                  <a:solidFill>
                    <a:schemeClr val="accent1"/>
                  </a:solidFill>
                  <a:effectLst/>
                  <a:uLnTx/>
                  <a:uFillTx/>
                  <a:latin typeface="Legacy Serif ITC Pro Medium" pitchFamily="50" charset="0"/>
                  <a:ea typeface="Calibri" panose="020F0502020204030204" pitchFamily="34" charset="0"/>
                  <a:cs typeface="Times New Roman" panose="02020603050405020304" pitchFamily="18" charset="0"/>
                </a:rPr>
                <a:t>mia</a:t>
              </a:r>
              <a:endParaRPr kumimoji="0" lang="fr-FR" sz="1100" b="0" u="none" strike="noStrike" kern="0" cap="none" spc="0" normalizeH="0" baseline="0" noProof="0" dirty="0">
                <a:ln>
                  <a:noFill/>
                </a:ln>
                <a:solidFill>
                  <a:schemeClr val="accent1"/>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ctr" defTabSz="914400" eaLnBrk="1" fontAlgn="auto" latinLnBrk="0" hangingPunct="1">
                <a:lnSpc>
                  <a:spcPct val="115000"/>
                </a:lnSpc>
                <a:spcBef>
                  <a:spcPts val="0"/>
                </a:spcBef>
                <a:spcAft>
                  <a:spcPts val="0"/>
                </a:spcAft>
                <a:buClrTx/>
                <a:buSzTx/>
                <a:buFontTx/>
                <a:buNone/>
                <a:tabLst/>
                <a:defRPr/>
              </a:pPr>
              <a:r>
                <a:rPr kumimoji="0" lang="fr-FR" sz="1100" b="0" i="0" u="none" strike="noStrike" kern="0" cap="none" spc="0" normalizeH="0" baseline="0" noProof="0" dirty="0">
                  <a:ln>
                    <a:noFill/>
                  </a:ln>
                  <a:solidFill>
                    <a:sysClr val="windowText" lastClr="000000"/>
                  </a:solidFill>
                  <a:effectLst/>
                  <a:uLnTx/>
                  <a:uFillTx/>
                  <a:latin typeface="Legacy Serif ITC Pro Book" pitchFamily="50" charset="0"/>
                  <a:ea typeface="Calibri" panose="020F0502020204030204" pitchFamily="34" charset="0"/>
                  <a:cs typeface="Times New Roman" panose="02020603050405020304" pitchFamily="18" charset="0"/>
                </a:rPr>
                <a:t> </a:t>
              </a:r>
              <a:endParaRPr kumimoji="0" lang="fr-FR" sz="1100" b="0" i="0" u="none" strike="noStrike" kern="0" cap="none" spc="0" normalizeH="0" baseline="0" noProof="0" dirty="0">
                <a:ln>
                  <a:noFill/>
                </a:ln>
                <a:solidFill>
                  <a:sysClr val="windowText" lastClr="000000"/>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lvl="0" algn="ctr">
                <a:lnSpc>
                  <a:spcPct val="115000"/>
                </a:lnSpc>
                <a:defRPr/>
              </a:pPr>
              <a:r>
                <a:rPr lang="fr-FR" sz="900" kern="0" dirty="0">
                  <a:solidFill>
                    <a:sysClr val="windowText" lastClr="000000"/>
                  </a:solidFill>
                  <a:latin typeface="Legacy Serif ITC Pro Book" pitchFamily="50" charset="0"/>
                  <a:ea typeface="Calibri" panose="020F0502020204030204" pitchFamily="34" charset="0"/>
                  <a:cs typeface="Times New Roman" panose="02020603050405020304" pitchFamily="18" charset="0"/>
                </a:rPr>
                <a:t>Primes brutes émises, frais de police et </a:t>
              </a:r>
              <a:br>
                <a:rPr lang="fr-FR" sz="900" kern="0" dirty="0">
                  <a:solidFill>
                    <a:sysClr val="windowText" lastClr="000000"/>
                  </a:solidFill>
                  <a:latin typeface="Legacy Serif ITC Pro Book" pitchFamily="50" charset="0"/>
                  <a:ea typeface="Calibri" panose="020F0502020204030204" pitchFamily="34" charset="0"/>
                  <a:cs typeface="Times New Roman" panose="02020603050405020304" pitchFamily="18" charset="0"/>
                </a:rPr>
              </a:br>
              <a:r>
                <a:rPr lang="fr-FR" sz="900" kern="0" dirty="0">
                  <a:solidFill>
                    <a:sysClr val="windowText" lastClr="000000"/>
                  </a:solidFill>
                  <a:latin typeface="Legacy Serif ITC Pro Book" pitchFamily="50" charset="0"/>
                  <a:ea typeface="Calibri" panose="020F0502020204030204" pitchFamily="34" charset="0"/>
                  <a:cs typeface="Times New Roman" panose="02020603050405020304" pitchFamily="18" charset="0"/>
                </a:rPr>
                <a:t>dépôts reçus</a:t>
              </a:r>
              <a:endParaRPr kumimoji="0" lang="fr-FR" sz="1100" b="0" i="0" u="none" strike="noStrike" kern="0" cap="none" spc="0" normalizeH="0" baseline="0" noProof="0" dirty="0">
                <a:ln>
                  <a:noFill/>
                </a:ln>
                <a:solidFill>
                  <a:sysClr val="windowText" lastClr="000000"/>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grpSp>
          <p:nvGrpSpPr>
            <p:cNvPr id="132" name="Group 131">
              <a:extLst>
                <a:ext uri="{FF2B5EF4-FFF2-40B4-BE49-F238E27FC236}">
                  <a16:creationId xmlns:a16="http://schemas.microsoft.com/office/drawing/2014/main" id="{D4052F7E-6917-409E-B243-A87F1025D848}"/>
                </a:ext>
              </a:extLst>
            </p:cNvPr>
            <p:cNvGrpSpPr/>
            <p:nvPr/>
          </p:nvGrpSpPr>
          <p:grpSpPr>
            <a:xfrm>
              <a:off x="4214191" y="1407381"/>
              <a:ext cx="1368000" cy="1368000"/>
              <a:chOff x="0" y="0"/>
              <a:chExt cx="1368000" cy="1368000"/>
            </a:xfrm>
          </p:grpSpPr>
          <p:sp>
            <p:nvSpPr>
              <p:cNvPr id="156" name="Rectangle: Rounded Corners 155">
                <a:extLst>
                  <a:ext uri="{FF2B5EF4-FFF2-40B4-BE49-F238E27FC236}">
                    <a16:creationId xmlns:a16="http://schemas.microsoft.com/office/drawing/2014/main" id="{343DCBAB-3C57-42DC-A000-B4E02756BFD0}"/>
                  </a:ext>
                </a:extLst>
              </p:cNvPr>
              <p:cNvSpPr/>
              <p:nvPr/>
            </p:nvSpPr>
            <p:spPr>
              <a:xfrm>
                <a:off x="0" y="0"/>
                <a:ext cx="1368000" cy="1368000"/>
              </a:xfrm>
              <a:prstGeom prst="roundRect">
                <a:avLst>
                  <a:gd name="adj" fmla="val 4667"/>
                </a:avLst>
              </a:prstGeom>
              <a:solidFill>
                <a:schemeClr val="accent3"/>
              </a:solidFill>
              <a:ln w="25400" cap="flat" cmpd="sng" algn="ctr">
                <a:noFill/>
                <a:prstDash val="solid"/>
              </a:ln>
              <a:effectLst/>
            </p:spPr>
            <p:txBody>
              <a:bodyPr rot="0" spcFirstLastPara="0" vert="horz" wrap="square" lIns="36000" tIns="36000" rIns="36000" bIns="3600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ysClr val="window" lastClr="FFFFFF"/>
                  </a:solidFill>
                  <a:effectLst/>
                  <a:uLnTx/>
                  <a:uFillTx/>
                  <a:latin typeface="Calibri"/>
                  <a:ea typeface="+mn-ea"/>
                  <a:cs typeface="+mn-cs"/>
                </a:endParaRPr>
              </a:p>
            </p:txBody>
          </p:sp>
          <p:sp>
            <p:nvSpPr>
              <p:cNvPr id="157" name="Text Box 2">
                <a:extLst>
                  <a:ext uri="{FF2B5EF4-FFF2-40B4-BE49-F238E27FC236}">
                    <a16:creationId xmlns:a16="http://schemas.microsoft.com/office/drawing/2014/main" id="{16DC8BE3-85EC-40B3-8E6D-E19BC66A58C4}"/>
                  </a:ext>
                </a:extLst>
              </p:cNvPr>
              <p:cNvSpPr txBox="1">
                <a:spLocks noChangeArrowheads="1"/>
              </p:cNvSpPr>
              <p:nvPr/>
            </p:nvSpPr>
            <p:spPr bwMode="auto">
              <a:xfrm>
                <a:off x="0" y="0"/>
                <a:ext cx="1367790" cy="1318895"/>
              </a:xfrm>
              <a:prstGeom prst="rect">
                <a:avLst/>
              </a:prstGeom>
              <a:noFill/>
              <a:ln w="9525">
                <a:noFill/>
                <a:miter lim="800000"/>
                <a:headEnd/>
                <a:tailEnd/>
              </a:ln>
              <a:extLst>
                <a:ext uri="{909E8E84-426E-40DD-AFC4-6F175D3DCCD1}">
                  <a14:hiddenFill xmlns:a14="http://schemas.microsoft.com/office/drawing/2010/main">
                    <a:solidFill>
                      <a:schemeClr val="accent6"/>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72000" tIns="72000" rIns="72000" bIns="72000" anchor="t" anchorCtr="0">
                <a:noAutofit/>
              </a:bodyPr>
              <a:lstStyle/>
              <a:p>
                <a:pPr marL="0" marR="0" lvl="0" indent="0" algn="ctr" defTabSz="914400" eaLnBrk="1" fontAlgn="auto" latinLnBrk="0" hangingPunct="1">
                  <a:lnSpc>
                    <a:spcPct val="115000"/>
                  </a:lnSpc>
                  <a:spcBef>
                    <a:spcPts val="1200"/>
                  </a:spcBef>
                  <a:spcAft>
                    <a:spcPts val="0"/>
                  </a:spcAft>
                  <a:buClrTx/>
                  <a:buSzTx/>
                  <a:buFontTx/>
                  <a:buNone/>
                  <a:tabLst/>
                  <a:defRPr/>
                </a:pPr>
                <a:r>
                  <a:rPr kumimoji="0" lang="fr-FR" sz="2800" b="0" u="none" strike="noStrike" kern="0" cap="none" spc="-100" normalizeH="0" baseline="0" noProof="0" dirty="0">
                    <a:ln>
                      <a:noFill/>
                    </a:ln>
                    <a:solidFill>
                      <a:srgbClr val="FFFFFF"/>
                    </a:solidFill>
                    <a:effectLst/>
                    <a:uLnTx/>
                    <a:uFillTx/>
                    <a:latin typeface="Legacy Serif ITC Pro Medium" pitchFamily="50" charset="0"/>
                    <a:ea typeface="Calibri" panose="020F0502020204030204" pitchFamily="34" charset="0"/>
                    <a:cs typeface="Times New Roman" panose="02020603050405020304" pitchFamily="18" charset="0"/>
                  </a:rPr>
                  <a:t>112 </a:t>
                </a:r>
                <a:r>
                  <a:rPr kumimoji="0" lang="fr-FR" sz="2400" b="0" u="none" strike="noStrike" kern="0" cap="none" spc="-100" normalizeH="0" baseline="0" noProof="0" dirty="0" err="1">
                    <a:ln>
                      <a:noFill/>
                    </a:ln>
                    <a:solidFill>
                      <a:srgbClr val="FFFFFF"/>
                    </a:solidFill>
                    <a:effectLst/>
                    <a:uLnTx/>
                    <a:uFillTx/>
                    <a:latin typeface="Legacy Serif ITC Pro Medium" pitchFamily="50" charset="0"/>
                    <a:ea typeface="Calibri" panose="020F0502020204030204" pitchFamily="34" charset="0"/>
                    <a:cs typeface="Times New Roman" panose="02020603050405020304" pitchFamily="18" charset="0"/>
                  </a:rPr>
                  <a:t>mia</a:t>
                </a:r>
                <a:endParaRPr kumimoji="0" lang="fr-FR" sz="1100" b="0" u="none" strike="noStrike" kern="0" cap="none" spc="0" normalizeH="0" baseline="0" noProof="0" dirty="0">
                  <a:ln>
                    <a:noFill/>
                  </a:ln>
                  <a:solidFill>
                    <a:srgbClr val="FFFFFF"/>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ctr" defTabSz="914400" eaLnBrk="1" fontAlgn="auto" latinLnBrk="0" hangingPunct="1">
                  <a:lnSpc>
                    <a:spcPct val="115000"/>
                  </a:lnSpc>
                  <a:spcBef>
                    <a:spcPts val="0"/>
                  </a:spcBef>
                  <a:spcAft>
                    <a:spcPts val="0"/>
                  </a:spcAft>
                  <a:buClrTx/>
                  <a:buSzTx/>
                  <a:buFontTx/>
                  <a:buNone/>
                  <a:tabLst/>
                  <a:defRPr/>
                </a:pPr>
                <a:r>
                  <a:rPr kumimoji="0" lang="fr-FR" sz="1100" b="0" i="0" u="none" strike="noStrike" kern="0" cap="none" spc="0" normalizeH="0" baseline="0" noProof="0" dirty="0">
                    <a:ln>
                      <a:noFill/>
                    </a:ln>
                    <a:solidFill>
                      <a:srgbClr val="000000"/>
                    </a:solidFill>
                    <a:effectLst/>
                    <a:uLnTx/>
                    <a:uFillTx/>
                    <a:latin typeface="Legacy Serif ITC Pro Book" pitchFamily="50" charset="0"/>
                    <a:ea typeface="Calibri" panose="020F0502020204030204" pitchFamily="34" charset="0"/>
                    <a:cs typeface="Times New Roman" panose="02020603050405020304" pitchFamily="18" charset="0"/>
                  </a:rPr>
                  <a:t> </a:t>
                </a:r>
                <a:endParaRPr kumimoji="0" lang="fr-FR" sz="1100" b="0" i="0" u="none" strike="noStrike" kern="0" cap="none" spc="0" normalizeH="0" baseline="0" noProof="0" dirty="0">
                  <a:ln>
                    <a:noFill/>
                  </a:ln>
                  <a:solidFill>
                    <a:sysClr val="windowText" lastClr="000000"/>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ctr" defTabSz="914400" eaLnBrk="1" fontAlgn="auto" latinLnBrk="0" hangingPunct="1">
                  <a:lnSpc>
                    <a:spcPct val="115000"/>
                  </a:lnSpc>
                  <a:spcBef>
                    <a:spcPts val="0"/>
                  </a:spcBef>
                  <a:spcAft>
                    <a:spcPts val="0"/>
                  </a:spcAft>
                  <a:buClrTx/>
                  <a:buSzTx/>
                  <a:buFontTx/>
                  <a:buNone/>
                  <a:tabLst/>
                  <a:defRPr/>
                </a:pPr>
                <a:r>
                  <a:rPr kumimoji="0" lang="fr-FR" sz="900" b="0" i="0" u="none" strike="noStrike" kern="0" cap="none" spc="0" normalizeH="0" baseline="0" noProof="0" dirty="0">
                    <a:ln>
                      <a:noFill/>
                    </a:ln>
                    <a:solidFill>
                      <a:srgbClr val="FFFFFF"/>
                    </a:solidFill>
                    <a:effectLst/>
                    <a:uLnTx/>
                    <a:uFillTx/>
                    <a:latin typeface="Legacy Serif ITC Pro Book" pitchFamily="50" charset="0"/>
                    <a:ea typeface="Calibri" panose="020F0502020204030204" pitchFamily="34" charset="0"/>
                    <a:cs typeface="Times New Roman" panose="02020603050405020304" pitchFamily="18" charset="0"/>
                  </a:rPr>
                  <a:t>Actifs gérés pour le compte de tiers</a:t>
                </a:r>
              </a:p>
            </p:txBody>
          </p:sp>
        </p:grpSp>
        <p:grpSp>
          <p:nvGrpSpPr>
            <p:cNvPr id="133" name="Group 132">
              <a:extLst>
                <a:ext uri="{FF2B5EF4-FFF2-40B4-BE49-F238E27FC236}">
                  <a16:creationId xmlns:a16="http://schemas.microsoft.com/office/drawing/2014/main" id="{959937D2-7B39-4B39-B5A8-69E99F59E8FD}"/>
                </a:ext>
              </a:extLst>
            </p:cNvPr>
            <p:cNvGrpSpPr/>
            <p:nvPr/>
          </p:nvGrpSpPr>
          <p:grpSpPr>
            <a:xfrm>
              <a:off x="0" y="2814761"/>
              <a:ext cx="1368000" cy="1368000"/>
              <a:chOff x="0" y="0"/>
              <a:chExt cx="1368000" cy="1368000"/>
            </a:xfrm>
          </p:grpSpPr>
          <p:sp>
            <p:nvSpPr>
              <p:cNvPr id="154" name="Rectangle: Rounded Corners 153">
                <a:extLst>
                  <a:ext uri="{FF2B5EF4-FFF2-40B4-BE49-F238E27FC236}">
                    <a16:creationId xmlns:a16="http://schemas.microsoft.com/office/drawing/2014/main" id="{43F0F8FB-8BEC-4D9E-AC3E-1FEEAD38C783}"/>
                  </a:ext>
                </a:extLst>
              </p:cNvPr>
              <p:cNvSpPr/>
              <p:nvPr/>
            </p:nvSpPr>
            <p:spPr>
              <a:xfrm>
                <a:off x="0" y="0"/>
                <a:ext cx="1368000" cy="1368000"/>
              </a:xfrm>
              <a:prstGeom prst="roundRect">
                <a:avLst>
                  <a:gd name="adj" fmla="val 4667"/>
                </a:avLst>
              </a:prstGeom>
              <a:solidFill>
                <a:sysClr val="window" lastClr="FFFFFF">
                  <a:lumMod val="75000"/>
                </a:sysClr>
              </a:solidFill>
              <a:ln w="25400" cap="flat" cmpd="sng" algn="ctr">
                <a:noFill/>
                <a:prstDash val="solid"/>
              </a:ln>
              <a:effectLst/>
            </p:spPr>
            <p:txBody>
              <a:bodyPr rot="0" spcFirstLastPara="0" vert="horz" wrap="square" lIns="36000" tIns="36000" rIns="36000" bIns="3600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ysClr val="window" lastClr="FFFFFF"/>
                  </a:solidFill>
                  <a:effectLst/>
                  <a:uLnTx/>
                  <a:uFillTx/>
                  <a:latin typeface="Calibri"/>
                  <a:ea typeface="+mn-ea"/>
                  <a:cs typeface="+mn-cs"/>
                </a:endParaRPr>
              </a:p>
            </p:txBody>
          </p:sp>
          <p:sp>
            <p:nvSpPr>
              <p:cNvPr id="155" name="Text Box 2">
                <a:extLst>
                  <a:ext uri="{FF2B5EF4-FFF2-40B4-BE49-F238E27FC236}">
                    <a16:creationId xmlns:a16="http://schemas.microsoft.com/office/drawing/2014/main" id="{09A1FD21-7BB6-417C-BF6A-8055FEDF6A46}"/>
                  </a:ext>
                </a:extLst>
              </p:cNvPr>
              <p:cNvSpPr txBox="1">
                <a:spLocks noChangeArrowheads="1"/>
              </p:cNvSpPr>
              <p:nvPr/>
            </p:nvSpPr>
            <p:spPr bwMode="auto">
              <a:xfrm>
                <a:off x="0" y="0"/>
                <a:ext cx="1367790" cy="130365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72000" tIns="72000" rIns="72000" bIns="72000" anchor="t" anchorCtr="0">
                <a:noAutofit/>
              </a:bodyPr>
              <a:lstStyle/>
              <a:p>
                <a:pPr marL="0" marR="0" lvl="0" indent="0" algn="ctr" defTabSz="914400" eaLnBrk="1" fontAlgn="auto" latinLnBrk="0" hangingPunct="1">
                  <a:lnSpc>
                    <a:spcPct val="115000"/>
                  </a:lnSpc>
                  <a:spcBef>
                    <a:spcPts val="1200"/>
                  </a:spcBef>
                  <a:spcAft>
                    <a:spcPts val="0"/>
                  </a:spcAft>
                  <a:buClrTx/>
                  <a:buSzTx/>
                  <a:buFontTx/>
                  <a:buNone/>
                  <a:tabLst/>
                  <a:defRPr/>
                </a:pPr>
                <a:r>
                  <a:rPr kumimoji="0" lang="fr-FR" sz="3200" b="0" u="none" strike="noStrike" kern="0" cap="none" spc="0" normalizeH="0" baseline="0" noProof="0" dirty="0">
                    <a:ln>
                      <a:noFill/>
                    </a:ln>
                    <a:solidFill>
                      <a:schemeClr val="accent1"/>
                    </a:solidFill>
                    <a:effectLst/>
                    <a:uLnTx/>
                    <a:uFillTx/>
                    <a:latin typeface="Legacy Serif ITC Pro Medium" pitchFamily="50" charset="0"/>
                    <a:ea typeface="Calibri" panose="020F0502020204030204" pitchFamily="34" charset="0"/>
                    <a:cs typeface="Times New Roman" panose="02020603050405020304" pitchFamily="18" charset="0"/>
                  </a:rPr>
                  <a:t>17 000</a:t>
                </a:r>
                <a:endParaRPr kumimoji="0" lang="fr-FR" sz="1100" b="0" u="none" strike="noStrike" kern="0" cap="none" spc="0" normalizeH="0" baseline="0" noProof="0" dirty="0">
                  <a:ln>
                    <a:noFill/>
                  </a:ln>
                  <a:solidFill>
                    <a:schemeClr val="accent1"/>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ctr" defTabSz="914400" eaLnBrk="1" fontAlgn="auto" latinLnBrk="0" hangingPunct="1">
                  <a:lnSpc>
                    <a:spcPct val="115000"/>
                  </a:lnSpc>
                  <a:spcBef>
                    <a:spcPts val="0"/>
                  </a:spcBef>
                  <a:spcAft>
                    <a:spcPts val="0"/>
                  </a:spcAft>
                  <a:buClrTx/>
                  <a:buSzTx/>
                  <a:buFontTx/>
                  <a:buNone/>
                  <a:tabLst/>
                  <a:defRPr/>
                </a:pPr>
                <a:r>
                  <a:rPr kumimoji="0" lang="fr-FR" sz="400" b="0" i="0" u="none" strike="noStrike" kern="0" cap="none" spc="0" normalizeH="0" baseline="0" noProof="0" dirty="0">
                    <a:ln>
                      <a:noFill/>
                    </a:ln>
                    <a:solidFill>
                      <a:srgbClr val="000000"/>
                    </a:solidFill>
                    <a:effectLst/>
                    <a:uLnTx/>
                    <a:uFillTx/>
                    <a:latin typeface="Legacy Serif ITC Pro Book" pitchFamily="50" charset="0"/>
                    <a:ea typeface="Calibri" panose="020F0502020204030204" pitchFamily="34" charset="0"/>
                    <a:cs typeface="Times New Roman" panose="02020603050405020304" pitchFamily="18" charset="0"/>
                  </a:rPr>
                  <a:t> </a:t>
                </a:r>
                <a:endParaRPr kumimoji="0" lang="fr-FR" sz="1100" b="0" i="0" u="none" strike="noStrike" kern="0" cap="none" spc="0" normalizeH="0" baseline="0" noProof="0" dirty="0">
                  <a:ln>
                    <a:noFill/>
                  </a:ln>
                  <a:solidFill>
                    <a:sysClr val="windowText" lastClr="000000"/>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ctr" defTabSz="914400" eaLnBrk="1" fontAlgn="auto" latinLnBrk="0" hangingPunct="1">
                  <a:lnSpc>
                    <a:spcPct val="115000"/>
                  </a:lnSpc>
                  <a:spcBef>
                    <a:spcPts val="0"/>
                  </a:spcBef>
                  <a:spcAft>
                    <a:spcPts val="0"/>
                  </a:spcAft>
                  <a:buClrTx/>
                  <a:buSzTx/>
                  <a:buFontTx/>
                  <a:buNone/>
                  <a:tabLst/>
                  <a:defRPr/>
                </a:pPr>
                <a:r>
                  <a:rPr kumimoji="0" lang="fr-FR" sz="950" b="0" i="0" u="none" strike="noStrike" kern="0" cap="none" spc="0" normalizeH="0" baseline="0" noProof="0" dirty="0">
                    <a:ln>
                      <a:noFill/>
                    </a:ln>
                    <a:solidFill>
                      <a:srgbClr val="FFFFFF"/>
                    </a:solidFill>
                    <a:effectLst/>
                    <a:uLnTx/>
                    <a:uFillTx/>
                    <a:latin typeface="Legacy Serif ITC Pro Book" pitchFamily="50" charset="0"/>
                    <a:ea typeface="Calibri" panose="020F0502020204030204" pitchFamily="34" charset="0"/>
                    <a:cs typeface="Times New Roman" panose="02020603050405020304" pitchFamily="18" charset="0"/>
                  </a:rPr>
                  <a:t> </a:t>
                </a:r>
                <a:endParaRPr kumimoji="0" lang="fr-FR" sz="1100" b="0" i="0" u="none" strike="noStrike" kern="0" cap="none" spc="0" normalizeH="0" baseline="0" noProof="0" dirty="0">
                  <a:ln>
                    <a:noFill/>
                  </a:ln>
                  <a:solidFill>
                    <a:sysClr val="windowText" lastClr="000000"/>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ctr" defTabSz="914400" eaLnBrk="1" fontAlgn="auto" latinLnBrk="0" hangingPunct="1">
                  <a:lnSpc>
                    <a:spcPct val="115000"/>
                  </a:lnSpc>
                  <a:spcBef>
                    <a:spcPts val="0"/>
                  </a:spcBef>
                  <a:spcAft>
                    <a:spcPts val="0"/>
                  </a:spcAft>
                  <a:buClrTx/>
                  <a:buSzTx/>
                  <a:buFontTx/>
                  <a:buNone/>
                  <a:tabLst/>
                  <a:defRPr/>
                </a:pPr>
                <a:r>
                  <a:rPr kumimoji="0" lang="fr-FR" sz="950" b="0" i="0" u="none" strike="noStrike" kern="0" cap="none" spc="0" normalizeH="0" baseline="0" noProof="0" dirty="0">
                    <a:ln>
                      <a:noFill/>
                    </a:ln>
                    <a:solidFill>
                      <a:srgbClr val="FFFFFF"/>
                    </a:solidFill>
                    <a:effectLst/>
                    <a:uLnTx/>
                    <a:uFillTx/>
                    <a:latin typeface="Legacy Serif ITC Pro Book" pitchFamily="50" charset="0"/>
                    <a:ea typeface="Calibri" panose="020F0502020204030204" pitchFamily="34" charset="0"/>
                    <a:cs typeface="Times New Roman" panose="02020603050405020304" pitchFamily="18" charset="0"/>
                  </a:rPr>
                  <a:t>Conseillers</a:t>
                </a:r>
                <a:endParaRPr kumimoji="0" lang="fr-FR" sz="1100" b="0" i="0" u="none" strike="noStrike" kern="0" cap="none" spc="0" normalizeH="0" baseline="0" noProof="0" dirty="0">
                  <a:ln>
                    <a:noFill/>
                  </a:ln>
                  <a:solidFill>
                    <a:sysClr val="windowText" lastClr="000000"/>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grpSp>
        <p:grpSp>
          <p:nvGrpSpPr>
            <p:cNvPr id="134" name="Group 133">
              <a:extLst>
                <a:ext uri="{FF2B5EF4-FFF2-40B4-BE49-F238E27FC236}">
                  <a16:creationId xmlns:a16="http://schemas.microsoft.com/office/drawing/2014/main" id="{3496A62F-1B1F-457F-A166-A81000515DB6}"/>
                </a:ext>
              </a:extLst>
            </p:cNvPr>
            <p:cNvGrpSpPr/>
            <p:nvPr/>
          </p:nvGrpSpPr>
          <p:grpSpPr>
            <a:xfrm>
              <a:off x="1407380" y="2814761"/>
              <a:ext cx="1368000" cy="1368000"/>
              <a:chOff x="0" y="0"/>
              <a:chExt cx="1368000" cy="1368000"/>
            </a:xfrm>
          </p:grpSpPr>
          <p:sp>
            <p:nvSpPr>
              <p:cNvPr id="152" name="Rectangle: Rounded Corners 151">
                <a:extLst>
                  <a:ext uri="{FF2B5EF4-FFF2-40B4-BE49-F238E27FC236}">
                    <a16:creationId xmlns:a16="http://schemas.microsoft.com/office/drawing/2014/main" id="{9F13FC9B-68EA-42E4-928D-27E756BDA345}"/>
                  </a:ext>
                </a:extLst>
              </p:cNvPr>
              <p:cNvSpPr/>
              <p:nvPr/>
            </p:nvSpPr>
            <p:spPr>
              <a:xfrm>
                <a:off x="0" y="0"/>
                <a:ext cx="1368000" cy="1368000"/>
              </a:xfrm>
              <a:prstGeom prst="roundRect">
                <a:avLst>
                  <a:gd name="adj" fmla="val 4667"/>
                </a:avLst>
              </a:prstGeom>
              <a:solidFill>
                <a:schemeClr val="accent1"/>
              </a:solidFill>
              <a:ln w="25400" cap="flat" cmpd="sng" algn="ctr">
                <a:noFill/>
                <a:prstDash val="solid"/>
              </a:ln>
              <a:effectLst/>
            </p:spPr>
            <p:txBody>
              <a:bodyPr rot="0" spcFirstLastPara="0" vert="horz" wrap="square" lIns="36000" tIns="36000" rIns="36000" bIns="3600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ysClr val="window" lastClr="FFFFFF"/>
                  </a:solidFill>
                  <a:effectLst/>
                  <a:uLnTx/>
                  <a:uFillTx/>
                  <a:latin typeface="Calibri"/>
                  <a:ea typeface="+mn-ea"/>
                  <a:cs typeface="+mn-cs"/>
                </a:endParaRPr>
              </a:p>
            </p:txBody>
          </p:sp>
          <p:sp>
            <p:nvSpPr>
              <p:cNvPr id="153" name="Text Box 2">
                <a:extLst>
                  <a:ext uri="{FF2B5EF4-FFF2-40B4-BE49-F238E27FC236}">
                    <a16:creationId xmlns:a16="http://schemas.microsoft.com/office/drawing/2014/main" id="{E90E0C25-AC4C-455E-A266-028140D5C7EE}"/>
                  </a:ext>
                </a:extLst>
              </p:cNvPr>
              <p:cNvSpPr txBox="1">
                <a:spLocks noChangeArrowheads="1"/>
              </p:cNvSpPr>
              <p:nvPr/>
            </p:nvSpPr>
            <p:spPr bwMode="auto">
              <a:xfrm>
                <a:off x="0" y="0"/>
                <a:ext cx="1367790" cy="130365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72000" tIns="72000" rIns="72000" bIns="72000" anchor="t" anchorCtr="0">
                <a:noAutofit/>
              </a:bodyPr>
              <a:lstStyle/>
              <a:p>
                <a:pPr marL="0" marR="0" lvl="0" indent="0" algn="ctr" defTabSz="914400" eaLnBrk="1" fontAlgn="auto" latinLnBrk="0" hangingPunct="1">
                  <a:lnSpc>
                    <a:spcPct val="115000"/>
                  </a:lnSpc>
                  <a:spcBef>
                    <a:spcPts val="1800"/>
                  </a:spcBef>
                  <a:spcAft>
                    <a:spcPts val="0"/>
                  </a:spcAft>
                  <a:buClrTx/>
                  <a:buSzTx/>
                  <a:buFontTx/>
                  <a:buNone/>
                  <a:tabLst/>
                  <a:defRPr/>
                </a:pPr>
                <a:endParaRPr kumimoji="0" lang="fr-FR" sz="100" b="0" i="0" u="none" strike="noStrike" kern="0" cap="none" spc="0" normalizeH="0" baseline="0" noProof="0" dirty="0">
                  <a:ln>
                    <a:noFill/>
                  </a:ln>
                  <a:solidFill>
                    <a:srgbClr val="FFFFFF"/>
                  </a:solidFill>
                  <a:effectLst/>
                  <a:uLnTx/>
                  <a:uFillTx/>
                  <a:latin typeface="Legacy Serif ITC Pro Book" pitchFamily="50" charset="0"/>
                  <a:ea typeface="Calibri" panose="020F0502020204030204" pitchFamily="34" charset="0"/>
                  <a:cs typeface="Times New Roman" panose="02020603050405020304" pitchFamily="18" charset="0"/>
                </a:endParaRPr>
              </a:p>
              <a:p>
                <a:pPr marL="0" marR="0" lvl="0" indent="0" algn="ctr" defTabSz="914400" eaLnBrk="1" fontAlgn="auto" latinLnBrk="0" hangingPunct="1">
                  <a:lnSpc>
                    <a:spcPct val="115000"/>
                  </a:lnSpc>
                  <a:spcBef>
                    <a:spcPts val="1200"/>
                  </a:spcBef>
                  <a:spcAft>
                    <a:spcPts val="0"/>
                  </a:spcAft>
                  <a:buClrTx/>
                  <a:buSzTx/>
                  <a:buFontTx/>
                  <a:buNone/>
                  <a:tabLst/>
                  <a:defRPr/>
                </a:pPr>
                <a:r>
                  <a:rPr kumimoji="0" lang="fr-FR" sz="900" b="0" i="0" u="none" strike="noStrike" kern="0" cap="none" spc="0" normalizeH="0" baseline="0" noProof="0" dirty="0">
                    <a:ln>
                      <a:noFill/>
                    </a:ln>
                    <a:solidFill>
                      <a:srgbClr val="FFFFFF"/>
                    </a:solidFill>
                    <a:effectLst/>
                    <a:uLnTx/>
                    <a:uFillTx/>
                    <a:latin typeface="Legacy Serif ITC Pro Book" pitchFamily="50" charset="0"/>
                    <a:ea typeface="Calibri" panose="020F0502020204030204" pitchFamily="34" charset="0"/>
                    <a:cs typeface="Times New Roman" panose="02020603050405020304" pitchFamily="18" charset="0"/>
                  </a:rPr>
                  <a:t>Plus de</a:t>
                </a:r>
                <a:endParaRPr kumimoji="0" lang="fr-FR" sz="1100" b="0" i="0" u="none" strike="noStrike" kern="0" cap="none" spc="0" normalizeH="0" baseline="0" noProof="0" dirty="0">
                  <a:ln>
                    <a:noFill/>
                  </a:ln>
                  <a:solidFill>
                    <a:sysClr val="windowText" lastClr="000000"/>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ctr" defTabSz="914400" eaLnBrk="1" fontAlgn="auto" latinLnBrk="0" hangingPunct="1">
                  <a:lnSpc>
                    <a:spcPct val="115000"/>
                  </a:lnSpc>
                  <a:spcBef>
                    <a:spcPts val="0"/>
                  </a:spcBef>
                  <a:spcAft>
                    <a:spcPts val="0"/>
                  </a:spcAft>
                  <a:buClrTx/>
                  <a:buSzTx/>
                  <a:buFontTx/>
                  <a:buNone/>
                  <a:tabLst/>
                  <a:defRPr/>
                </a:pPr>
                <a:r>
                  <a:rPr kumimoji="0" lang="fr-FR" sz="3200" b="0" u="none" strike="noStrike" kern="0" cap="none" spc="-100" normalizeH="0" baseline="0" noProof="0" dirty="0">
                    <a:ln>
                      <a:noFill/>
                    </a:ln>
                    <a:solidFill>
                      <a:srgbClr val="DFDFDF"/>
                    </a:solidFill>
                    <a:effectLst/>
                    <a:uLnTx/>
                    <a:uFillTx/>
                    <a:latin typeface="Legacy Serif ITC Pro Medium" pitchFamily="50" charset="0"/>
                    <a:ea typeface="Calibri" panose="020F0502020204030204" pitchFamily="34" charset="0"/>
                    <a:cs typeface="Times New Roman" panose="02020603050405020304" pitchFamily="18" charset="0"/>
                  </a:rPr>
                  <a:t>4 m</a:t>
                </a:r>
                <a:endParaRPr kumimoji="0" lang="fr-FR" sz="1100" b="0" u="none" strike="noStrike" kern="0" cap="none" spc="0" normalizeH="0" baseline="0" noProof="0" dirty="0">
                  <a:ln>
                    <a:noFill/>
                  </a:ln>
                  <a:solidFill>
                    <a:srgbClr val="DFDFDF"/>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ctr" defTabSz="914400" eaLnBrk="1" fontAlgn="auto" latinLnBrk="0" hangingPunct="1">
                  <a:lnSpc>
                    <a:spcPct val="115000"/>
                  </a:lnSpc>
                  <a:spcBef>
                    <a:spcPts val="0"/>
                  </a:spcBef>
                  <a:spcAft>
                    <a:spcPts val="0"/>
                  </a:spcAft>
                  <a:buClrTx/>
                  <a:buSzTx/>
                  <a:buFontTx/>
                  <a:buNone/>
                  <a:tabLst/>
                  <a:defRPr/>
                </a:pPr>
                <a:r>
                  <a:rPr kumimoji="0" lang="fr-FR" sz="900" b="0" i="0" u="none" strike="noStrike" kern="0" cap="none" spc="0" normalizeH="0" baseline="0" noProof="0" dirty="0">
                    <a:ln>
                      <a:noFill/>
                    </a:ln>
                    <a:solidFill>
                      <a:srgbClr val="FFFFFF"/>
                    </a:solidFill>
                    <a:effectLst/>
                    <a:uLnTx/>
                    <a:uFillTx/>
                    <a:latin typeface="Legacy Serif ITC Pro Book" pitchFamily="50" charset="0"/>
                    <a:ea typeface="Calibri" panose="020F0502020204030204" pitchFamily="34" charset="0"/>
                    <a:cs typeface="Times New Roman" panose="02020603050405020304" pitchFamily="18" charset="0"/>
                  </a:rPr>
                  <a:t>de clients</a:t>
                </a:r>
                <a:endParaRPr kumimoji="0" lang="fr-FR" sz="1100" b="0" i="0" u="none" strike="noStrike" kern="0" cap="none" spc="0" normalizeH="0" baseline="0" noProof="0" dirty="0">
                  <a:ln>
                    <a:noFill/>
                  </a:ln>
                  <a:solidFill>
                    <a:sysClr val="windowText" lastClr="000000"/>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grpSp>
        <p:grpSp>
          <p:nvGrpSpPr>
            <p:cNvPr id="135" name="Group 134">
              <a:extLst>
                <a:ext uri="{FF2B5EF4-FFF2-40B4-BE49-F238E27FC236}">
                  <a16:creationId xmlns:a16="http://schemas.microsoft.com/office/drawing/2014/main" id="{186D7158-D7B2-49C6-A801-F8A74F2BC474}"/>
                </a:ext>
              </a:extLst>
            </p:cNvPr>
            <p:cNvGrpSpPr/>
            <p:nvPr/>
          </p:nvGrpSpPr>
          <p:grpSpPr>
            <a:xfrm>
              <a:off x="4214191" y="2814761"/>
              <a:ext cx="1368000" cy="1368000"/>
              <a:chOff x="0" y="0"/>
              <a:chExt cx="1368000" cy="1368000"/>
            </a:xfrm>
          </p:grpSpPr>
          <p:sp>
            <p:nvSpPr>
              <p:cNvPr id="150" name="Rectangle: Rounded Corners 149">
                <a:extLst>
                  <a:ext uri="{FF2B5EF4-FFF2-40B4-BE49-F238E27FC236}">
                    <a16:creationId xmlns:a16="http://schemas.microsoft.com/office/drawing/2014/main" id="{937F3730-E1F0-4F85-8390-D1F93F03B99F}"/>
                  </a:ext>
                </a:extLst>
              </p:cNvPr>
              <p:cNvSpPr/>
              <p:nvPr/>
            </p:nvSpPr>
            <p:spPr>
              <a:xfrm>
                <a:off x="0" y="0"/>
                <a:ext cx="1368000" cy="1368000"/>
              </a:xfrm>
              <a:prstGeom prst="roundRect">
                <a:avLst>
                  <a:gd name="adj" fmla="val 4667"/>
                </a:avLst>
              </a:prstGeom>
              <a:solidFill>
                <a:srgbClr val="ECBDAB"/>
              </a:solidFill>
              <a:ln w="25400" cap="flat" cmpd="sng" algn="ctr">
                <a:noFill/>
                <a:prstDash val="solid"/>
              </a:ln>
              <a:effectLst/>
            </p:spPr>
            <p:txBody>
              <a:bodyPr rot="0" spcFirstLastPara="0" vert="horz" wrap="square" lIns="36000" tIns="36000" rIns="36000" bIns="3600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ysClr val="window" lastClr="FFFFFF"/>
                  </a:solidFill>
                  <a:effectLst/>
                  <a:uLnTx/>
                  <a:uFillTx/>
                  <a:latin typeface="Calibri"/>
                  <a:ea typeface="+mn-ea"/>
                  <a:cs typeface="+mn-cs"/>
                </a:endParaRPr>
              </a:p>
            </p:txBody>
          </p:sp>
          <p:sp>
            <p:nvSpPr>
              <p:cNvPr id="151" name="Text Box 2">
                <a:extLst>
                  <a:ext uri="{FF2B5EF4-FFF2-40B4-BE49-F238E27FC236}">
                    <a16:creationId xmlns:a16="http://schemas.microsoft.com/office/drawing/2014/main" id="{70D65D80-0152-4795-8DE5-AE2FA98FB401}"/>
                  </a:ext>
                </a:extLst>
              </p:cNvPr>
              <p:cNvSpPr txBox="1">
                <a:spLocks noChangeArrowheads="1"/>
              </p:cNvSpPr>
              <p:nvPr/>
            </p:nvSpPr>
            <p:spPr bwMode="auto">
              <a:xfrm>
                <a:off x="0" y="0"/>
                <a:ext cx="1367790" cy="130302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72000" tIns="72000" rIns="72000" bIns="72000" anchor="t" anchorCtr="0">
                <a:noAutofit/>
              </a:bodyPr>
              <a:lstStyle/>
              <a:p>
                <a:pPr marL="0" marR="0" lvl="0" indent="0" algn="ctr" defTabSz="914400" eaLnBrk="1" fontAlgn="auto" latinLnBrk="0" hangingPunct="1">
                  <a:lnSpc>
                    <a:spcPct val="115000"/>
                  </a:lnSpc>
                  <a:spcBef>
                    <a:spcPts val="1200"/>
                  </a:spcBef>
                  <a:spcAft>
                    <a:spcPts val="0"/>
                  </a:spcAft>
                  <a:buClrTx/>
                  <a:buSzTx/>
                  <a:buFontTx/>
                  <a:buNone/>
                  <a:tabLst/>
                  <a:defRPr/>
                </a:pPr>
                <a:r>
                  <a:rPr lang="fr-FR" sz="3200" kern="0" spc="-200" dirty="0">
                    <a:solidFill>
                      <a:srgbClr val="FFFFFF"/>
                    </a:solidFill>
                    <a:latin typeface="Legacy Serif ITC Pro Medium" pitchFamily="50" charset="0"/>
                    <a:ea typeface="Calibri" panose="020F0502020204030204" pitchFamily="34" charset="0"/>
                    <a:cs typeface="Times New Roman" panose="02020603050405020304" pitchFamily="18" charset="0"/>
                  </a:rPr>
                  <a:t>10 0</a:t>
                </a:r>
                <a:r>
                  <a:rPr kumimoji="0" lang="fr-FR" sz="3200" b="0" u="none" strike="noStrike" kern="0" cap="none" spc="-200" normalizeH="0" baseline="0" noProof="0" dirty="0">
                    <a:ln>
                      <a:noFill/>
                    </a:ln>
                    <a:solidFill>
                      <a:srgbClr val="FFFFFF"/>
                    </a:solidFill>
                    <a:effectLst/>
                    <a:uLnTx/>
                    <a:uFillTx/>
                    <a:latin typeface="Legacy Serif ITC Pro Medium" pitchFamily="50" charset="0"/>
                    <a:ea typeface="Calibri" panose="020F0502020204030204" pitchFamily="34" charset="0"/>
                    <a:cs typeface="Times New Roman" panose="02020603050405020304" pitchFamily="18" charset="0"/>
                  </a:rPr>
                  <a:t>00</a:t>
                </a:r>
                <a:endParaRPr kumimoji="0" lang="fr-FR" sz="3200" b="0" u="none" strike="noStrike" kern="0" cap="none" spc="-200" normalizeH="0" baseline="0" noProof="0" dirty="0">
                  <a:ln>
                    <a:noFill/>
                  </a:ln>
                  <a:solidFill>
                    <a:sysClr val="windowText" lastClr="000000"/>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ctr" defTabSz="914400" eaLnBrk="1" fontAlgn="auto" latinLnBrk="0" hangingPunct="1">
                  <a:lnSpc>
                    <a:spcPct val="115000"/>
                  </a:lnSpc>
                  <a:spcBef>
                    <a:spcPts val="0"/>
                  </a:spcBef>
                  <a:spcAft>
                    <a:spcPts val="0"/>
                  </a:spcAft>
                  <a:buClrTx/>
                  <a:buSzTx/>
                  <a:buFontTx/>
                  <a:buNone/>
                  <a:tabLst/>
                  <a:defRPr/>
                </a:pPr>
                <a:r>
                  <a:rPr kumimoji="0" lang="fr-FR" sz="900" b="0" i="0" u="none" strike="noStrike" kern="0" cap="none" spc="0" normalizeH="0" baseline="0" noProof="0" dirty="0">
                    <a:ln>
                      <a:noFill/>
                    </a:ln>
                    <a:solidFill>
                      <a:srgbClr val="000000"/>
                    </a:solidFill>
                    <a:effectLst/>
                    <a:uLnTx/>
                    <a:uFillTx/>
                    <a:latin typeface="Legacy Serif ITC Pro Book" pitchFamily="50" charset="0"/>
                    <a:ea typeface="Calibri" panose="020F0502020204030204" pitchFamily="34" charset="0"/>
                    <a:cs typeface="Times New Roman" panose="02020603050405020304" pitchFamily="18" charset="0"/>
                  </a:rPr>
                  <a:t> </a:t>
                </a:r>
                <a:endParaRPr kumimoji="0" lang="fr-FR" sz="1100" b="0" i="0" u="none" strike="noStrike" kern="0" cap="none" spc="0" normalizeH="0" baseline="0" noProof="0" dirty="0">
                  <a:ln>
                    <a:noFill/>
                  </a:ln>
                  <a:solidFill>
                    <a:sysClr val="windowText" lastClr="000000"/>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ctr" defTabSz="914400" eaLnBrk="1" fontAlgn="auto" latinLnBrk="0" hangingPunct="1">
                  <a:lnSpc>
                    <a:spcPct val="115000"/>
                  </a:lnSpc>
                  <a:spcBef>
                    <a:spcPts val="0"/>
                  </a:spcBef>
                  <a:spcAft>
                    <a:spcPts val="0"/>
                  </a:spcAft>
                  <a:buClrTx/>
                  <a:buSzTx/>
                  <a:buFontTx/>
                  <a:buNone/>
                  <a:tabLst/>
                  <a:defRPr/>
                </a:pPr>
                <a:r>
                  <a:rPr kumimoji="0" lang="fr-FR" sz="900" b="0" i="0" u="none" strike="noStrike" kern="0" cap="none" spc="0" normalizeH="0" baseline="0" noProof="0" dirty="0">
                    <a:ln>
                      <a:noFill/>
                    </a:ln>
                    <a:solidFill>
                      <a:srgbClr val="000000"/>
                    </a:solidFill>
                    <a:effectLst/>
                    <a:uLnTx/>
                    <a:uFillTx/>
                    <a:latin typeface="Legacy Serif ITC Pro Book" pitchFamily="50" charset="0"/>
                    <a:ea typeface="Calibri" panose="020F0502020204030204" pitchFamily="34" charset="0"/>
                    <a:cs typeface="Times New Roman" panose="02020603050405020304" pitchFamily="18" charset="0"/>
                  </a:rPr>
                  <a:t>Employés</a:t>
                </a:r>
                <a:endParaRPr kumimoji="0" lang="fr-FR" sz="11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grpSp>
        <p:grpSp>
          <p:nvGrpSpPr>
            <p:cNvPr id="136" name="Group 135">
              <a:extLst>
                <a:ext uri="{FF2B5EF4-FFF2-40B4-BE49-F238E27FC236}">
                  <a16:creationId xmlns:a16="http://schemas.microsoft.com/office/drawing/2014/main" id="{B98FF704-49A5-46A4-A0C7-7C2DD67F027F}"/>
                </a:ext>
              </a:extLst>
            </p:cNvPr>
            <p:cNvGrpSpPr/>
            <p:nvPr/>
          </p:nvGrpSpPr>
          <p:grpSpPr>
            <a:xfrm>
              <a:off x="2814761" y="1407381"/>
              <a:ext cx="1368000" cy="1368000"/>
              <a:chOff x="0" y="0"/>
              <a:chExt cx="1368000" cy="1368000"/>
            </a:xfrm>
          </p:grpSpPr>
          <p:sp>
            <p:nvSpPr>
              <p:cNvPr id="148" name="Rectangle: Rounded Corners 147">
                <a:extLst>
                  <a:ext uri="{FF2B5EF4-FFF2-40B4-BE49-F238E27FC236}">
                    <a16:creationId xmlns:a16="http://schemas.microsoft.com/office/drawing/2014/main" id="{3491B94F-7CF0-49C2-8418-378E9079D99F}"/>
                  </a:ext>
                </a:extLst>
              </p:cNvPr>
              <p:cNvSpPr/>
              <p:nvPr/>
            </p:nvSpPr>
            <p:spPr>
              <a:xfrm>
                <a:off x="0" y="0"/>
                <a:ext cx="1368000" cy="1368000"/>
              </a:xfrm>
              <a:prstGeom prst="roundRect">
                <a:avLst>
                  <a:gd name="adj" fmla="val 4667"/>
                </a:avLst>
              </a:prstGeom>
              <a:solidFill>
                <a:srgbClr val="ECBDAB"/>
              </a:solidFill>
              <a:ln w="25400" cap="flat" cmpd="sng" algn="ctr">
                <a:noFill/>
                <a:prstDash val="solid"/>
              </a:ln>
              <a:effectLst/>
            </p:spPr>
            <p:txBody>
              <a:bodyPr rot="0" spcFirstLastPara="0" vert="horz" wrap="square" lIns="36000" tIns="36000" rIns="36000" bIns="3600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ysClr val="window" lastClr="FFFFFF"/>
                  </a:solidFill>
                  <a:effectLst/>
                  <a:uLnTx/>
                  <a:uFillTx/>
                  <a:latin typeface="Calibri"/>
                  <a:ea typeface="+mn-ea"/>
                  <a:cs typeface="+mn-cs"/>
                </a:endParaRPr>
              </a:p>
            </p:txBody>
          </p:sp>
          <p:sp>
            <p:nvSpPr>
              <p:cNvPr id="149" name="Text Box 2">
                <a:extLst>
                  <a:ext uri="{FF2B5EF4-FFF2-40B4-BE49-F238E27FC236}">
                    <a16:creationId xmlns:a16="http://schemas.microsoft.com/office/drawing/2014/main" id="{00D50F09-F7D6-46E1-9977-8E57E0D5BCF2}"/>
                  </a:ext>
                </a:extLst>
              </p:cNvPr>
              <p:cNvSpPr txBox="1">
                <a:spLocks noChangeArrowheads="1"/>
              </p:cNvSpPr>
              <p:nvPr/>
            </p:nvSpPr>
            <p:spPr bwMode="auto">
              <a:xfrm>
                <a:off x="0" y="0"/>
                <a:ext cx="1359535" cy="1318895"/>
              </a:xfrm>
              <a:prstGeom prst="rect">
                <a:avLst/>
              </a:prstGeom>
              <a:noFill/>
              <a:ln w="9525">
                <a:noFill/>
                <a:miter lim="800000"/>
                <a:headEnd/>
                <a:tailEnd/>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72000" tIns="72000" rIns="72000" bIns="72000" anchor="t" anchorCtr="0">
                <a:noAutofit/>
              </a:bodyPr>
              <a:lstStyle/>
              <a:p>
                <a:pPr marL="0" marR="0" lvl="0" indent="0" algn="ctr" defTabSz="914400" eaLnBrk="1" fontAlgn="auto" latinLnBrk="0" hangingPunct="1">
                  <a:lnSpc>
                    <a:spcPct val="115000"/>
                  </a:lnSpc>
                  <a:spcBef>
                    <a:spcPts val="1200"/>
                  </a:spcBef>
                  <a:spcAft>
                    <a:spcPts val="0"/>
                  </a:spcAft>
                  <a:buClrTx/>
                  <a:buSzTx/>
                  <a:buFontTx/>
                  <a:buNone/>
                  <a:tabLst/>
                  <a:defRPr/>
                </a:pPr>
                <a:r>
                  <a:rPr kumimoji="0" lang="fr-FR" sz="2800" b="0" u="none" strike="noStrike" kern="0" cap="none" spc="-100" normalizeH="0" baseline="0" noProof="0" dirty="0">
                    <a:ln>
                      <a:noFill/>
                    </a:ln>
                    <a:solidFill>
                      <a:schemeClr val="accent3"/>
                    </a:solidFill>
                    <a:effectLst/>
                    <a:uLnTx/>
                    <a:uFillTx/>
                    <a:latin typeface="Legacy Serif ITC Pro Medium" pitchFamily="50" charset="0"/>
                    <a:ea typeface="Calibri" panose="020F0502020204030204" pitchFamily="34" charset="0"/>
                    <a:cs typeface="Times New Roman" panose="02020603050405020304" pitchFamily="18" charset="0"/>
                  </a:rPr>
                  <a:t>664 m</a:t>
                </a:r>
                <a:endParaRPr kumimoji="0" lang="fr-FR" sz="1100" b="0" u="none" strike="noStrike" kern="0" cap="none" spc="0" normalizeH="0" baseline="0" noProof="0" dirty="0">
                  <a:ln>
                    <a:noFill/>
                  </a:ln>
                  <a:solidFill>
                    <a:schemeClr val="accent3"/>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ctr" defTabSz="914400" eaLnBrk="1" fontAlgn="auto" latinLnBrk="0" hangingPunct="1">
                  <a:lnSpc>
                    <a:spcPct val="115000"/>
                  </a:lnSpc>
                  <a:spcBef>
                    <a:spcPts val="0"/>
                  </a:spcBef>
                  <a:spcAft>
                    <a:spcPts val="0"/>
                  </a:spcAft>
                  <a:buClrTx/>
                  <a:buSzTx/>
                  <a:buFontTx/>
                  <a:buNone/>
                  <a:tabLst/>
                  <a:defRPr/>
                </a:pPr>
                <a:r>
                  <a:rPr kumimoji="0" lang="fr-FR" sz="1100" b="0" i="0" u="none" strike="noStrike" kern="0" cap="none" spc="0" normalizeH="0" baseline="0" noProof="0" dirty="0">
                    <a:ln>
                      <a:noFill/>
                    </a:ln>
                    <a:solidFill>
                      <a:srgbClr val="FFFFFF"/>
                    </a:solidFill>
                    <a:effectLst/>
                    <a:uLnTx/>
                    <a:uFillTx/>
                    <a:latin typeface="Legacy Serif ITC Pro Book" pitchFamily="50" charset="0"/>
                    <a:ea typeface="Calibri" panose="020F0502020204030204" pitchFamily="34" charset="0"/>
                    <a:cs typeface="Times New Roman" panose="02020603050405020304" pitchFamily="18" charset="0"/>
                  </a:rPr>
                  <a:t> </a:t>
                </a:r>
                <a:endParaRPr kumimoji="0" lang="fr-FR" sz="1100" b="0" i="0" u="none" strike="noStrike" kern="0" cap="none" spc="0" normalizeH="0" baseline="0" noProof="0" dirty="0">
                  <a:ln>
                    <a:noFill/>
                  </a:ln>
                  <a:solidFill>
                    <a:sysClr val="windowText" lastClr="000000"/>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ctr" defTabSz="914400" eaLnBrk="1" fontAlgn="auto" latinLnBrk="0" hangingPunct="1">
                  <a:lnSpc>
                    <a:spcPct val="115000"/>
                  </a:lnSpc>
                  <a:spcBef>
                    <a:spcPts val="0"/>
                  </a:spcBef>
                  <a:spcAft>
                    <a:spcPts val="0"/>
                  </a:spcAft>
                  <a:buClrTx/>
                  <a:buSzTx/>
                  <a:buFontTx/>
                  <a:buNone/>
                  <a:tabLst/>
                  <a:defRPr/>
                </a:pPr>
                <a:r>
                  <a:rPr lang="fr-FR" sz="900" kern="0" dirty="0">
                    <a:solidFill>
                      <a:srgbClr val="000000"/>
                    </a:solidFill>
                    <a:latin typeface="Legacy Serif ITC Pro Book" pitchFamily="50" charset="0"/>
                    <a:ea typeface="Calibri" panose="020F0502020204030204" pitchFamily="34" charset="0"/>
                    <a:cs typeface="Times New Roman" panose="02020603050405020304" pitchFamily="18" charset="0"/>
                  </a:rPr>
                  <a:t>Revenus des frais et commissions</a:t>
                </a:r>
                <a:endParaRPr kumimoji="0" lang="fr-FR" sz="900" b="0" i="0" u="none" strike="noStrike" kern="0" cap="none" spc="0" normalizeH="0" baseline="0" noProof="0" dirty="0">
                  <a:ln>
                    <a:noFill/>
                  </a:ln>
                  <a:solidFill>
                    <a:srgbClr val="000000"/>
                  </a:solidFill>
                  <a:effectLst/>
                  <a:uLnTx/>
                  <a:uFillTx/>
                  <a:latin typeface="Legacy Serif ITC Pro Book" pitchFamily="50" charset="0"/>
                  <a:ea typeface="Calibri" panose="020F0502020204030204" pitchFamily="34" charset="0"/>
                  <a:cs typeface="Times New Roman" panose="02020603050405020304" pitchFamily="18" charset="0"/>
                </a:endParaRPr>
              </a:p>
            </p:txBody>
          </p:sp>
        </p:grpSp>
        <p:grpSp>
          <p:nvGrpSpPr>
            <p:cNvPr id="137" name="Group 136">
              <a:extLst>
                <a:ext uri="{FF2B5EF4-FFF2-40B4-BE49-F238E27FC236}">
                  <a16:creationId xmlns:a16="http://schemas.microsoft.com/office/drawing/2014/main" id="{85BF0BE0-C213-4344-A14D-6C5125FB7459}"/>
                </a:ext>
              </a:extLst>
            </p:cNvPr>
            <p:cNvGrpSpPr/>
            <p:nvPr/>
          </p:nvGrpSpPr>
          <p:grpSpPr>
            <a:xfrm>
              <a:off x="2814761" y="2814761"/>
              <a:ext cx="1398905" cy="1368000"/>
              <a:chOff x="0" y="0"/>
              <a:chExt cx="1398905" cy="1368000"/>
            </a:xfrm>
          </p:grpSpPr>
          <p:sp>
            <p:nvSpPr>
              <p:cNvPr id="146" name="Rectangle: Rounded Corners 145">
                <a:extLst>
                  <a:ext uri="{FF2B5EF4-FFF2-40B4-BE49-F238E27FC236}">
                    <a16:creationId xmlns:a16="http://schemas.microsoft.com/office/drawing/2014/main" id="{9EACAB6C-8E3A-48C9-9792-00BDC1778539}"/>
                  </a:ext>
                </a:extLst>
              </p:cNvPr>
              <p:cNvSpPr/>
              <p:nvPr/>
            </p:nvSpPr>
            <p:spPr>
              <a:xfrm>
                <a:off x="0" y="0"/>
                <a:ext cx="1368000" cy="1368000"/>
              </a:xfrm>
              <a:prstGeom prst="roundRect">
                <a:avLst>
                  <a:gd name="adj" fmla="val 4667"/>
                </a:avLst>
              </a:prstGeom>
              <a:solidFill>
                <a:srgbClr val="808080">
                  <a:alpha val="40000"/>
                </a:srgbClr>
              </a:solidFill>
              <a:ln w="25400" cap="flat" cmpd="sng" algn="ctr">
                <a:noFill/>
                <a:prstDash val="solid"/>
              </a:ln>
              <a:effectLst/>
            </p:spPr>
            <p:txBody>
              <a:bodyPr rot="0" spcFirstLastPara="0" vert="horz" wrap="square" lIns="36000" tIns="36000" rIns="36000" bIns="3600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ysClr val="window" lastClr="FFFFFF"/>
                  </a:solidFill>
                  <a:effectLst/>
                  <a:uLnTx/>
                  <a:uFillTx/>
                  <a:latin typeface="Calibri"/>
                  <a:ea typeface="+mn-ea"/>
                  <a:cs typeface="+mn-cs"/>
                </a:endParaRPr>
              </a:p>
            </p:txBody>
          </p:sp>
          <p:sp>
            <p:nvSpPr>
              <p:cNvPr id="147" name="Text Box 2">
                <a:extLst>
                  <a:ext uri="{FF2B5EF4-FFF2-40B4-BE49-F238E27FC236}">
                    <a16:creationId xmlns:a16="http://schemas.microsoft.com/office/drawing/2014/main" id="{2F80716B-F82F-44F6-A8E8-7A8308C04231}"/>
                  </a:ext>
                </a:extLst>
              </p:cNvPr>
              <p:cNvSpPr txBox="1">
                <a:spLocks noChangeArrowheads="1"/>
              </p:cNvSpPr>
              <p:nvPr/>
            </p:nvSpPr>
            <p:spPr bwMode="auto">
              <a:xfrm>
                <a:off x="0" y="7952"/>
                <a:ext cx="1398905" cy="12954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72000" tIns="72000" rIns="72000" bIns="72000" anchor="t" anchorCtr="0">
                <a:noAutofit/>
              </a:bodyPr>
              <a:lstStyle/>
              <a:p>
                <a:pPr marL="0" marR="0" lvl="0" indent="0" algn="ctr" defTabSz="914400" eaLnBrk="1" fontAlgn="auto" latinLnBrk="0" hangingPunct="1">
                  <a:lnSpc>
                    <a:spcPct val="115000"/>
                  </a:lnSpc>
                  <a:spcBef>
                    <a:spcPts val="0"/>
                  </a:spcBef>
                  <a:spcAft>
                    <a:spcPts val="0"/>
                  </a:spcAft>
                  <a:buClrTx/>
                  <a:buSzTx/>
                  <a:buFontTx/>
                  <a:buNone/>
                  <a:tabLst/>
                  <a:defRPr/>
                </a:pPr>
                <a:r>
                  <a:rPr lang="fr-FR" sz="900" kern="0" dirty="0">
                    <a:solidFill>
                      <a:sysClr val="windowText" lastClr="000000"/>
                    </a:solidFill>
                    <a:latin typeface="Legacy Serif ITC Pro Book" pitchFamily="50" charset="0"/>
                    <a:ea typeface="Calibri" panose="020F0502020204030204" pitchFamily="34" charset="0"/>
                    <a:cs typeface="Times New Roman" panose="02020603050405020304" pitchFamily="18" charset="0"/>
                  </a:rPr>
                  <a:t>Notée par</a:t>
                </a:r>
                <a:br>
                  <a:rPr kumimoji="0" lang="fr-FR" sz="900" b="0" i="0" u="none" strike="noStrike" kern="0" cap="none" spc="0" normalizeH="0" baseline="0" noProof="0" dirty="0">
                    <a:ln>
                      <a:noFill/>
                    </a:ln>
                    <a:solidFill>
                      <a:sysClr val="windowText" lastClr="000000"/>
                    </a:solidFill>
                    <a:effectLst/>
                    <a:uLnTx/>
                    <a:uFillTx/>
                    <a:latin typeface="Legacy Serif ITC Pro Book" pitchFamily="50" charset="0"/>
                    <a:ea typeface="Calibri" panose="020F0502020204030204" pitchFamily="34" charset="0"/>
                    <a:cs typeface="Times New Roman" panose="02020603050405020304" pitchFamily="18" charset="0"/>
                  </a:rPr>
                </a:br>
                <a:r>
                  <a:rPr kumimoji="0" lang="fr-FR" sz="900" b="0" i="0" u="none" strike="noStrike" kern="0" cap="none" spc="0" normalizeH="0" baseline="0" noProof="0" dirty="0">
                    <a:ln>
                      <a:noFill/>
                    </a:ln>
                    <a:solidFill>
                      <a:sysClr val="windowText" lastClr="000000"/>
                    </a:solidFill>
                    <a:effectLst/>
                    <a:uLnTx/>
                    <a:uFillTx/>
                    <a:latin typeface="Legacy Serif ITC Pro Book" pitchFamily="50" charset="0"/>
                    <a:ea typeface="Calibri" panose="020F0502020204030204" pitchFamily="34" charset="0"/>
                    <a:cs typeface="Times New Roman" panose="02020603050405020304" pitchFamily="18" charset="0"/>
                  </a:rPr>
                  <a:t>Standard &amp; </a:t>
                </a:r>
                <a:r>
                  <a:rPr kumimoji="0" lang="fr-FR" sz="900" b="0" i="0" u="none" strike="noStrike" kern="0" cap="none" spc="0" normalizeH="0" baseline="0" noProof="0" dirty="0" err="1">
                    <a:ln>
                      <a:noFill/>
                    </a:ln>
                    <a:solidFill>
                      <a:sysClr val="windowText" lastClr="000000"/>
                    </a:solidFill>
                    <a:effectLst/>
                    <a:uLnTx/>
                    <a:uFillTx/>
                    <a:latin typeface="Legacy Serif ITC Pro Book" pitchFamily="50" charset="0"/>
                    <a:ea typeface="Calibri" panose="020F0502020204030204" pitchFamily="34" charset="0"/>
                    <a:cs typeface="Times New Roman" panose="02020603050405020304" pitchFamily="18" charset="0"/>
                  </a:rPr>
                  <a:t>Poor's</a:t>
                </a:r>
                <a:endParaRPr kumimoji="0" lang="fr-FR" sz="1100" b="0" i="0" u="none" strike="noStrike" kern="0" cap="none" spc="0" normalizeH="0" baseline="0" noProof="0" dirty="0">
                  <a:ln>
                    <a:noFill/>
                  </a:ln>
                  <a:solidFill>
                    <a:sysClr val="windowText" lastClr="000000"/>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ctr" defTabSz="914400" eaLnBrk="1" fontAlgn="auto" latinLnBrk="0" hangingPunct="1">
                  <a:spcBef>
                    <a:spcPts val="0"/>
                  </a:spcBef>
                  <a:spcAft>
                    <a:spcPts val="0"/>
                  </a:spcAft>
                  <a:buClrTx/>
                  <a:buSzTx/>
                  <a:buFontTx/>
                  <a:buNone/>
                  <a:tabLst/>
                  <a:defRPr/>
                </a:pPr>
                <a:r>
                  <a:rPr kumimoji="0" lang="fr-FR" sz="4000" b="0" i="1" u="none" strike="noStrike" kern="0" cap="none" spc="-100" normalizeH="0" baseline="0" noProof="0" dirty="0">
                    <a:ln>
                      <a:noFill/>
                    </a:ln>
                    <a:solidFill>
                      <a:schemeClr val="hlink"/>
                    </a:solidFill>
                    <a:effectLst/>
                    <a:uLnTx/>
                    <a:uFillTx/>
                    <a:latin typeface="Legacy Serif ITC Pro Medium" pitchFamily="50" charset="0"/>
                    <a:ea typeface="Calibri" panose="020F0502020204030204" pitchFamily="34" charset="0"/>
                    <a:cs typeface="Times New Roman" panose="02020603050405020304" pitchFamily="18" charset="0"/>
                  </a:rPr>
                  <a:t>A+</a:t>
                </a:r>
                <a:endParaRPr kumimoji="0" lang="fr-FR" sz="1100" b="0" i="0" u="none" strike="noStrike" kern="0" cap="none" spc="0" normalizeH="0" baseline="0" noProof="0" dirty="0">
                  <a:ln>
                    <a:noFill/>
                  </a:ln>
                  <a:solidFill>
                    <a:schemeClr val="hlin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lvl="0" algn="ctr">
                  <a:lnSpc>
                    <a:spcPct val="115000"/>
                  </a:lnSpc>
                  <a:defRPr/>
                </a:pPr>
                <a:r>
                  <a:rPr lang="fr-FR" sz="850" kern="0" dirty="0">
                    <a:solidFill>
                      <a:sysClr val="windowText" lastClr="000000"/>
                    </a:solidFill>
                    <a:latin typeface="Legacy Serif ITC Pro Book" pitchFamily="50" charset="0"/>
                    <a:ea typeface="Calibri" panose="020F0502020204030204" pitchFamily="34" charset="0"/>
                    <a:cs typeface="Times New Roman" panose="02020603050405020304" pitchFamily="18" charset="0"/>
                  </a:rPr>
                  <a:t>avec</a:t>
                </a:r>
                <a:br>
                  <a:rPr lang="fr-FR" sz="850" kern="0" dirty="0">
                    <a:solidFill>
                      <a:sysClr val="windowText" lastClr="000000"/>
                    </a:solidFill>
                    <a:latin typeface="Legacy Serif ITC Pro Book" pitchFamily="50" charset="0"/>
                    <a:ea typeface="Calibri" panose="020F0502020204030204" pitchFamily="34" charset="0"/>
                    <a:cs typeface="Times New Roman" panose="02020603050405020304" pitchFamily="18" charset="0"/>
                  </a:rPr>
                </a:br>
                <a:r>
                  <a:rPr lang="fr-FR" sz="850" kern="0" dirty="0">
                    <a:solidFill>
                      <a:sysClr val="windowText" lastClr="000000"/>
                    </a:solidFill>
                    <a:latin typeface="Legacy Serif ITC Pro Book" pitchFamily="50" charset="0"/>
                    <a:ea typeface="Calibri" panose="020F0502020204030204" pitchFamily="34" charset="0"/>
                    <a:cs typeface="Times New Roman" panose="02020603050405020304" pitchFamily="18" charset="0"/>
                  </a:rPr>
                  <a:t>perspective stable</a:t>
                </a:r>
                <a:endParaRPr kumimoji="0" lang="fr-FR" sz="850" b="0" i="0" u="none" strike="noStrike" kern="0" cap="none" spc="0" normalizeH="0" baseline="0" noProof="0" dirty="0">
                  <a:ln>
                    <a:noFill/>
                  </a:ln>
                  <a:solidFill>
                    <a:sysClr val="windowText" lastClr="000000"/>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grpSp>
        <p:grpSp>
          <p:nvGrpSpPr>
            <p:cNvPr id="138" name="Group 137">
              <a:extLst>
                <a:ext uri="{FF2B5EF4-FFF2-40B4-BE49-F238E27FC236}">
                  <a16:creationId xmlns:a16="http://schemas.microsoft.com/office/drawing/2014/main" id="{11C67A22-DFB8-431F-BF97-7F493335ADD6}"/>
                </a:ext>
              </a:extLst>
            </p:cNvPr>
            <p:cNvGrpSpPr/>
            <p:nvPr/>
          </p:nvGrpSpPr>
          <p:grpSpPr>
            <a:xfrm>
              <a:off x="0" y="0"/>
              <a:ext cx="1368000" cy="1368000"/>
              <a:chOff x="0" y="0"/>
              <a:chExt cx="1368000" cy="1368000"/>
            </a:xfrm>
          </p:grpSpPr>
          <p:sp>
            <p:nvSpPr>
              <p:cNvPr id="143" name="Rectangle: Rounded Corners 142">
                <a:extLst>
                  <a:ext uri="{FF2B5EF4-FFF2-40B4-BE49-F238E27FC236}">
                    <a16:creationId xmlns:a16="http://schemas.microsoft.com/office/drawing/2014/main" id="{B012D8BF-3D27-41FB-BFFC-6EA3B5DD73F8}"/>
                  </a:ext>
                </a:extLst>
              </p:cNvPr>
              <p:cNvSpPr/>
              <p:nvPr/>
            </p:nvSpPr>
            <p:spPr>
              <a:xfrm>
                <a:off x="0" y="0"/>
                <a:ext cx="1368000" cy="1368000"/>
              </a:xfrm>
              <a:prstGeom prst="roundRect">
                <a:avLst>
                  <a:gd name="adj" fmla="val 4667"/>
                </a:avLst>
              </a:prstGeom>
              <a:solidFill>
                <a:srgbClr val="808080"/>
              </a:solidFill>
              <a:ln w="25400" cap="flat" cmpd="sng" algn="ctr">
                <a:noFill/>
                <a:prstDash val="solid"/>
              </a:ln>
              <a:effectLst/>
            </p:spPr>
            <p:txBody>
              <a:bodyPr rot="0" spcFirstLastPara="0" vert="horz" wrap="square" lIns="36000" tIns="36000" rIns="36000" bIns="3600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ysClr val="window" lastClr="FFFFFF"/>
                  </a:solidFill>
                  <a:effectLst/>
                  <a:uLnTx/>
                  <a:uFillTx/>
                  <a:latin typeface="Calibri"/>
                  <a:ea typeface="+mn-ea"/>
                  <a:cs typeface="+mn-cs"/>
                </a:endParaRPr>
              </a:p>
            </p:txBody>
          </p:sp>
          <p:sp>
            <p:nvSpPr>
              <p:cNvPr id="144" name="Text Box 2">
                <a:extLst>
                  <a:ext uri="{FF2B5EF4-FFF2-40B4-BE49-F238E27FC236}">
                    <a16:creationId xmlns:a16="http://schemas.microsoft.com/office/drawing/2014/main" id="{A20EE3BF-1095-44B3-A102-AF6B526AFA08}"/>
                  </a:ext>
                </a:extLst>
              </p:cNvPr>
              <p:cNvSpPr txBox="1">
                <a:spLocks noChangeArrowheads="1"/>
              </p:cNvSpPr>
              <p:nvPr/>
            </p:nvSpPr>
            <p:spPr bwMode="auto">
              <a:xfrm>
                <a:off x="0" y="0"/>
                <a:ext cx="1367790" cy="131191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72000" tIns="72000" rIns="72000" bIns="72000" anchor="t" anchorCtr="0">
                <a:noAutofit/>
              </a:bodyPr>
              <a:lstStyle/>
              <a:p>
                <a:pPr marL="0" marR="0" lvl="0" indent="0" algn="ctr" defTabSz="914400" eaLnBrk="1" fontAlgn="auto" latinLnBrk="0" hangingPunct="1">
                  <a:lnSpc>
                    <a:spcPct val="115000"/>
                  </a:lnSpc>
                  <a:spcBef>
                    <a:spcPts val="1200"/>
                  </a:spcBef>
                  <a:spcAft>
                    <a:spcPts val="0"/>
                  </a:spcAft>
                  <a:buClrTx/>
                  <a:buSzTx/>
                  <a:buFontTx/>
                  <a:buNone/>
                  <a:tabLst/>
                  <a:defRPr/>
                </a:pPr>
                <a:r>
                  <a:rPr lang="fr-FR" sz="2800" kern="0" spc="-100" dirty="0">
                    <a:solidFill>
                      <a:srgbClr val="FFFFFF"/>
                    </a:solidFill>
                    <a:latin typeface="Legacy Serif ITC Pro Medium" pitchFamily="50" charset="0"/>
                    <a:ea typeface="Calibri" panose="020F0502020204030204" pitchFamily="34" charset="0"/>
                    <a:cs typeface="Times New Roman" panose="02020603050405020304" pitchFamily="18" charset="0"/>
                  </a:rPr>
                  <a:t>1.50</a:t>
                </a:r>
                <a:r>
                  <a:rPr kumimoji="0" lang="fr-FR" sz="2800" b="0" u="none" strike="noStrike" kern="0" cap="none" spc="-100" normalizeH="0" noProof="0" dirty="0">
                    <a:ln>
                      <a:noFill/>
                    </a:ln>
                    <a:solidFill>
                      <a:srgbClr val="FFFFFF"/>
                    </a:solidFill>
                    <a:effectLst/>
                    <a:uLnTx/>
                    <a:uFillTx/>
                    <a:latin typeface="Legacy Serif ITC Pro Medium" pitchFamily="50" charset="0"/>
                    <a:ea typeface="Calibri" panose="020F0502020204030204" pitchFamily="34" charset="0"/>
                    <a:cs typeface="Times New Roman" panose="02020603050405020304" pitchFamily="18" charset="0"/>
                  </a:rPr>
                  <a:t> </a:t>
                </a:r>
                <a:r>
                  <a:rPr kumimoji="0" lang="fr-FR" sz="2400" b="0" u="none" strike="noStrike" kern="0" cap="none" spc="-100" normalizeH="0" noProof="0" dirty="0" err="1">
                    <a:ln>
                      <a:noFill/>
                    </a:ln>
                    <a:solidFill>
                      <a:srgbClr val="FFFFFF"/>
                    </a:solidFill>
                    <a:effectLst/>
                    <a:uLnTx/>
                    <a:uFillTx/>
                    <a:latin typeface="Legacy Serif ITC Pro Medium" pitchFamily="50" charset="0"/>
                    <a:ea typeface="Calibri" panose="020F0502020204030204" pitchFamily="34" charset="0"/>
                    <a:cs typeface="Times New Roman" panose="02020603050405020304" pitchFamily="18" charset="0"/>
                  </a:rPr>
                  <a:t>mia</a:t>
                </a:r>
                <a:endParaRPr kumimoji="0" lang="fr-FR" sz="2800" b="0" u="none" strike="noStrike" kern="0" cap="none" spc="-100" normalizeH="0" noProof="0" dirty="0">
                  <a:ln>
                    <a:noFill/>
                  </a:ln>
                  <a:solidFill>
                    <a:srgbClr val="FFFFFF"/>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ctr" defTabSz="914400" eaLnBrk="1" fontAlgn="auto" latinLnBrk="0" hangingPunct="1">
                  <a:lnSpc>
                    <a:spcPct val="115000"/>
                  </a:lnSpc>
                  <a:spcBef>
                    <a:spcPts val="0"/>
                  </a:spcBef>
                  <a:spcAft>
                    <a:spcPts val="0"/>
                  </a:spcAft>
                  <a:buClrTx/>
                  <a:buSzTx/>
                  <a:buFontTx/>
                  <a:buNone/>
                  <a:tabLst/>
                  <a:defRPr/>
                </a:pPr>
                <a:r>
                  <a:rPr kumimoji="0" lang="fr-FR" sz="900" b="0" i="0" u="none" strike="noStrike" kern="0" cap="none" spc="0" normalizeH="0" baseline="0" noProof="0" dirty="0">
                    <a:ln>
                      <a:noFill/>
                    </a:ln>
                    <a:solidFill>
                      <a:sysClr val="windowText" lastClr="000000"/>
                    </a:solidFill>
                    <a:effectLst/>
                    <a:uLnTx/>
                    <a:uFillTx/>
                    <a:latin typeface="Legacy Serif ITC Pro Book" pitchFamily="50" charset="0"/>
                    <a:ea typeface="Calibri" panose="020F0502020204030204" pitchFamily="34" charset="0"/>
                    <a:cs typeface="Times New Roman" panose="02020603050405020304" pitchFamily="18" charset="0"/>
                  </a:rPr>
                  <a:t> </a:t>
                </a:r>
                <a:endParaRPr kumimoji="0" lang="fr-FR" sz="1100" b="0" i="0" u="none" strike="noStrike" kern="0" cap="none" spc="0" normalizeH="0" baseline="0" noProof="0" dirty="0">
                  <a:ln>
                    <a:noFill/>
                  </a:ln>
                  <a:solidFill>
                    <a:sysClr val="windowText" lastClr="000000"/>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ctr" defTabSz="914400" eaLnBrk="1" fontAlgn="auto" latinLnBrk="0" hangingPunct="1">
                  <a:lnSpc>
                    <a:spcPct val="115000"/>
                  </a:lnSpc>
                  <a:spcBef>
                    <a:spcPts val="0"/>
                  </a:spcBef>
                  <a:spcAft>
                    <a:spcPts val="0"/>
                  </a:spcAft>
                  <a:buClrTx/>
                  <a:buSzTx/>
                  <a:buFontTx/>
                  <a:buNone/>
                  <a:tabLst/>
                  <a:defRPr/>
                </a:pPr>
                <a:r>
                  <a:rPr kumimoji="0" lang="fr-FR" sz="900" b="0" i="0" u="none" strike="noStrike" kern="0" cap="none" spc="0" normalizeH="0" baseline="0" noProof="0" dirty="0">
                    <a:ln>
                      <a:noFill/>
                    </a:ln>
                    <a:solidFill>
                      <a:sysClr val="windowText" lastClr="000000"/>
                    </a:solidFill>
                    <a:effectLst/>
                    <a:uLnTx/>
                    <a:uFillTx/>
                    <a:latin typeface="Legacy Serif ITC Pro Book" pitchFamily="50" charset="0"/>
                    <a:ea typeface="Calibri" panose="020F0502020204030204" pitchFamily="34" charset="0"/>
                    <a:cs typeface="Times New Roman" panose="02020603050405020304" pitchFamily="18" charset="0"/>
                  </a:rPr>
                  <a:t> </a:t>
                </a:r>
                <a:endParaRPr kumimoji="0" lang="fr-FR" sz="1100" b="0" i="0" u="none" strike="noStrike" kern="0" cap="none" spc="0" normalizeH="0" baseline="0" noProof="0" dirty="0">
                  <a:ln>
                    <a:noFill/>
                  </a:ln>
                  <a:solidFill>
                    <a:sysClr val="windowText" lastClr="000000"/>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ctr" defTabSz="914400" eaLnBrk="1" fontAlgn="auto" latinLnBrk="0" hangingPunct="1">
                  <a:lnSpc>
                    <a:spcPct val="115000"/>
                  </a:lnSpc>
                  <a:spcBef>
                    <a:spcPts val="0"/>
                  </a:spcBef>
                  <a:spcAft>
                    <a:spcPts val="0"/>
                  </a:spcAft>
                  <a:buClrTx/>
                  <a:buSzTx/>
                  <a:buFontTx/>
                  <a:buNone/>
                  <a:tabLst/>
                  <a:defRPr/>
                </a:pPr>
                <a:r>
                  <a:rPr kumimoji="0" lang="fr-FR" sz="900" b="0" i="0" u="none" strike="noStrike" kern="0" cap="none" spc="0" normalizeH="0" baseline="0" noProof="0" dirty="0">
                    <a:ln>
                      <a:noFill/>
                    </a:ln>
                    <a:solidFill>
                      <a:srgbClr val="FFFFFF"/>
                    </a:solidFill>
                    <a:effectLst/>
                    <a:uLnTx/>
                    <a:uFillTx/>
                    <a:latin typeface="ITCLegacySerif LT Book" pitchFamily="50" charset="0"/>
                    <a:ea typeface="Calibri" panose="020F0502020204030204" pitchFamily="34" charset="0"/>
                    <a:cs typeface="Times New Roman" panose="02020603050405020304" pitchFamily="18" charset="0"/>
                  </a:rPr>
                  <a:t>Résultat opérationnel (ajusté)</a:t>
                </a:r>
              </a:p>
            </p:txBody>
          </p:sp>
        </p:grpSp>
        <p:grpSp>
          <p:nvGrpSpPr>
            <p:cNvPr id="139" name="Group 138">
              <a:extLst>
                <a:ext uri="{FF2B5EF4-FFF2-40B4-BE49-F238E27FC236}">
                  <a16:creationId xmlns:a16="http://schemas.microsoft.com/office/drawing/2014/main" id="{09E6A0DA-3C79-4B2E-BC62-95292538C8F1}"/>
                </a:ext>
              </a:extLst>
            </p:cNvPr>
            <p:cNvGrpSpPr/>
            <p:nvPr/>
          </p:nvGrpSpPr>
          <p:grpSpPr>
            <a:xfrm>
              <a:off x="1407380" y="0"/>
              <a:ext cx="1368000" cy="1368000"/>
              <a:chOff x="0" y="0"/>
              <a:chExt cx="1368000" cy="1368000"/>
            </a:xfrm>
          </p:grpSpPr>
          <p:sp>
            <p:nvSpPr>
              <p:cNvPr id="140" name="Rectangle: Rounded Corners 139">
                <a:extLst>
                  <a:ext uri="{FF2B5EF4-FFF2-40B4-BE49-F238E27FC236}">
                    <a16:creationId xmlns:a16="http://schemas.microsoft.com/office/drawing/2014/main" id="{15A79AAB-4D5E-4B24-94BA-8C4B5265C206}"/>
                  </a:ext>
                </a:extLst>
              </p:cNvPr>
              <p:cNvSpPr/>
              <p:nvPr/>
            </p:nvSpPr>
            <p:spPr>
              <a:xfrm>
                <a:off x="0" y="0"/>
                <a:ext cx="1368000" cy="1368000"/>
              </a:xfrm>
              <a:prstGeom prst="roundRect">
                <a:avLst>
                  <a:gd name="adj" fmla="val 4667"/>
                </a:avLst>
              </a:prstGeom>
              <a:solidFill>
                <a:srgbClr val="DFDFDF">
                  <a:alpha val="40000"/>
                </a:srgbClr>
              </a:solidFill>
              <a:ln w="25400" cap="flat" cmpd="sng" algn="ctr">
                <a:noFill/>
                <a:prstDash val="solid"/>
              </a:ln>
              <a:effectLst/>
            </p:spPr>
            <p:txBody>
              <a:bodyPr rot="0" spcFirstLastPara="0" vert="horz" wrap="square" lIns="36000" tIns="36000" rIns="36000" bIns="3600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ysClr val="window" lastClr="FFFFFF"/>
                  </a:solidFill>
                  <a:effectLst/>
                  <a:uLnTx/>
                  <a:uFillTx/>
                  <a:latin typeface="Calibri"/>
                  <a:ea typeface="+mn-ea"/>
                  <a:cs typeface="+mn-cs"/>
                </a:endParaRPr>
              </a:p>
            </p:txBody>
          </p:sp>
          <p:sp>
            <p:nvSpPr>
              <p:cNvPr id="141" name="Text Box 2">
                <a:extLst>
                  <a:ext uri="{FF2B5EF4-FFF2-40B4-BE49-F238E27FC236}">
                    <a16:creationId xmlns:a16="http://schemas.microsoft.com/office/drawing/2014/main" id="{0E167383-B7E8-459B-A7BC-6E243FF261A2}"/>
                  </a:ext>
                </a:extLst>
              </p:cNvPr>
              <p:cNvSpPr txBox="1">
                <a:spLocks noChangeArrowheads="1"/>
              </p:cNvSpPr>
              <p:nvPr/>
            </p:nvSpPr>
            <p:spPr bwMode="auto">
              <a:xfrm>
                <a:off x="0" y="0"/>
                <a:ext cx="1367790" cy="131191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72000" tIns="72000" rIns="72000" bIns="72000" anchor="t" anchorCtr="0">
                <a:noAutofit/>
              </a:bodyPr>
              <a:lstStyle/>
              <a:p>
                <a:pPr marL="0" marR="0" lvl="0" indent="0" algn="ctr" defTabSz="914400" eaLnBrk="1" fontAlgn="auto" latinLnBrk="0" hangingPunct="1">
                  <a:lnSpc>
                    <a:spcPct val="115000"/>
                  </a:lnSpc>
                  <a:spcBef>
                    <a:spcPts val="600"/>
                  </a:spcBef>
                  <a:spcAft>
                    <a:spcPts val="0"/>
                  </a:spcAft>
                  <a:buClrTx/>
                  <a:buSzTx/>
                  <a:buFontTx/>
                  <a:buNone/>
                  <a:tabLst/>
                  <a:defRPr/>
                </a:pPr>
                <a:r>
                  <a:rPr kumimoji="0" lang="fr-FR" sz="2800" b="0" u="none" strike="noStrike" kern="0" cap="none" spc="-100" normalizeH="0" noProof="0" dirty="0">
                    <a:ln>
                      <a:noFill/>
                    </a:ln>
                    <a:solidFill>
                      <a:schemeClr val="folHlink"/>
                    </a:solidFill>
                    <a:effectLst/>
                    <a:uLnTx/>
                    <a:uFillTx/>
                    <a:latin typeface="Legacy Serif ITC Pro Medium" pitchFamily="50" charset="0"/>
                    <a:ea typeface="Calibri" panose="020F0502020204030204" pitchFamily="34" charset="0"/>
                    <a:cs typeface="Times New Roman" panose="02020603050405020304" pitchFamily="18" charset="0"/>
                  </a:rPr>
                  <a:t>1.11 </a:t>
                </a:r>
                <a:r>
                  <a:rPr kumimoji="0" lang="fr-FR" sz="2400" b="0" u="none" strike="noStrike" kern="0" cap="none" spc="-100" normalizeH="0" noProof="0" dirty="0" err="1">
                    <a:ln>
                      <a:noFill/>
                    </a:ln>
                    <a:solidFill>
                      <a:schemeClr val="folHlink"/>
                    </a:solidFill>
                    <a:effectLst/>
                    <a:uLnTx/>
                    <a:uFillTx/>
                    <a:latin typeface="Legacy Serif ITC Pro Medium" pitchFamily="50" charset="0"/>
                    <a:ea typeface="Calibri" panose="020F0502020204030204" pitchFamily="34" charset="0"/>
                    <a:cs typeface="Times New Roman" panose="02020603050405020304" pitchFamily="18" charset="0"/>
                  </a:rPr>
                  <a:t>mia</a:t>
                </a:r>
                <a:endParaRPr kumimoji="0" lang="fr-FR" sz="1100" b="0" u="none" strike="noStrike" kern="0" cap="none" spc="-100" normalizeH="0" noProof="0" dirty="0">
                  <a:ln>
                    <a:noFill/>
                  </a:ln>
                  <a:solidFill>
                    <a:schemeClr val="folHlin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ctr" defTabSz="914400" eaLnBrk="1" fontAlgn="auto" latinLnBrk="0" hangingPunct="1">
                  <a:lnSpc>
                    <a:spcPct val="115000"/>
                  </a:lnSpc>
                  <a:spcBef>
                    <a:spcPts val="0"/>
                  </a:spcBef>
                  <a:spcAft>
                    <a:spcPts val="0"/>
                  </a:spcAft>
                  <a:buClrTx/>
                  <a:buSzTx/>
                  <a:buFontTx/>
                  <a:buNone/>
                  <a:tabLst/>
                  <a:defRPr/>
                </a:pPr>
                <a:r>
                  <a:rPr kumimoji="0" lang="fr-FR" sz="900" b="0" i="0" u="none" strike="noStrike" kern="0" cap="none" spc="0" normalizeH="0" baseline="0" noProof="0" dirty="0">
                    <a:ln>
                      <a:noFill/>
                    </a:ln>
                    <a:solidFill>
                      <a:sysClr val="windowText" lastClr="000000"/>
                    </a:solidFill>
                    <a:effectLst/>
                    <a:uLnTx/>
                    <a:uFillTx/>
                    <a:latin typeface="Legacy Serif ITC Pro Book" pitchFamily="50" charset="0"/>
                    <a:ea typeface="Calibri" panose="020F0502020204030204" pitchFamily="34" charset="0"/>
                    <a:cs typeface="Times New Roman" panose="02020603050405020304" pitchFamily="18" charset="0"/>
                  </a:rPr>
                  <a:t> </a:t>
                </a:r>
                <a:endParaRPr kumimoji="0" lang="fr-FR" sz="1100" b="0" i="0" u="none" strike="noStrike" kern="0" cap="none" spc="0" normalizeH="0" baseline="0" noProof="0" dirty="0">
                  <a:ln>
                    <a:noFill/>
                  </a:ln>
                  <a:solidFill>
                    <a:sysClr val="windowText" lastClr="000000"/>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ctr" defTabSz="914400" eaLnBrk="1" fontAlgn="auto" latinLnBrk="0" hangingPunct="1">
                  <a:lnSpc>
                    <a:spcPct val="115000"/>
                  </a:lnSpc>
                  <a:spcBef>
                    <a:spcPts val="0"/>
                  </a:spcBef>
                  <a:spcAft>
                    <a:spcPts val="0"/>
                  </a:spcAft>
                  <a:buClrTx/>
                  <a:buSzTx/>
                  <a:buFontTx/>
                  <a:buNone/>
                  <a:tabLst/>
                  <a:defRPr/>
                </a:pPr>
                <a:r>
                  <a:rPr kumimoji="0" lang="fr-FR" sz="900" b="0" i="0" u="none" strike="noStrike" kern="0" cap="none" spc="0" normalizeH="0" baseline="0" noProof="0" dirty="0">
                    <a:ln>
                      <a:noFill/>
                    </a:ln>
                    <a:solidFill>
                      <a:sysClr val="windowText" lastClr="000000"/>
                    </a:solidFill>
                    <a:effectLst/>
                    <a:uLnTx/>
                    <a:uFillTx/>
                    <a:latin typeface="Legacy Serif ITC Pro Book" pitchFamily="50" charset="0"/>
                    <a:ea typeface="Calibri" panose="020F0502020204030204" pitchFamily="34" charset="0"/>
                    <a:cs typeface="Times New Roman" panose="02020603050405020304" pitchFamily="18" charset="0"/>
                  </a:rPr>
                  <a:t> </a:t>
                </a:r>
                <a:endParaRPr kumimoji="0" lang="fr-FR" sz="1100" b="0" i="0" u="none" strike="noStrike" kern="0" cap="none" spc="0" normalizeH="0" baseline="0" noProof="0" dirty="0">
                  <a:ln>
                    <a:noFill/>
                  </a:ln>
                  <a:solidFill>
                    <a:sysClr val="windowText" lastClr="000000"/>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ctr" defTabSz="914400" eaLnBrk="1" fontAlgn="auto" latinLnBrk="0" hangingPunct="1">
                  <a:lnSpc>
                    <a:spcPct val="115000"/>
                  </a:lnSpc>
                  <a:spcBef>
                    <a:spcPts val="0"/>
                  </a:spcBef>
                  <a:spcAft>
                    <a:spcPts val="0"/>
                  </a:spcAft>
                  <a:buClrTx/>
                  <a:buSzTx/>
                  <a:buFontTx/>
                  <a:buNone/>
                  <a:tabLst/>
                  <a:defRPr/>
                </a:pPr>
                <a:r>
                  <a:rPr kumimoji="0" lang="fr-FR" sz="900" b="0" i="0" u="none" strike="noStrike" kern="0" cap="none" spc="0" normalizeH="0" baseline="0" noProof="0" dirty="0">
                    <a:ln>
                      <a:noFill/>
                    </a:ln>
                    <a:solidFill>
                      <a:sysClr val="windowText" lastClr="000000"/>
                    </a:solidFill>
                    <a:effectLst/>
                    <a:uLnTx/>
                    <a:uFillTx/>
                    <a:latin typeface="Legacy Serif ITC Pro Book" pitchFamily="50" charset="0"/>
                    <a:ea typeface="Calibri" panose="020F0502020204030204" pitchFamily="34" charset="0"/>
                    <a:cs typeface="Times New Roman" panose="02020603050405020304" pitchFamily="18" charset="0"/>
                  </a:rPr>
                  <a:t>Bénéfice net</a:t>
                </a:r>
                <a:endParaRPr kumimoji="0" lang="fr-FR" sz="1100" b="0" i="0" u="none" strike="noStrike" kern="0" cap="none" spc="0" normalizeH="0" baseline="0" noProof="0" dirty="0">
                  <a:ln>
                    <a:noFill/>
                  </a:ln>
                  <a:solidFill>
                    <a:sysClr val="windowText" lastClr="000000"/>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grpSp>
      </p:grpSp>
      <p:pic>
        <p:nvPicPr>
          <p:cNvPr id="3" name="Picture 2">
            <a:extLst>
              <a:ext uri="{FF2B5EF4-FFF2-40B4-BE49-F238E27FC236}">
                <a16:creationId xmlns:a16="http://schemas.microsoft.com/office/drawing/2014/main" id="{EE134537-5F76-3B8E-9AA1-F42B59A0C060}"/>
              </a:ext>
            </a:extLst>
          </p:cNvPr>
          <p:cNvPicPr>
            <a:picLocks noChangeAspect="1"/>
          </p:cNvPicPr>
          <p:nvPr>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bwMode="gray">
          <a:xfrm>
            <a:off x="8411665" y="5251874"/>
            <a:ext cx="401341" cy="279505"/>
          </a:xfrm>
          <a:prstGeom prst="rect">
            <a:avLst/>
          </a:prstGeom>
        </p:spPr>
      </p:pic>
    </p:spTree>
    <p:extLst>
      <p:ext uri="{BB962C8B-B14F-4D97-AF65-F5344CB8AC3E}">
        <p14:creationId xmlns:p14="http://schemas.microsoft.com/office/powerpoint/2010/main" val="40872057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 name="Picture Placeholder 31">
            <a:extLst>
              <a:ext uri="{FF2B5EF4-FFF2-40B4-BE49-F238E27FC236}">
                <a16:creationId xmlns:a16="http://schemas.microsoft.com/office/drawing/2014/main" id="{51365C59-DB62-D3A3-0FC3-84CFA7061785}"/>
              </a:ext>
            </a:extLst>
          </p:cNvPr>
          <p:cNvPicPr>
            <a:picLocks noGrp="1" noChangeAspect="1"/>
          </p:cNvPicPr>
          <p:nvPr>
            <p:ph type="pic" sz="quarter" idx="12"/>
            <p:custDataLst>
              <p:tags r:id="rId1"/>
            </p:custDataLst>
          </p:nvPr>
        </p:nvPicPr>
        <p:blipFill rotWithShape="1">
          <a:blip r:embed="rId5">
            <a:extLst>
              <a:ext uri="{28A0092B-C50C-407E-A947-70E740481C1C}">
                <a14:useLocalDpi xmlns:a14="http://schemas.microsoft.com/office/drawing/2010/main" val="0"/>
              </a:ext>
            </a:extLst>
          </a:blip>
          <a:srcRect t="3129" b="29461"/>
          <a:stretch/>
        </p:blipFill>
        <p:spPr bwMode="gray">
          <a:xfrm>
            <a:off x="0" y="1113733"/>
            <a:ext cx="9144000" cy="3767703"/>
          </a:xfrm>
        </p:spPr>
      </p:pic>
      <p:sp>
        <p:nvSpPr>
          <p:cNvPr id="2" name="Title 1"/>
          <p:cNvSpPr>
            <a:spLocks noGrp="1"/>
          </p:cNvSpPr>
          <p:nvPr>
            <p:ph type="title"/>
          </p:nvPr>
        </p:nvSpPr>
        <p:spPr>
          <a:xfrm>
            <a:off x="250826" y="121196"/>
            <a:ext cx="7200900" cy="1080542"/>
          </a:xfrm>
        </p:spPr>
        <p:txBody>
          <a:bodyPr vert="horz" lIns="36000" tIns="36000" rIns="0" bIns="0" rtlCol="0" anchor="t" anchorCtr="0">
            <a:normAutofit/>
          </a:bodyPr>
          <a:lstStyle/>
          <a:p>
            <a:r>
              <a:rPr lang="fr-FR"/>
              <a:t>Table des matières</a:t>
            </a:r>
            <a:endParaRPr lang="fr-FR" dirty="0"/>
          </a:p>
        </p:txBody>
      </p:sp>
      <p:sp>
        <p:nvSpPr>
          <p:cNvPr id="3" name="Flowchart: Alternate Process 2">
            <a:extLst>
              <a:ext uri="{FF2B5EF4-FFF2-40B4-BE49-F238E27FC236}">
                <a16:creationId xmlns:a16="http://schemas.microsoft.com/office/drawing/2014/main" id="{00D61626-CD83-821F-4452-771DCEA4A1A3}"/>
              </a:ext>
            </a:extLst>
          </p:cNvPr>
          <p:cNvSpPr/>
          <p:nvPr/>
        </p:nvSpPr>
        <p:spPr>
          <a:xfrm>
            <a:off x="179512" y="1480248"/>
            <a:ext cx="6408415" cy="540000"/>
          </a:xfrm>
          <a:prstGeom prst="flowChartAlternateProcess">
            <a:avLst/>
          </a:pr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150000"/>
              </a:lnSpc>
              <a:spcBef>
                <a:spcPts val="600"/>
              </a:spcBef>
              <a:spcAft>
                <a:spcPts val="600"/>
              </a:spcAft>
              <a:buClr>
                <a:srgbClr val="D82034"/>
              </a:buClr>
              <a:buSzPct val="100000"/>
              <a:buFont typeface="Arial" panose="020B0604020202020204" pitchFamily="34" charset="0"/>
            </a:pPr>
            <a:r>
              <a:rPr lang="fr-FR" sz="2000">
                <a:solidFill>
                  <a:srgbClr val="000000"/>
                </a:solidFill>
                <a:latin typeface="Arial" panose="020B0604020202020204" pitchFamily="34" charset="0"/>
                <a:cs typeface="Arial" panose="020B0604020202020204" pitchFamily="34" charset="0"/>
              </a:rPr>
              <a:t>01    </a:t>
            </a:r>
            <a:r>
              <a:rPr lang="fr-FR" sz="1400">
                <a:solidFill>
                  <a:srgbClr val="000000"/>
                </a:solidFill>
                <a:latin typeface="Arial" panose="020B0604020202020204" pitchFamily="34" charset="0"/>
                <a:cs typeface="Arial" panose="020B0604020202020204" pitchFamily="34" charset="0"/>
              </a:rPr>
              <a:t>Pourquoi choisir l’assurance vie luxembourgeoise ?</a:t>
            </a:r>
            <a:endParaRPr lang="fr-FR" sz="1400" dirty="0">
              <a:solidFill>
                <a:srgbClr val="000000"/>
              </a:solidFill>
              <a:latin typeface="Arial" panose="020B0604020202020204" pitchFamily="34" charset="0"/>
              <a:cs typeface="Arial" panose="020B0604020202020204" pitchFamily="34" charset="0"/>
            </a:endParaRPr>
          </a:p>
        </p:txBody>
      </p:sp>
      <p:sp>
        <p:nvSpPr>
          <p:cNvPr id="4" name="Flowchart: Alternate Process 3">
            <a:extLst>
              <a:ext uri="{FF2B5EF4-FFF2-40B4-BE49-F238E27FC236}">
                <a16:creationId xmlns:a16="http://schemas.microsoft.com/office/drawing/2014/main" id="{2BCA4B74-4688-E83A-2748-EB648C766580}"/>
              </a:ext>
            </a:extLst>
          </p:cNvPr>
          <p:cNvSpPr/>
          <p:nvPr/>
        </p:nvSpPr>
        <p:spPr>
          <a:xfrm>
            <a:off x="179512" y="2101356"/>
            <a:ext cx="6408414" cy="540000"/>
          </a:xfrm>
          <a:prstGeom prst="flowChartAlternateProcess">
            <a:avLst/>
          </a:pr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150000"/>
              </a:lnSpc>
              <a:spcBef>
                <a:spcPts val="600"/>
              </a:spcBef>
              <a:spcAft>
                <a:spcPts val="600"/>
              </a:spcAft>
              <a:buClr>
                <a:srgbClr val="D82034"/>
              </a:buClr>
              <a:buSzPct val="100000"/>
              <a:buFont typeface="Arial" panose="020B0604020202020204" pitchFamily="34" charset="0"/>
            </a:pPr>
            <a:r>
              <a:rPr lang="fr-FR" sz="2000">
                <a:solidFill>
                  <a:srgbClr val="000000"/>
                </a:solidFill>
                <a:latin typeface="Arial" panose="020B0604020202020204" pitchFamily="34" charset="0"/>
                <a:cs typeface="Arial" panose="020B0604020202020204" pitchFamily="34" charset="0"/>
              </a:rPr>
              <a:t>02    </a:t>
            </a:r>
            <a:r>
              <a:rPr lang="fr-FR" sz="1400">
                <a:solidFill>
                  <a:srgbClr val="000000"/>
                </a:solidFill>
                <a:latin typeface="Arial" panose="020B0604020202020204" pitchFamily="34" charset="0"/>
                <a:cs typeface="Arial" panose="020B0604020202020204" pitchFamily="34" charset="0"/>
              </a:rPr>
              <a:t>Mise en place du contrat</a:t>
            </a:r>
          </a:p>
          <a:p>
            <a:pPr>
              <a:lnSpc>
                <a:spcPct val="150000"/>
              </a:lnSpc>
              <a:spcBef>
                <a:spcPts val="600"/>
              </a:spcBef>
              <a:spcAft>
                <a:spcPts val="600"/>
              </a:spcAft>
              <a:buClr>
                <a:srgbClr val="D82034"/>
              </a:buClr>
              <a:buSzPct val="100000"/>
              <a:buFont typeface="Arial" panose="020B0604020202020204" pitchFamily="34" charset="0"/>
            </a:pPr>
            <a:endParaRPr lang="fr-FR" sz="1400" dirty="0">
              <a:solidFill>
                <a:srgbClr val="000000"/>
              </a:solidFill>
              <a:latin typeface="Arial" panose="020B0604020202020204" pitchFamily="34" charset="0"/>
              <a:cs typeface="Arial" panose="020B0604020202020204" pitchFamily="34" charset="0"/>
            </a:endParaRPr>
          </a:p>
        </p:txBody>
      </p:sp>
      <p:sp>
        <p:nvSpPr>
          <p:cNvPr id="5" name="Flowchart: Alternate Process 4">
            <a:extLst>
              <a:ext uri="{FF2B5EF4-FFF2-40B4-BE49-F238E27FC236}">
                <a16:creationId xmlns:a16="http://schemas.microsoft.com/office/drawing/2014/main" id="{79388F4A-E058-CFD6-1F66-491027242CF4}"/>
              </a:ext>
            </a:extLst>
          </p:cNvPr>
          <p:cNvSpPr/>
          <p:nvPr/>
        </p:nvSpPr>
        <p:spPr>
          <a:xfrm>
            <a:off x="179513" y="2727585"/>
            <a:ext cx="6408414" cy="540000"/>
          </a:xfrm>
          <a:prstGeom prst="flowChartAlternateProcess">
            <a:avLst/>
          </a:pr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150000"/>
              </a:lnSpc>
              <a:spcBef>
                <a:spcPts val="600"/>
              </a:spcBef>
              <a:spcAft>
                <a:spcPts val="600"/>
              </a:spcAft>
              <a:buClr>
                <a:srgbClr val="D82034"/>
              </a:buClr>
              <a:buSzPct val="100000"/>
              <a:buFont typeface="Arial" panose="020B0604020202020204" pitchFamily="34" charset="0"/>
            </a:pPr>
            <a:r>
              <a:rPr lang="fr-FR" sz="2000" dirty="0">
                <a:solidFill>
                  <a:srgbClr val="000000"/>
                </a:solidFill>
                <a:latin typeface="Arial" panose="020B0604020202020204" pitchFamily="34" charset="0"/>
                <a:cs typeface="Arial" panose="020B0604020202020204" pitchFamily="34" charset="0"/>
              </a:rPr>
              <a:t>03    </a:t>
            </a:r>
            <a:r>
              <a:rPr lang="fr-FR" sz="1400" dirty="0">
                <a:solidFill>
                  <a:srgbClr val="000000"/>
                </a:solidFill>
                <a:latin typeface="Arial" panose="020B0604020202020204" pitchFamily="34" charset="0"/>
                <a:cs typeface="Arial" panose="020B0604020202020204" pitchFamily="34" charset="0"/>
              </a:rPr>
              <a:t>Une offre complète : Premium Lux et Swiss Life Global Solutions</a:t>
            </a:r>
            <a:endParaRPr lang="fr-FR" sz="1400" dirty="0">
              <a:solidFill>
                <a:srgbClr val="000000"/>
              </a:solidFill>
              <a:highlight>
                <a:srgbClr val="FFFF00"/>
              </a:highlight>
              <a:latin typeface="Arial" panose="020B0604020202020204" pitchFamily="34" charset="0"/>
              <a:cs typeface="Arial" panose="020B0604020202020204" pitchFamily="34" charset="0"/>
            </a:endParaRPr>
          </a:p>
        </p:txBody>
      </p:sp>
      <p:sp>
        <p:nvSpPr>
          <p:cNvPr id="6" name="Flowchart: Alternate Process 5">
            <a:extLst>
              <a:ext uri="{FF2B5EF4-FFF2-40B4-BE49-F238E27FC236}">
                <a16:creationId xmlns:a16="http://schemas.microsoft.com/office/drawing/2014/main" id="{05685022-C5E1-DD07-9485-57D71613C33F}"/>
              </a:ext>
            </a:extLst>
          </p:cNvPr>
          <p:cNvSpPr/>
          <p:nvPr/>
        </p:nvSpPr>
        <p:spPr>
          <a:xfrm>
            <a:off x="179512" y="3368606"/>
            <a:ext cx="6408414" cy="540000"/>
          </a:xfrm>
          <a:prstGeom prst="flowChartAlternateProcess">
            <a:avLst/>
          </a:pr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150000"/>
              </a:lnSpc>
              <a:spcBef>
                <a:spcPts val="600"/>
              </a:spcBef>
              <a:spcAft>
                <a:spcPts val="600"/>
              </a:spcAft>
              <a:buClr>
                <a:srgbClr val="D82034"/>
              </a:buClr>
              <a:buSzPct val="100000"/>
              <a:buFont typeface="Arial" panose="020B0604020202020204" pitchFamily="34" charset="0"/>
            </a:pPr>
            <a:r>
              <a:rPr lang="fr-FR" sz="2000">
                <a:solidFill>
                  <a:srgbClr val="000000"/>
                </a:solidFill>
                <a:latin typeface="Arial" panose="020B0604020202020204" pitchFamily="34" charset="0"/>
                <a:cs typeface="Arial" panose="020B0604020202020204" pitchFamily="34" charset="0"/>
              </a:rPr>
              <a:t>04    </a:t>
            </a:r>
            <a:r>
              <a:rPr lang="fr-FR" sz="1400">
                <a:solidFill>
                  <a:srgbClr val="000000"/>
                </a:solidFill>
                <a:latin typeface="Arial" panose="020B0604020202020204" pitchFamily="34" charset="0"/>
                <a:cs typeface="Arial" panose="020B0604020202020204" pitchFamily="34" charset="0"/>
              </a:rPr>
              <a:t>Illustration </a:t>
            </a:r>
            <a:r>
              <a:rPr lang="fr-FR" sz="1400" dirty="0">
                <a:solidFill>
                  <a:srgbClr val="000000"/>
                </a:solidFill>
                <a:latin typeface="Arial" panose="020B0604020202020204" pitchFamily="34" charset="0"/>
                <a:cs typeface="Arial" panose="020B0604020202020204" pitchFamily="34" charset="0"/>
              </a:rPr>
              <a:t>: </a:t>
            </a:r>
            <a:r>
              <a:rPr lang="fr-FR" sz="1400">
                <a:solidFill>
                  <a:srgbClr val="000000"/>
                </a:solidFill>
                <a:latin typeface="Arial" panose="020B0604020202020204" pitchFamily="34" charset="0"/>
                <a:cs typeface="Arial" panose="020B0604020202020204" pitchFamily="34" charset="0"/>
              </a:rPr>
              <a:t>cas pratiques</a:t>
            </a:r>
          </a:p>
          <a:p>
            <a:pPr>
              <a:lnSpc>
                <a:spcPct val="150000"/>
              </a:lnSpc>
              <a:spcBef>
                <a:spcPts val="600"/>
              </a:spcBef>
              <a:spcAft>
                <a:spcPts val="600"/>
              </a:spcAft>
              <a:buClr>
                <a:srgbClr val="D82034"/>
              </a:buClr>
              <a:buSzPct val="100000"/>
              <a:buFont typeface="Arial" panose="020B0604020202020204" pitchFamily="34" charset="0"/>
            </a:pPr>
            <a:endParaRPr lang="fr-FR" sz="1400" dirty="0">
              <a:solidFill>
                <a:srgbClr val="000000"/>
              </a:solidFill>
              <a:latin typeface="Arial" panose="020B0604020202020204" pitchFamily="34" charset="0"/>
              <a:cs typeface="Arial" panose="020B0604020202020204" pitchFamily="34" charset="0"/>
            </a:endParaRPr>
          </a:p>
        </p:txBody>
      </p:sp>
      <p:sp>
        <p:nvSpPr>
          <p:cNvPr id="7" name="Flowchart: Alternate Process 6">
            <a:extLst>
              <a:ext uri="{FF2B5EF4-FFF2-40B4-BE49-F238E27FC236}">
                <a16:creationId xmlns:a16="http://schemas.microsoft.com/office/drawing/2014/main" id="{BE12A7CB-2A9C-650E-D3E8-2A6FABFC587C}"/>
              </a:ext>
            </a:extLst>
          </p:cNvPr>
          <p:cNvSpPr/>
          <p:nvPr/>
        </p:nvSpPr>
        <p:spPr>
          <a:xfrm>
            <a:off x="179512" y="4010911"/>
            <a:ext cx="6408414" cy="540000"/>
          </a:xfrm>
          <a:prstGeom prst="flowChartAlternateProcess">
            <a:avLst/>
          </a:pr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150000"/>
              </a:lnSpc>
              <a:spcBef>
                <a:spcPts val="600"/>
              </a:spcBef>
              <a:spcAft>
                <a:spcPts val="600"/>
              </a:spcAft>
              <a:buClr>
                <a:srgbClr val="D82034"/>
              </a:buClr>
              <a:buSzPct val="100000"/>
              <a:buFont typeface="Arial" panose="020B0604020202020204" pitchFamily="34" charset="0"/>
            </a:pPr>
            <a:r>
              <a:rPr lang="fr-FR" sz="2000">
                <a:solidFill>
                  <a:srgbClr val="000000"/>
                </a:solidFill>
                <a:latin typeface="Arial" panose="020B0604020202020204" pitchFamily="34" charset="0"/>
                <a:cs typeface="Arial" panose="020B0604020202020204" pitchFamily="34" charset="0"/>
              </a:rPr>
              <a:t>05    </a:t>
            </a:r>
            <a:r>
              <a:rPr lang="fr-FR" sz="1400">
                <a:solidFill>
                  <a:srgbClr val="000000"/>
                </a:solidFill>
                <a:latin typeface="Arial" panose="020B0604020202020204" pitchFamily="34" charset="0"/>
                <a:cs typeface="Arial" panose="020B0604020202020204" pitchFamily="34" charset="0"/>
              </a:rPr>
              <a:t>Q&amp;A</a:t>
            </a:r>
          </a:p>
          <a:p>
            <a:pPr>
              <a:lnSpc>
                <a:spcPct val="150000"/>
              </a:lnSpc>
              <a:spcBef>
                <a:spcPts val="600"/>
              </a:spcBef>
              <a:spcAft>
                <a:spcPts val="600"/>
              </a:spcAft>
              <a:buClr>
                <a:srgbClr val="D82034"/>
              </a:buClr>
              <a:buSzPct val="100000"/>
              <a:buFont typeface="Arial" panose="020B0604020202020204" pitchFamily="34" charset="0"/>
            </a:pPr>
            <a:endParaRPr lang="fr-FR" sz="1400" dirty="0">
              <a:solidFill>
                <a:srgbClr val="000000"/>
              </a:solidFill>
              <a:latin typeface="Arial" panose="020B0604020202020204" pitchFamily="34" charset="0"/>
              <a:cs typeface="Arial" panose="020B0604020202020204" pitchFamily="34" charset="0"/>
            </a:endParaRPr>
          </a:p>
        </p:txBody>
      </p:sp>
      <p:pic>
        <p:nvPicPr>
          <p:cNvPr id="8" name="Picture 7">
            <a:extLst>
              <a:ext uri="{FF2B5EF4-FFF2-40B4-BE49-F238E27FC236}">
                <a16:creationId xmlns:a16="http://schemas.microsoft.com/office/drawing/2014/main" id="{B4ED1D2D-2C32-BCC6-F626-F87173379BB8}"/>
              </a:ext>
            </a:extLst>
          </p:cNvPr>
          <p:cNvPicPr>
            <a:picLocks noChangeAspect="1"/>
          </p:cNvPicPr>
          <p:nvPr>
            <p:custDataLst>
              <p:tags r:id="rId2"/>
            </p:custDataLst>
          </p:nvPr>
        </p:nvPicPr>
        <p:blipFill>
          <a:blip r:embed="rId6" cstate="print">
            <a:extLst>
              <a:ext uri="{28A0092B-C50C-407E-A947-70E740481C1C}">
                <a14:useLocalDpi xmlns:a14="http://schemas.microsoft.com/office/drawing/2010/main" val="0"/>
              </a:ext>
            </a:extLst>
          </a:blip>
          <a:stretch>
            <a:fillRect/>
          </a:stretch>
        </p:blipFill>
        <p:spPr bwMode="gray">
          <a:xfrm>
            <a:off x="8411665" y="5251874"/>
            <a:ext cx="401341" cy="279505"/>
          </a:xfrm>
          <a:prstGeom prst="rect">
            <a:avLst/>
          </a:prstGeom>
        </p:spPr>
      </p:pic>
    </p:spTree>
    <p:extLst>
      <p:ext uri="{BB962C8B-B14F-4D97-AF65-F5344CB8AC3E}">
        <p14:creationId xmlns:p14="http://schemas.microsoft.com/office/powerpoint/2010/main" val="7171994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4">
            <a:extLst>
              <a:ext uri="{FF2B5EF4-FFF2-40B4-BE49-F238E27FC236}">
                <a16:creationId xmlns:a16="http://schemas.microsoft.com/office/drawing/2014/main" id="{7FC3E05B-C22B-4677-F109-C4E6178C0974}"/>
              </a:ext>
            </a:extLst>
          </p:cNvPr>
          <p:cNvPicPr>
            <a:picLocks noGrp="1" noChangeAspect="1"/>
          </p:cNvPicPr>
          <p:nvPr>
            <p:ph type="pic" sz="quarter" idx="10"/>
            <p:custDataLst>
              <p:tags r:id="rId1"/>
            </p:custDataLst>
          </p:nvPr>
        </p:nvPicPr>
        <p:blipFill>
          <a:blip r:embed="rId4" cstate="screen">
            <a:extLst>
              <a:ext uri="{28A0092B-C50C-407E-A947-70E740481C1C}">
                <a14:useLocalDpi xmlns:a14="http://schemas.microsoft.com/office/drawing/2010/main"/>
              </a:ext>
            </a:extLst>
          </a:blip>
          <a:srcRect/>
          <a:stretch>
            <a:fillRect/>
          </a:stretch>
        </p:blipFill>
        <p:spPr bwMode="gray"/>
      </p:pic>
      <p:sp>
        <p:nvSpPr>
          <p:cNvPr id="3" name="Title 2"/>
          <p:cNvSpPr>
            <a:spLocks noGrp="1"/>
          </p:cNvSpPr>
          <p:nvPr>
            <p:ph type="title"/>
          </p:nvPr>
        </p:nvSpPr>
        <p:spPr>
          <a:xfrm>
            <a:off x="0" y="2046987"/>
            <a:ext cx="6948264" cy="644756"/>
          </a:xfrm>
        </p:spPr>
        <p:txBody>
          <a:bodyPr/>
          <a:lstStyle/>
          <a:p>
            <a:r>
              <a:rPr lang="fr-FR"/>
              <a:t>01 Pourquoi l’assurance vie luxembourgeoise ?</a:t>
            </a:r>
            <a:endParaRPr lang="fr-FR" dirty="0"/>
          </a:p>
        </p:txBody>
      </p:sp>
      <p:pic>
        <p:nvPicPr>
          <p:cNvPr id="4" name="Picture 3">
            <a:extLst>
              <a:ext uri="{FF2B5EF4-FFF2-40B4-BE49-F238E27FC236}">
                <a16:creationId xmlns:a16="http://schemas.microsoft.com/office/drawing/2014/main" id="{E9B0A0C1-1D7F-0C69-60A1-30B626CB06A3}"/>
              </a:ext>
            </a:extLst>
          </p:cNvPr>
          <p:cNvPicPr>
            <a:picLocks noChangeAspect="1"/>
          </p:cNvPicPr>
          <p:nvPr>
            <p:custDataLst>
              <p:tags r:id="rId2"/>
            </p:custDataLst>
          </p:nvPr>
        </p:nvPicPr>
        <p:blipFill>
          <a:blip r:embed="rId5" cstate="print">
            <a:extLst>
              <a:ext uri="{28A0092B-C50C-407E-A947-70E740481C1C}">
                <a14:useLocalDpi xmlns:a14="http://schemas.microsoft.com/office/drawing/2010/main" val="0"/>
              </a:ext>
            </a:extLst>
          </a:blip>
          <a:stretch>
            <a:fillRect/>
          </a:stretch>
        </p:blipFill>
        <p:spPr bwMode="gray">
          <a:xfrm>
            <a:off x="8150398" y="5133975"/>
            <a:ext cx="584769" cy="407250"/>
          </a:xfrm>
          <a:prstGeom prst="rect">
            <a:avLst/>
          </a:prstGeom>
        </p:spPr>
      </p:pic>
    </p:spTree>
    <p:extLst>
      <p:ext uri="{BB962C8B-B14F-4D97-AF65-F5344CB8AC3E}">
        <p14:creationId xmlns:p14="http://schemas.microsoft.com/office/powerpoint/2010/main" val="5013700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descr="A picture containing text, wall, indoor, person&#10;&#10;Description automatically generated">
            <a:extLst>
              <a:ext uri="{FF2B5EF4-FFF2-40B4-BE49-F238E27FC236}">
                <a16:creationId xmlns:a16="http://schemas.microsoft.com/office/drawing/2014/main" id="{6FD5AD54-836F-4C22-B4BB-87AE02E5D4C3}"/>
              </a:ext>
            </a:extLst>
          </p:cNvPr>
          <p:cNvPicPr>
            <a:picLocks noChangeAspect="1"/>
          </p:cNvPicPr>
          <p:nvPr/>
        </p:nvPicPr>
        <p:blipFill rotWithShape="1">
          <a:blip r:embed="rId5" cstate="print">
            <a:extLst>
              <a:ext uri="{BEBA8EAE-BF5A-486C-A8C5-ECC9F3942E4B}">
                <a14:imgProps xmlns:a14="http://schemas.microsoft.com/office/drawing/2010/main">
                  <a14:imgLayer r:embed="rId6">
                    <a14:imgEffect>
                      <a14:brightnessContrast bright="-20000"/>
                    </a14:imgEffect>
                  </a14:imgLayer>
                </a14:imgProps>
              </a:ext>
              <a:ext uri="{28A0092B-C50C-407E-A947-70E740481C1C}">
                <a14:useLocalDpi xmlns:a14="http://schemas.microsoft.com/office/drawing/2010/main" val="0"/>
              </a:ext>
            </a:extLst>
          </a:blip>
          <a:srcRect l="23387" t="2452" r="30000" b="3693"/>
          <a:stretch/>
        </p:blipFill>
        <p:spPr>
          <a:xfrm>
            <a:off x="152523" y="1143576"/>
            <a:ext cx="3311650" cy="4450228"/>
          </a:xfrm>
          <a:prstGeom prst="rect">
            <a:avLst/>
          </a:prstGeom>
        </p:spPr>
      </p:pic>
      <p:sp>
        <p:nvSpPr>
          <p:cNvPr id="45" name="TextBox 44"/>
          <p:cNvSpPr txBox="1">
            <a:spLocks noChangeAspect="1"/>
          </p:cNvSpPr>
          <p:nvPr/>
        </p:nvSpPr>
        <p:spPr>
          <a:xfrm>
            <a:off x="4588906" y="3188144"/>
            <a:ext cx="3311649" cy="764055"/>
          </a:xfrm>
          <a:prstGeom prst="rect">
            <a:avLst/>
          </a:prstGeom>
          <a:noFill/>
        </p:spPr>
        <p:txBody>
          <a:bodyPr wrap="square" rtlCol="0">
            <a:spAutoFit/>
          </a:bodyPr>
          <a:lstStyle/>
          <a:p>
            <a:pPr marL="0" marR="0" lvl="0" indent="0" algn="l" defTabSz="355600" rtl="0" eaLnBrk="1" fontAlgn="auto" latinLnBrk="0" hangingPunct="1">
              <a:lnSpc>
                <a:spcPct val="90000"/>
              </a:lnSpc>
              <a:spcBef>
                <a:spcPct val="0"/>
              </a:spcBef>
              <a:spcAft>
                <a:spcPts val="0"/>
              </a:spcAft>
              <a:buClrTx/>
              <a:buSzTx/>
              <a:buFontTx/>
              <a:buNone/>
              <a:tabLst/>
              <a:defRPr/>
            </a:pPr>
            <a:r>
              <a:rPr lang="fr-FR" i="1" dirty="0">
                <a:solidFill>
                  <a:srgbClr val="000000"/>
                </a:solidFill>
                <a:latin typeface="+mj-lt"/>
                <a:ea typeface="ＭＳ Ｐゴシック" pitchFamily="34" charset="-128"/>
              </a:rPr>
              <a:t>Souplesse d’investissements</a:t>
            </a:r>
          </a:p>
          <a:p>
            <a:pPr marL="0" marR="0" lvl="0" indent="0" algn="l" defTabSz="355600" rtl="0" eaLnBrk="1" fontAlgn="auto" latinLnBrk="0" hangingPunct="1">
              <a:lnSpc>
                <a:spcPct val="90000"/>
              </a:lnSpc>
              <a:spcBef>
                <a:spcPct val="0"/>
              </a:spcBef>
              <a:spcAft>
                <a:spcPts val="0"/>
              </a:spcAft>
              <a:buClrTx/>
              <a:buSzTx/>
              <a:buFontTx/>
              <a:buNone/>
              <a:tabLst/>
              <a:defRPr/>
            </a:pPr>
            <a:endParaRPr kumimoji="0" lang="fr-FR" sz="1000" b="0" i="0" u="none" strike="noStrike" kern="1200" cap="none" spc="0" normalizeH="0" baseline="0" noProof="0" dirty="0">
              <a:ln>
                <a:noFill/>
              </a:ln>
              <a:solidFill>
                <a:srgbClr val="C0C0C0">
                  <a:lumMod val="50000"/>
                </a:srgbClr>
              </a:solidFill>
              <a:effectLst/>
              <a:uLnTx/>
              <a:uFillTx/>
              <a:latin typeface="Arial"/>
              <a:ea typeface="+mn-ea"/>
              <a:cs typeface="+mn-cs"/>
            </a:endParaRPr>
          </a:p>
          <a:p>
            <a:pPr marL="228600" indent="-228600" defTabSz="355600">
              <a:lnSpc>
                <a:spcPct val="90000"/>
              </a:lnSpc>
              <a:spcBef>
                <a:spcPct val="0"/>
              </a:spcBef>
              <a:buClr>
                <a:srgbClr val="D82034"/>
              </a:buClr>
              <a:buSzPct val="100000"/>
              <a:buFont typeface="Arial" panose="020B0604020202020204" pitchFamily="34" charset="0"/>
              <a:buChar char="•"/>
              <a:defRPr/>
            </a:pPr>
            <a:r>
              <a:rPr lang="fr-FR" sz="1050" dirty="0">
                <a:solidFill>
                  <a:srgbClr val="C0C0C0">
                    <a:lumMod val="50000"/>
                  </a:srgbClr>
                </a:solidFill>
                <a:latin typeface="Arial" panose="020B0604020202020204" pitchFamily="34" charset="0"/>
              </a:rPr>
              <a:t>Large univers d’investissements</a:t>
            </a:r>
          </a:p>
          <a:p>
            <a:pPr marL="228600" indent="-228600" defTabSz="355600">
              <a:lnSpc>
                <a:spcPct val="90000"/>
              </a:lnSpc>
              <a:spcBef>
                <a:spcPct val="0"/>
              </a:spcBef>
              <a:buClr>
                <a:srgbClr val="D82034"/>
              </a:buClr>
              <a:buSzPct val="100000"/>
              <a:buFont typeface="Arial" panose="020B0604020202020204" pitchFamily="34" charset="0"/>
              <a:buChar char="•"/>
              <a:defRPr/>
            </a:pPr>
            <a:r>
              <a:rPr kumimoji="0" lang="fr-FR" sz="1050" b="0" i="0" u="none" strike="noStrike" kern="1200" cap="none" spc="0" normalizeH="0" baseline="0" noProof="0" dirty="0">
                <a:ln>
                  <a:noFill/>
                </a:ln>
                <a:solidFill>
                  <a:srgbClr val="C0C0C0">
                    <a:lumMod val="50000"/>
                  </a:srgbClr>
                </a:solidFill>
                <a:effectLst/>
                <a:uLnTx/>
                <a:uFillTx/>
                <a:latin typeface="Arial" panose="020B0604020202020204" pitchFamily="34" charset="0"/>
                <a:ea typeface="+mn-ea"/>
                <a:cs typeface="+mn-cs"/>
              </a:rPr>
              <a:t>Choix </a:t>
            </a:r>
            <a:r>
              <a:rPr lang="fr-FR" sz="1050" dirty="0">
                <a:solidFill>
                  <a:srgbClr val="C0C0C0">
                    <a:lumMod val="50000"/>
                  </a:srgbClr>
                </a:solidFill>
                <a:latin typeface="Arial" panose="020B0604020202020204" pitchFamily="34" charset="0"/>
              </a:rPr>
              <a:t>de la gestion</a:t>
            </a:r>
            <a:endParaRPr kumimoji="0" lang="fr-FR" sz="1000" b="0" i="0" u="none" strike="noStrike" kern="1200" cap="none" spc="0" normalizeH="0" baseline="0" noProof="0" dirty="0">
              <a:ln>
                <a:noFill/>
              </a:ln>
              <a:solidFill>
                <a:srgbClr val="C0C0C0">
                  <a:lumMod val="50000"/>
                </a:srgbClr>
              </a:solidFill>
              <a:effectLst/>
              <a:uLnTx/>
              <a:uFillTx/>
              <a:latin typeface="Arial"/>
              <a:ea typeface="+mn-ea"/>
              <a:cs typeface="+mn-cs"/>
            </a:endParaRPr>
          </a:p>
        </p:txBody>
      </p:sp>
      <p:sp>
        <p:nvSpPr>
          <p:cNvPr id="46" name="Rechteck 3"/>
          <p:cNvSpPr/>
          <p:nvPr/>
        </p:nvSpPr>
        <p:spPr>
          <a:xfrm>
            <a:off x="9063485" y="3646347"/>
            <a:ext cx="101395" cy="416011"/>
          </a:xfrm>
          <a:prstGeom prst="rect">
            <a:avLst/>
          </a:prstGeom>
          <a:noFill/>
        </p:spPr>
        <p:txBody>
          <a:bodyPr wrap="square" rtlCol="0" anchor="ctr">
            <a:spAutoFit/>
          </a:bodyPr>
          <a:lstStyle/>
          <a:p>
            <a:pPr marL="0" marR="0" lvl="0" indent="-342900" algn="ctr" defTabSz="914400" rtl="0" eaLnBrk="1" fontAlgn="auto" latinLnBrk="0" hangingPunct="1">
              <a:lnSpc>
                <a:spcPct val="150000"/>
              </a:lnSpc>
              <a:spcBef>
                <a:spcPts val="0"/>
              </a:spcBef>
              <a:spcAft>
                <a:spcPts val="0"/>
              </a:spcAft>
              <a:buClr>
                <a:srgbClr val="D82034"/>
              </a:buClr>
              <a:buSzPct val="100000"/>
              <a:buFont typeface="Arial" panose="020B0604020202020204" pitchFamily="34" charset="0"/>
              <a:buChar char="•"/>
              <a:tabLst/>
              <a:defRPr/>
            </a:pPr>
            <a:endParaRPr kumimoji="0" lang="fr-FR" sz="1600" b="0" i="0" u="none" strike="noStrike" kern="1200" cap="none" spc="0" normalizeH="0" baseline="0" noProof="0" dirty="0">
              <a:ln>
                <a:noFill/>
              </a:ln>
              <a:solidFill>
                <a:srgbClr val="000000"/>
              </a:solidFill>
              <a:effectLst/>
              <a:uLnTx/>
              <a:uFillTx/>
              <a:latin typeface="Arial"/>
              <a:ea typeface="+mn-ea"/>
              <a:cs typeface="Arial"/>
            </a:endParaRPr>
          </a:p>
        </p:txBody>
      </p:sp>
      <p:sp>
        <p:nvSpPr>
          <p:cNvPr id="42" name="TextBox 41"/>
          <p:cNvSpPr txBox="1"/>
          <p:nvPr/>
        </p:nvSpPr>
        <p:spPr>
          <a:xfrm>
            <a:off x="4614381" y="4239760"/>
            <a:ext cx="3679375" cy="1027204"/>
          </a:xfrm>
          <a:prstGeom prst="rect">
            <a:avLst/>
          </a:prstGeom>
          <a:noFill/>
        </p:spPr>
        <p:txBody>
          <a:bodyPr wrap="square" rtlCol="0">
            <a:spAutoFit/>
          </a:bodyPr>
          <a:lstStyle/>
          <a:p>
            <a:pPr defTabSz="355600">
              <a:lnSpc>
                <a:spcPct val="90000"/>
              </a:lnSpc>
              <a:spcBef>
                <a:spcPct val="0"/>
              </a:spcBef>
              <a:defRPr/>
            </a:pPr>
            <a:r>
              <a:rPr lang="fr-FR" i="1" dirty="0">
                <a:solidFill>
                  <a:srgbClr val="000000"/>
                </a:solidFill>
                <a:latin typeface="+mj-lt"/>
                <a:ea typeface="ＭＳ Ｐゴシック" pitchFamily="34" charset="-128"/>
              </a:rPr>
              <a:t>Solution patrimoniale sur-mesure </a:t>
            </a:r>
          </a:p>
          <a:p>
            <a:pPr marL="0" marR="0" lvl="0" indent="0" algn="l" defTabSz="355600" rtl="0" eaLnBrk="1" fontAlgn="auto" latinLnBrk="0" hangingPunct="1">
              <a:lnSpc>
                <a:spcPct val="90000"/>
              </a:lnSpc>
              <a:spcBef>
                <a:spcPct val="0"/>
              </a:spcBef>
              <a:spcAft>
                <a:spcPts val="0"/>
              </a:spcAft>
              <a:buClrTx/>
              <a:buSzTx/>
              <a:buFontTx/>
              <a:buNone/>
              <a:tabLst/>
              <a:defRPr/>
            </a:pPr>
            <a:endParaRPr kumimoji="0" lang="fr-FR" sz="1000" b="0" i="0" u="none" strike="noStrike" kern="1200" cap="none" spc="0" normalizeH="0" baseline="0" noProof="0" dirty="0">
              <a:ln>
                <a:noFill/>
              </a:ln>
              <a:solidFill>
                <a:srgbClr val="C0C0C0">
                  <a:lumMod val="50000"/>
                </a:srgbClr>
              </a:solidFill>
              <a:effectLst/>
              <a:uLnTx/>
              <a:uFillTx/>
              <a:latin typeface="Arial"/>
              <a:ea typeface="+mn-ea"/>
              <a:cs typeface="+mn-cs"/>
            </a:endParaRPr>
          </a:p>
          <a:p>
            <a:pPr marL="228600" indent="-228600" defTabSz="355600">
              <a:lnSpc>
                <a:spcPct val="90000"/>
              </a:lnSpc>
              <a:spcBef>
                <a:spcPct val="0"/>
              </a:spcBef>
              <a:buClr>
                <a:srgbClr val="D82034"/>
              </a:buClr>
              <a:buSzPct val="100000"/>
              <a:buFont typeface="Arial" panose="020B0604020202020204" pitchFamily="34" charset="0"/>
              <a:buChar char="•"/>
              <a:defRPr/>
            </a:pPr>
            <a:r>
              <a:rPr kumimoji="0" lang="fr-FR" sz="1050" b="0" i="0" u="none" strike="noStrike" kern="1200" cap="none" spc="0" normalizeH="0" baseline="0" noProof="0" dirty="0">
                <a:ln>
                  <a:noFill/>
                </a:ln>
                <a:solidFill>
                  <a:srgbClr val="C0C0C0">
                    <a:lumMod val="50000"/>
                  </a:srgbClr>
                </a:solidFill>
                <a:effectLst/>
                <a:uLnTx/>
                <a:uFillTx/>
                <a:latin typeface="Arial"/>
                <a:ea typeface="+mn-ea"/>
                <a:cs typeface="+mn-cs"/>
              </a:rPr>
              <a:t>Fiscalité de l’assurance vie du pays de résidence</a:t>
            </a:r>
          </a:p>
          <a:p>
            <a:pPr marL="228600" indent="-228600" defTabSz="355600">
              <a:lnSpc>
                <a:spcPct val="90000"/>
              </a:lnSpc>
              <a:spcBef>
                <a:spcPct val="0"/>
              </a:spcBef>
              <a:buClr>
                <a:srgbClr val="D82034"/>
              </a:buClr>
              <a:buSzPct val="100000"/>
              <a:buFont typeface="Arial" panose="020B0604020202020204" pitchFamily="34" charset="0"/>
              <a:buChar char="•"/>
              <a:defRPr/>
            </a:pPr>
            <a:r>
              <a:rPr lang="fr-FR" sz="1050" dirty="0">
                <a:solidFill>
                  <a:srgbClr val="C0C0C0">
                    <a:lumMod val="50000"/>
                  </a:srgbClr>
                </a:solidFill>
                <a:latin typeface="Arial"/>
              </a:rPr>
              <a:t>Planification successorale</a:t>
            </a:r>
          </a:p>
          <a:p>
            <a:pPr marL="228600" indent="-228600" defTabSz="355600">
              <a:lnSpc>
                <a:spcPct val="90000"/>
              </a:lnSpc>
              <a:spcBef>
                <a:spcPct val="0"/>
              </a:spcBef>
              <a:buClr>
                <a:srgbClr val="D82034"/>
              </a:buClr>
              <a:buSzPct val="100000"/>
              <a:buFont typeface="Arial" panose="020B0604020202020204" pitchFamily="34" charset="0"/>
              <a:buChar char="•"/>
              <a:defRPr/>
            </a:pPr>
            <a:r>
              <a:rPr kumimoji="0" lang="fr-FR" sz="1050" b="0" i="0" u="none" strike="noStrike" kern="1200" cap="none" spc="0" normalizeH="0" baseline="0" noProof="0" dirty="0" err="1">
                <a:ln>
                  <a:noFill/>
                </a:ln>
                <a:solidFill>
                  <a:srgbClr val="C0C0C0">
                    <a:lumMod val="50000"/>
                  </a:srgbClr>
                </a:solidFill>
                <a:effectLst/>
                <a:uLnTx/>
                <a:uFillTx/>
                <a:latin typeface="Arial"/>
                <a:ea typeface="+mn-ea"/>
                <a:cs typeface="+mn-cs"/>
              </a:rPr>
              <a:t>Liquid</a:t>
            </a:r>
            <a:r>
              <a:rPr lang="fr-FR" sz="1050" dirty="0" err="1">
                <a:solidFill>
                  <a:srgbClr val="C0C0C0">
                    <a:lumMod val="50000"/>
                  </a:srgbClr>
                </a:solidFill>
                <a:latin typeface="Arial"/>
              </a:rPr>
              <a:t>ités</a:t>
            </a:r>
            <a:r>
              <a:rPr lang="fr-FR" sz="1050" dirty="0">
                <a:solidFill>
                  <a:srgbClr val="C0C0C0">
                    <a:lumMod val="50000"/>
                  </a:srgbClr>
                </a:solidFill>
                <a:latin typeface="Arial"/>
              </a:rPr>
              <a:t> complémentaires : Swiss Life </a:t>
            </a:r>
            <a:r>
              <a:rPr lang="fr-FR" sz="1050" dirty="0" err="1">
                <a:solidFill>
                  <a:srgbClr val="C0C0C0">
                    <a:lumMod val="50000"/>
                  </a:srgbClr>
                </a:solidFill>
                <a:latin typeface="Arial"/>
              </a:rPr>
              <a:t>Generations</a:t>
            </a:r>
            <a:endParaRPr kumimoji="0" lang="fr-FR" sz="1050" b="0" i="0" u="none" strike="noStrike" kern="1200" cap="none" spc="0" normalizeH="0" baseline="0" noProof="0" dirty="0">
              <a:ln>
                <a:noFill/>
              </a:ln>
              <a:solidFill>
                <a:srgbClr val="C0C0C0">
                  <a:lumMod val="50000"/>
                </a:srgbClr>
              </a:solidFill>
              <a:effectLst/>
              <a:uLnTx/>
              <a:uFillTx/>
              <a:latin typeface="Arial"/>
              <a:ea typeface="+mn-ea"/>
              <a:cs typeface="+mn-cs"/>
            </a:endParaRPr>
          </a:p>
          <a:p>
            <a:pPr marL="72000" marR="0" lvl="0" indent="0" algn="l" defTabSz="355600" rtl="0" eaLnBrk="1" fontAlgn="auto" latinLnBrk="0" hangingPunct="1">
              <a:lnSpc>
                <a:spcPct val="90000"/>
              </a:lnSpc>
              <a:spcBef>
                <a:spcPct val="0"/>
              </a:spcBef>
              <a:spcAft>
                <a:spcPts val="0"/>
              </a:spcAft>
              <a:buClrTx/>
              <a:buSzTx/>
              <a:buFontTx/>
              <a:buNone/>
              <a:tabLst/>
              <a:defRPr/>
            </a:pPr>
            <a:endParaRPr kumimoji="0" lang="fr-FR" sz="800" b="0" i="0" u="none" strike="noStrike" kern="1200" cap="none" spc="0" normalizeH="0" baseline="0" noProof="0" dirty="0">
              <a:ln>
                <a:noFill/>
              </a:ln>
              <a:solidFill>
                <a:srgbClr val="C0C0C0">
                  <a:lumMod val="50000"/>
                </a:srgbClr>
              </a:solidFill>
              <a:effectLst/>
              <a:uLnTx/>
              <a:uFillTx/>
              <a:latin typeface="Arial"/>
              <a:ea typeface="+mn-ea"/>
              <a:cs typeface="+mn-cs"/>
            </a:endParaRPr>
          </a:p>
        </p:txBody>
      </p:sp>
      <p:sp>
        <p:nvSpPr>
          <p:cNvPr id="11" name="TextBox 10"/>
          <p:cNvSpPr txBox="1"/>
          <p:nvPr/>
        </p:nvSpPr>
        <p:spPr>
          <a:xfrm>
            <a:off x="4588906" y="1092207"/>
            <a:ext cx="3095624" cy="1006429"/>
          </a:xfrm>
          <a:prstGeom prst="rect">
            <a:avLst/>
          </a:prstGeom>
          <a:noFill/>
        </p:spPr>
        <p:txBody>
          <a:bodyPr wrap="square" rtlCol="0">
            <a:spAutoFit/>
          </a:bodyPr>
          <a:lstStyle/>
          <a:p>
            <a:pPr marL="0" marR="0" lvl="0" indent="0" algn="l" defTabSz="355600" rtl="0" eaLnBrk="1" fontAlgn="auto" latinLnBrk="0" hangingPunct="1">
              <a:lnSpc>
                <a:spcPct val="90000"/>
              </a:lnSpc>
              <a:spcBef>
                <a:spcPct val="0"/>
              </a:spcBef>
              <a:spcAft>
                <a:spcPts val="0"/>
              </a:spcAft>
              <a:buClrTx/>
              <a:buSzTx/>
              <a:buFontTx/>
              <a:buNone/>
              <a:tabLst/>
              <a:defRPr/>
            </a:pPr>
            <a:r>
              <a:rPr lang="fr-FR" i="1" dirty="0">
                <a:solidFill>
                  <a:srgbClr val="000000"/>
                </a:solidFill>
                <a:latin typeface="+mj-lt"/>
                <a:ea typeface="ＭＳ Ｐゴシック" pitchFamily="34" charset="-128"/>
              </a:rPr>
              <a:t>Luxembourg</a:t>
            </a:r>
          </a:p>
          <a:p>
            <a:pPr marL="0" marR="0" lvl="0" indent="0" algn="l" defTabSz="355600" rtl="0" eaLnBrk="1" fontAlgn="auto" latinLnBrk="0" hangingPunct="1">
              <a:lnSpc>
                <a:spcPct val="90000"/>
              </a:lnSpc>
              <a:spcBef>
                <a:spcPct val="0"/>
              </a:spcBef>
              <a:spcAft>
                <a:spcPts val="0"/>
              </a:spcAft>
              <a:buClrTx/>
              <a:buSzTx/>
              <a:buFontTx/>
              <a:buNone/>
              <a:tabLst/>
              <a:defRPr/>
            </a:pPr>
            <a:endParaRPr kumimoji="0" lang="fr-FR" sz="1000" b="0" i="0" u="none" strike="noStrike" kern="1200" cap="none" spc="0" normalizeH="0" baseline="0" noProof="0" dirty="0">
              <a:ln>
                <a:noFill/>
              </a:ln>
              <a:solidFill>
                <a:srgbClr val="C0C0C0">
                  <a:lumMod val="50000"/>
                </a:srgbClr>
              </a:solidFill>
              <a:effectLst/>
              <a:uLnTx/>
              <a:uFillTx/>
              <a:latin typeface="Arial"/>
              <a:ea typeface="+mn-ea"/>
              <a:cs typeface="+mn-cs"/>
            </a:endParaRPr>
          </a:p>
          <a:p>
            <a:pPr marL="228600" indent="-228600" defTabSz="355600">
              <a:lnSpc>
                <a:spcPct val="90000"/>
              </a:lnSpc>
              <a:spcBef>
                <a:spcPct val="0"/>
              </a:spcBef>
              <a:buClr>
                <a:srgbClr val="D82034"/>
              </a:buClr>
              <a:buSzPct val="100000"/>
              <a:buFont typeface="Arial" panose="020B0604020202020204" pitchFamily="34" charset="0"/>
              <a:buChar char="•"/>
              <a:defRPr/>
            </a:pPr>
            <a:r>
              <a:rPr kumimoji="0" lang="fr-FR" sz="1050" b="0" i="0" u="none" strike="noStrike" kern="1200" cap="none" spc="0" normalizeH="0" baseline="0" noProof="0" dirty="0" err="1">
                <a:ln>
                  <a:noFill/>
                </a:ln>
                <a:solidFill>
                  <a:srgbClr val="C0C0C0">
                    <a:lumMod val="50000"/>
                  </a:srgbClr>
                </a:solidFill>
                <a:effectLst/>
                <a:uLnTx/>
                <a:uFillTx/>
                <a:latin typeface="Arial"/>
                <a:ea typeface="+mn-ea"/>
                <a:cs typeface="+mn-cs"/>
              </a:rPr>
              <a:t>Stabilit</a:t>
            </a:r>
            <a:r>
              <a:rPr lang="fr-FR" sz="1050" dirty="0">
                <a:solidFill>
                  <a:srgbClr val="C0C0C0">
                    <a:lumMod val="50000"/>
                  </a:srgbClr>
                </a:solidFill>
                <a:latin typeface="Arial"/>
              </a:rPr>
              <a:t>é politique </a:t>
            </a:r>
          </a:p>
          <a:p>
            <a:pPr marL="228600" indent="-228600" defTabSz="355600">
              <a:lnSpc>
                <a:spcPct val="90000"/>
              </a:lnSpc>
              <a:spcBef>
                <a:spcPct val="0"/>
              </a:spcBef>
              <a:buClr>
                <a:srgbClr val="D82034"/>
              </a:buClr>
              <a:buSzPct val="100000"/>
              <a:buFont typeface="Arial" panose="020B0604020202020204" pitchFamily="34" charset="0"/>
              <a:buChar char="•"/>
              <a:defRPr/>
            </a:pPr>
            <a:r>
              <a:rPr kumimoji="0" lang="fr-FR" sz="1050" b="0" i="0" u="none" strike="noStrike" kern="1200" cap="none" spc="0" normalizeH="0" baseline="0" noProof="0" dirty="0">
                <a:ln>
                  <a:noFill/>
                </a:ln>
                <a:solidFill>
                  <a:srgbClr val="C0C0C0">
                    <a:lumMod val="50000"/>
                  </a:srgbClr>
                </a:solidFill>
                <a:effectLst/>
                <a:uLnTx/>
                <a:uFillTx/>
                <a:latin typeface="Arial"/>
                <a:ea typeface="+mn-ea"/>
                <a:cs typeface="+mn-cs"/>
              </a:rPr>
              <a:t>Cadre juridique strict</a:t>
            </a:r>
          </a:p>
          <a:p>
            <a:pPr marL="0" marR="0" lvl="0" indent="0" algn="l" defTabSz="355600" rtl="0" eaLnBrk="1" fontAlgn="auto" latinLnBrk="0" hangingPunct="1">
              <a:lnSpc>
                <a:spcPct val="90000"/>
              </a:lnSpc>
              <a:spcBef>
                <a:spcPct val="0"/>
              </a:spcBef>
              <a:spcAft>
                <a:spcPts val="0"/>
              </a:spcAft>
              <a:buClrTx/>
              <a:buSzTx/>
              <a:buFontTx/>
              <a:buNone/>
              <a:tabLst/>
              <a:defRPr/>
            </a:pPr>
            <a:endParaRPr kumimoji="0" lang="fr-FR" sz="900" b="0" i="0" u="none" strike="noStrike" kern="1200" cap="none" spc="0" normalizeH="0" baseline="0" noProof="0" dirty="0">
              <a:ln>
                <a:noFill/>
              </a:ln>
              <a:solidFill>
                <a:srgbClr val="C0C0C0">
                  <a:lumMod val="50000"/>
                </a:srgbClr>
              </a:solidFill>
              <a:effectLst/>
              <a:uLnTx/>
              <a:uFillTx/>
              <a:latin typeface="Arial"/>
              <a:ea typeface="+mn-ea"/>
              <a:cs typeface="+mn-cs"/>
            </a:endParaRPr>
          </a:p>
          <a:p>
            <a:pPr marL="0" marR="0" lvl="0" indent="0" algn="l" defTabSz="355600" rtl="0" eaLnBrk="1" fontAlgn="auto" latinLnBrk="0" hangingPunct="1">
              <a:lnSpc>
                <a:spcPct val="90000"/>
              </a:lnSpc>
              <a:spcBef>
                <a:spcPct val="0"/>
              </a:spcBef>
              <a:spcAft>
                <a:spcPts val="0"/>
              </a:spcAft>
              <a:buClrTx/>
              <a:buSzTx/>
              <a:buFontTx/>
              <a:buNone/>
              <a:tabLst/>
              <a:defRPr/>
            </a:pPr>
            <a:endParaRPr kumimoji="0" lang="fr-FR" sz="800" b="0" i="0" u="none" strike="noStrike" kern="1200" cap="none" spc="0" normalizeH="0" baseline="0" noProof="0" dirty="0">
              <a:ln>
                <a:noFill/>
              </a:ln>
              <a:solidFill>
                <a:srgbClr val="C0C0C0">
                  <a:lumMod val="50000"/>
                </a:srgbClr>
              </a:solidFill>
              <a:effectLst/>
              <a:uLnTx/>
              <a:uFillTx/>
              <a:latin typeface="Arial"/>
              <a:ea typeface="+mn-ea"/>
              <a:cs typeface="+mn-cs"/>
            </a:endParaRPr>
          </a:p>
        </p:txBody>
      </p:sp>
      <p:sp>
        <p:nvSpPr>
          <p:cNvPr id="13314" name="Rectangle 2"/>
          <p:cNvSpPr>
            <a:spLocks noGrp="1" noChangeArrowheads="1"/>
          </p:cNvSpPr>
          <p:nvPr>
            <p:ph type="title"/>
            <p:custDataLst>
              <p:tags r:id="rId2"/>
            </p:custDataLst>
          </p:nvPr>
        </p:nvSpPr>
        <p:spPr>
          <a:xfrm>
            <a:off x="328380" y="3629673"/>
            <a:ext cx="2592288" cy="1858957"/>
          </a:xfrm>
        </p:spPr>
        <p:txBody>
          <a:bodyPr/>
          <a:lstStyle/>
          <a:p>
            <a:r>
              <a:rPr lang="fr-FR" altLang="en-US" sz="2000" dirty="0">
                <a:solidFill>
                  <a:srgbClr val="FFFFFF"/>
                </a:solidFill>
                <a:latin typeface="+mn-lt"/>
              </a:rPr>
              <a:t>Notre offre répond aux besoins des clientes et clients français</a:t>
            </a:r>
            <a:br>
              <a:rPr lang="fr-FR" altLang="en-US" sz="1800" dirty="0">
                <a:solidFill>
                  <a:srgbClr val="FFFFFF"/>
                </a:solidFill>
                <a:latin typeface="+mn-lt"/>
              </a:rPr>
            </a:br>
            <a:r>
              <a:rPr lang="fr-FR" sz="1000" dirty="0">
                <a:solidFill>
                  <a:srgbClr val="FFFFFF"/>
                </a:solidFill>
                <a:latin typeface="+mn-lt"/>
              </a:rPr>
              <a:t>Nos solutions d'assurance vie sur-mesure offrent aux entreprises et aux particuliers la sécurité et la liberté de choix qui leur permettent de façonner leur avenir en ligne avec leur propres choix et priorités.</a:t>
            </a:r>
            <a:br>
              <a:rPr lang="fr-FR" dirty="0">
                <a:solidFill>
                  <a:srgbClr val="FFFFFF"/>
                </a:solidFill>
              </a:rPr>
            </a:br>
            <a:r>
              <a:rPr lang="fr-FR" dirty="0">
                <a:solidFill>
                  <a:srgbClr val="FFFFFF"/>
                </a:solidFill>
              </a:rPr>
              <a:t> </a:t>
            </a:r>
            <a:br>
              <a:rPr lang="fr-FR" dirty="0">
                <a:solidFill>
                  <a:srgbClr val="FFFFFF"/>
                </a:solidFill>
              </a:rPr>
            </a:br>
            <a:br>
              <a:rPr lang="fr-FR" altLang="en-US" sz="1800" dirty="0">
                <a:solidFill>
                  <a:srgbClr val="FFFFFF"/>
                </a:solidFill>
                <a:latin typeface="+mn-lt"/>
              </a:rPr>
            </a:br>
            <a:endParaRPr lang="fr-FR" altLang="en-US" sz="1800" dirty="0">
              <a:solidFill>
                <a:srgbClr val="FFFFFF"/>
              </a:solidFill>
              <a:latin typeface="+mn-lt"/>
            </a:endParaRPr>
          </a:p>
        </p:txBody>
      </p:sp>
      <p:sp>
        <p:nvSpPr>
          <p:cNvPr id="32" name="TextBox 31"/>
          <p:cNvSpPr txBox="1"/>
          <p:nvPr/>
        </p:nvSpPr>
        <p:spPr>
          <a:xfrm>
            <a:off x="4565033" y="2098637"/>
            <a:ext cx="3095625" cy="881780"/>
          </a:xfrm>
          <a:prstGeom prst="rect">
            <a:avLst/>
          </a:prstGeom>
          <a:noFill/>
        </p:spPr>
        <p:txBody>
          <a:bodyPr wrap="square" rtlCol="0">
            <a:spAutoFit/>
          </a:bodyPr>
          <a:lstStyle/>
          <a:p>
            <a:pPr marL="0" marR="0" lvl="0" indent="0" algn="l" defTabSz="355600" rtl="0" eaLnBrk="1" fontAlgn="auto" latinLnBrk="0" hangingPunct="1">
              <a:lnSpc>
                <a:spcPct val="90000"/>
              </a:lnSpc>
              <a:spcBef>
                <a:spcPct val="0"/>
              </a:spcBef>
              <a:spcAft>
                <a:spcPts val="0"/>
              </a:spcAft>
              <a:buClrTx/>
              <a:buSzTx/>
              <a:buFontTx/>
              <a:buNone/>
              <a:tabLst/>
              <a:defRPr/>
            </a:pPr>
            <a:r>
              <a:rPr lang="fr-FR" i="1" dirty="0">
                <a:solidFill>
                  <a:srgbClr val="000000"/>
                </a:solidFill>
                <a:latin typeface="+mj-lt"/>
                <a:ea typeface="ＭＳ Ｐゴシック" pitchFamily="34" charset="-128"/>
              </a:rPr>
              <a:t>Protection des actifs</a:t>
            </a:r>
          </a:p>
          <a:p>
            <a:pPr marL="0" marR="0" lvl="0" indent="0" algn="l" defTabSz="355600" rtl="0" eaLnBrk="1" fontAlgn="auto" latinLnBrk="0" hangingPunct="1">
              <a:lnSpc>
                <a:spcPct val="90000"/>
              </a:lnSpc>
              <a:spcBef>
                <a:spcPct val="0"/>
              </a:spcBef>
              <a:spcAft>
                <a:spcPts val="0"/>
              </a:spcAft>
              <a:buClrTx/>
              <a:buSzTx/>
              <a:buFontTx/>
              <a:buNone/>
              <a:tabLst/>
              <a:defRPr/>
            </a:pPr>
            <a:endParaRPr kumimoji="0" lang="fr-FR" sz="1000" b="0" i="0" u="none" strike="noStrike" kern="1200" cap="none" spc="0" normalizeH="0" baseline="0" noProof="0" dirty="0">
              <a:ln>
                <a:noFill/>
              </a:ln>
              <a:solidFill>
                <a:srgbClr val="C0C0C0">
                  <a:lumMod val="50000"/>
                </a:srgbClr>
              </a:solidFill>
              <a:effectLst/>
              <a:uLnTx/>
              <a:uFillTx/>
              <a:latin typeface="Arial"/>
              <a:ea typeface="+mn-ea"/>
              <a:cs typeface="+mn-cs"/>
            </a:endParaRPr>
          </a:p>
          <a:p>
            <a:pPr marL="228600" indent="-228600" defTabSz="355600">
              <a:lnSpc>
                <a:spcPct val="90000"/>
              </a:lnSpc>
              <a:spcBef>
                <a:spcPct val="0"/>
              </a:spcBef>
              <a:buClr>
                <a:srgbClr val="D82034"/>
              </a:buClr>
              <a:buSzPct val="100000"/>
              <a:buFont typeface="Arial" panose="020B0604020202020204" pitchFamily="34" charset="0"/>
              <a:buChar char="•"/>
              <a:defRPr/>
            </a:pPr>
            <a:r>
              <a:rPr kumimoji="0" lang="fr-FR" sz="1050" b="0" i="0" u="none" strike="noStrike" kern="1200" cap="none" spc="0" normalizeH="0" baseline="0" noProof="0" dirty="0">
                <a:ln>
                  <a:noFill/>
                </a:ln>
                <a:solidFill>
                  <a:srgbClr val="C0C0C0">
                    <a:lumMod val="50000"/>
                  </a:srgbClr>
                </a:solidFill>
                <a:effectLst/>
                <a:uLnTx/>
                <a:uFillTx/>
                <a:latin typeface="Arial"/>
                <a:ea typeface="+mn-ea"/>
                <a:cs typeface="+mn-cs"/>
              </a:rPr>
              <a:t>Triangle de sécurité</a:t>
            </a:r>
          </a:p>
          <a:p>
            <a:pPr marL="228600" indent="-228600" defTabSz="355600">
              <a:lnSpc>
                <a:spcPct val="90000"/>
              </a:lnSpc>
              <a:spcBef>
                <a:spcPct val="0"/>
              </a:spcBef>
              <a:buClr>
                <a:srgbClr val="D82034"/>
              </a:buClr>
              <a:buSzPct val="100000"/>
              <a:buFont typeface="Arial" panose="020B0604020202020204" pitchFamily="34" charset="0"/>
              <a:buChar char="•"/>
              <a:defRPr/>
            </a:pPr>
            <a:r>
              <a:rPr kumimoji="0" lang="fr-FR" sz="1050" b="0" i="0" u="none" strike="noStrike" kern="1200" cap="none" spc="0" normalizeH="0" baseline="0" noProof="0" dirty="0">
                <a:ln>
                  <a:noFill/>
                </a:ln>
                <a:solidFill>
                  <a:srgbClr val="C0C0C0">
                    <a:lumMod val="50000"/>
                  </a:srgbClr>
                </a:solidFill>
                <a:effectLst/>
                <a:uLnTx/>
                <a:uFillTx/>
                <a:latin typeface="Arial"/>
                <a:ea typeface="+mn-ea"/>
                <a:cs typeface="+mn-cs"/>
              </a:rPr>
              <a:t>Super-privilège du souscripteur</a:t>
            </a:r>
          </a:p>
          <a:p>
            <a:pPr marL="0" marR="0" lvl="0" indent="0" algn="l" defTabSz="355600" rtl="0" eaLnBrk="1" fontAlgn="auto" latinLnBrk="0" hangingPunct="1">
              <a:lnSpc>
                <a:spcPct val="90000"/>
              </a:lnSpc>
              <a:spcBef>
                <a:spcPct val="0"/>
              </a:spcBef>
              <a:spcAft>
                <a:spcPts val="0"/>
              </a:spcAft>
              <a:buClrTx/>
              <a:buSzTx/>
              <a:buFontTx/>
              <a:buNone/>
              <a:tabLst/>
              <a:defRPr/>
            </a:pPr>
            <a:endParaRPr kumimoji="0" lang="fr-FR" sz="800" b="0" i="0" u="none" strike="noStrike" kern="1200" cap="none" spc="0" normalizeH="0" baseline="0" noProof="0" dirty="0">
              <a:ln>
                <a:noFill/>
              </a:ln>
              <a:solidFill>
                <a:srgbClr val="C0C0C0">
                  <a:lumMod val="50000"/>
                </a:srgbClr>
              </a:solidFill>
              <a:effectLst/>
              <a:uLnTx/>
              <a:uFillTx/>
              <a:latin typeface="Arial"/>
              <a:ea typeface="+mn-ea"/>
              <a:cs typeface="+mn-cs"/>
            </a:endParaRPr>
          </a:p>
        </p:txBody>
      </p:sp>
      <p:sp>
        <p:nvSpPr>
          <p:cNvPr id="4" name="Titel 1">
            <a:extLst>
              <a:ext uri="{FF2B5EF4-FFF2-40B4-BE49-F238E27FC236}">
                <a16:creationId xmlns:a16="http://schemas.microsoft.com/office/drawing/2014/main" id="{BCE279DA-172F-5CE9-95C3-0E5A3F7192DC}"/>
              </a:ext>
            </a:extLst>
          </p:cNvPr>
          <p:cNvSpPr txBox="1">
            <a:spLocks/>
          </p:cNvSpPr>
          <p:nvPr/>
        </p:nvSpPr>
        <p:spPr>
          <a:xfrm>
            <a:off x="250826" y="121196"/>
            <a:ext cx="8497638" cy="1080542"/>
          </a:xfrm>
          <a:prstGeom prst="rect">
            <a:avLst/>
          </a:prstGeom>
        </p:spPr>
        <p:txBody>
          <a:bodyPr vert="horz" lIns="36000" tIns="36000" rIns="0" bIns="0" rtlCol="0" anchor="t" anchorCtr="0">
            <a:noAutofit/>
          </a:bodyPr>
          <a:lstStyle>
            <a:lvl1pPr algn="l" defTabSz="914400" rtl="0" eaLnBrk="1" latinLnBrk="0" hangingPunct="1">
              <a:spcBef>
                <a:spcPct val="0"/>
              </a:spcBef>
              <a:buNone/>
              <a:defRPr sz="3200" kern="1200">
                <a:solidFill>
                  <a:schemeClr val="tx1"/>
                </a:solidFill>
                <a:latin typeface="Times New Roman" panose="02020603050405020304" pitchFamily="18" charset="0"/>
                <a:ea typeface="+mj-ea"/>
                <a:cs typeface="Times New Roman" panose="02020603050405020304" pitchFamily="18" charset="0"/>
              </a:defRPr>
            </a:lvl1pPr>
          </a:lstStyle>
          <a:p>
            <a:r>
              <a:rPr lang="fr-FR" altLang="en-US"/>
              <a:t>Pourquoi choisir l’assurance vie luxembourgeoise</a:t>
            </a:r>
            <a:endParaRPr lang="fr-FR" altLang="en-US" dirty="0"/>
          </a:p>
        </p:txBody>
      </p:sp>
      <p:pic>
        <p:nvPicPr>
          <p:cNvPr id="10" name="Picture 9" descr="Red arrows pointing to different directions&#10;&#10;Description automatically generated with low confidence">
            <a:extLst>
              <a:ext uri="{FF2B5EF4-FFF2-40B4-BE49-F238E27FC236}">
                <a16:creationId xmlns:a16="http://schemas.microsoft.com/office/drawing/2014/main" id="{AB478CF0-F1DA-E397-FE95-DB71FC772FCE}"/>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4106569" y="3112608"/>
            <a:ext cx="457563" cy="457563"/>
          </a:xfrm>
          <a:prstGeom prst="rect">
            <a:avLst/>
          </a:prstGeom>
        </p:spPr>
      </p:pic>
      <p:pic>
        <p:nvPicPr>
          <p:cNvPr id="8" name="Picture 7" descr="A red circle with a black background&#10;&#10;Description automatically generated">
            <a:extLst>
              <a:ext uri="{FF2B5EF4-FFF2-40B4-BE49-F238E27FC236}">
                <a16:creationId xmlns:a16="http://schemas.microsoft.com/office/drawing/2014/main" id="{0A8BE267-B833-8BA3-AD02-F372373DAE20}"/>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986567" y="1014905"/>
            <a:ext cx="558063" cy="558063"/>
          </a:xfrm>
          <a:prstGeom prst="rect">
            <a:avLst/>
          </a:prstGeom>
        </p:spPr>
      </p:pic>
      <p:pic>
        <p:nvPicPr>
          <p:cNvPr id="13" name="Picture 12" descr="A red umbrella with a black background&#10;&#10;Description automatically generated">
            <a:extLst>
              <a:ext uri="{FF2B5EF4-FFF2-40B4-BE49-F238E27FC236}">
                <a16:creationId xmlns:a16="http://schemas.microsoft.com/office/drawing/2014/main" id="{974D5F2E-B04C-E14F-EFAC-7FCD176F883A}"/>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4008705" y="1985541"/>
            <a:ext cx="558063" cy="558063"/>
          </a:xfrm>
          <a:prstGeom prst="rect">
            <a:avLst/>
          </a:prstGeom>
        </p:spPr>
      </p:pic>
      <p:pic>
        <p:nvPicPr>
          <p:cNvPr id="15" name="Picture 14" descr="A red and black logo&#10;&#10;Description automatically generated">
            <a:extLst>
              <a:ext uri="{FF2B5EF4-FFF2-40B4-BE49-F238E27FC236}">
                <a16:creationId xmlns:a16="http://schemas.microsoft.com/office/drawing/2014/main" id="{2A08CFB6-0536-2D32-B477-5C50FBD5A90E}"/>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4056319" y="4139175"/>
            <a:ext cx="558062" cy="558062"/>
          </a:xfrm>
          <a:prstGeom prst="rect">
            <a:avLst/>
          </a:prstGeom>
        </p:spPr>
      </p:pic>
    </p:spTree>
    <p:custDataLst>
      <p:tags r:id="rId1"/>
    </p:custDataLst>
    <p:extLst>
      <p:ext uri="{BB962C8B-B14F-4D97-AF65-F5344CB8AC3E}">
        <p14:creationId xmlns:p14="http://schemas.microsoft.com/office/powerpoint/2010/main" val="1563312364"/>
      </p:ext>
    </p:extLst>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kt 6"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6" imgW="353" imgH="353" progId="TCLayout.ActiveDocument.1">
                  <p:embed/>
                </p:oleObj>
              </mc:Choice>
              <mc:Fallback>
                <p:oleObj name="think-cell Folie" r:id="rId6" imgW="353" imgH="353" progId="TCLayout.ActiveDocument.1">
                  <p:embed/>
                  <p:pic>
                    <p:nvPicPr>
                      <p:cNvPr id="7" name="Objekt 6" hidden="1"/>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6" name="Rechteck 5" hidden="1"/>
          <p:cNvSpPr/>
          <p:nvPr>
            <p:custDataLst>
              <p:tags r:id="rId2"/>
            </p:custDataLst>
          </p:nvPr>
        </p:nvSpPr>
        <p:spPr>
          <a:xfrm>
            <a:off x="-186082" y="-89902"/>
            <a:ext cx="530915" cy="338554"/>
          </a:xfrm>
          <a:prstGeom prst="rect">
            <a:avLst/>
          </a:prstGeom>
          <a:solidFill>
            <a:schemeClr val="accent4">
              <a:lumMod val="20000"/>
              <a:lumOff val="80000"/>
            </a:schemeClr>
          </a:solidFill>
        </p:spPr>
        <p:txBody>
          <a:bodyPr vert="horz" wrap="none" lIns="0" tIns="0" rIns="0" bIns="0" numCol="1" spcCol="0" rtlCol="0" anchor="ctr" anchorCtr="0">
            <a:noAutofit/>
          </a:bodyPr>
          <a:lstStyle/>
          <a:p>
            <a:pPr algn="ctr">
              <a:spcBef>
                <a:spcPct val="0"/>
              </a:spcBef>
              <a:spcAft>
                <a:spcPct val="0"/>
              </a:spcAft>
              <a:buClr>
                <a:srgbClr val="D82034"/>
              </a:buClr>
              <a:buSzPct val="100000"/>
            </a:pPr>
            <a:endParaRPr lang="fr-FR" sz="3200" dirty="0">
              <a:solidFill>
                <a:srgbClr val="000000"/>
              </a:solidFill>
              <a:latin typeface="Times New Roman" panose="02020603050405020304" pitchFamily="18" charset="0"/>
              <a:ea typeface="+mj-ea"/>
              <a:cs typeface="Times New Roman" panose="02020603050405020304" pitchFamily="18" charset="0"/>
              <a:sym typeface="Times New Roman" panose="02020603050405020304" pitchFamily="18" charset="0"/>
            </a:endParaRPr>
          </a:p>
        </p:txBody>
      </p:sp>
      <p:sp>
        <p:nvSpPr>
          <p:cNvPr id="40964" name="Rectangle 2"/>
          <p:cNvSpPr>
            <a:spLocks noGrp="1" noChangeArrowheads="1"/>
          </p:cNvSpPr>
          <p:nvPr>
            <p:ph type="title"/>
          </p:nvPr>
        </p:nvSpPr>
        <p:spPr/>
        <p:txBody>
          <a:bodyPr vert="horz" lIns="36000" tIns="36000" rIns="0" bIns="0" rtlCol="0" anchor="t" anchorCtr="0">
            <a:noAutofit/>
          </a:bodyPr>
          <a:lstStyle/>
          <a:p>
            <a:r>
              <a:rPr lang="fr-FR" altLang="de-DE"/>
              <a:t>Luxembourg: conformité &amp; portabilité</a:t>
            </a:r>
            <a:endParaRPr lang="fr-FR" altLang="de-DE" dirty="0"/>
          </a:p>
        </p:txBody>
      </p:sp>
      <p:pic>
        <p:nvPicPr>
          <p:cNvPr id="4" name="Picture 3">
            <a:extLst>
              <a:ext uri="{FF2B5EF4-FFF2-40B4-BE49-F238E27FC236}">
                <a16:creationId xmlns:a16="http://schemas.microsoft.com/office/drawing/2014/main" id="{7C71AAF1-3CFC-5A8F-1650-A4D2A1D87C94}"/>
              </a:ext>
            </a:extLst>
          </p:cNvPr>
          <p:cNvPicPr>
            <a:picLocks noChangeAspect="1"/>
          </p:cNvPicPr>
          <p:nvPr>
            <p:custDataLst>
              <p:tags r:id="rId3"/>
            </p:custDataLst>
          </p:nvPr>
        </p:nvPicPr>
        <p:blipFill rotWithShape="1">
          <a:blip r:embed="rId8" cstate="screen">
            <a:extLst>
              <a:ext uri="{28A0092B-C50C-407E-A947-70E740481C1C}">
                <a14:useLocalDpi xmlns:a14="http://schemas.microsoft.com/office/drawing/2010/main"/>
              </a:ext>
            </a:extLst>
          </a:blip>
          <a:srcRect/>
          <a:stretch/>
        </p:blipFill>
        <p:spPr bwMode="gray">
          <a:xfrm>
            <a:off x="0" y="858086"/>
            <a:ext cx="4079873" cy="4860000"/>
          </a:xfrm>
          <a:prstGeom prst="rect">
            <a:avLst/>
          </a:prstGeom>
        </p:spPr>
      </p:pic>
      <p:pic>
        <p:nvPicPr>
          <p:cNvPr id="8" name="Picture 7">
            <a:extLst>
              <a:ext uri="{FF2B5EF4-FFF2-40B4-BE49-F238E27FC236}">
                <a16:creationId xmlns:a16="http://schemas.microsoft.com/office/drawing/2014/main" id="{F6372535-5D95-03C3-E344-CB27D5E99A4C}"/>
              </a:ext>
            </a:extLst>
          </p:cNvPr>
          <p:cNvPicPr>
            <a:picLocks noChangeAspect="1"/>
          </p:cNvPicPr>
          <p:nvPr>
            <p:custDataLst>
              <p:tags r:id="rId4"/>
            </p:custDataLst>
          </p:nvPr>
        </p:nvPicPr>
        <p:blipFill>
          <a:blip r:embed="rId9" cstate="screen">
            <a:extLst>
              <a:ext uri="{28A0092B-C50C-407E-A947-70E740481C1C}">
                <a14:useLocalDpi xmlns:a14="http://schemas.microsoft.com/office/drawing/2010/main"/>
              </a:ext>
            </a:extLst>
          </a:blip>
          <a:stretch>
            <a:fillRect/>
          </a:stretch>
        </p:blipFill>
        <p:spPr bwMode="gray">
          <a:xfrm>
            <a:off x="8412958" y="5253038"/>
            <a:ext cx="460163" cy="342901"/>
          </a:xfrm>
          <a:prstGeom prst="rect">
            <a:avLst/>
          </a:prstGeom>
        </p:spPr>
      </p:pic>
      <p:sp>
        <p:nvSpPr>
          <p:cNvPr id="2" name="Inhaltsplatzhalter 1"/>
          <p:cNvSpPr>
            <a:spLocks noGrp="1"/>
          </p:cNvSpPr>
          <p:nvPr>
            <p:ph idx="1"/>
          </p:nvPr>
        </p:nvSpPr>
        <p:spPr>
          <a:xfrm>
            <a:off x="-1250212" y="1652588"/>
            <a:ext cx="4537200" cy="3600450"/>
          </a:xfrm>
        </p:spPr>
        <p:txBody>
          <a:bodyPr/>
          <a:lstStyle/>
          <a:p>
            <a:endParaRPr lang="fr-FR" sz="1200"/>
          </a:p>
          <a:p>
            <a:endParaRPr lang="fr-FR" sz="1200" dirty="0"/>
          </a:p>
        </p:txBody>
      </p:sp>
      <p:pic>
        <p:nvPicPr>
          <p:cNvPr id="11" name="Picture 10" descr="A grey scale with two scales&#10;&#10;Description automatically generated">
            <a:extLst>
              <a:ext uri="{FF2B5EF4-FFF2-40B4-BE49-F238E27FC236}">
                <a16:creationId xmlns:a16="http://schemas.microsoft.com/office/drawing/2014/main" id="{98F98990-22C1-E5C9-D7B1-4709C59D39F5}"/>
              </a:ext>
            </a:extLst>
          </p:cNvPr>
          <p:cNvPicPr>
            <a:picLocks noChangeAspect="1"/>
          </p:cNvPicPr>
          <p:nvPr/>
        </p:nvPicPr>
        <p:blipFill>
          <a:blip r:embed="rId10">
            <a:extLst>
              <a:ext uri="{28A0092B-C50C-407E-A947-70E740481C1C}">
                <a14:useLocalDpi xmlns:a14="http://schemas.microsoft.com/office/drawing/2010/main"/>
              </a:ext>
            </a:extLst>
          </a:blip>
          <a:stretch>
            <a:fillRect/>
          </a:stretch>
        </p:blipFill>
        <p:spPr>
          <a:xfrm>
            <a:off x="5039530" y="3188388"/>
            <a:ext cx="828000" cy="828000"/>
          </a:xfrm>
          <a:prstGeom prst="rect">
            <a:avLst/>
          </a:prstGeom>
        </p:spPr>
      </p:pic>
      <p:pic>
        <p:nvPicPr>
          <p:cNvPr id="13" name="Picture 12" descr="A pencil on a piece of paper&#10;&#10;Description automatically generated">
            <a:extLst>
              <a:ext uri="{FF2B5EF4-FFF2-40B4-BE49-F238E27FC236}">
                <a16:creationId xmlns:a16="http://schemas.microsoft.com/office/drawing/2014/main" id="{F54C8927-4616-96D0-19FC-CC90A17BCF34}"/>
              </a:ext>
            </a:extLst>
          </p:cNvPr>
          <p:cNvPicPr>
            <a:picLocks noChangeAspect="1"/>
          </p:cNvPicPr>
          <p:nvPr/>
        </p:nvPicPr>
        <p:blipFill>
          <a:blip r:embed="rId11">
            <a:extLst>
              <a:ext uri="{28A0092B-C50C-407E-A947-70E740481C1C}">
                <a14:useLocalDpi xmlns:a14="http://schemas.microsoft.com/office/drawing/2010/main"/>
              </a:ext>
            </a:extLst>
          </a:blip>
          <a:stretch>
            <a:fillRect/>
          </a:stretch>
        </p:blipFill>
        <p:spPr>
          <a:xfrm>
            <a:off x="5003530" y="1489348"/>
            <a:ext cx="900000" cy="900000"/>
          </a:xfrm>
          <a:prstGeom prst="rect">
            <a:avLst/>
          </a:prstGeom>
        </p:spPr>
      </p:pic>
      <p:pic>
        <p:nvPicPr>
          <p:cNvPr id="15" name="Picture 14" descr="A grey and white gear&#10;&#10;Description automatically generated">
            <a:extLst>
              <a:ext uri="{FF2B5EF4-FFF2-40B4-BE49-F238E27FC236}">
                <a16:creationId xmlns:a16="http://schemas.microsoft.com/office/drawing/2014/main" id="{0432FC2E-8F4F-466E-E8D0-FB2FECFFE716}"/>
              </a:ext>
            </a:extLst>
          </p:cNvPr>
          <p:cNvPicPr>
            <a:picLocks noChangeAspect="1"/>
          </p:cNvPicPr>
          <p:nvPr/>
        </p:nvPicPr>
        <p:blipFill>
          <a:blip r:embed="rId12">
            <a:extLst>
              <a:ext uri="{28A0092B-C50C-407E-A947-70E740481C1C}">
                <a14:useLocalDpi xmlns:a14="http://schemas.microsoft.com/office/drawing/2010/main"/>
              </a:ext>
            </a:extLst>
          </a:blip>
          <a:stretch>
            <a:fillRect/>
          </a:stretch>
        </p:blipFill>
        <p:spPr>
          <a:xfrm>
            <a:off x="7038320" y="3172485"/>
            <a:ext cx="828000" cy="828000"/>
          </a:xfrm>
          <a:prstGeom prst="rect">
            <a:avLst/>
          </a:prstGeom>
        </p:spPr>
      </p:pic>
      <p:pic>
        <p:nvPicPr>
          <p:cNvPr id="17" name="Picture 16" descr="A magnifying glass with a warning sign&#10;&#10;Description automatically generated">
            <a:extLst>
              <a:ext uri="{FF2B5EF4-FFF2-40B4-BE49-F238E27FC236}">
                <a16:creationId xmlns:a16="http://schemas.microsoft.com/office/drawing/2014/main" id="{A0DFE97A-4DDA-C85B-33BE-56D19427AE8E}"/>
              </a:ext>
            </a:extLst>
          </p:cNvPr>
          <p:cNvPicPr>
            <a:picLocks noChangeAspect="1"/>
          </p:cNvPicPr>
          <p:nvPr/>
        </p:nvPicPr>
        <p:blipFill>
          <a:blip r:embed="rId13">
            <a:extLst>
              <a:ext uri="{28A0092B-C50C-407E-A947-70E740481C1C}">
                <a14:useLocalDpi xmlns:a14="http://schemas.microsoft.com/office/drawing/2010/main"/>
              </a:ext>
            </a:extLst>
          </a:blip>
          <a:stretch>
            <a:fillRect/>
          </a:stretch>
        </p:blipFill>
        <p:spPr>
          <a:xfrm>
            <a:off x="7002320" y="1555068"/>
            <a:ext cx="900000" cy="900000"/>
          </a:xfrm>
          <a:prstGeom prst="rect">
            <a:avLst/>
          </a:prstGeom>
        </p:spPr>
      </p:pic>
      <p:graphicFrame>
        <p:nvGraphicFramePr>
          <p:cNvPr id="9" name="Table 9">
            <a:extLst>
              <a:ext uri="{FF2B5EF4-FFF2-40B4-BE49-F238E27FC236}">
                <a16:creationId xmlns:a16="http://schemas.microsoft.com/office/drawing/2014/main" id="{5366678C-8130-E23F-564A-2BAE648E3667}"/>
              </a:ext>
            </a:extLst>
          </p:cNvPr>
          <p:cNvGraphicFramePr>
            <a:graphicFrameLocks noGrp="1"/>
          </p:cNvGraphicFramePr>
          <p:nvPr>
            <p:extLst>
              <p:ext uri="{D42A27DB-BD31-4B8C-83A1-F6EECF244321}">
                <p14:modId xmlns:p14="http://schemas.microsoft.com/office/powerpoint/2010/main" val="3143123026"/>
              </p:ext>
            </p:extLst>
          </p:nvPr>
        </p:nvGraphicFramePr>
        <p:xfrm>
          <a:off x="4572000" y="1432148"/>
          <a:ext cx="3908060" cy="3383280"/>
        </p:xfrm>
        <a:graphic>
          <a:graphicData uri="http://schemas.openxmlformats.org/drawingml/2006/table">
            <a:tbl>
              <a:tblPr firstRow="1" bandRow="1">
                <a:tableStyleId>{2D5ABB26-0587-4C30-8999-92F81FD0307C}</a:tableStyleId>
              </a:tblPr>
              <a:tblGrid>
                <a:gridCol w="1954030">
                  <a:extLst>
                    <a:ext uri="{9D8B030D-6E8A-4147-A177-3AD203B41FA5}">
                      <a16:colId xmlns:a16="http://schemas.microsoft.com/office/drawing/2014/main" val="4262289837"/>
                    </a:ext>
                  </a:extLst>
                </a:gridCol>
                <a:gridCol w="1954030">
                  <a:extLst>
                    <a:ext uri="{9D8B030D-6E8A-4147-A177-3AD203B41FA5}">
                      <a16:colId xmlns:a16="http://schemas.microsoft.com/office/drawing/2014/main" val="2560476361"/>
                    </a:ext>
                  </a:extLst>
                </a:gridCol>
              </a:tblGrid>
              <a:tr h="377736">
                <a:tc>
                  <a:txBody>
                    <a:bodyPr/>
                    <a:lstStyle/>
                    <a:p>
                      <a:endParaRPr lang="fr-FR" sz="900" noProof="0">
                        <a:solidFill>
                          <a:schemeClr val="accent3"/>
                        </a:solidFill>
                      </a:endParaRPr>
                    </a:p>
                    <a:p>
                      <a:endParaRPr lang="fr-FR" sz="900" noProof="0">
                        <a:solidFill>
                          <a:schemeClr val="accent3"/>
                        </a:solidFill>
                      </a:endParaRPr>
                    </a:p>
                    <a:p>
                      <a:endParaRPr lang="fr-FR" sz="900" noProof="0">
                        <a:solidFill>
                          <a:schemeClr val="accent3"/>
                        </a:solidFill>
                      </a:endParaRPr>
                    </a:p>
                    <a:p>
                      <a:endParaRPr lang="fr-FR" sz="900" noProof="0">
                        <a:solidFill>
                          <a:schemeClr val="accent3"/>
                        </a:solidFill>
                      </a:endParaRPr>
                    </a:p>
                    <a:p>
                      <a:endParaRPr lang="fr-FR" sz="900" noProof="0">
                        <a:solidFill>
                          <a:schemeClr val="accent3"/>
                        </a:solidFill>
                      </a:endParaRPr>
                    </a:p>
                    <a:p>
                      <a:endParaRPr lang="fr-FR" sz="900" noProof="0" dirty="0">
                        <a:solidFill>
                          <a:schemeClr val="accent3"/>
                        </a:solidFill>
                      </a:endParaRPr>
                    </a:p>
                  </a:txBody>
                  <a:tcPr/>
                </a:tc>
                <a:tc>
                  <a:txBody>
                    <a:bodyPr/>
                    <a:lstStyle/>
                    <a:p>
                      <a:endParaRPr lang="fr-FR" sz="900" noProof="0" dirty="0">
                        <a:solidFill>
                          <a:schemeClr val="accent3"/>
                        </a:solidFill>
                      </a:endParaRPr>
                    </a:p>
                  </a:txBody>
                  <a:tcPr/>
                </a:tc>
                <a:extLst>
                  <a:ext uri="{0D108BD9-81ED-4DB2-BD59-A6C34878D82A}">
                    <a16:rowId xmlns:a16="http://schemas.microsoft.com/office/drawing/2014/main" val="440148363"/>
                  </a:ext>
                </a:extLst>
              </a:tr>
              <a:tr h="370840">
                <a:tc>
                  <a:txBody>
                    <a:bodyPr/>
                    <a:lstStyle/>
                    <a:p>
                      <a:r>
                        <a:rPr lang="fr-FR" sz="900" noProof="0">
                          <a:solidFill>
                            <a:schemeClr val="accent3"/>
                          </a:solidFill>
                        </a:rPr>
                        <a:t>L’'assurance-vie luxembourgeoise répond à des objectifs de gestion et de transfert de patrimoine. Cette solution est reconnue et conforme légalement et fiscalement en France </a:t>
                      </a:r>
                      <a:endParaRPr lang="fr-FR" sz="900" noProof="0" dirty="0">
                        <a:solidFill>
                          <a:schemeClr val="accent3"/>
                        </a:solidFill>
                      </a:endParaRPr>
                    </a:p>
                  </a:txBody>
                  <a:tcPr/>
                </a:tc>
                <a:tc>
                  <a:txBody>
                    <a:bodyPr/>
                    <a:lstStyle/>
                    <a:p>
                      <a:r>
                        <a:rPr lang="fr-FR" sz="900" noProof="0">
                          <a:solidFill>
                            <a:schemeClr val="accent3"/>
                          </a:solidFill>
                        </a:rPr>
                        <a:t>Troisième directive vie, législation européenne (1992)</a:t>
                      </a:r>
                      <a:endParaRPr lang="fr-FR" sz="900" noProof="0" dirty="0">
                        <a:solidFill>
                          <a:schemeClr val="accent3"/>
                        </a:solidFill>
                      </a:endParaRPr>
                    </a:p>
                  </a:txBody>
                  <a:tcPr/>
                </a:tc>
                <a:extLst>
                  <a:ext uri="{0D108BD9-81ED-4DB2-BD59-A6C34878D82A}">
                    <a16:rowId xmlns:a16="http://schemas.microsoft.com/office/drawing/2014/main" val="537182432"/>
                  </a:ext>
                </a:extLst>
              </a:tr>
              <a:tr h="370840">
                <a:tc>
                  <a:txBody>
                    <a:bodyPr/>
                    <a:lstStyle/>
                    <a:p>
                      <a:endParaRPr lang="fr-FR" sz="900" noProof="0">
                        <a:solidFill>
                          <a:schemeClr val="accent3"/>
                        </a:solidFill>
                      </a:endParaRPr>
                    </a:p>
                    <a:p>
                      <a:endParaRPr lang="fr-FR" sz="900" noProof="0">
                        <a:solidFill>
                          <a:schemeClr val="accent3"/>
                        </a:solidFill>
                      </a:endParaRPr>
                    </a:p>
                    <a:p>
                      <a:endParaRPr lang="fr-FR" sz="900" noProof="0">
                        <a:solidFill>
                          <a:schemeClr val="accent3"/>
                        </a:solidFill>
                      </a:endParaRPr>
                    </a:p>
                    <a:p>
                      <a:endParaRPr lang="fr-FR" sz="900" noProof="0">
                        <a:solidFill>
                          <a:schemeClr val="accent3"/>
                        </a:solidFill>
                      </a:endParaRPr>
                    </a:p>
                    <a:p>
                      <a:endParaRPr lang="fr-FR" sz="900" noProof="0">
                        <a:solidFill>
                          <a:schemeClr val="accent3"/>
                        </a:solidFill>
                      </a:endParaRPr>
                    </a:p>
                    <a:p>
                      <a:endParaRPr lang="fr-FR" sz="900" noProof="0" dirty="0">
                        <a:solidFill>
                          <a:schemeClr val="accent3"/>
                        </a:solidFill>
                      </a:endParaRPr>
                    </a:p>
                  </a:txBody>
                  <a:tcPr/>
                </a:tc>
                <a:tc>
                  <a:txBody>
                    <a:bodyPr/>
                    <a:lstStyle/>
                    <a:p>
                      <a:endParaRPr lang="fr-FR" sz="900" noProof="0" dirty="0">
                        <a:solidFill>
                          <a:schemeClr val="accent3"/>
                        </a:solidFill>
                      </a:endParaRPr>
                    </a:p>
                  </a:txBody>
                  <a:tcPr/>
                </a:tc>
                <a:extLst>
                  <a:ext uri="{0D108BD9-81ED-4DB2-BD59-A6C34878D82A}">
                    <a16:rowId xmlns:a16="http://schemas.microsoft.com/office/drawing/2014/main" val="25474606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900" noProof="0">
                          <a:solidFill>
                            <a:schemeClr val="accent3"/>
                          </a:solidFill>
                        </a:rPr>
                        <a:t>Loi applicable au contrat : le contrat est régi par le droit contractuel français jusqu’à son dénouement. </a:t>
                      </a:r>
                      <a:endParaRPr lang="fr-FR" sz="900" noProof="0" dirty="0">
                        <a:solidFill>
                          <a:schemeClr val="accent3"/>
                        </a:solidFill>
                      </a:endParaRPr>
                    </a:p>
                  </a:txBody>
                  <a:tcPr/>
                </a:tc>
                <a:tc>
                  <a:txBody>
                    <a:bodyPr/>
                    <a:lstStyle/>
                    <a:p>
                      <a:r>
                        <a:rPr lang="fr-FR" sz="900" noProof="0" dirty="0">
                          <a:solidFill>
                            <a:schemeClr val="accent3"/>
                          </a:solidFill>
                        </a:rPr>
                        <a:t>La fiscalité applicable durant la vie contrat est celle du pays de résidence du souscripteur </a:t>
                      </a:r>
                    </a:p>
                  </a:txBody>
                  <a:tcPr/>
                </a:tc>
                <a:extLst>
                  <a:ext uri="{0D108BD9-81ED-4DB2-BD59-A6C34878D82A}">
                    <a16:rowId xmlns:a16="http://schemas.microsoft.com/office/drawing/2014/main" val="834313533"/>
                  </a:ext>
                </a:extLst>
              </a:tr>
            </a:tbl>
          </a:graphicData>
        </a:graphic>
      </p:graphicFrame>
    </p:spTree>
    <p:extLst>
      <p:ext uri="{BB962C8B-B14F-4D97-AF65-F5344CB8AC3E}">
        <p14:creationId xmlns:p14="http://schemas.microsoft.com/office/powerpoint/2010/main" val="36431188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grey recycle symbol on a black background&#10;&#10;Description automatically generated">
            <a:extLst>
              <a:ext uri="{FF2B5EF4-FFF2-40B4-BE49-F238E27FC236}">
                <a16:creationId xmlns:a16="http://schemas.microsoft.com/office/drawing/2014/main" id="{8218BDFC-483A-0B86-AD81-751752562420}"/>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5205514" y="1647057"/>
            <a:ext cx="3240000" cy="3240000"/>
          </a:xfrm>
          <a:prstGeom prst="rect">
            <a:avLst/>
          </a:prstGeom>
        </p:spPr>
      </p:pic>
      <p:sp>
        <p:nvSpPr>
          <p:cNvPr id="41988" name="Rectangle 2"/>
          <p:cNvSpPr>
            <a:spLocks noGrp="1" noChangeArrowheads="1"/>
          </p:cNvSpPr>
          <p:nvPr>
            <p:ph type="title"/>
          </p:nvPr>
        </p:nvSpPr>
        <p:spPr/>
        <p:txBody>
          <a:bodyPr/>
          <a:lstStyle/>
          <a:p>
            <a:r>
              <a:rPr lang="fr-FR" altLang="de-DE"/>
              <a:t>Protection des actifs</a:t>
            </a:r>
            <a:endParaRPr lang="fr-FR" altLang="de-DE" dirty="0"/>
          </a:p>
        </p:txBody>
      </p:sp>
      <p:sp>
        <p:nvSpPr>
          <p:cNvPr id="2" name="Inhaltsplatzhalter 1"/>
          <p:cNvSpPr>
            <a:spLocks noGrp="1"/>
          </p:cNvSpPr>
          <p:nvPr>
            <p:ph idx="1"/>
          </p:nvPr>
        </p:nvSpPr>
        <p:spPr>
          <a:xfrm>
            <a:off x="250824" y="1273324"/>
            <a:ext cx="5113264" cy="574159"/>
          </a:xfrm>
        </p:spPr>
        <p:txBody>
          <a:bodyPr/>
          <a:lstStyle/>
          <a:p>
            <a:pPr marL="0" indent="0">
              <a:buNone/>
            </a:pPr>
            <a:r>
              <a:rPr lang="fr-FR" sz="1200" dirty="0">
                <a:solidFill>
                  <a:schemeClr val="accent3"/>
                </a:solidFill>
              </a:rPr>
              <a:t>L'assurance vie luxembourgeoise offre l’un des mécanismes de protection des actifs du contrat les plus solides de l'Union Européenne.</a:t>
            </a:r>
          </a:p>
          <a:p>
            <a:endParaRPr lang="fr-FR" sz="1200" dirty="0">
              <a:solidFill>
                <a:schemeClr val="accent3"/>
              </a:solidFill>
            </a:endParaRPr>
          </a:p>
        </p:txBody>
      </p:sp>
      <p:sp>
        <p:nvSpPr>
          <p:cNvPr id="41990" name="Rectangle 4"/>
          <p:cNvSpPr>
            <a:spLocks noChangeArrowheads="1"/>
          </p:cNvSpPr>
          <p:nvPr/>
        </p:nvSpPr>
        <p:spPr bwMode="auto">
          <a:xfrm>
            <a:off x="1132417" y="1108605"/>
            <a:ext cx="5898886" cy="2051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defRPr sz="1500">
                <a:solidFill>
                  <a:schemeClr val="tx1"/>
                </a:solidFill>
                <a:latin typeface="Arial" panose="020B0604020202020204" pitchFamily="34" charset="0"/>
                <a:cs typeface="Arial" panose="020B0604020202020204" pitchFamily="34" charset="0"/>
              </a:defRPr>
            </a:lvl1pPr>
            <a:lvl2pPr marL="742950" indent="-285750">
              <a:defRPr sz="1500">
                <a:solidFill>
                  <a:schemeClr val="tx1"/>
                </a:solidFill>
                <a:latin typeface="Arial" panose="020B0604020202020204" pitchFamily="34" charset="0"/>
                <a:cs typeface="Arial" panose="020B0604020202020204" pitchFamily="34" charset="0"/>
              </a:defRPr>
            </a:lvl2pPr>
            <a:lvl3pPr marL="1143000" indent="-228600">
              <a:defRPr sz="1500">
                <a:solidFill>
                  <a:schemeClr val="tx1"/>
                </a:solidFill>
                <a:latin typeface="Arial" panose="020B0604020202020204" pitchFamily="34" charset="0"/>
                <a:cs typeface="Arial" panose="020B0604020202020204" pitchFamily="34" charset="0"/>
              </a:defRPr>
            </a:lvl3pPr>
            <a:lvl4pPr marL="1600200" indent="-228600">
              <a:defRPr sz="1500">
                <a:solidFill>
                  <a:schemeClr val="tx1"/>
                </a:solidFill>
                <a:latin typeface="Arial" panose="020B0604020202020204" pitchFamily="34" charset="0"/>
                <a:cs typeface="Arial" panose="020B0604020202020204" pitchFamily="34" charset="0"/>
              </a:defRPr>
            </a:lvl4pPr>
            <a:lvl5pPr marL="2057400" indent="-228600">
              <a:defRPr sz="15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15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15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15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15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altLang="de-DE" sz="1333"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18" name="Textfeld 1"/>
          <p:cNvSpPr txBox="1"/>
          <p:nvPr/>
        </p:nvSpPr>
        <p:spPr>
          <a:xfrm>
            <a:off x="6057969" y="1705372"/>
            <a:ext cx="1376001" cy="43088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100" b="0" i="1" u="none" strike="noStrike" kern="1200" cap="none" spc="0" normalizeH="0" baseline="0" noProof="0">
                <a:ln>
                  <a:noFill/>
                </a:ln>
                <a:solidFill>
                  <a:srgbClr val="000000"/>
                </a:solidFill>
                <a:effectLst/>
                <a:uLnTx/>
                <a:uFillTx/>
                <a:latin typeface="Times New Roman"/>
                <a:ea typeface="+mn-ea"/>
                <a:cs typeface="+mn-cs"/>
              </a:rPr>
              <a:t>Commissariat aux Assurances (CAA) </a:t>
            </a:r>
            <a:endParaRPr kumimoji="0" lang="fr-FR" sz="1100" b="0" i="1" u="none" strike="noStrike" kern="1200" cap="none" spc="0" normalizeH="0" baseline="0" noProof="0" dirty="0">
              <a:ln>
                <a:noFill/>
              </a:ln>
              <a:solidFill>
                <a:srgbClr val="000000"/>
              </a:solidFill>
              <a:effectLst/>
              <a:uLnTx/>
              <a:uFillTx/>
              <a:latin typeface="Times New Roman"/>
              <a:ea typeface="+mn-ea"/>
              <a:cs typeface="+mn-cs"/>
            </a:endParaRPr>
          </a:p>
        </p:txBody>
      </p:sp>
      <p:sp>
        <p:nvSpPr>
          <p:cNvPr id="19" name="Textfeld 8"/>
          <p:cNvSpPr txBox="1"/>
          <p:nvPr/>
        </p:nvSpPr>
        <p:spPr>
          <a:xfrm>
            <a:off x="7452320" y="4055683"/>
            <a:ext cx="1296144" cy="43088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100" i="1">
                <a:solidFill>
                  <a:srgbClr val="000000"/>
                </a:solidFill>
                <a:latin typeface="Times New Roman"/>
              </a:rPr>
              <a:t>Banque </a:t>
            </a:r>
            <a:br>
              <a:rPr lang="fr-FR" sz="1100" i="1">
                <a:solidFill>
                  <a:srgbClr val="000000"/>
                </a:solidFill>
                <a:latin typeface="Times New Roman"/>
              </a:rPr>
            </a:br>
            <a:r>
              <a:rPr lang="fr-FR" sz="1100" i="1">
                <a:solidFill>
                  <a:srgbClr val="000000"/>
                </a:solidFill>
                <a:latin typeface="Times New Roman"/>
              </a:rPr>
              <a:t>dépositaire</a:t>
            </a:r>
            <a:endParaRPr kumimoji="0" lang="fr-FR" sz="1100" b="0" i="1" u="none" strike="noStrike" kern="1200" cap="none" spc="0" normalizeH="0" baseline="0" noProof="0" dirty="0">
              <a:ln>
                <a:noFill/>
              </a:ln>
              <a:solidFill>
                <a:srgbClr val="000000"/>
              </a:solidFill>
              <a:effectLst/>
              <a:uLnTx/>
              <a:uFillTx/>
              <a:latin typeface="Times New Roman"/>
              <a:ea typeface="+mn-ea"/>
              <a:cs typeface="+mn-cs"/>
            </a:endParaRPr>
          </a:p>
        </p:txBody>
      </p:sp>
      <p:cxnSp>
        <p:nvCxnSpPr>
          <p:cNvPr id="21" name="Gerade Verbindung mit Pfeil 4"/>
          <p:cNvCxnSpPr>
            <a:cxnSpLocks/>
          </p:cNvCxnSpPr>
          <p:nvPr/>
        </p:nvCxnSpPr>
        <p:spPr>
          <a:xfrm>
            <a:off x="7305383" y="2279221"/>
            <a:ext cx="779430" cy="1154018"/>
          </a:xfrm>
          <a:prstGeom prst="straightConnector1">
            <a:avLst/>
          </a:prstGeom>
          <a:ln>
            <a:solidFill>
              <a:schemeClr val="accent2"/>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2" name="Gerade Verbindung mit Pfeil 12"/>
          <p:cNvCxnSpPr>
            <a:cxnSpLocks/>
          </p:cNvCxnSpPr>
          <p:nvPr/>
        </p:nvCxnSpPr>
        <p:spPr>
          <a:xfrm flipH="1">
            <a:off x="5608797" y="2233359"/>
            <a:ext cx="633433" cy="1111378"/>
          </a:xfrm>
          <a:prstGeom prst="straightConnector1">
            <a:avLst/>
          </a:prstGeom>
          <a:ln>
            <a:solidFill>
              <a:schemeClr val="accent2"/>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3" name="Gerade Verbindung mit Pfeil 17"/>
          <p:cNvCxnSpPr/>
          <p:nvPr/>
        </p:nvCxnSpPr>
        <p:spPr>
          <a:xfrm flipH="1">
            <a:off x="6177442" y="4282534"/>
            <a:ext cx="1296144" cy="0"/>
          </a:xfrm>
          <a:prstGeom prst="straightConnector1">
            <a:avLst/>
          </a:prstGeom>
          <a:ln>
            <a:solidFill>
              <a:schemeClr val="accent2"/>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4" name="Textfeld 1"/>
          <p:cNvSpPr txBox="1"/>
          <p:nvPr/>
        </p:nvSpPr>
        <p:spPr>
          <a:xfrm>
            <a:off x="4680374" y="4064281"/>
            <a:ext cx="1512168" cy="43088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100" b="0" i="1" u="none" strike="noStrike" kern="1200" cap="none" spc="0" normalizeH="0" baseline="0" noProof="0">
                <a:ln>
                  <a:noFill/>
                </a:ln>
                <a:solidFill>
                  <a:srgbClr val="000000"/>
                </a:solidFill>
                <a:effectLst/>
                <a:uLnTx/>
                <a:uFillTx/>
                <a:latin typeface="Times New Roman"/>
                <a:ea typeface="+mn-ea"/>
                <a:cs typeface="+mn-cs"/>
              </a:rPr>
              <a:t>Compagnie d’assurance</a:t>
            </a:r>
            <a:endParaRPr kumimoji="0" lang="fr-FR" sz="1100" b="0" i="1" u="none" strike="noStrike" kern="1200" cap="none" spc="0" normalizeH="0" baseline="0" noProof="0" dirty="0">
              <a:ln>
                <a:noFill/>
              </a:ln>
              <a:solidFill>
                <a:srgbClr val="000000"/>
              </a:solidFill>
              <a:effectLst/>
              <a:uLnTx/>
              <a:uFillTx/>
              <a:latin typeface="Times New Roman"/>
              <a:ea typeface="+mn-ea"/>
              <a:cs typeface="+mn-cs"/>
            </a:endParaRPr>
          </a:p>
        </p:txBody>
      </p:sp>
      <p:pic>
        <p:nvPicPr>
          <p:cNvPr id="4" name="Picture 3" descr="A red logo on a black background&#10;&#10;Description automatically generated">
            <a:extLst>
              <a:ext uri="{FF2B5EF4-FFF2-40B4-BE49-F238E27FC236}">
                <a16:creationId xmlns:a16="http://schemas.microsoft.com/office/drawing/2014/main" id="{C964D5BC-F595-F60C-D8B1-757DCFAC20C4}"/>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744519" y="3433239"/>
            <a:ext cx="720000" cy="720000"/>
          </a:xfrm>
          <a:prstGeom prst="rect">
            <a:avLst/>
          </a:prstGeom>
        </p:spPr>
      </p:pic>
      <p:pic>
        <p:nvPicPr>
          <p:cNvPr id="6" name="Picture 5" descr="A hand holding a paper&#10;&#10;Description automatically generated">
            <a:extLst>
              <a:ext uri="{FF2B5EF4-FFF2-40B4-BE49-F238E27FC236}">
                <a16:creationId xmlns:a16="http://schemas.microsoft.com/office/drawing/2014/main" id="{5495531C-14C4-609D-8864-14B880522992}"/>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083056" y="3441837"/>
            <a:ext cx="720000" cy="720000"/>
          </a:xfrm>
          <a:prstGeom prst="rect">
            <a:avLst/>
          </a:prstGeom>
        </p:spPr>
      </p:pic>
      <p:pic>
        <p:nvPicPr>
          <p:cNvPr id="8" name="Picture 7" descr="A red building with a black background&#10;&#10;Description automatically generated">
            <a:extLst>
              <a:ext uri="{FF2B5EF4-FFF2-40B4-BE49-F238E27FC236}">
                <a16:creationId xmlns:a16="http://schemas.microsoft.com/office/drawing/2014/main" id="{218B01AD-0C83-BF13-658F-4F2CE7C2BE20}"/>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6386419" y="1056887"/>
            <a:ext cx="720000" cy="720000"/>
          </a:xfrm>
          <a:prstGeom prst="rect">
            <a:avLst/>
          </a:prstGeom>
        </p:spPr>
      </p:pic>
      <p:graphicFrame>
        <p:nvGraphicFramePr>
          <p:cNvPr id="3" name="Table 6">
            <a:extLst>
              <a:ext uri="{FF2B5EF4-FFF2-40B4-BE49-F238E27FC236}">
                <a16:creationId xmlns:a16="http://schemas.microsoft.com/office/drawing/2014/main" id="{2A04A5BE-BD6B-2A83-1CE7-B64C2CC55363}"/>
              </a:ext>
            </a:extLst>
          </p:cNvPr>
          <p:cNvGraphicFramePr>
            <a:graphicFrameLocks noGrp="1"/>
          </p:cNvGraphicFramePr>
          <p:nvPr>
            <p:extLst>
              <p:ext uri="{D42A27DB-BD31-4B8C-83A1-F6EECF244321}">
                <p14:modId xmlns:p14="http://schemas.microsoft.com/office/powerpoint/2010/main" val="81759993"/>
              </p:ext>
            </p:extLst>
          </p:nvPr>
        </p:nvGraphicFramePr>
        <p:xfrm>
          <a:off x="428545" y="2929508"/>
          <a:ext cx="4251830" cy="1656080"/>
        </p:xfrm>
        <a:graphic>
          <a:graphicData uri="http://schemas.openxmlformats.org/drawingml/2006/table">
            <a:tbl>
              <a:tblPr firstRow="1" bandRow="1">
                <a:tableStyleId>{2D5ABB26-0587-4C30-8999-92F81FD0307C}</a:tableStyleId>
              </a:tblPr>
              <a:tblGrid>
                <a:gridCol w="2125915">
                  <a:extLst>
                    <a:ext uri="{9D8B030D-6E8A-4147-A177-3AD203B41FA5}">
                      <a16:colId xmlns:a16="http://schemas.microsoft.com/office/drawing/2014/main" val="2005192130"/>
                    </a:ext>
                  </a:extLst>
                </a:gridCol>
                <a:gridCol w="2125915">
                  <a:extLst>
                    <a:ext uri="{9D8B030D-6E8A-4147-A177-3AD203B41FA5}">
                      <a16:colId xmlns:a16="http://schemas.microsoft.com/office/drawing/2014/main" val="358903933"/>
                    </a:ext>
                  </a:extLst>
                </a:gridCol>
              </a:tblGrid>
              <a:tr h="524578">
                <a:tc>
                  <a:txBody>
                    <a:bodyPr/>
                    <a:lstStyle/>
                    <a:p>
                      <a:pPr marL="0" marR="0" lvl="0" indent="0" algn="l" defTabSz="914400" rtl="0" eaLnBrk="1" fontAlgn="auto" latinLnBrk="0" hangingPunct="1">
                        <a:lnSpc>
                          <a:spcPct val="100000"/>
                        </a:lnSpc>
                        <a:spcBef>
                          <a:spcPts val="0"/>
                        </a:spcBef>
                        <a:spcAft>
                          <a:spcPts val="800"/>
                        </a:spcAft>
                        <a:buClr>
                          <a:srgbClr val="D82034"/>
                        </a:buClr>
                        <a:buSzPct val="100000"/>
                        <a:buFontTx/>
                        <a:buNone/>
                        <a:tabLst/>
                        <a:defRPr/>
                      </a:pPr>
                      <a:r>
                        <a:rPr kumimoji="0" lang="fr-FR" sz="1000" b="1"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Convention tripartite </a:t>
                      </a:r>
                      <a:r>
                        <a:rPr kumimoji="0" lang="fr-FR"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entre le Commissariat aux Assurances (CAA) / l’assureur et la banque dépositaire</a:t>
                      </a:r>
                      <a:endParaRPr kumimoji="0" lang="fr-FR"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800"/>
                        </a:spcAft>
                        <a:buClr>
                          <a:srgbClr val="D82034"/>
                        </a:buClr>
                        <a:buSzPct val="100000"/>
                        <a:buFontTx/>
                        <a:buNone/>
                        <a:tabLst/>
                        <a:defRPr/>
                      </a:pPr>
                      <a:endParaRPr kumimoji="0" lang="fr-FR" sz="10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800"/>
                        </a:spcAft>
                        <a:buClr>
                          <a:srgbClr val="D82034"/>
                        </a:buClr>
                        <a:buSzPct val="100000"/>
                        <a:buFontTx/>
                        <a:buNone/>
                        <a:tabLst/>
                        <a:defRPr/>
                      </a:pPr>
                      <a:r>
                        <a:rPr kumimoji="0" lang="fr-FR" sz="1000" b="1"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Super privilège ou droit de préférence </a:t>
                      </a:r>
                      <a:r>
                        <a:rPr kumimoji="0" lang="fr-FR"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du souscripteur sur les actifs du contrat ségrégués des actifs propres de l’assureur</a:t>
                      </a:r>
                      <a:endParaRPr kumimoji="0" lang="fr-FR" sz="10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txBody>
                  <a:tcPr/>
                </a:tc>
                <a:extLst>
                  <a:ext uri="{0D108BD9-81ED-4DB2-BD59-A6C34878D82A}">
                    <a16:rowId xmlns:a16="http://schemas.microsoft.com/office/drawing/2014/main" val="1522629097"/>
                  </a:ext>
                </a:extLst>
              </a:tr>
              <a:tr h="699153">
                <a:tc>
                  <a:txBody>
                    <a:bodyPr/>
                    <a:lstStyle/>
                    <a:p>
                      <a:pPr marL="0" marR="0" lvl="0" indent="0" algn="l" defTabSz="914400" rtl="0" eaLnBrk="1" fontAlgn="auto" latinLnBrk="0" hangingPunct="1">
                        <a:lnSpc>
                          <a:spcPct val="100000"/>
                        </a:lnSpc>
                        <a:spcBef>
                          <a:spcPts val="0"/>
                        </a:spcBef>
                        <a:spcAft>
                          <a:spcPts val="800"/>
                        </a:spcAft>
                        <a:buClr>
                          <a:srgbClr val="D82034"/>
                        </a:buClr>
                        <a:buSzPct val="100000"/>
                        <a:buFontTx/>
                        <a:buNone/>
                        <a:tabLst/>
                        <a:defRPr/>
                      </a:pPr>
                      <a:r>
                        <a:rPr kumimoji="0" lang="fr-FR" sz="1000" b="1"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Ségrégation comptable et réglementaire </a:t>
                      </a:r>
                      <a:r>
                        <a:rPr lang="fr-FR" sz="1000"/>
                        <a:t>des actifs du contrat</a:t>
                      </a:r>
                      <a:endParaRPr lang="fr-FR" sz="1200" dirty="0"/>
                    </a:p>
                  </a:txBody>
                  <a:tcPr/>
                </a:tc>
                <a:tc>
                  <a:txBody>
                    <a:bodyPr/>
                    <a:lstStyle/>
                    <a:p>
                      <a:pPr marL="0" marR="0" lvl="0" indent="0" algn="l" defTabSz="914400" rtl="0" eaLnBrk="1" fontAlgn="auto" latinLnBrk="0" hangingPunct="1">
                        <a:lnSpc>
                          <a:spcPct val="100000"/>
                        </a:lnSpc>
                        <a:spcBef>
                          <a:spcPts val="0"/>
                        </a:spcBef>
                        <a:spcAft>
                          <a:spcPts val="800"/>
                        </a:spcAft>
                        <a:buClr>
                          <a:srgbClr val="D82034"/>
                        </a:buClr>
                        <a:buSzPct val="100000"/>
                        <a:buFontTx/>
                        <a:buNone/>
                        <a:tabLst/>
                        <a:defRPr/>
                      </a:pPr>
                      <a:r>
                        <a:rPr kumimoji="0" lang="fr-FR" sz="1000" b="1"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Privilège additionnel du souscripteur</a:t>
                      </a:r>
                      <a:r>
                        <a:rPr kumimoji="0" lang="fr-FR"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 sur les actifs propres de l’assureur, avant tous les autres créanciers de l’assureur</a:t>
                      </a:r>
                      <a:endParaRPr lang="fr-FR" sz="1200" noProof="0" dirty="0"/>
                    </a:p>
                  </a:txBody>
                  <a:tcPr/>
                </a:tc>
                <a:extLst>
                  <a:ext uri="{0D108BD9-81ED-4DB2-BD59-A6C34878D82A}">
                    <a16:rowId xmlns:a16="http://schemas.microsoft.com/office/drawing/2014/main" val="4041984724"/>
                  </a:ext>
                </a:extLst>
              </a:tr>
            </a:tbl>
          </a:graphicData>
        </a:graphic>
      </p:graphicFrame>
    </p:spTree>
    <p:extLst>
      <p:ext uri="{BB962C8B-B14F-4D97-AF65-F5344CB8AC3E}">
        <p14:creationId xmlns:p14="http://schemas.microsoft.com/office/powerpoint/2010/main" val="25632465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4" name="Rectangle 2"/>
          <p:cNvSpPr>
            <a:spLocks noGrp="1" noChangeArrowheads="1"/>
          </p:cNvSpPr>
          <p:nvPr>
            <p:ph type="title"/>
          </p:nvPr>
        </p:nvSpPr>
        <p:spPr>
          <a:xfrm>
            <a:off x="250826" y="121196"/>
            <a:ext cx="8281614" cy="1080542"/>
          </a:xfrm>
        </p:spPr>
        <p:txBody>
          <a:bodyPr/>
          <a:lstStyle/>
          <a:p>
            <a:r>
              <a:rPr lang="fr-FR" altLang="de-DE" dirty="0"/>
              <a:t>Souplesse d’investissements : un large choix de sous-jacents</a:t>
            </a:r>
          </a:p>
        </p:txBody>
      </p:sp>
      <p:graphicFrame>
        <p:nvGraphicFramePr>
          <p:cNvPr id="4" name="Table 4">
            <a:extLst>
              <a:ext uri="{FF2B5EF4-FFF2-40B4-BE49-F238E27FC236}">
                <a16:creationId xmlns:a16="http://schemas.microsoft.com/office/drawing/2014/main" id="{5E91125B-8F7B-8DEE-07E8-0FEAFCC2B448}"/>
              </a:ext>
            </a:extLst>
          </p:cNvPr>
          <p:cNvGraphicFramePr>
            <a:graphicFrameLocks noGrp="1"/>
          </p:cNvGraphicFramePr>
          <p:nvPr>
            <p:extLst>
              <p:ext uri="{D42A27DB-BD31-4B8C-83A1-F6EECF244321}">
                <p14:modId xmlns:p14="http://schemas.microsoft.com/office/powerpoint/2010/main" val="860134235"/>
              </p:ext>
            </p:extLst>
          </p:nvPr>
        </p:nvGraphicFramePr>
        <p:xfrm>
          <a:off x="370920" y="3039596"/>
          <a:ext cx="8563192" cy="2133600"/>
        </p:xfrm>
        <a:graphic>
          <a:graphicData uri="http://schemas.openxmlformats.org/drawingml/2006/table">
            <a:tbl>
              <a:tblPr firstRow="1" bandRow="1">
                <a:tableStyleId>{2D5ABB26-0587-4C30-8999-92F81FD0307C}</a:tableStyleId>
              </a:tblPr>
              <a:tblGrid>
                <a:gridCol w="2140798">
                  <a:extLst>
                    <a:ext uri="{9D8B030D-6E8A-4147-A177-3AD203B41FA5}">
                      <a16:colId xmlns:a16="http://schemas.microsoft.com/office/drawing/2014/main" val="1713288523"/>
                    </a:ext>
                  </a:extLst>
                </a:gridCol>
                <a:gridCol w="2140798">
                  <a:extLst>
                    <a:ext uri="{9D8B030D-6E8A-4147-A177-3AD203B41FA5}">
                      <a16:colId xmlns:a16="http://schemas.microsoft.com/office/drawing/2014/main" val="2925506309"/>
                    </a:ext>
                  </a:extLst>
                </a:gridCol>
                <a:gridCol w="2140798">
                  <a:extLst>
                    <a:ext uri="{9D8B030D-6E8A-4147-A177-3AD203B41FA5}">
                      <a16:colId xmlns:a16="http://schemas.microsoft.com/office/drawing/2014/main" val="1495103454"/>
                    </a:ext>
                  </a:extLst>
                </a:gridCol>
                <a:gridCol w="2140798">
                  <a:extLst>
                    <a:ext uri="{9D8B030D-6E8A-4147-A177-3AD203B41FA5}">
                      <a16:colId xmlns:a16="http://schemas.microsoft.com/office/drawing/2014/main" val="692779088"/>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b="1" noProof="0">
                          <a:latin typeface="+mn-lt"/>
                          <a:cs typeface="Arial"/>
                        </a:rPr>
                        <a:t>Flexibilité des règles investissements </a:t>
                      </a:r>
                      <a:r>
                        <a:rPr lang="fr-FR" sz="1000" noProof="0">
                          <a:latin typeface="+mn-lt"/>
                          <a:cs typeface="Arial"/>
                        </a:rPr>
                        <a:t>luxembourgeoises pour les contrats d’une valeur supérieure à EUR 1m et dont le souscripteur détient une fortune mobilière nette supérieure à EUR 2.5m.</a:t>
                      </a:r>
                      <a:br>
                        <a:rPr lang="fr-FR" sz="1000" noProof="0">
                          <a:latin typeface="+mn-lt"/>
                          <a:cs typeface="Arial"/>
                        </a:rPr>
                      </a:br>
                      <a:r>
                        <a:rPr lang="fr-FR" sz="1000" noProof="0">
                          <a:latin typeface="+mn-lt"/>
                          <a:cs typeface="Arial"/>
                        </a:rPr>
                        <a:t>Aucune limite d’investissement par émetteur, ni par type d'actif</a:t>
                      </a:r>
                      <a:br>
                        <a:rPr lang="fr-FR" sz="1000" noProof="0">
                          <a:latin typeface="+mn-lt"/>
                          <a:cs typeface="Arial"/>
                        </a:rPr>
                      </a:br>
                      <a:br>
                        <a:rPr lang="fr-FR" sz="1000" noProof="0">
                          <a:latin typeface="+mn-lt"/>
                          <a:cs typeface="Arial"/>
                        </a:rPr>
                      </a:br>
                      <a:r>
                        <a:rPr lang="fr-FR" sz="800" noProof="0"/>
                        <a:t>Les règles d'investissement luxembourgeoises définies par le CAA s'appliquent (Circulaires CAA 15/3).</a:t>
                      </a:r>
                      <a:endParaRPr lang="fr-FR" sz="1000" noProof="0"/>
                    </a:p>
                    <a:p>
                      <a:endParaRPr lang="fr-FR" sz="10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noProof="0"/>
                        <a:t>Options de gestion multiple, libre et/ou discrétionnaire avec un large choix d’actifs permis selon le profil du souscripteur et la stratégie d’investissement sélectionné </a:t>
                      </a:r>
                      <a:endParaRPr lang="fr-FR" sz="1000" noProof="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noProof="0"/>
                        <a:t>Fonds de Private Equity permis sous réserve de l’acceptation préalable de l’assureur</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1000" dirty="0">
                        <a:highlight>
                          <a:srgbClr val="FFFF00"/>
                        </a:highlight>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noProof="0"/>
                        <a:t>Conseil fiscal recommandé selon la complexité de la situation du client</a:t>
                      </a:r>
                      <a:endParaRPr lang="fr-FR" sz="1000" noProof="0" dirty="0"/>
                    </a:p>
                  </a:txBody>
                  <a:tcPr/>
                </a:tc>
                <a:extLst>
                  <a:ext uri="{0D108BD9-81ED-4DB2-BD59-A6C34878D82A}">
                    <a16:rowId xmlns:a16="http://schemas.microsoft.com/office/drawing/2014/main" val="1399364193"/>
                  </a:ext>
                </a:extLst>
              </a:tr>
            </a:tbl>
          </a:graphicData>
        </a:graphic>
      </p:graphicFrame>
      <p:pic>
        <p:nvPicPr>
          <p:cNvPr id="8" name="Picture 7" descr="A grey and white gear&#10;&#10;Description automatically generated">
            <a:extLst>
              <a:ext uri="{FF2B5EF4-FFF2-40B4-BE49-F238E27FC236}">
                <a16:creationId xmlns:a16="http://schemas.microsoft.com/office/drawing/2014/main" id="{5B694B4A-BB76-92F0-C762-5265A85BD9CF}"/>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876203" y="1812936"/>
            <a:ext cx="1080000" cy="1080000"/>
          </a:xfrm>
          <a:prstGeom prst="rect">
            <a:avLst/>
          </a:prstGeom>
        </p:spPr>
      </p:pic>
      <p:pic>
        <p:nvPicPr>
          <p:cNvPr id="10" name="Picture 9" descr="A white and grey logo&#10;&#10;Description automatically generated with medium confidence">
            <a:extLst>
              <a:ext uri="{FF2B5EF4-FFF2-40B4-BE49-F238E27FC236}">
                <a16:creationId xmlns:a16="http://schemas.microsoft.com/office/drawing/2014/main" id="{01FE715C-2C50-5396-25A7-9FE1BA8C005B}"/>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3007752" y="1899525"/>
            <a:ext cx="1080000" cy="1080000"/>
          </a:xfrm>
          <a:prstGeom prst="rect">
            <a:avLst/>
          </a:prstGeom>
        </p:spPr>
      </p:pic>
      <p:pic>
        <p:nvPicPr>
          <p:cNvPr id="12" name="Picture 11" descr="A pencil on a piece of paper&#10;&#10;Description automatically generated">
            <a:extLst>
              <a:ext uri="{FF2B5EF4-FFF2-40B4-BE49-F238E27FC236}">
                <a16:creationId xmlns:a16="http://schemas.microsoft.com/office/drawing/2014/main" id="{4DA60721-8E6E-9CAD-98EB-6D9CCD0D6E8D}"/>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5139301" y="1853246"/>
            <a:ext cx="1080000" cy="1080000"/>
          </a:xfrm>
          <a:prstGeom prst="rect">
            <a:avLst/>
          </a:prstGeom>
        </p:spPr>
      </p:pic>
      <p:pic>
        <p:nvPicPr>
          <p:cNvPr id="14" name="Picture 13" descr="A handshake on a black background&#10;&#10;Description automatically generated">
            <a:extLst>
              <a:ext uri="{FF2B5EF4-FFF2-40B4-BE49-F238E27FC236}">
                <a16:creationId xmlns:a16="http://schemas.microsoft.com/office/drawing/2014/main" id="{82AC0494-875E-33B5-6705-356B604CD9AA}"/>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7102563" y="1803493"/>
            <a:ext cx="1080000" cy="1080000"/>
          </a:xfrm>
          <a:prstGeom prst="rect">
            <a:avLst/>
          </a:prstGeom>
        </p:spPr>
      </p:pic>
    </p:spTree>
    <p:extLst>
      <p:ext uri="{BB962C8B-B14F-4D97-AF65-F5344CB8AC3E}">
        <p14:creationId xmlns:p14="http://schemas.microsoft.com/office/powerpoint/2010/main" val="2769504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35E364-8706-4E69-9364-09EA2EE16A8F}"/>
              </a:ext>
            </a:extLst>
          </p:cNvPr>
          <p:cNvSpPr>
            <a:spLocks noGrp="1"/>
          </p:cNvSpPr>
          <p:nvPr>
            <p:ph type="title"/>
          </p:nvPr>
        </p:nvSpPr>
        <p:spPr>
          <a:xfrm>
            <a:off x="250826" y="121196"/>
            <a:ext cx="8641654" cy="1080542"/>
          </a:xfrm>
        </p:spPr>
        <p:txBody>
          <a:bodyPr/>
          <a:lstStyle/>
          <a:p>
            <a:r>
              <a:rPr lang="fr-FR" altLang="de-DE" dirty="0"/>
              <a:t>Souplesse d’investissements : </a:t>
            </a:r>
            <a:r>
              <a:rPr lang="fr-FR" altLang="de-DE" dirty="0">
                <a:solidFill>
                  <a:srgbClr val="000000"/>
                </a:solidFill>
              </a:rPr>
              <a:t>u</a:t>
            </a:r>
            <a:r>
              <a:rPr lang="fr-FR" dirty="0">
                <a:solidFill>
                  <a:srgbClr val="000000"/>
                </a:solidFill>
              </a:rPr>
              <a:t>ne gestion </a:t>
            </a:r>
            <a:br>
              <a:rPr lang="fr-FR" dirty="0">
                <a:solidFill>
                  <a:srgbClr val="000000"/>
                </a:solidFill>
              </a:rPr>
            </a:br>
            <a:r>
              <a:rPr lang="fr-FR" dirty="0">
                <a:solidFill>
                  <a:srgbClr val="000000"/>
                </a:solidFill>
              </a:rPr>
              <a:t>sur-mesure</a:t>
            </a:r>
          </a:p>
        </p:txBody>
      </p:sp>
      <p:sp>
        <p:nvSpPr>
          <p:cNvPr id="36" name="TextBox 35">
            <a:extLst>
              <a:ext uri="{FF2B5EF4-FFF2-40B4-BE49-F238E27FC236}">
                <a16:creationId xmlns:a16="http://schemas.microsoft.com/office/drawing/2014/main" id="{D17A9507-E322-42B7-A65B-5D145137A6C3}"/>
              </a:ext>
            </a:extLst>
          </p:cNvPr>
          <p:cNvSpPr txBox="1"/>
          <p:nvPr/>
        </p:nvSpPr>
        <p:spPr>
          <a:xfrm>
            <a:off x="6965241" y="3714378"/>
            <a:ext cx="1620000" cy="120033"/>
          </a:xfrm>
          <a:prstGeom prst="rect">
            <a:avLst/>
          </a:prstGeom>
          <a:noFill/>
        </p:spPr>
        <p:txBody>
          <a:bodyPr wrap="square" rtlCol="0">
            <a:spAutoFit/>
          </a:bodyPr>
          <a:lstStyle/>
          <a:p>
            <a:pPr marL="72000" marR="0" lvl="0" indent="-72000" algn="l" defTabSz="355600" rtl="0" eaLnBrk="1" fontAlgn="auto" latinLnBrk="0" hangingPunct="1">
              <a:lnSpc>
                <a:spcPct val="90000"/>
              </a:lnSpc>
              <a:spcBef>
                <a:spcPct val="0"/>
              </a:spcBef>
              <a:spcAft>
                <a:spcPts val="0"/>
              </a:spcAft>
              <a:buClrTx/>
              <a:buSzTx/>
              <a:buFontTx/>
              <a:buNone/>
              <a:tabLst/>
              <a:defRPr/>
            </a:pPr>
            <a:endParaRPr kumimoji="0" lang="fr-FR" sz="200" b="0" i="0" u="none" strike="noStrike" kern="1200" cap="none" spc="0" normalizeH="0" baseline="0" noProof="0" dirty="0">
              <a:ln>
                <a:noFill/>
              </a:ln>
              <a:solidFill>
                <a:srgbClr val="000000"/>
              </a:solidFill>
              <a:effectLst/>
              <a:uLnTx/>
              <a:uFillTx/>
              <a:latin typeface="Arial"/>
              <a:ea typeface="+mn-ea"/>
              <a:cs typeface="+mn-cs"/>
            </a:endParaRPr>
          </a:p>
        </p:txBody>
      </p:sp>
      <p:graphicFrame>
        <p:nvGraphicFramePr>
          <p:cNvPr id="3" name="Table 4">
            <a:extLst>
              <a:ext uri="{FF2B5EF4-FFF2-40B4-BE49-F238E27FC236}">
                <a16:creationId xmlns:a16="http://schemas.microsoft.com/office/drawing/2014/main" id="{97755D50-9B40-456F-A499-FC5CA9F784CC}"/>
              </a:ext>
            </a:extLst>
          </p:cNvPr>
          <p:cNvGraphicFramePr>
            <a:graphicFrameLocks noGrp="1"/>
          </p:cNvGraphicFramePr>
          <p:nvPr>
            <p:extLst>
              <p:ext uri="{D42A27DB-BD31-4B8C-83A1-F6EECF244321}">
                <p14:modId xmlns:p14="http://schemas.microsoft.com/office/powerpoint/2010/main" val="1416986946"/>
              </p:ext>
            </p:extLst>
          </p:nvPr>
        </p:nvGraphicFramePr>
        <p:xfrm>
          <a:off x="209944" y="1722312"/>
          <a:ext cx="8634755" cy="3112897"/>
        </p:xfrm>
        <a:graphic>
          <a:graphicData uri="http://schemas.openxmlformats.org/drawingml/2006/table">
            <a:tbl>
              <a:tblPr firstRow="1" bandRow="1">
                <a:tableStyleId>{2D5ABB26-0587-4C30-8999-92F81FD0307C}</a:tableStyleId>
              </a:tblPr>
              <a:tblGrid>
                <a:gridCol w="1726951">
                  <a:extLst>
                    <a:ext uri="{9D8B030D-6E8A-4147-A177-3AD203B41FA5}">
                      <a16:colId xmlns:a16="http://schemas.microsoft.com/office/drawing/2014/main" val="4291550042"/>
                    </a:ext>
                  </a:extLst>
                </a:gridCol>
                <a:gridCol w="1726951">
                  <a:extLst>
                    <a:ext uri="{9D8B030D-6E8A-4147-A177-3AD203B41FA5}">
                      <a16:colId xmlns:a16="http://schemas.microsoft.com/office/drawing/2014/main" val="642619738"/>
                    </a:ext>
                  </a:extLst>
                </a:gridCol>
                <a:gridCol w="1726951">
                  <a:extLst>
                    <a:ext uri="{9D8B030D-6E8A-4147-A177-3AD203B41FA5}">
                      <a16:colId xmlns:a16="http://schemas.microsoft.com/office/drawing/2014/main" val="46850983"/>
                    </a:ext>
                  </a:extLst>
                </a:gridCol>
                <a:gridCol w="1726951">
                  <a:extLst>
                    <a:ext uri="{9D8B030D-6E8A-4147-A177-3AD203B41FA5}">
                      <a16:colId xmlns:a16="http://schemas.microsoft.com/office/drawing/2014/main" val="1898606516"/>
                    </a:ext>
                  </a:extLst>
                </a:gridCol>
                <a:gridCol w="1726951">
                  <a:extLst>
                    <a:ext uri="{9D8B030D-6E8A-4147-A177-3AD203B41FA5}">
                      <a16:colId xmlns:a16="http://schemas.microsoft.com/office/drawing/2014/main" val="4270627222"/>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800" dirty="0">
                          <a:solidFill>
                            <a:schemeClr val="hlink"/>
                          </a:solidFill>
                        </a:rPr>
                        <a:t>Fonds en euros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800" dirty="0">
                          <a:solidFill>
                            <a:schemeClr val="hlink"/>
                          </a:solidFill>
                        </a:rPr>
                        <a:t>   Fonds externes</a:t>
                      </a:r>
                    </a:p>
                    <a:p>
                      <a:pPr marL="0" marR="0" lvl="0" indent="0" algn="ctr" defTabSz="914400" rtl="0" eaLnBrk="1" fontAlgn="auto" latinLnBrk="0" hangingPunct="1">
                        <a:lnSpc>
                          <a:spcPct val="100000"/>
                        </a:lnSpc>
                        <a:spcBef>
                          <a:spcPts val="0"/>
                        </a:spcBef>
                        <a:spcAft>
                          <a:spcPts val="0"/>
                        </a:spcAft>
                        <a:buClrTx/>
                        <a:buSzTx/>
                        <a:buFontTx/>
                        <a:buNone/>
                        <a:tabLst/>
                        <a:defRPr/>
                      </a:pPr>
                      <a:r>
                        <a:rPr lang="fr-FR" sz="800" dirty="0">
                          <a:solidFill>
                            <a:schemeClr val="hlink"/>
                          </a:solidFill>
                        </a:rPr>
                        <a:t>     </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800" b="1" dirty="0">
                          <a:solidFill>
                            <a:srgbClr val="D82034"/>
                          </a:solidFill>
                        </a:rPr>
                        <a:t>Fonds interne dédié </a:t>
                      </a:r>
                      <a:br>
                        <a:rPr lang="fr-FR" sz="800" b="1" dirty="0">
                          <a:solidFill>
                            <a:srgbClr val="D82034"/>
                          </a:solidFill>
                        </a:rPr>
                      </a:br>
                      <a:r>
                        <a:rPr lang="fr-FR" sz="800" b="1" dirty="0">
                          <a:solidFill>
                            <a:srgbClr val="D82034"/>
                          </a:solidFill>
                        </a:rPr>
                        <a:t>(FID)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800" b="1" dirty="0">
                          <a:solidFill>
                            <a:schemeClr val="hlink"/>
                          </a:solidFill>
                        </a:rPr>
                        <a:t>Fonds d’assurance </a:t>
                      </a:r>
                      <a:br>
                        <a:rPr lang="fr-FR" sz="800" b="1" dirty="0">
                          <a:solidFill>
                            <a:schemeClr val="hlink"/>
                          </a:solidFill>
                        </a:rPr>
                      </a:br>
                      <a:r>
                        <a:rPr lang="fr-FR" sz="800" b="1" dirty="0">
                          <a:solidFill>
                            <a:schemeClr val="hlink"/>
                          </a:solidFill>
                        </a:rPr>
                        <a:t>   spécialisé (FAS) </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800" dirty="0">
                          <a:solidFill>
                            <a:schemeClr val="hlink"/>
                          </a:solidFill>
                        </a:rPr>
                        <a:t>Fonds interne collectif</a:t>
                      </a:r>
                    </a:p>
                    <a:p>
                      <a:pPr marL="0" marR="0" lvl="0" indent="0" algn="ctr" defTabSz="914400" rtl="0" eaLnBrk="1" fontAlgn="auto" latinLnBrk="0" hangingPunct="1">
                        <a:lnSpc>
                          <a:spcPct val="100000"/>
                        </a:lnSpc>
                        <a:spcBef>
                          <a:spcPts val="0"/>
                        </a:spcBef>
                        <a:spcAft>
                          <a:spcPts val="0"/>
                        </a:spcAft>
                        <a:buClrTx/>
                        <a:buSzTx/>
                        <a:buFontTx/>
                        <a:buNone/>
                        <a:tabLst/>
                        <a:defRPr/>
                      </a:pPr>
                      <a:r>
                        <a:rPr lang="fr-FR" sz="800" dirty="0">
                          <a:solidFill>
                            <a:schemeClr val="hlink"/>
                          </a:solidFill>
                        </a:rPr>
                        <a:t>(FIC)</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3826200907"/>
                  </a:ext>
                </a:extLst>
              </a:tr>
              <a:tr h="370840">
                <a:tc>
                  <a:txBody>
                    <a:bodyPr/>
                    <a:lstStyle/>
                    <a:p>
                      <a:pPr marL="72000" indent="-72000" defTabSz="355600">
                        <a:lnSpc>
                          <a:spcPts val="1200"/>
                        </a:lnSpc>
                        <a:spcBef>
                          <a:spcPct val="0"/>
                        </a:spcBef>
                        <a:spcAft>
                          <a:spcPts val="600"/>
                        </a:spcAft>
                        <a:buClr>
                          <a:srgbClr val="D82034"/>
                        </a:buClr>
                        <a:buSzPct val="100000"/>
                        <a:buFont typeface="Arial" panose="020B0604020202020204" pitchFamily="34" charset="0"/>
                        <a:buChar char="•"/>
                      </a:pPr>
                      <a:r>
                        <a:rPr lang="fr-FR" sz="750" dirty="0">
                          <a:solidFill>
                            <a:srgbClr val="000000"/>
                          </a:solidFill>
                        </a:rPr>
                        <a:t>Support d’investissement disponible sur des contrats d'assurance vie multisupport </a:t>
                      </a:r>
                    </a:p>
                    <a:p>
                      <a:pPr marL="72000" indent="-72000" defTabSz="355600">
                        <a:lnSpc>
                          <a:spcPts val="1200"/>
                        </a:lnSpc>
                        <a:spcBef>
                          <a:spcPct val="0"/>
                        </a:spcBef>
                        <a:spcAft>
                          <a:spcPts val="600"/>
                        </a:spcAft>
                        <a:buClr>
                          <a:srgbClr val="D82034"/>
                        </a:buClr>
                        <a:buSzPct val="100000"/>
                        <a:buFont typeface="Arial" panose="020B0604020202020204" pitchFamily="34" charset="0"/>
                        <a:buChar char="•"/>
                      </a:pPr>
                      <a:r>
                        <a:rPr lang="fr-FR" sz="750" dirty="0">
                          <a:solidFill>
                            <a:srgbClr val="000000"/>
                          </a:solidFill>
                        </a:rPr>
                        <a:t>Le souscripteur peut effectuer des retraits quand il le souhaite, de façon proportionnelle</a:t>
                      </a:r>
                    </a:p>
                    <a:p>
                      <a:pPr marL="72000" marR="0" lvl="0" indent="-72000" algn="l" defTabSz="355600" rtl="0" eaLnBrk="1" fontAlgn="auto" latinLnBrk="0" hangingPunct="1">
                        <a:lnSpc>
                          <a:spcPts val="1200"/>
                        </a:lnSpc>
                        <a:spcBef>
                          <a:spcPct val="0"/>
                        </a:spcBef>
                        <a:spcAft>
                          <a:spcPts val="600"/>
                        </a:spcAft>
                        <a:buClr>
                          <a:srgbClr val="D82034"/>
                        </a:buClr>
                        <a:buSzPct val="100000"/>
                        <a:buFont typeface="Arial" panose="020B0604020202020204" pitchFamily="34" charset="0"/>
                        <a:buChar char="•"/>
                        <a:tabLst/>
                        <a:defRPr/>
                      </a:pPr>
                      <a:endParaRPr lang="fr-FR" sz="750" dirty="0"/>
                    </a:p>
                  </a:txBody>
                  <a:tcPr>
                    <a:lnL w="12700" cap="flat" cmpd="sng" algn="ctr">
                      <a:solidFill>
                        <a:srgbClr val="A0A0A0"/>
                      </a:solidFill>
                      <a:prstDash val="solid"/>
                      <a:round/>
                      <a:headEnd type="none" w="med" len="med"/>
                      <a:tailEnd type="none" w="med" len="med"/>
                    </a:lnL>
                    <a:lnR w="12700" cap="flat" cmpd="sng" algn="ctr">
                      <a:solidFill>
                        <a:srgbClr val="A0A0A0"/>
                      </a:solidFill>
                      <a:prstDash val="solid"/>
                      <a:round/>
                      <a:headEnd type="none" w="med" len="med"/>
                      <a:tailEnd type="none" w="med" len="med"/>
                    </a:lnR>
                    <a:lnT>
                      <a:noFill/>
                    </a:lnT>
                  </a:tcPr>
                </a:tc>
                <a:tc>
                  <a:txBody>
                    <a:bodyPr/>
                    <a:lstStyle/>
                    <a:p>
                      <a:pPr marL="72000" indent="-72000" defTabSz="355600">
                        <a:lnSpc>
                          <a:spcPts val="1200"/>
                        </a:lnSpc>
                        <a:spcBef>
                          <a:spcPct val="0"/>
                        </a:spcBef>
                        <a:spcAft>
                          <a:spcPts val="600"/>
                        </a:spcAft>
                        <a:buClr>
                          <a:srgbClr val="D82034"/>
                        </a:buClr>
                        <a:buSzPct val="100000"/>
                        <a:buFont typeface="Arial" panose="020B0604020202020204" pitchFamily="34" charset="0"/>
                        <a:buChar char="•"/>
                      </a:pPr>
                      <a:r>
                        <a:rPr lang="fr-FR" sz="750" dirty="0"/>
                        <a:t>Large choix de fonds externes</a:t>
                      </a:r>
                    </a:p>
                    <a:p>
                      <a:pPr marL="72000" indent="-72000" defTabSz="355600">
                        <a:lnSpc>
                          <a:spcPts val="1200"/>
                        </a:lnSpc>
                        <a:spcBef>
                          <a:spcPct val="0"/>
                        </a:spcBef>
                        <a:spcAft>
                          <a:spcPts val="600"/>
                        </a:spcAft>
                        <a:buClr>
                          <a:srgbClr val="D82034"/>
                        </a:buClr>
                        <a:buSzPct val="100000"/>
                        <a:buFont typeface="Arial" panose="020B0604020202020204" pitchFamily="34" charset="0"/>
                        <a:buChar char="•"/>
                      </a:pPr>
                      <a:r>
                        <a:rPr lang="fr-FR" sz="750" dirty="0"/>
                        <a:t>Dans le cadre des règles d’investissement définies par le CAA</a:t>
                      </a:r>
                    </a:p>
                    <a:p>
                      <a:pPr marL="0" indent="0" defTabSz="355600">
                        <a:lnSpc>
                          <a:spcPts val="1200"/>
                        </a:lnSpc>
                        <a:spcBef>
                          <a:spcPct val="0"/>
                        </a:spcBef>
                        <a:spcAft>
                          <a:spcPts val="600"/>
                        </a:spcAft>
                        <a:buClr>
                          <a:srgbClr val="D82034"/>
                        </a:buClr>
                        <a:buSzPct val="100000"/>
                        <a:buFont typeface="Arial" panose="020B0604020202020204" pitchFamily="34" charset="0"/>
                        <a:buNone/>
                      </a:pPr>
                      <a:endParaRPr lang="fr-FR" sz="750" dirty="0">
                        <a:solidFill>
                          <a:srgbClr val="000000"/>
                        </a:solidFill>
                      </a:endParaRPr>
                    </a:p>
                  </a:txBody>
                  <a:tcPr>
                    <a:lnL w="12700" cap="flat" cmpd="sng" algn="ctr">
                      <a:solidFill>
                        <a:srgbClr val="A0A0A0"/>
                      </a:solidFill>
                      <a:prstDash val="solid"/>
                      <a:round/>
                      <a:headEnd type="none" w="med" len="med"/>
                      <a:tailEnd type="none" w="med" len="med"/>
                    </a:lnL>
                    <a:lnR w="12700" cap="flat" cmpd="sng" algn="ctr">
                      <a:solidFill>
                        <a:srgbClr val="A0A0A0"/>
                      </a:solidFill>
                      <a:prstDash val="solid"/>
                      <a:round/>
                      <a:headEnd type="none" w="med" len="med"/>
                      <a:tailEnd type="none" w="med" len="med"/>
                    </a:lnR>
                    <a:lnT>
                      <a:noFill/>
                    </a:lnT>
                  </a:tcPr>
                </a:tc>
                <a:tc>
                  <a:txBody>
                    <a:bodyPr/>
                    <a:lstStyle/>
                    <a:p>
                      <a:pPr marL="72000" marR="0" lvl="0" indent="-72000" algn="l" defTabSz="355600" rtl="0" eaLnBrk="1" fontAlgn="auto" latinLnBrk="0" hangingPunct="1">
                        <a:lnSpc>
                          <a:spcPts val="1200"/>
                        </a:lnSpc>
                        <a:spcBef>
                          <a:spcPct val="0"/>
                        </a:spcBef>
                        <a:spcAft>
                          <a:spcPts val="600"/>
                        </a:spcAft>
                        <a:buClr>
                          <a:srgbClr val="D82034"/>
                        </a:buClr>
                        <a:buSzPct val="100000"/>
                        <a:buFont typeface="Arial" panose="020B0604020202020204" pitchFamily="34" charset="0"/>
                        <a:buChar char="•"/>
                        <a:tabLst/>
                        <a:defRPr/>
                      </a:pPr>
                      <a:r>
                        <a:rPr lang="fr-FR" sz="750" b="1" dirty="0"/>
                        <a:t>Gestion discrétionnaire : le souscripteur choisit son gérant, la stratégie en fonction du profil de risque. Choix de la banque dépositaire</a:t>
                      </a:r>
                    </a:p>
                    <a:p>
                      <a:pPr marL="72000" marR="0" lvl="0" indent="-72000" algn="l" defTabSz="355600" rtl="0" eaLnBrk="1" fontAlgn="auto" latinLnBrk="0" hangingPunct="1">
                        <a:lnSpc>
                          <a:spcPts val="1200"/>
                        </a:lnSpc>
                        <a:spcBef>
                          <a:spcPct val="0"/>
                        </a:spcBef>
                        <a:spcAft>
                          <a:spcPts val="600"/>
                        </a:spcAft>
                        <a:buClr>
                          <a:srgbClr val="D82034"/>
                        </a:buClr>
                        <a:buSzPct val="100000"/>
                        <a:buFont typeface="Arial" panose="020B0604020202020204" pitchFamily="34" charset="0"/>
                        <a:buChar char="•"/>
                        <a:tabLst/>
                        <a:defRPr/>
                      </a:pPr>
                      <a:r>
                        <a:rPr lang="fr-FR" sz="750" dirty="0"/>
                        <a:t>Liberté de choix pour la stratégie d'investissement, le gestionnaire d'investissement et la banque dépositaire </a:t>
                      </a:r>
                      <a:br>
                        <a:rPr lang="fr-FR" sz="750" dirty="0"/>
                      </a:br>
                      <a:r>
                        <a:rPr lang="fr-FR" sz="750" dirty="0"/>
                        <a:t>(dans les limites des règles du CAA)</a:t>
                      </a:r>
                    </a:p>
                    <a:p>
                      <a:pPr marL="72000" marR="0" lvl="0" indent="-72000" algn="l" defTabSz="355600" rtl="0" eaLnBrk="1" fontAlgn="auto" latinLnBrk="0" hangingPunct="1">
                        <a:lnSpc>
                          <a:spcPts val="1200"/>
                        </a:lnSpc>
                        <a:spcBef>
                          <a:spcPct val="0"/>
                        </a:spcBef>
                        <a:spcAft>
                          <a:spcPts val="600"/>
                        </a:spcAft>
                        <a:buClr>
                          <a:srgbClr val="D82034"/>
                        </a:buClr>
                        <a:buSzPct val="100000"/>
                        <a:buFont typeface="Arial" panose="020B0604020202020204" pitchFamily="34" charset="0"/>
                        <a:buChar char="•"/>
                        <a:tabLst/>
                        <a:defRPr/>
                      </a:pPr>
                      <a:r>
                        <a:rPr lang="fr-FR" sz="750" dirty="0"/>
                        <a:t>Le gestionnaire investit en fonction des objectifs personnels du souscripteur créant un portefeuille sur-mesure</a:t>
                      </a:r>
                    </a:p>
                    <a:p>
                      <a:pPr marL="0" indent="0" defTabSz="355600">
                        <a:lnSpc>
                          <a:spcPts val="1200"/>
                        </a:lnSpc>
                        <a:spcBef>
                          <a:spcPct val="0"/>
                        </a:spcBef>
                        <a:spcAft>
                          <a:spcPts val="600"/>
                        </a:spcAft>
                        <a:buClr>
                          <a:srgbClr val="D82034"/>
                        </a:buClr>
                        <a:buSzPct val="100000"/>
                        <a:buFont typeface="Arial" panose="020B0604020202020204" pitchFamily="34" charset="0"/>
                        <a:buNone/>
                      </a:pPr>
                      <a:endParaRPr lang="fr-FR" sz="750" dirty="0"/>
                    </a:p>
                  </a:txBody>
                  <a:tcPr>
                    <a:lnL w="12700" cap="flat" cmpd="sng" algn="ctr">
                      <a:solidFill>
                        <a:srgbClr val="A0A0A0"/>
                      </a:solidFill>
                      <a:prstDash val="solid"/>
                      <a:round/>
                      <a:headEnd type="none" w="med" len="med"/>
                      <a:tailEnd type="none" w="med" len="med"/>
                    </a:lnL>
                    <a:lnR w="12700" cap="flat" cmpd="sng" algn="ctr">
                      <a:solidFill>
                        <a:srgbClr val="A0A0A0"/>
                      </a:solidFill>
                      <a:prstDash val="solid"/>
                      <a:round/>
                      <a:headEnd type="none" w="med" len="med"/>
                      <a:tailEnd type="none" w="med" len="med"/>
                    </a:lnR>
                    <a:lnT>
                      <a:noFill/>
                    </a:lnT>
                  </a:tcPr>
                </a:tc>
                <a:tc>
                  <a:txBody>
                    <a:bodyPr/>
                    <a:lstStyle/>
                    <a:p>
                      <a:pPr marL="72000" indent="-72000" defTabSz="355600">
                        <a:lnSpc>
                          <a:spcPts val="1200"/>
                        </a:lnSpc>
                        <a:spcBef>
                          <a:spcPct val="0"/>
                        </a:spcBef>
                        <a:spcAft>
                          <a:spcPts val="600"/>
                        </a:spcAft>
                        <a:buClr>
                          <a:srgbClr val="D82034"/>
                        </a:buClr>
                        <a:buSzPct val="100000"/>
                        <a:buFont typeface="Arial" panose="020B0604020202020204" pitchFamily="34" charset="0"/>
                        <a:buChar char="•"/>
                      </a:pPr>
                      <a:r>
                        <a:rPr lang="fr-FR" sz="750" b="1" dirty="0">
                          <a:solidFill>
                            <a:srgbClr val="000000"/>
                          </a:solidFill>
                        </a:rPr>
                        <a:t>Gestion libre ou gestion conseillée. Le souscripteur décide des investissements. Choix de la banque dépositaire </a:t>
                      </a:r>
                    </a:p>
                    <a:p>
                      <a:pPr marL="72000" indent="-72000" defTabSz="355600">
                        <a:lnSpc>
                          <a:spcPts val="1200"/>
                        </a:lnSpc>
                        <a:spcBef>
                          <a:spcPct val="0"/>
                        </a:spcBef>
                        <a:spcAft>
                          <a:spcPts val="600"/>
                        </a:spcAft>
                        <a:buClr>
                          <a:srgbClr val="D82034"/>
                        </a:buClr>
                        <a:buSzPct val="100000"/>
                        <a:buFont typeface="Arial" panose="020B0604020202020204" pitchFamily="34" charset="0"/>
                        <a:buChar char="•"/>
                      </a:pPr>
                      <a:r>
                        <a:rPr lang="fr-FR" sz="750" dirty="0">
                          <a:solidFill>
                            <a:srgbClr val="000000"/>
                          </a:solidFill>
                        </a:rPr>
                        <a:t>Fonds interne dont le profil de gestion est établi sur base des objectifs d’investissement personnels du souscripteur </a:t>
                      </a:r>
                    </a:p>
                    <a:p>
                      <a:pPr marL="72000" indent="-72000" defTabSz="355600">
                        <a:lnSpc>
                          <a:spcPts val="1200"/>
                        </a:lnSpc>
                        <a:spcBef>
                          <a:spcPct val="0"/>
                        </a:spcBef>
                        <a:spcAft>
                          <a:spcPts val="600"/>
                        </a:spcAft>
                        <a:buClr>
                          <a:srgbClr val="D82034"/>
                        </a:buClr>
                        <a:buSzPct val="100000"/>
                        <a:buFont typeface="Arial" panose="020B0604020202020204" pitchFamily="34" charset="0"/>
                        <a:buChar char="•"/>
                      </a:pPr>
                      <a:r>
                        <a:rPr lang="fr-FR" sz="750" dirty="0">
                          <a:solidFill>
                            <a:srgbClr val="000000"/>
                          </a:solidFill>
                        </a:rPr>
                        <a:t>Le souscripteur pourra choisir parmi un large éventail d’actifs et de produits sophistiqués </a:t>
                      </a:r>
                    </a:p>
                  </a:txBody>
                  <a:tcPr>
                    <a:lnL w="12700" cap="flat" cmpd="sng" algn="ctr">
                      <a:solidFill>
                        <a:srgbClr val="A0A0A0"/>
                      </a:solidFill>
                      <a:prstDash val="solid"/>
                      <a:round/>
                      <a:headEnd type="none" w="med" len="med"/>
                      <a:tailEnd type="none" w="med" len="med"/>
                    </a:lnL>
                    <a:lnR w="12700" cap="flat" cmpd="sng" algn="ctr">
                      <a:solidFill>
                        <a:srgbClr val="A0A0A0"/>
                      </a:solidFill>
                      <a:prstDash val="solid"/>
                      <a:round/>
                      <a:headEnd type="none" w="med" len="med"/>
                      <a:tailEnd type="none" w="med" len="med"/>
                    </a:lnR>
                    <a:lnT>
                      <a:noFill/>
                    </a:lnT>
                  </a:tcPr>
                </a:tc>
                <a:tc>
                  <a:txBody>
                    <a:bodyPr/>
                    <a:lstStyle/>
                    <a:p>
                      <a:pPr marL="72000" indent="-72000" defTabSz="355600">
                        <a:lnSpc>
                          <a:spcPts val="1200"/>
                        </a:lnSpc>
                        <a:spcBef>
                          <a:spcPct val="0"/>
                        </a:spcBef>
                        <a:spcAft>
                          <a:spcPts val="600"/>
                        </a:spcAft>
                        <a:buClr>
                          <a:srgbClr val="D82034"/>
                        </a:buClr>
                        <a:buSzPct val="100000"/>
                        <a:buFont typeface="Arial" panose="020B0604020202020204" pitchFamily="34" charset="0"/>
                        <a:buChar char="•"/>
                      </a:pPr>
                      <a:r>
                        <a:rPr lang="fr-FR" sz="750" dirty="0">
                          <a:solidFill>
                            <a:srgbClr val="000000"/>
                          </a:solidFill>
                        </a:rPr>
                        <a:t>Un fonds interne dans lequel plusieurs souscripteurs peuvent investir. </a:t>
                      </a:r>
                    </a:p>
                    <a:p>
                      <a:pPr marL="72000" indent="-72000" defTabSz="355600">
                        <a:lnSpc>
                          <a:spcPts val="1200"/>
                        </a:lnSpc>
                        <a:spcBef>
                          <a:spcPct val="0"/>
                        </a:spcBef>
                        <a:spcAft>
                          <a:spcPts val="600"/>
                        </a:spcAft>
                        <a:buClr>
                          <a:srgbClr val="D82034"/>
                        </a:buClr>
                        <a:buSzPct val="100000"/>
                        <a:buFont typeface="Arial" panose="020B0604020202020204" pitchFamily="34" charset="0"/>
                        <a:buChar char="•"/>
                      </a:pPr>
                      <a:r>
                        <a:rPr lang="fr-FR" sz="750" dirty="0">
                          <a:solidFill>
                            <a:srgbClr val="000000"/>
                          </a:solidFill>
                        </a:rPr>
                        <a:t>Défini par le cadre réglementaire de la circulaire 15/3 du (CAA), le FIC permet la mise en place d'une gestion collective sous mandat discrétionnaire</a:t>
                      </a:r>
                    </a:p>
                    <a:p>
                      <a:pPr marL="72000" indent="-72000" defTabSz="355600">
                        <a:lnSpc>
                          <a:spcPts val="1200"/>
                        </a:lnSpc>
                        <a:spcBef>
                          <a:spcPct val="0"/>
                        </a:spcBef>
                        <a:spcAft>
                          <a:spcPts val="600"/>
                        </a:spcAft>
                        <a:buClr>
                          <a:srgbClr val="D82034"/>
                        </a:buClr>
                        <a:buSzPct val="100000"/>
                        <a:buFont typeface="Arial" panose="020B0604020202020204" pitchFamily="34" charset="0"/>
                        <a:buChar char="•"/>
                      </a:pPr>
                      <a:r>
                        <a:rPr lang="fr-FR" sz="750" dirty="0">
                          <a:solidFill>
                            <a:srgbClr val="000000"/>
                          </a:solidFill>
                        </a:rPr>
                        <a:t>Le choix des actifs sous-jacents du FIC effectué par le gestionnaire mandaté</a:t>
                      </a:r>
                    </a:p>
                  </a:txBody>
                  <a:tcPr>
                    <a:lnL w="12700" cap="flat" cmpd="sng" algn="ctr">
                      <a:solidFill>
                        <a:srgbClr val="A0A0A0"/>
                      </a:solidFill>
                      <a:prstDash val="solid"/>
                      <a:round/>
                      <a:headEnd type="none" w="med" len="med"/>
                      <a:tailEnd type="none" w="med" len="med"/>
                    </a:lnL>
                    <a:lnR w="12700" cap="flat" cmpd="sng" algn="ctr">
                      <a:solidFill>
                        <a:srgbClr val="A0A0A0"/>
                      </a:solidFill>
                      <a:prstDash val="solid"/>
                      <a:round/>
                      <a:headEnd type="none" w="med" len="med"/>
                      <a:tailEnd type="none" w="med" len="med"/>
                    </a:lnR>
                    <a:lnT>
                      <a:noFill/>
                    </a:lnT>
                  </a:tcPr>
                </a:tc>
                <a:extLst>
                  <a:ext uri="{0D108BD9-81ED-4DB2-BD59-A6C34878D82A}">
                    <a16:rowId xmlns:a16="http://schemas.microsoft.com/office/drawing/2014/main" val="325212381"/>
                  </a:ext>
                </a:extLst>
              </a:tr>
            </a:tbl>
          </a:graphicData>
        </a:graphic>
      </p:graphicFrame>
      <p:pic>
        <p:nvPicPr>
          <p:cNvPr id="59" name="Graphic 58">
            <a:extLst>
              <a:ext uri="{FF2B5EF4-FFF2-40B4-BE49-F238E27FC236}">
                <a16:creationId xmlns:a16="http://schemas.microsoft.com/office/drawing/2014/main" id="{482BBED3-6D92-4667-AB77-9D75E4A81C82}"/>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176782" y="1718919"/>
            <a:ext cx="252000" cy="252000"/>
          </a:xfrm>
          <a:prstGeom prst="rect">
            <a:avLst/>
          </a:prstGeom>
        </p:spPr>
      </p:pic>
      <p:pic>
        <p:nvPicPr>
          <p:cNvPr id="60" name="Graphic 59">
            <a:extLst>
              <a:ext uri="{FF2B5EF4-FFF2-40B4-BE49-F238E27FC236}">
                <a16:creationId xmlns:a16="http://schemas.microsoft.com/office/drawing/2014/main" id="{9B206595-4D3C-44E1-8A24-5C1E57FD7DA6}"/>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508865" y="1737864"/>
            <a:ext cx="252000" cy="252000"/>
          </a:xfrm>
          <a:prstGeom prst="rect">
            <a:avLst/>
          </a:prstGeom>
        </p:spPr>
      </p:pic>
      <p:sp>
        <p:nvSpPr>
          <p:cNvPr id="64" name="TextBox 63">
            <a:extLst>
              <a:ext uri="{FF2B5EF4-FFF2-40B4-BE49-F238E27FC236}">
                <a16:creationId xmlns:a16="http://schemas.microsoft.com/office/drawing/2014/main" id="{313A2242-4663-47F7-8900-55AAB9D9E772}"/>
              </a:ext>
            </a:extLst>
          </p:cNvPr>
          <p:cNvSpPr txBox="1"/>
          <p:nvPr/>
        </p:nvSpPr>
        <p:spPr>
          <a:xfrm>
            <a:off x="935596" y="1181571"/>
            <a:ext cx="7272808"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1" u="none" strike="noStrike" kern="1200" cap="none" spc="0" normalizeH="0" baseline="0" noProof="0" dirty="0">
                <a:ln>
                  <a:noFill/>
                </a:ln>
                <a:solidFill>
                  <a:srgbClr val="808080"/>
                </a:solidFill>
                <a:effectLst/>
                <a:uLnTx/>
                <a:uFillTx/>
                <a:latin typeface="Times New Roman"/>
                <a:ea typeface="+mn-ea"/>
                <a:cs typeface="+mn-cs"/>
              </a:rPr>
              <a:t>Un large choix de véhicules d’investissement </a:t>
            </a:r>
          </a:p>
        </p:txBody>
      </p:sp>
      <p:pic>
        <p:nvPicPr>
          <p:cNvPr id="7" name="Picture 6" descr="Icon&#10;&#10;Description automatically generated">
            <a:extLst>
              <a:ext uri="{FF2B5EF4-FFF2-40B4-BE49-F238E27FC236}">
                <a16:creationId xmlns:a16="http://schemas.microsoft.com/office/drawing/2014/main" id="{1E58DDC7-9674-4BC7-9E68-A1B5268666A7}"/>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186598" y="1737864"/>
            <a:ext cx="252000" cy="252000"/>
          </a:xfrm>
          <a:prstGeom prst="rect">
            <a:avLst/>
          </a:prstGeom>
        </p:spPr>
      </p:pic>
      <p:sp>
        <p:nvSpPr>
          <p:cNvPr id="8" name="TextBox 7">
            <a:extLst>
              <a:ext uri="{FF2B5EF4-FFF2-40B4-BE49-F238E27FC236}">
                <a16:creationId xmlns:a16="http://schemas.microsoft.com/office/drawing/2014/main" id="{C73E321B-195D-4045-9883-51B10D50D977}"/>
              </a:ext>
            </a:extLst>
          </p:cNvPr>
          <p:cNvSpPr txBox="1"/>
          <p:nvPr/>
        </p:nvSpPr>
        <p:spPr>
          <a:xfrm>
            <a:off x="101142" y="4835209"/>
            <a:ext cx="2211456" cy="200055"/>
          </a:xfrm>
          <a:prstGeom prst="rect">
            <a:avLst/>
          </a:prstGeom>
          <a:noFill/>
        </p:spPr>
        <p:txBody>
          <a:bodyPr wrap="square" rtlCol="0">
            <a:spAutoFit/>
          </a:bodyPr>
          <a:lstStyle/>
          <a:p>
            <a:r>
              <a:rPr lang="fr-FR" sz="700" dirty="0">
                <a:solidFill>
                  <a:schemeClr val="accent3"/>
                </a:solidFill>
              </a:rPr>
              <a:t>CAA – Commissariat aux Assurances Luxembourg</a:t>
            </a:r>
          </a:p>
        </p:txBody>
      </p:sp>
      <p:pic>
        <p:nvPicPr>
          <p:cNvPr id="10" name="Graphic 9">
            <a:extLst>
              <a:ext uri="{FF2B5EF4-FFF2-40B4-BE49-F238E27FC236}">
                <a16:creationId xmlns:a16="http://schemas.microsoft.com/office/drawing/2014/main" id="{60F9D0A9-BAE2-FA07-1D43-3FDC4BB8AE9C}"/>
              </a:ext>
            </a:extLst>
          </p:cNvPr>
          <p:cNvPicPr>
            <a:picLocks noChangeAspect="1"/>
          </p:cNvPicPr>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01173" y="1742277"/>
            <a:ext cx="252000" cy="252000"/>
          </a:xfrm>
          <a:prstGeom prst="rect">
            <a:avLst/>
          </a:prstGeom>
        </p:spPr>
      </p:pic>
      <p:pic>
        <p:nvPicPr>
          <p:cNvPr id="11" name="Graphic 10">
            <a:extLst>
              <a:ext uri="{FF2B5EF4-FFF2-40B4-BE49-F238E27FC236}">
                <a16:creationId xmlns:a16="http://schemas.microsoft.com/office/drawing/2014/main" id="{6F6E4CFB-783C-D3FF-A353-8FD8B49E62DB}"/>
              </a:ext>
            </a:extLst>
          </p:cNvPr>
          <p:cNvPicPr>
            <a:picLocks noChangeAspect="1"/>
          </p:cNvPicPr>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3737036" y="1703915"/>
            <a:ext cx="252000" cy="252000"/>
          </a:xfrm>
          <a:prstGeom prst="rect">
            <a:avLst/>
          </a:prstGeom>
        </p:spPr>
      </p:pic>
    </p:spTree>
    <p:extLst>
      <p:ext uri="{BB962C8B-B14F-4D97-AF65-F5344CB8AC3E}">
        <p14:creationId xmlns:p14="http://schemas.microsoft.com/office/powerpoint/2010/main" val="15832002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11E0F9-E487-C9B2-37F9-2C181184BA9D}"/>
              </a:ext>
            </a:extLst>
          </p:cNvPr>
          <p:cNvSpPr>
            <a:spLocks noGrp="1"/>
          </p:cNvSpPr>
          <p:nvPr>
            <p:ph type="title"/>
          </p:nvPr>
        </p:nvSpPr>
        <p:spPr>
          <a:xfrm>
            <a:off x="250826" y="121196"/>
            <a:ext cx="8281614" cy="1080542"/>
          </a:xfrm>
        </p:spPr>
        <p:txBody>
          <a:bodyPr/>
          <a:lstStyle/>
          <a:p>
            <a:r>
              <a:rPr lang="fr-FR"/>
              <a:t>Comparatif assurance vie France / Luxembourg</a:t>
            </a:r>
            <a:endParaRPr lang="fr-FR" dirty="0"/>
          </a:p>
        </p:txBody>
      </p:sp>
      <p:graphicFrame>
        <p:nvGraphicFramePr>
          <p:cNvPr id="3" name="Table 3">
            <a:extLst>
              <a:ext uri="{FF2B5EF4-FFF2-40B4-BE49-F238E27FC236}">
                <a16:creationId xmlns:a16="http://schemas.microsoft.com/office/drawing/2014/main" id="{AB5F0E65-6902-438E-1224-6911C57E975B}"/>
              </a:ext>
            </a:extLst>
          </p:cNvPr>
          <p:cNvGraphicFramePr>
            <a:graphicFrameLocks noGrp="1"/>
          </p:cNvGraphicFramePr>
          <p:nvPr>
            <p:extLst>
              <p:ext uri="{D42A27DB-BD31-4B8C-83A1-F6EECF244321}">
                <p14:modId xmlns:p14="http://schemas.microsoft.com/office/powerpoint/2010/main" val="2875754405"/>
              </p:ext>
            </p:extLst>
          </p:nvPr>
        </p:nvGraphicFramePr>
        <p:xfrm>
          <a:off x="250826" y="1562100"/>
          <a:ext cx="7849566" cy="2631440"/>
        </p:xfrm>
        <a:graphic>
          <a:graphicData uri="http://schemas.openxmlformats.org/drawingml/2006/table">
            <a:tbl>
              <a:tblPr firstRow="1" bandRow="1">
                <a:tableStyleId>{D27102A9-8310-4765-A935-A1911B00CA55}</a:tableStyleId>
              </a:tblPr>
              <a:tblGrid>
                <a:gridCol w="2616522">
                  <a:extLst>
                    <a:ext uri="{9D8B030D-6E8A-4147-A177-3AD203B41FA5}">
                      <a16:colId xmlns:a16="http://schemas.microsoft.com/office/drawing/2014/main" val="3470915813"/>
                    </a:ext>
                  </a:extLst>
                </a:gridCol>
                <a:gridCol w="2616522">
                  <a:extLst>
                    <a:ext uri="{9D8B030D-6E8A-4147-A177-3AD203B41FA5}">
                      <a16:colId xmlns:a16="http://schemas.microsoft.com/office/drawing/2014/main" val="3383534912"/>
                    </a:ext>
                  </a:extLst>
                </a:gridCol>
                <a:gridCol w="2616522">
                  <a:extLst>
                    <a:ext uri="{9D8B030D-6E8A-4147-A177-3AD203B41FA5}">
                      <a16:colId xmlns:a16="http://schemas.microsoft.com/office/drawing/2014/main" val="2256583515"/>
                    </a:ext>
                  </a:extLst>
                </a:gridCol>
              </a:tblGrid>
              <a:tr h="370840">
                <a:tc>
                  <a:txBody>
                    <a:bodyPr/>
                    <a:lstStyle/>
                    <a:p>
                      <a:endParaRPr lang="fr-FR" sz="1000" noProof="0" dirty="0"/>
                    </a:p>
                  </a:txBody>
                  <a:tcPr/>
                </a:tc>
                <a:tc>
                  <a:txBody>
                    <a:bodyPr/>
                    <a:lstStyle/>
                    <a:p>
                      <a:r>
                        <a:rPr lang="fr-FR" sz="1000" noProof="0"/>
                        <a:t>Assurance vie française</a:t>
                      </a:r>
                      <a:endParaRPr lang="fr-FR" sz="1000" noProof="0" dirty="0"/>
                    </a:p>
                  </a:txBody>
                  <a:tcPr/>
                </a:tc>
                <a:tc>
                  <a:txBody>
                    <a:bodyPr/>
                    <a:lstStyle/>
                    <a:p>
                      <a:r>
                        <a:rPr lang="fr-FR" sz="1000" noProof="0"/>
                        <a:t>Assurance vie luxembourgeoise</a:t>
                      </a:r>
                      <a:endParaRPr lang="fr-FR" sz="1000" noProof="0" dirty="0"/>
                    </a:p>
                  </a:txBody>
                  <a:tcPr/>
                </a:tc>
                <a:extLst>
                  <a:ext uri="{0D108BD9-81ED-4DB2-BD59-A6C34878D82A}">
                    <a16:rowId xmlns:a16="http://schemas.microsoft.com/office/drawing/2014/main" val="2631714657"/>
                  </a:ext>
                </a:extLst>
              </a:tr>
              <a:tr h="370840">
                <a:tc>
                  <a:txBody>
                    <a:bodyPr/>
                    <a:lstStyle/>
                    <a:p>
                      <a:r>
                        <a:rPr lang="fr-FR" sz="1000" noProof="0"/>
                        <a:t>Paiement de la prime</a:t>
                      </a:r>
                      <a:endParaRPr lang="fr-FR" sz="1000" noProof="0" dirty="0"/>
                    </a:p>
                  </a:txBody>
                  <a:tcPr/>
                </a:tc>
                <a:tc>
                  <a:txBody>
                    <a:bodyPr/>
                    <a:lstStyle/>
                    <a:p>
                      <a:r>
                        <a:rPr lang="fr-FR" sz="1000" noProof="0"/>
                        <a:t>En numéraire uniquement</a:t>
                      </a:r>
                      <a:endParaRPr lang="fr-FR" sz="1000" noProof="0" dirty="0"/>
                    </a:p>
                  </a:txBody>
                  <a:tcPr/>
                </a:tc>
                <a:tc>
                  <a:txBody>
                    <a:bodyPr/>
                    <a:lstStyle/>
                    <a:p>
                      <a:r>
                        <a:rPr lang="fr-FR" sz="1000" noProof="0"/>
                        <a:t>En numéraire et/ou apport de titres (sujet à des conditions)</a:t>
                      </a:r>
                      <a:endParaRPr lang="fr-FR" sz="1000" noProof="0" dirty="0"/>
                    </a:p>
                  </a:txBody>
                  <a:tcPr/>
                </a:tc>
                <a:extLst>
                  <a:ext uri="{0D108BD9-81ED-4DB2-BD59-A6C34878D82A}">
                    <a16:rowId xmlns:a16="http://schemas.microsoft.com/office/drawing/2014/main" val="1603468377"/>
                  </a:ext>
                </a:extLst>
              </a:tr>
              <a:tr h="370840">
                <a:tc>
                  <a:txBody>
                    <a:bodyPr/>
                    <a:lstStyle/>
                    <a:p>
                      <a:r>
                        <a:rPr lang="fr-FR" sz="1000" noProof="0"/>
                        <a:t>Devise d’investissement</a:t>
                      </a:r>
                      <a:endParaRPr lang="fr-FR" sz="1000" noProof="0" dirty="0"/>
                    </a:p>
                  </a:txBody>
                  <a:tcPr/>
                </a:tc>
                <a:tc>
                  <a:txBody>
                    <a:bodyPr/>
                    <a:lstStyle/>
                    <a:p>
                      <a:r>
                        <a:rPr lang="fr-FR" sz="1000" noProof="0"/>
                        <a:t>EUR</a:t>
                      </a:r>
                      <a:endParaRPr lang="fr-FR" sz="1000" noProof="0" dirty="0"/>
                    </a:p>
                  </a:txBody>
                  <a:tcPr/>
                </a:tc>
                <a:tc>
                  <a:txBody>
                    <a:bodyPr/>
                    <a:lstStyle/>
                    <a:p>
                      <a:r>
                        <a:rPr lang="fr-FR" sz="1000" noProof="0"/>
                        <a:t>EUR</a:t>
                      </a:r>
                      <a:endParaRPr lang="fr-FR" sz="1000" noProof="0" dirty="0"/>
                    </a:p>
                  </a:txBody>
                  <a:tcPr/>
                </a:tc>
                <a:extLst>
                  <a:ext uri="{0D108BD9-81ED-4DB2-BD59-A6C34878D82A}">
                    <a16:rowId xmlns:a16="http://schemas.microsoft.com/office/drawing/2014/main" val="1651161063"/>
                  </a:ext>
                </a:extLst>
              </a:tr>
              <a:tr h="370840">
                <a:tc>
                  <a:txBody>
                    <a:bodyPr/>
                    <a:lstStyle/>
                    <a:p>
                      <a:r>
                        <a:rPr lang="fr-FR" sz="1000" noProof="0"/>
                        <a:t>Supports éligibles</a:t>
                      </a:r>
                      <a:endParaRPr lang="fr-FR" sz="1000" noProof="0" dirty="0"/>
                    </a:p>
                  </a:txBody>
                  <a:tcPr/>
                </a:tc>
                <a:tc>
                  <a:txBody>
                    <a:bodyPr/>
                    <a:lstStyle/>
                    <a:p>
                      <a:r>
                        <a:rPr lang="fr-FR" sz="1000" noProof="0"/>
                        <a:t>Fonds Euro</a:t>
                      </a:r>
                    </a:p>
                    <a:p>
                      <a:r>
                        <a:rPr lang="fr-FR" sz="1000" noProof="0"/>
                        <a:t>Fonds externes OPCVM</a:t>
                      </a:r>
                      <a:endParaRPr lang="fr-FR" sz="1000" noProof="0" dirty="0"/>
                    </a:p>
                  </a:txBody>
                  <a:tcPr/>
                </a:tc>
                <a:tc>
                  <a:txBody>
                    <a:bodyPr/>
                    <a:lstStyle/>
                    <a:p>
                      <a:r>
                        <a:rPr lang="fr-FR" sz="1000" noProof="0"/>
                        <a:t>Fonds Euro</a:t>
                      </a:r>
                    </a:p>
                    <a:p>
                      <a:r>
                        <a:rPr lang="fr-FR" sz="1000" noProof="0"/>
                        <a:t>Fonds externes OPCVM</a:t>
                      </a:r>
                    </a:p>
                    <a:p>
                      <a:r>
                        <a:rPr lang="fr-FR" sz="1000" noProof="0"/>
                        <a:t>FID / FAS : gestion  – large univers d’investissements</a:t>
                      </a:r>
                      <a:endParaRPr lang="fr-FR" sz="1000" noProof="0" dirty="0"/>
                    </a:p>
                  </a:txBody>
                  <a:tcPr/>
                </a:tc>
                <a:extLst>
                  <a:ext uri="{0D108BD9-81ED-4DB2-BD59-A6C34878D82A}">
                    <a16:rowId xmlns:a16="http://schemas.microsoft.com/office/drawing/2014/main" val="467448760"/>
                  </a:ext>
                </a:extLst>
              </a:tr>
              <a:tr h="370840">
                <a:tc>
                  <a:txBody>
                    <a:bodyPr/>
                    <a:lstStyle/>
                    <a:p>
                      <a:r>
                        <a:rPr lang="fr-FR" sz="1000" noProof="0"/>
                        <a:t>Dépôt</a:t>
                      </a:r>
                      <a:endParaRPr lang="fr-FR" sz="1000" noProof="0" dirty="0"/>
                    </a:p>
                  </a:txBody>
                  <a:tcPr/>
                </a:tc>
                <a:tc>
                  <a:txBody>
                    <a:bodyPr/>
                    <a:lstStyle/>
                    <a:p>
                      <a:r>
                        <a:rPr lang="fr-FR" sz="1000" noProof="0"/>
                        <a:t>A la discrétion de l’assureur</a:t>
                      </a:r>
                      <a:endParaRPr lang="fr-FR" sz="1000" noProof="0" dirty="0"/>
                    </a:p>
                  </a:txBody>
                  <a:tcPr/>
                </a:tc>
                <a:tc>
                  <a:txBody>
                    <a:bodyPr/>
                    <a:lstStyle/>
                    <a:p>
                      <a:r>
                        <a:rPr lang="fr-FR" sz="1000" noProof="0"/>
                        <a:t>Choix de l’assureur sur proposition du souscripteur</a:t>
                      </a:r>
                      <a:endParaRPr lang="fr-FR" sz="1000" noProof="0" dirty="0"/>
                    </a:p>
                  </a:txBody>
                  <a:tcPr/>
                </a:tc>
                <a:extLst>
                  <a:ext uri="{0D108BD9-81ED-4DB2-BD59-A6C34878D82A}">
                    <a16:rowId xmlns:a16="http://schemas.microsoft.com/office/drawing/2014/main" val="2763906346"/>
                  </a:ext>
                </a:extLst>
              </a:tr>
              <a:tr h="370840">
                <a:tc>
                  <a:txBody>
                    <a:bodyPr/>
                    <a:lstStyle/>
                    <a:p>
                      <a:r>
                        <a:rPr lang="fr-FR" sz="1000" noProof="0"/>
                        <a:t>Protection des actifs</a:t>
                      </a:r>
                      <a:endParaRPr lang="fr-FR" sz="1000" noProof="0" dirty="0"/>
                    </a:p>
                  </a:txBody>
                  <a:tcPr/>
                </a:tc>
                <a:tc>
                  <a:txBody>
                    <a:bodyPr/>
                    <a:lstStyle/>
                    <a:p>
                      <a:r>
                        <a:rPr lang="fr-FR" sz="1000" noProof="0"/>
                        <a:t>Fonds de garantie: EUR 70.000</a:t>
                      </a:r>
                    </a:p>
                    <a:p>
                      <a:r>
                        <a:rPr lang="fr-FR" sz="1000" noProof="0"/>
                        <a:t>Loi Sapin II</a:t>
                      </a:r>
                      <a:endParaRPr lang="fr-FR" sz="1000" noProof="0" dirty="0"/>
                    </a:p>
                  </a:txBody>
                  <a:tcPr/>
                </a:tc>
                <a:tc>
                  <a:txBody>
                    <a:bodyPr/>
                    <a:lstStyle/>
                    <a:p>
                      <a:r>
                        <a:rPr lang="fr-FR" sz="1000" noProof="0"/>
                        <a:t>Triangle de sécurité et super privilège</a:t>
                      </a:r>
                      <a:endParaRPr lang="fr-FR" sz="1000" noProof="0" dirty="0"/>
                    </a:p>
                  </a:txBody>
                  <a:tcPr/>
                </a:tc>
                <a:extLst>
                  <a:ext uri="{0D108BD9-81ED-4DB2-BD59-A6C34878D82A}">
                    <a16:rowId xmlns:a16="http://schemas.microsoft.com/office/drawing/2014/main" val="636924154"/>
                  </a:ext>
                </a:extLst>
              </a:tr>
            </a:tbl>
          </a:graphicData>
        </a:graphic>
      </p:graphicFrame>
    </p:spTree>
    <p:extLst>
      <p:ext uri="{BB962C8B-B14F-4D97-AF65-F5344CB8AC3E}">
        <p14:creationId xmlns:p14="http://schemas.microsoft.com/office/powerpoint/2010/main" val="21417351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70AFA8E6-6CCE-4058-DBB8-A2961C7CC4A3}"/>
              </a:ext>
            </a:extLst>
          </p:cNvPr>
          <p:cNvGraphicFramePr>
            <a:graphicFrameLocks noGrp="1"/>
          </p:cNvGraphicFramePr>
          <p:nvPr>
            <p:extLst>
              <p:ext uri="{D42A27DB-BD31-4B8C-83A1-F6EECF244321}">
                <p14:modId xmlns:p14="http://schemas.microsoft.com/office/powerpoint/2010/main" val="2877827966"/>
              </p:ext>
            </p:extLst>
          </p:nvPr>
        </p:nvGraphicFramePr>
        <p:xfrm>
          <a:off x="251148" y="697260"/>
          <a:ext cx="8569324" cy="4842048"/>
        </p:xfrm>
        <a:graphic>
          <a:graphicData uri="http://schemas.openxmlformats.org/drawingml/2006/table">
            <a:tbl>
              <a:tblPr firstRow="1" bandRow="1">
                <a:tableStyleId>{2D5ABB26-0587-4C30-8999-92F81FD0307C}</a:tableStyleId>
              </a:tblPr>
              <a:tblGrid>
                <a:gridCol w="1518356">
                  <a:extLst>
                    <a:ext uri="{9D8B030D-6E8A-4147-A177-3AD203B41FA5}">
                      <a16:colId xmlns:a16="http://schemas.microsoft.com/office/drawing/2014/main" val="152133079"/>
                    </a:ext>
                  </a:extLst>
                </a:gridCol>
                <a:gridCol w="4026954">
                  <a:extLst>
                    <a:ext uri="{9D8B030D-6E8A-4147-A177-3AD203B41FA5}">
                      <a16:colId xmlns:a16="http://schemas.microsoft.com/office/drawing/2014/main" val="1391351906"/>
                    </a:ext>
                  </a:extLst>
                </a:gridCol>
                <a:gridCol w="3024014">
                  <a:extLst>
                    <a:ext uri="{9D8B030D-6E8A-4147-A177-3AD203B41FA5}">
                      <a16:colId xmlns:a16="http://schemas.microsoft.com/office/drawing/2014/main" val="2859694868"/>
                    </a:ext>
                  </a:extLst>
                </a:gridCol>
              </a:tblGrid>
              <a:tr h="190951">
                <a:tc>
                  <a:txBody>
                    <a:bodyPr/>
                    <a:lstStyle/>
                    <a:p>
                      <a:endParaRPr lang="fr-FR" sz="900" noProof="0" dirty="0"/>
                    </a:p>
                  </a:txBody>
                  <a:tcPr>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tcPr>
                </a:tc>
                <a:tc>
                  <a:txBody>
                    <a:bodyPr/>
                    <a:lstStyle/>
                    <a:p>
                      <a:pPr algn="ctr"/>
                      <a:r>
                        <a:rPr lang="fr-FR" sz="900" noProof="0">
                          <a:solidFill>
                            <a:schemeClr val="accent3"/>
                          </a:solidFill>
                          <a:latin typeface="Arial" panose="020B0604020202020204" pitchFamily="34" charset="0"/>
                          <a:cs typeface="Arial" panose="020B0604020202020204" pitchFamily="34" charset="0"/>
                        </a:rPr>
                        <a:t>Solutions d'assurance</a:t>
                      </a:r>
                      <a:endParaRPr lang="fr-FR" sz="900" noProof="0" dirty="0">
                        <a:solidFill>
                          <a:schemeClr val="accent3"/>
                        </a:solidFill>
                        <a:latin typeface="Arial" panose="020B0604020202020204" pitchFamily="34" charset="0"/>
                        <a:cs typeface="Arial" panose="020B0604020202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solidFill>
                      <a:srgbClr val="DFDFD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noProof="0">
                          <a:solidFill>
                            <a:schemeClr val="accent3"/>
                          </a:solidFill>
                          <a:latin typeface="Arial" panose="020B0604020202020204" pitchFamily="34" charset="0"/>
                          <a:cs typeface="Arial" panose="020B0604020202020204" pitchFamily="34" charset="0"/>
                        </a:rPr>
                        <a:t>Investissements directs</a:t>
                      </a:r>
                      <a:endParaRPr lang="fr-FR" sz="900" noProof="0" dirty="0"/>
                    </a:p>
                  </a:txBody>
                  <a:tcPr>
                    <a:lnL w="12700" cap="flat" cmpd="sng" algn="ctr">
                      <a:solidFill>
                        <a:schemeClr val="bg1"/>
                      </a:solidFill>
                      <a:prstDash val="solid"/>
                      <a:round/>
                      <a:headEnd type="none" w="med" len="med"/>
                      <a:tailEnd type="none" w="med" len="med"/>
                    </a:lnL>
                    <a:lnB w="12700" cap="flat" cmpd="sng" algn="ctr">
                      <a:solidFill>
                        <a:schemeClr val="bg1"/>
                      </a:solidFill>
                      <a:prstDash val="solid"/>
                      <a:round/>
                      <a:headEnd type="none" w="med" len="med"/>
                      <a:tailEnd type="none" w="med" len="med"/>
                    </a:lnB>
                    <a:solidFill>
                      <a:srgbClr val="DFDFDF"/>
                    </a:solidFill>
                  </a:tcPr>
                </a:tc>
                <a:extLst>
                  <a:ext uri="{0D108BD9-81ED-4DB2-BD59-A6C34878D82A}">
                    <a16:rowId xmlns:a16="http://schemas.microsoft.com/office/drawing/2014/main" val="2991376846"/>
                  </a:ext>
                </a:extLst>
              </a:tr>
              <a:tr h="1690543">
                <a:tc>
                  <a:txBody>
                    <a:bodyPr/>
                    <a:lstStyle/>
                    <a:p>
                      <a:r>
                        <a:rPr lang="fr-FR" sz="900" noProof="0">
                          <a:solidFill>
                            <a:schemeClr val="accent3"/>
                          </a:solidFill>
                        </a:rPr>
                        <a:t>Impôt sur le revenu</a:t>
                      </a:r>
                      <a:endParaRPr lang="fr-FR" sz="900" noProof="0" dirty="0">
                        <a:solidFill>
                          <a:schemeClr val="accent3"/>
                        </a:solidFill>
                      </a:endParaRPr>
                    </a:p>
                  </a:txBody>
                  <a:tcPr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FDFDF"/>
                    </a:solidFill>
                  </a:tcPr>
                </a:tc>
                <a:tc>
                  <a:txBody>
                    <a:bodyPr/>
                    <a:lstStyle/>
                    <a:p>
                      <a:pPr marL="228600" indent="-228600" fontAlgn="base">
                        <a:spcAft>
                          <a:spcPts val="240"/>
                        </a:spcAft>
                        <a:buClr>
                          <a:srgbClr val="D82034"/>
                        </a:buClr>
                        <a:buSzPct val="100000"/>
                        <a:buFont typeface="Arial" panose="020B0604020202020204" pitchFamily="34" charset="0"/>
                        <a:buChar char="•"/>
                      </a:pPr>
                      <a:r>
                        <a:rPr lang="fr-FR" sz="800" noProof="0">
                          <a:solidFill>
                            <a:schemeClr val="tx1"/>
                          </a:solidFill>
                          <a:ea typeface="Times New Roman"/>
                          <a:cs typeface="Times New Roman"/>
                        </a:rPr>
                        <a:t>En l'absence de rachat, report d'imposition jusqu'à ce qu'un retrait soit effectué</a:t>
                      </a:r>
                    </a:p>
                    <a:p>
                      <a:pPr marL="228600" indent="-228600" fontAlgn="base">
                        <a:spcAft>
                          <a:spcPts val="240"/>
                        </a:spcAft>
                        <a:buClr>
                          <a:srgbClr val="D82034"/>
                        </a:buClr>
                        <a:buSzPct val="100000"/>
                        <a:buFont typeface="Arial" panose="020B0604020202020204" pitchFamily="34" charset="0"/>
                        <a:buChar char="•"/>
                      </a:pPr>
                      <a:r>
                        <a:rPr lang="fr-FR" sz="800" b="1" noProof="0">
                          <a:solidFill>
                            <a:schemeClr val="tx1"/>
                          </a:solidFill>
                          <a:ea typeface="Times New Roman"/>
                          <a:cs typeface="Times New Roman"/>
                        </a:rPr>
                        <a:t>Plus-values de rachat sur contrat &lt; 8 ans : </a:t>
                      </a:r>
                    </a:p>
                    <a:p>
                      <a:pPr marL="360000" lvl="1" indent="-171450" fontAlgn="base">
                        <a:spcAft>
                          <a:spcPts val="240"/>
                        </a:spcAft>
                        <a:buClr>
                          <a:srgbClr val="D82034"/>
                        </a:buClr>
                        <a:buSzPct val="100000"/>
                        <a:buFont typeface="Arial"/>
                        <a:buChar char="–"/>
                      </a:pPr>
                      <a:r>
                        <a:rPr lang="fr-FR" sz="800" noProof="0">
                          <a:solidFill>
                            <a:schemeClr val="tx1"/>
                          </a:solidFill>
                          <a:ea typeface="Times New Roman"/>
                          <a:cs typeface="Times New Roman"/>
                        </a:rPr>
                        <a:t>Prélèvement forfaitaire unique : 12,8 %</a:t>
                      </a:r>
                    </a:p>
                    <a:p>
                      <a:pPr marL="360000" lvl="1" indent="-171450" fontAlgn="base">
                        <a:spcAft>
                          <a:spcPts val="240"/>
                        </a:spcAft>
                        <a:buClr>
                          <a:srgbClr val="D82034"/>
                        </a:buClr>
                        <a:buSzPct val="100000"/>
                        <a:buFont typeface="Arial"/>
                        <a:buChar char="–"/>
                      </a:pPr>
                      <a:r>
                        <a:rPr lang="fr-FR" sz="800" b="1" noProof="0">
                          <a:solidFill>
                            <a:schemeClr val="tx1"/>
                          </a:solidFill>
                          <a:ea typeface="Times New Roman"/>
                          <a:cs typeface="Times New Roman"/>
                        </a:rPr>
                        <a:t>Ou </a:t>
                      </a:r>
                      <a:r>
                        <a:rPr lang="fr-FR" sz="800" noProof="0">
                          <a:solidFill>
                            <a:schemeClr val="tx1"/>
                          </a:solidFill>
                          <a:ea typeface="Times New Roman"/>
                          <a:cs typeface="Times New Roman"/>
                        </a:rPr>
                        <a:t>sur option, jusqu'à 45% au barème progressif</a:t>
                      </a:r>
                    </a:p>
                    <a:p>
                      <a:pPr marL="360000" lvl="1" indent="-171450" fontAlgn="base">
                        <a:spcAft>
                          <a:spcPts val="240"/>
                        </a:spcAft>
                        <a:buClr>
                          <a:srgbClr val="D82034"/>
                        </a:buClr>
                        <a:buSzPct val="100000"/>
                        <a:buFont typeface="Arial"/>
                        <a:buChar char="–"/>
                      </a:pPr>
                      <a:r>
                        <a:rPr lang="fr-FR" sz="800" b="1" noProof="0">
                          <a:solidFill>
                            <a:schemeClr val="tx1"/>
                          </a:solidFill>
                          <a:ea typeface="Times New Roman"/>
                          <a:cs typeface="Times New Roman"/>
                        </a:rPr>
                        <a:t>Plus</a:t>
                      </a:r>
                      <a:r>
                        <a:rPr lang="fr-FR" sz="800" noProof="0">
                          <a:solidFill>
                            <a:schemeClr val="tx1"/>
                          </a:solidFill>
                          <a:ea typeface="Times New Roman"/>
                          <a:cs typeface="Times New Roman"/>
                        </a:rPr>
                        <a:t> 17,2 % de contributions sociales</a:t>
                      </a:r>
                    </a:p>
                    <a:p>
                      <a:pPr marL="171450" indent="-171450" fontAlgn="base">
                        <a:spcAft>
                          <a:spcPts val="240"/>
                        </a:spcAft>
                        <a:buClr>
                          <a:srgbClr val="C00000"/>
                        </a:buClr>
                        <a:buFont typeface="Arial" panose="020B0604020202020204" pitchFamily="34" charset="0"/>
                        <a:buChar char="•"/>
                      </a:pPr>
                      <a:r>
                        <a:rPr lang="fr-FR" sz="800" b="1" noProof="0">
                          <a:solidFill>
                            <a:schemeClr val="tx1"/>
                          </a:solidFill>
                          <a:ea typeface="Times New Roman"/>
                          <a:cs typeface="Times New Roman"/>
                        </a:rPr>
                        <a:t>Plus-values de rachat sur contrat &gt; 8 ans :</a:t>
                      </a:r>
                    </a:p>
                    <a:p>
                      <a:pPr marL="360000" lvl="1" indent="-171450" fontAlgn="base">
                        <a:spcAft>
                          <a:spcPts val="240"/>
                        </a:spcAft>
                        <a:buClr>
                          <a:srgbClr val="D82034"/>
                        </a:buClr>
                        <a:buSzPct val="100000"/>
                        <a:buFont typeface="Arial"/>
                        <a:buChar char="–"/>
                      </a:pPr>
                      <a:r>
                        <a:rPr lang="fr-FR" sz="800" noProof="0">
                          <a:solidFill>
                            <a:schemeClr val="tx1"/>
                          </a:solidFill>
                          <a:ea typeface="Times New Roman"/>
                          <a:cs typeface="Times New Roman"/>
                        </a:rPr>
                        <a:t>Prélèvement forfaitaire unique : 7,5 % sur les plus-values provenant des primes versées jusqu’à EUR 150 000 et 12,8 % pour la partie excédentaire</a:t>
                      </a:r>
                    </a:p>
                    <a:p>
                      <a:pPr marL="360000" lvl="1" indent="-171450" fontAlgn="base">
                        <a:spcAft>
                          <a:spcPts val="240"/>
                        </a:spcAft>
                        <a:buClr>
                          <a:srgbClr val="D82034"/>
                        </a:buClr>
                        <a:buSzPct val="100000"/>
                        <a:buFont typeface="Arial"/>
                        <a:buChar char="–"/>
                      </a:pPr>
                      <a:r>
                        <a:rPr lang="fr-FR" sz="800" b="1" noProof="0">
                          <a:solidFill>
                            <a:schemeClr val="tx1"/>
                          </a:solidFill>
                          <a:ea typeface="Times New Roman"/>
                          <a:cs typeface="Times New Roman"/>
                        </a:rPr>
                        <a:t>Ou </a:t>
                      </a:r>
                      <a:r>
                        <a:rPr lang="fr-FR" sz="800" noProof="0">
                          <a:solidFill>
                            <a:schemeClr val="tx1"/>
                          </a:solidFill>
                          <a:ea typeface="Times New Roman"/>
                          <a:cs typeface="Times New Roman"/>
                        </a:rPr>
                        <a:t>sur option, impôt progressif sur le revenu jusqu'à 45 %</a:t>
                      </a:r>
                    </a:p>
                    <a:p>
                      <a:pPr marL="360000" lvl="1" indent="-171450" fontAlgn="base">
                        <a:spcAft>
                          <a:spcPts val="240"/>
                        </a:spcAft>
                        <a:buClr>
                          <a:srgbClr val="D82034"/>
                        </a:buClr>
                        <a:buSzPct val="100000"/>
                        <a:buFont typeface="Arial"/>
                        <a:buChar char="–"/>
                      </a:pPr>
                      <a:r>
                        <a:rPr lang="fr-FR" sz="800" noProof="0">
                          <a:solidFill>
                            <a:schemeClr val="tx1"/>
                          </a:solidFill>
                          <a:ea typeface="Times New Roman"/>
                          <a:cs typeface="Times New Roman"/>
                        </a:rPr>
                        <a:t>Abattement de EUR 4 600 ( EUR 9 200 pour un couple)</a:t>
                      </a:r>
                    </a:p>
                    <a:p>
                      <a:pPr marL="360000" lvl="1" indent="-171450" fontAlgn="base">
                        <a:spcAft>
                          <a:spcPts val="240"/>
                        </a:spcAft>
                        <a:buClr>
                          <a:srgbClr val="D82034"/>
                        </a:buClr>
                        <a:buSzPct val="100000"/>
                        <a:buFont typeface="Arial"/>
                        <a:buChar char="–"/>
                      </a:pPr>
                      <a:r>
                        <a:rPr lang="fr-FR" sz="800" b="1" noProof="0">
                          <a:solidFill>
                            <a:schemeClr val="tx1"/>
                          </a:solidFill>
                          <a:ea typeface="Times New Roman"/>
                          <a:cs typeface="Times New Roman"/>
                        </a:rPr>
                        <a:t>Plus</a:t>
                      </a:r>
                      <a:r>
                        <a:rPr lang="fr-FR" sz="800" noProof="0">
                          <a:solidFill>
                            <a:schemeClr val="tx1"/>
                          </a:solidFill>
                          <a:ea typeface="Times New Roman"/>
                          <a:cs typeface="Times New Roman"/>
                        </a:rPr>
                        <a:t> 17,2 % de contributions sociales</a:t>
                      </a:r>
                      <a:endParaRPr lang="fr-FR" sz="800" noProof="0" dirty="0"/>
                    </a:p>
                  </a:txBody>
                  <a:tcPr>
                    <a:lnL w="12700" cap="flat" cmpd="sng" algn="ctr">
                      <a:solidFill>
                        <a:schemeClr val="bg1"/>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nSpc>
                          <a:spcPct val="114000"/>
                        </a:lnSpc>
                        <a:spcAft>
                          <a:spcPts val="240"/>
                        </a:spcAft>
                      </a:pPr>
                      <a:r>
                        <a:rPr lang="fr-FR" sz="800" noProof="0">
                          <a:solidFill>
                            <a:schemeClr val="tx1"/>
                          </a:solidFill>
                          <a:ea typeface="Times New Roman"/>
                          <a:cs typeface="Times New Roman"/>
                        </a:rPr>
                        <a:t>Revenus du patrimoine, y compris les intérêts et les dividendes :</a:t>
                      </a:r>
                    </a:p>
                    <a:p>
                      <a:pPr marL="171450" indent="-171450">
                        <a:lnSpc>
                          <a:spcPct val="114000"/>
                        </a:lnSpc>
                        <a:spcAft>
                          <a:spcPts val="240"/>
                        </a:spcAft>
                        <a:buClr>
                          <a:srgbClr val="C00000"/>
                        </a:buClr>
                        <a:buFont typeface="Arial" panose="020B0604020202020204" pitchFamily="34" charset="0"/>
                        <a:buChar char="•"/>
                      </a:pPr>
                      <a:r>
                        <a:rPr lang="fr-FR" sz="800" noProof="0">
                          <a:solidFill>
                            <a:schemeClr val="tx1"/>
                          </a:solidFill>
                          <a:ea typeface="Times New Roman"/>
                          <a:cs typeface="Times New Roman"/>
                        </a:rPr>
                        <a:t>Prélèvement forfaitaire unique : 12,8 % </a:t>
                      </a:r>
                    </a:p>
                    <a:p>
                      <a:pPr marL="171450" indent="-171450">
                        <a:lnSpc>
                          <a:spcPct val="114000"/>
                        </a:lnSpc>
                        <a:spcAft>
                          <a:spcPts val="240"/>
                        </a:spcAft>
                        <a:buClr>
                          <a:srgbClr val="C00000"/>
                        </a:buClr>
                        <a:buFont typeface="Arial" panose="020B0604020202020204" pitchFamily="34" charset="0"/>
                        <a:buChar char="•"/>
                      </a:pPr>
                      <a:r>
                        <a:rPr lang="fr-FR" sz="800" b="1" noProof="0">
                          <a:solidFill>
                            <a:schemeClr val="tx1"/>
                          </a:solidFill>
                          <a:ea typeface="Times New Roman"/>
                          <a:cs typeface="Times New Roman"/>
                        </a:rPr>
                        <a:t>Ou </a:t>
                      </a:r>
                      <a:r>
                        <a:rPr lang="fr-FR" sz="800" noProof="0">
                          <a:solidFill>
                            <a:schemeClr val="tx1"/>
                          </a:solidFill>
                          <a:ea typeface="Times New Roman"/>
                          <a:cs typeface="Times New Roman"/>
                        </a:rPr>
                        <a:t>sur option, jusqu'à 45 % au barème progressif</a:t>
                      </a:r>
                    </a:p>
                    <a:p>
                      <a:pPr marL="171450" marR="0" lvl="0" indent="-171450" algn="l" defTabSz="914400" rtl="0" eaLnBrk="1" fontAlgn="auto" latinLnBrk="0" hangingPunct="1">
                        <a:lnSpc>
                          <a:spcPct val="114000"/>
                        </a:lnSpc>
                        <a:spcBef>
                          <a:spcPts val="0"/>
                        </a:spcBef>
                        <a:spcAft>
                          <a:spcPts val="240"/>
                        </a:spcAft>
                        <a:buClr>
                          <a:srgbClr val="C00000"/>
                        </a:buClr>
                        <a:buSzTx/>
                        <a:buFont typeface="Arial" panose="020B0604020202020204" pitchFamily="34" charset="0"/>
                        <a:buChar char="•"/>
                        <a:tabLst/>
                        <a:defRPr/>
                      </a:pPr>
                      <a:r>
                        <a:rPr lang="fr-FR" sz="800" b="1" noProof="0">
                          <a:solidFill>
                            <a:schemeClr val="tx1"/>
                          </a:solidFill>
                          <a:ea typeface="Times New Roman"/>
                          <a:cs typeface="Times New Roman"/>
                        </a:rPr>
                        <a:t>Plus</a:t>
                      </a:r>
                      <a:r>
                        <a:rPr lang="fr-FR" sz="800" noProof="0">
                          <a:solidFill>
                            <a:schemeClr val="tx1"/>
                          </a:solidFill>
                          <a:ea typeface="Times New Roman"/>
                          <a:cs typeface="Times New Roman"/>
                        </a:rPr>
                        <a:t> 17,2 % de contributions sociales</a:t>
                      </a:r>
                    </a:p>
                    <a:p>
                      <a:pPr marL="171450" indent="-171450">
                        <a:lnSpc>
                          <a:spcPct val="114000"/>
                        </a:lnSpc>
                        <a:spcAft>
                          <a:spcPts val="240"/>
                        </a:spcAft>
                        <a:buClr>
                          <a:srgbClr val="C00000"/>
                        </a:buClr>
                        <a:buFont typeface="Arial" panose="020B0604020202020204" pitchFamily="34" charset="0"/>
                        <a:buChar char="•"/>
                      </a:pPr>
                      <a:endParaRPr lang="fr-FR" sz="800" noProof="0" dirty="0"/>
                    </a:p>
                  </a:txBody>
                  <a:tcPr>
                    <a:lnL w="12700" cap="flat" cmpd="sng" algn="ctr">
                      <a:solidFill>
                        <a:schemeClr val="bg1">
                          <a:lumMod val="75000"/>
                        </a:schemeClr>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943011020"/>
                  </a:ext>
                </a:extLst>
              </a:tr>
              <a:tr h="456890">
                <a:tc>
                  <a:txBody>
                    <a:bodyPr/>
                    <a:lstStyle/>
                    <a:p>
                      <a:r>
                        <a:rPr lang="fr-FR" sz="900" noProof="0">
                          <a:solidFill>
                            <a:schemeClr val="accent3"/>
                          </a:solidFill>
                        </a:rPr>
                        <a:t>Impôts sur les plus-values</a:t>
                      </a:r>
                      <a:endParaRPr lang="fr-FR" sz="900" noProof="0" dirty="0">
                        <a:solidFill>
                          <a:schemeClr val="accent3"/>
                        </a:solidFill>
                      </a:endParaRPr>
                    </a:p>
                  </a:txBody>
                  <a:tcPr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FDFDF"/>
                    </a:solidFill>
                  </a:tcPr>
                </a:tc>
                <a:tc>
                  <a:txBody>
                    <a:bodyPr/>
                    <a:lstStyle/>
                    <a:p>
                      <a:pPr>
                        <a:lnSpc>
                          <a:spcPct val="114000"/>
                        </a:lnSpc>
                        <a:spcAft>
                          <a:spcPts val="240"/>
                        </a:spcAft>
                      </a:pPr>
                      <a:r>
                        <a:rPr lang="fr-FR" sz="800" noProof="0">
                          <a:solidFill>
                            <a:schemeClr val="tx1"/>
                          </a:solidFill>
                          <a:ea typeface="Times New Roman"/>
                          <a:cs typeface="Times New Roman"/>
                        </a:rPr>
                        <a:t>Plus-values réalisées lors du transfert d'un actif financier en tant que prime d'assurance :  </a:t>
                      </a:r>
                    </a:p>
                    <a:p>
                      <a:pPr marL="171450" indent="-171450">
                        <a:lnSpc>
                          <a:spcPct val="114000"/>
                        </a:lnSpc>
                        <a:spcAft>
                          <a:spcPts val="240"/>
                        </a:spcAft>
                        <a:buClr>
                          <a:srgbClr val="C00000"/>
                        </a:buClr>
                        <a:buFont typeface="Arial" panose="020B0604020202020204" pitchFamily="34" charset="0"/>
                        <a:buChar char="•"/>
                      </a:pPr>
                      <a:r>
                        <a:rPr lang="fr-FR" sz="800" noProof="0">
                          <a:solidFill>
                            <a:schemeClr val="tx1"/>
                          </a:solidFill>
                          <a:ea typeface="Times New Roman"/>
                          <a:cs typeface="Times New Roman"/>
                        </a:rPr>
                        <a:t>Prélèvement forfaitaire unique : 12,8 % </a:t>
                      </a:r>
                    </a:p>
                    <a:p>
                      <a:pPr marL="171450" indent="-171450">
                        <a:lnSpc>
                          <a:spcPct val="114000"/>
                        </a:lnSpc>
                        <a:spcAft>
                          <a:spcPts val="240"/>
                        </a:spcAft>
                        <a:buClr>
                          <a:srgbClr val="C00000"/>
                        </a:buClr>
                        <a:buFont typeface="Arial" panose="020B0604020202020204" pitchFamily="34" charset="0"/>
                        <a:buChar char="•"/>
                      </a:pPr>
                      <a:r>
                        <a:rPr lang="fr-FR" sz="800" b="1" noProof="0">
                          <a:solidFill>
                            <a:schemeClr val="tx1"/>
                          </a:solidFill>
                          <a:ea typeface="Times New Roman"/>
                          <a:cs typeface="Times New Roman"/>
                        </a:rPr>
                        <a:t>Or </a:t>
                      </a:r>
                      <a:r>
                        <a:rPr lang="fr-FR" sz="800" noProof="0">
                          <a:solidFill>
                            <a:schemeClr val="tx1"/>
                          </a:solidFill>
                          <a:ea typeface="Times New Roman"/>
                          <a:cs typeface="Times New Roman"/>
                        </a:rPr>
                        <a:t>sur option, impôt progressif sur le revenu jusqu'à 45 %</a:t>
                      </a:r>
                    </a:p>
                    <a:p>
                      <a:pPr marL="171450" indent="-171450">
                        <a:lnSpc>
                          <a:spcPct val="114000"/>
                        </a:lnSpc>
                        <a:spcAft>
                          <a:spcPts val="240"/>
                        </a:spcAft>
                        <a:buClr>
                          <a:srgbClr val="C00000"/>
                        </a:buClr>
                        <a:buFont typeface="Arial" panose="020B0604020202020204" pitchFamily="34" charset="0"/>
                        <a:buChar char="•"/>
                      </a:pPr>
                      <a:r>
                        <a:rPr lang="fr-FR" sz="800" b="1" noProof="0">
                          <a:solidFill>
                            <a:schemeClr val="tx1"/>
                          </a:solidFill>
                          <a:ea typeface="Times New Roman"/>
                          <a:cs typeface="Times New Roman"/>
                        </a:rPr>
                        <a:t>Plus</a:t>
                      </a:r>
                      <a:r>
                        <a:rPr lang="fr-FR" sz="800" noProof="0">
                          <a:solidFill>
                            <a:schemeClr val="tx1"/>
                          </a:solidFill>
                          <a:ea typeface="Times New Roman"/>
                          <a:cs typeface="Times New Roman"/>
                        </a:rPr>
                        <a:t> 17,2 % de contributions sociales</a:t>
                      </a:r>
                      <a:endParaRPr lang="fr-FR" sz="800" noProof="0" dirty="0"/>
                    </a:p>
                  </a:txBody>
                  <a:tcPr>
                    <a:lnL w="12700" cap="flat" cmpd="sng" algn="ctr">
                      <a:solidFill>
                        <a:schemeClr val="bg1"/>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nSpc>
                          <a:spcPct val="114000"/>
                        </a:lnSpc>
                        <a:spcAft>
                          <a:spcPts val="240"/>
                        </a:spcAft>
                      </a:pPr>
                      <a:r>
                        <a:rPr lang="fr-FR" sz="800" noProof="0">
                          <a:solidFill>
                            <a:schemeClr val="tx1"/>
                          </a:solidFill>
                          <a:ea typeface="Times New Roman"/>
                          <a:cs typeface="Times New Roman"/>
                        </a:rPr>
                        <a:t>Plus-values réalisées lors de la cession d'actifs financiers :</a:t>
                      </a:r>
                    </a:p>
                    <a:p>
                      <a:pPr marL="171450" indent="-171450">
                        <a:lnSpc>
                          <a:spcPct val="114000"/>
                        </a:lnSpc>
                        <a:spcAft>
                          <a:spcPts val="240"/>
                        </a:spcAft>
                        <a:buClr>
                          <a:srgbClr val="C00000"/>
                        </a:buClr>
                        <a:buFont typeface="Arial" panose="020B0604020202020204" pitchFamily="34" charset="0"/>
                        <a:buChar char="•"/>
                      </a:pPr>
                      <a:r>
                        <a:rPr lang="fr-FR" sz="800" noProof="0">
                          <a:solidFill>
                            <a:schemeClr val="tx1"/>
                          </a:solidFill>
                          <a:ea typeface="Times New Roman"/>
                          <a:cs typeface="Times New Roman"/>
                        </a:rPr>
                        <a:t>Prélèvement forfaitaire unique : 12,8 % </a:t>
                      </a:r>
                    </a:p>
                    <a:p>
                      <a:pPr marL="171450" indent="-171450">
                        <a:lnSpc>
                          <a:spcPct val="114000"/>
                        </a:lnSpc>
                        <a:spcAft>
                          <a:spcPts val="240"/>
                        </a:spcAft>
                        <a:buClr>
                          <a:srgbClr val="C00000"/>
                        </a:buClr>
                        <a:buFont typeface="Arial" panose="020B0604020202020204" pitchFamily="34" charset="0"/>
                        <a:buChar char="•"/>
                      </a:pPr>
                      <a:r>
                        <a:rPr lang="fr-FR" sz="800" b="1" noProof="0">
                          <a:solidFill>
                            <a:schemeClr val="tx1"/>
                          </a:solidFill>
                          <a:ea typeface="Times New Roman"/>
                          <a:cs typeface="Times New Roman"/>
                        </a:rPr>
                        <a:t>Or </a:t>
                      </a:r>
                      <a:r>
                        <a:rPr lang="fr-FR" sz="800" noProof="0">
                          <a:solidFill>
                            <a:schemeClr val="tx1"/>
                          </a:solidFill>
                          <a:ea typeface="Times New Roman"/>
                          <a:cs typeface="Times New Roman"/>
                        </a:rPr>
                        <a:t>sur option, impôt progressif sur le revenu jusqu'à 45 %</a:t>
                      </a:r>
                    </a:p>
                    <a:p>
                      <a:pPr marL="171450" indent="-171450">
                        <a:lnSpc>
                          <a:spcPct val="114000"/>
                        </a:lnSpc>
                        <a:spcAft>
                          <a:spcPts val="240"/>
                        </a:spcAft>
                        <a:buClr>
                          <a:srgbClr val="C00000"/>
                        </a:buClr>
                        <a:buFont typeface="Arial" panose="020B0604020202020204" pitchFamily="34" charset="0"/>
                        <a:buChar char="•"/>
                      </a:pPr>
                      <a:r>
                        <a:rPr lang="fr-FR" sz="800" b="1" noProof="0">
                          <a:solidFill>
                            <a:schemeClr val="tx1"/>
                          </a:solidFill>
                          <a:ea typeface="Times New Roman"/>
                          <a:cs typeface="Times New Roman"/>
                        </a:rPr>
                        <a:t>Plus</a:t>
                      </a:r>
                      <a:r>
                        <a:rPr lang="fr-FR" sz="800" noProof="0">
                          <a:solidFill>
                            <a:schemeClr val="tx1"/>
                          </a:solidFill>
                          <a:ea typeface="Times New Roman"/>
                          <a:cs typeface="Times New Roman"/>
                        </a:rPr>
                        <a:t> 17,2 % de contributions sociales</a:t>
                      </a:r>
                      <a:endParaRPr lang="fr-FR" sz="800" noProof="0" dirty="0"/>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788186769"/>
                  </a:ext>
                </a:extLst>
              </a:tr>
              <a:tr h="45689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900" noProof="0">
                          <a:solidFill>
                            <a:schemeClr val="accent3"/>
                          </a:solidFill>
                          <a:latin typeface="Arial" panose="020B0604020202020204" pitchFamily="34" charset="0"/>
                          <a:cs typeface="Arial" panose="020B0604020202020204" pitchFamily="34" charset="0"/>
                        </a:rPr>
                        <a:t>Droits de donation/succession</a:t>
                      </a:r>
                      <a:endParaRPr lang="fr-FR" sz="900" noProof="0" dirty="0">
                        <a:solidFill>
                          <a:schemeClr val="accent3"/>
                        </a:solidFill>
                      </a:endParaRPr>
                    </a:p>
                  </a:txBody>
                  <a:tcPr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FDFDF"/>
                    </a:solidFill>
                  </a:tcPr>
                </a:tc>
                <a:tc>
                  <a:txBody>
                    <a:bodyPr/>
                    <a:lstStyle/>
                    <a:p>
                      <a:pPr marL="171450" lvl="0" indent="-171450" fontAlgn="base">
                        <a:lnSpc>
                          <a:spcPct val="115000"/>
                        </a:lnSpc>
                        <a:spcAft>
                          <a:spcPts val="240"/>
                        </a:spcAft>
                        <a:buClr>
                          <a:srgbClr val="C00000"/>
                        </a:buClr>
                        <a:buFont typeface="Arial" panose="020B0604020202020204" pitchFamily="34" charset="0"/>
                        <a:buChar char="•"/>
                      </a:pPr>
                      <a:r>
                        <a:rPr lang="fr-FR" sz="800" noProof="0">
                          <a:solidFill>
                            <a:srgbClr val="000000"/>
                          </a:solidFill>
                          <a:ea typeface="Times New Roman"/>
                          <a:cs typeface="Times New Roman"/>
                        </a:rPr>
                        <a:t>Contrat souscrit et prime versée avant 70 ans : capital décès soumis à 20 % jusqu’à EUR 852 000 après un abattement de EUR 152 500 par bénéficiaire, puis 31,25 %.</a:t>
                      </a:r>
                    </a:p>
                    <a:p>
                      <a:pPr marL="171450" lvl="0" indent="-171450" fontAlgn="base">
                        <a:lnSpc>
                          <a:spcPct val="115000"/>
                        </a:lnSpc>
                        <a:spcAft>
                          <a:spcPts val="240"/>
                        </a:spcAft>
                        <a:buClr>
                          <a:srgbClr val="C00000"/>
                        </a:buClr>
                        <a:buFont typeface="Arial" panose="020B0604020202020204" pitchFamily="34" charset="0"/>
                        <a:buChar char="•"/>
                      </a:pPr>
                      <a:r>
                        <a:rPr lang="fr-FR" sz="800" noProof="0">
                          <a:solidFill>
                            <a:srgbClr val="000000"/>
                          </a:solidFill>
                          <a:ea typeface="Times New Roman"/>
                          <a:cs typeface="Times New Roman"/>
                        </a:rPr>
                        <a:t>Contrat souscrit et prime versée après 70 ans : les capitaux décès sont soumis aux droits de succession sur la base de la prime versée ou de la valeur du contrat si elle est inférieure, après un abattement global de EUR 30 500. </a:t>
                      </a:r>
                    </a:p>
                    <a:p>
                      <a:pPr marL="171450" lvl="0" indent="-171450" fontAlgn="base">
                        <a:lnSpc>
                          <a:spcPct val="115000"/>
                        </a:lnSpc>
                        <a:spcAft>
                          <a:spcPts val="240"/>
                        </a:spcAft>
                        <a:buClr>
                          <a:srgbClr val="C00000"/>
                        </a:buClr>
                        <a:buFont typeface="Arial" panose="020B0604020202020204" pitchFamily="34" charset="0"/>
                        <a:buChar char="•"/>
                      </a:pPr>
                      <a:r>
                        <a:rPr lang="fr-FR" sz="800" noProof="0">
                          <a:solidFill>
                            <a:srgbClr val="000000"/>
                          </a:solidFill>
                          <a:ea typeface="Times New Roman"/>
                          <a:cs typeface="Times New Roman"/>
                        </a:rPr>
                        <a:t>Exception pour les conjoints ou partenaires d’un PACS : 0 %</a:t>
                      </a:r>
                      <a:endParaRPr lang="fr-FR" sz="800" noProof="0" dirty="0">
                        <a:solidFill>
                          <a:srgbClr val="000000"/>
                        </a:solidFill>
                        <a:ea typeface="Times New Roman"/>
                        <a:cs typeface="Times New Roman"/>
                      </a:endParaRPr>
                    </a:p>
                  </a:txBody>
                  <a:tcPr>
                    <a:lnL w="12700" cap="flat" cmpd="sng" algn="ctr">
                      <a:solidFill>
                        <a:schemeClr val="bg1"/>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marL="171450" lvl="0" indent="-171450">
                        <a:buClr>
                          <a:srgbClr val="C00000"/>
                        </a:buClr>
                        <a:buFont typeface="Arial" panose="020B0604020202020204" pitchFamily="34" charset="0"/>
                        <a:buChar char="•"/>
                      </a:pPr>
                      <a:r>
                        <a:rPr lang="fr-FR" sz="800" noProof="0">
                          <a:solidFill>
                            <a:srgbClr val="000000"/>
                          </a:solidFill>
                        </a:rPr>
                        <a:t>Exonération entre époux ou dans le cadre d'un PACS </a:t>
                      </a:r>
                    </a:p>
                    <a:p>
                      <a:pPr marL="171450" lvl="0" indent="-171450">
                        <a:buClr>
                          <a:srgbClr val="C00000"/>
                        </a:buClr>
                        <a:buFont typeface="Arial" panose="020B0604020202020204" pitchFamily="34" charset="0"/>
                        <a:buChar char="•"/>
                      </a:pPr>
                      <a:r>
                        <a:rPr lang="fr-FR" sz="800" noProof="0">
                          <a:solidFill>
                            <a:srgbClr val="000000"/>
                          </a:solidFill>
                        </a:rPr>
                        <a:t>Pas d'impôt en ligne directe jusqu’à EUR 100 000, puis jusqu'à 45 %. </a:t>
                      </a:r>
                    </a:p>
                    <a:p>
                      <a:pPr marL="171450" lvl="0" indent="-171450">
                        <a:buClr>
                          <a:srgbClr val="C00000"/>
                        </a:buClr>
                        <a:buFont typeface="Arial" panose="020B0604020202020204" pitchFamily="34" charset="0"/>
                        <a:buChar char="•"/>
                      </a:pPr>
                      <a:r>
                        <a:rPr lang="fr-FR" sz="800" noProof="0">
                          <a:solidFill>
                            <a:srgbClr val="000000"/>
                          </a:solidFill>
                        </a:rPr>
                        <a:t>Entre frères et sœurs : jusqu'à 45 %</a:t>
                      </a:r>
                    </a:p>
                    <a:p>
                      <a:pPr marL="171450" lvl="0" indent="-171450">
                        <a:buClr>
                          <a:srgbClr val="C00000"/>
                        </a:buClr>
                        <a:buFont typeface="Arial" panose="020B0604020202020204" pitchFamily="34" charset="0"/>
                        <a:buChar char="•"/>
                      </a:pPr>
                      <a:r>
                        <a:rPr lang="fr-FR" sz="800" noProof="0">
                          <a:solidFill>
                            <a:srgbClr val="000000"/>
                          </a:solidFill>
                        </a:rPr>
                        <a:t>Autres : 55 % ou 60 %</a:t>
                      </a:r>
                      <a:endParaRPr lang="fr-FR" sz="800" noProof="0" dirty="0"/>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958763510"/>
                  </a:ext>
                </a:extLst>
              </a:tr>
              <a:tr h="45689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900" noProof="0">
                          <a:solidFill>
                            <a:srgbClr val="808080"/>
                          </a:solidFill>
                          <a:latin typeface="Arial" panose="020B0604020202020204" pitchFamily="34" charset="0"/>
                          <a:cs typeface="Arial" panose="020B0604020202020204" pitchFamily="34" charset="0"/>
                        </a:rPr>
                        <a:t>Impôts sur la fortune immobilière</a:t>
                      </a:r>
                      <a:endParaRPr lang="fr-FR" sz="900" noProof="0" dirty="0">
                        <a:solidFill>
                          <a:srgbClr val="808080"/>
                        </a:solidFill>
                      </a:endParaRPr>
                    </a:p>
                  </a:txBody>
                  <a:tcPr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solidFill>
                      <a:srgbClr val="DFDFDF"/>
                    </a:solidFill>
                  </a:tcPr>
                </a:tc>
                <a:tc>
                  <a:txBody>
                    <a:bodyPr/>
                    <a:lstStyle/>
                    <a:p>
                      <a:pPr marL="171450" indent="-171450">
                        <a:buClr>
                          <a:srgbClr val="C00000"/>
                        </a:buClr>
                        <a:buFont typeface="Arial" panose="020B0604020202020204" pitchFamily="34" charset="0"/>
                        <a:buChar char="•"/>
                      </a:pPr>
                      <a:r>
                        <a:rPr lang="fr-FR" sz="800" kern="1200" noProof="0">
                          <a:solidFill>
                            <a:srgbClr val="000000"/>
                          </a:solidFill>
                          <a:latin typeface="+mn-lt"/>
                          <a:cs typeface="Times New Roman"/>
                        </a:rPr>
                        <a:t>Applicable à la détention directe et indirecte de biens immobiliers français d'une valeur supérieure à EUR 1,3 M au 1er janvier de chaque année.</a:t>
                      </a:r>
                    </a:p>
                    <a:p>
                      <a:pPr marL="171450" indent="-171450">
                        <a:buClr>
                          <a:srgbClr val="C00000"/>
                        </a:buClr>
                        <a:buFont typeface="Arial" panose="020B0604020202020204" pitchFamily="34" charset="0"/>
                        <a:buChar char="•"/>
                      </a:pPr>
                      <a:r>
                        <a:rPr lang="fr-FR" sz="800" kern="1200" noProof="0">
                          <a:solidFill>
                            <a:srgbClr val="000000"/>
                          </a:solidFill>
                          <a:latin typeface="+mn-lt"/>
                          <a:cs typeface="Times New Roman"/>
                        </a:rPr>
                        <a:t>Base imposable incluant la part de la valeur de rachat représentée par des fonds ou sociétés immobilières françaises imposables. </a:t>
                      </a:r>
                    </a:p>
                    <a:p>
                      <a:pPr marL="171450" indent="-171450">
                        <a:buClr>
                          <a:srgbClr val="C00000"/>
                        </a:buClr>
                        <a:buFont typeface="Arial" panose="020B0604020202020204" pitchFamily="34" charset="0"/>
                        <a:buChar char="•"/>
                      </a:pPr>
                      <a:r>
                        <a:rPr lang="fr-FR" sz="800" kern="1200" noProof="0">
                          <a:solidFill>
                            <a:srgbClr val="000000"/>
                          </a:solidFill>
                          <a:latin typeface="+mn-lt"/>
                          <a:cs typeface="Times New Roman"/>
                        </a:rPr>
                        <a:t>Valeur de référence = valeur de rachat du contrat au 31.12</a:t>
                      </a:r>
                    </a:p>
                    <a:p>
                      <a:pPr marL="171450" indent="-171450">
                        <a:buClr>
                          <a:srgbClr val="C00000"/>
                        </a:buClr>
                        <a:buFont typeface="Arial" panose="020B0604020202020204" pitchFamily="34" charset="0"/>
                        <a:buChar char="•"/>
                      </a:pPr>
                      <a:r>
                        <a:rPr lang="fr-FR" sz="800" kern="1200" noProof="0">
                          <a:solidFill>
                            <a:srgbClr val="000000"/>
                          </a:solidFill>
                          <a:latin typeface="+mn-lt"/>
                          <a:cs typeface="Times New Roman"/>
                        </a:rPr>
                        <a:t>Taux d'imposition progressif jusqu'à 1,5 %</a:t>
                      </a:r>
                      <a:endParaRPr lang="fr-FR" sz="900" noProof="0" dirty="0"/>
                    </a:p>
                  </a:txBody>
                  <a:tcPr>
                    <a:lnL w="12700" cap="flat" cmpd="sng" algn="ctr">
                      <a:solidFill>
                        <a:schemeClr val="bg1"/>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tcPr>
                </a:tc>
                <a:tc>
                  <a:txBody>
                    <a:bodyPr/>
                    <a:lstStyle/>
                    <a:p>
                      <a:pPr marL="228600" indent="-228600" algn="l" defTabSz="914400" rtl="0" eaLnBrk="1" latinLnBrk="0" hangingPunct="1">
                        <a:buClr>
                          <a:srgbClr val="D82034"/>
                        </a:buClr>
                        <a:buSzPct val="100000"/>
                        <a:buFont typeface="Arial" panose="020B0604020202020204" pitchFamily="34" charset="0"/>
                        <a:buChar char="•"/>
                      </a:pPr>
                      <a:r>
                        <a:rPr lang="fr-FR" sz="800" noProof="0"/>
                        <a:t>Applicable à la détention directe et indirecte de biens immobiliers français d'une valeur supérieure à EUR 1,3 M au 1er janvier de chaque année.</a:t>
                      </a:r>
                    </a:p>
                    <a:p>
                      <a:pPr marL="228600" indent="-228600" algn="l" defTabSz="914400" rtl="0" eaLnBrk="1" latinLnBrk="0" hangingPunct="1">
                        <a:buClr>
                          <a:srgbClr val="D82034"/>
                        </a:buClr>
                        <a:buSzPct val="100000"/>
                        <a:buFont typeface="Arial" panose="020B0604020202020204" pitchFamily="34" charset="0"/>
                        <a:buChar char="•"/>
                      </a:pPr>
                      <a:r>
                        <a:rPr lang="fr-FR" sz="800" kern="1200" noProof="0">
                          <a:solidFill>
                            <a:srgbClr val="000000"/>
                          </a:solidFill>
                          <a:latin typeface="+mn-lt"/>
                          <a:cs typeface="Times New Roman"/>
                        </a:rPr>
                        <a:t>Valeur de référence = valeur de rachat du contrat au 31.12</a:t>
                      </a:r>
                    </a:p>
                    <a:p>
                      <a:pPr marL="228600" indent="-228600" algn="l" defTabSz="914400" rtl="0" eaLnBrk="1" latinLnBrk="0" hangingPunct="1">
                        <a:buClr>
                          <a:srgbClr val="D82034"/>
                        </a:buClr>
                        <a:buSzPct val="100000"/>
                        <a:buFont typeface="Arial" panose="020B0604020202020204" pitchFamily="34" charset="0"/>
                        <a:buChar char="•"/>
                      </a:pPr>
                      <a:r>
                        <a:rPr lang="fr-FR" sz="800" kern="1200" noProof="0">
                          <a:solidFill>
                            <a:srgbClr val="000000"/>
                          </a:solidFill>
                          <a:latin typeface="+mn-lt"/>
                          <a:cs typeface="Times New Roman"/>
                        </a:rPr>
                        <a:t>Taux d'imposition progressif jusqu'à 1,5 %</a:t>
                      </a:r>
                      <a:endParaRPr lang="fr-FR" sz="900" noProof="0"/>
                    </a:p>
                    <a:p>
                      <a:endParaRPr lang="fr-FR" sz="900" noProof="0" dirty="0"/>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tcPr>
                </a:tc>
                <a:extLst>
                  <a:ext uri="{0D108BD9-81ED-4DB2-BD59-A6C34878D82A}">
                    <a16:rowId xmlns:a16="http://schemas.microsoft.com/office/drawing/2014/main" val="807208828"/>
                  </a:ext>
                </a:extLst>
              </a:tr>
            </a:tbl>
          </a:graphicData>
        </a:graphic>
      </p:graphicFrame>
      <p:sp>
        <p:nvSpPr>
          <p:cNvPr id="31" name="Title 10"/>
          <p:cNvSpPr txBox="1">
            <a:spLocks/>
          </p:cNvSpPr>
          <p:nvPr/>
        </p:nvSpPr>
        <p:spPr>
          <a:xfrm>
            <a:off x="250826" y="90716"/>
            <a:ext cx="8569324" cy="576064"/>
          </a:xfrm>
          <a:prstGeom prst="rect">
            <a:avLst/>
          </a:prstGeom>
        </p:spPr>
        <p:txBody>
          <a:bodyPr/>
          <a:lstStyle>
            <a:lvl1pPr algn="l" defTabSz="914400" rtl="0" eaLnBrk="1" latinLnBrk="0" hangingPunct="1">
              <a:spcBef>
                <a:spcPct val="0"/>
              </a:spcBef>
              <a:buNone/>
              <a:defRPr sz="3200" kern="1200">
                <a:solidFill>
                  <a:schemeClr val="tx2"/>
                </a:solidFill>
                <a:latin typeface="Times New Roman" panose="02020603050405020304" pitchFamily="18" charset="0"/>
                <a:ea typeface="+mj-ea"/>
                <a:cs typeface="Times New Roman" panose="02020603050405020304" pitchFamily="18" charset="0"/>
              </a:defRPr>
            </a:lvl1pPr>
          </a:lstStyle>
          <a:p>
            <a:r>
              <a:rPr lang="fr-FR">
                <a:solidFill>
                  <a:srgbClr val="000000"/>
                </a:solidFill>
              </a:rPr>
              <a:t>Régime fiscal en France - </a:t>
            </a:r>
            <a:r>
              <a:rPr lang="fr-FR" sz="3200">
                <a:solidFill>
                  <a:srgbClr val="000000"/>
                </a:solidFill>
                <a:latin typeface="+mj-lt"/>
              </a:rPr>
              <a:t>Analyse comparative</a:t>
            </a:r>
          </a:p>
          <a:p>
            <a:endParaRPr lang="fr-FR" dirty="0">
              <a:solidFill>
                <a:srgbClr val="000000"/>
              </a:solidFill>
            </a:endParaRPr>
          </a:p>
        </p:txBody>
      </p:sp>
    </p:spTree>
    <p:extLst>
      <p:ext uri="{BB962C8B-B14F-4D97-AF65-F5344CB8AC3E}">
        <p14:creationId xmlns:p14="http://schemas.microsoft.com/office/powerpoint/2010/main" val="14428168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0BB26E-6F0F-40B7-BADD-DF2CFBF97B7F}"/>
              </a:ext>
            </a:extLst>
          </p:cNvPr>
          <p:cNvSpPr>
            <a:spLocks noGrp="1"/>
          </p:cNvSpPr>
          <p:nvPr>
            <p:ph type="title"/>
          </p:nvPr>
        </p:nvSpPr>
        <p:spPr>
          <a:xfrm>
            <a:off x="323851" y="107600"/>
            <a:ext cx="7200900" cy="1080542"/>
          </a:xfrm>
        </p:spPr>
        <p:txBody>
          <a:bodyPr/>
          <a:lstStyle/>
          <a:p>
            <a:r>
              <a:rPr lang="fr-FR"/>
              <a:t>Avantages des contrats européens</a:t>
            </a:r>
            <a:endParaRPr lang="fr-FR" dirty="0"/>
          </a:p>
        </p:txBody>
      </p:sp>
      <p:sp>
        <p:nvSpPr>
          <p:cNvPr id="34" name="Rectangle 33">
            <a:extLst>
              <a:ext uri="{FF2B5EF4-FFF2-40B4-BE49-F238E27FC236}">
                <a16:creationId xmlns:a16="http://schemas.microsoft.com/office/drawing/2014/main" id="{EEA14638-A3B9-4288-B77E-3E22571E26F8}"/>
              </a:ext>
            </a:extLst>
          </p:cNvPr>
          <p:cNvSpPr/>
          <p:nvPr/>
        </p:nvSpPr>
        <p:spPr>
          <a:xfrm>
            <a:off x="112335" y="788156"/>
            <a:ext cx="8569325" cy="64633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a:solidFill>
                  <a:srgbClr val="000000"/>
                </a:solidFill>
              </a:rPr>
              <a:t>Nous permettons à nos clients de vivre selon leurs propres choix. </a:t>
            </a:r>
            <a:r>
              <a:rPr kumimoji="0" lang="fr-FR" sz="1200" b="0" u="none" strike="noStrike" kern="1200" cap="none" spc="0" normalizeH="0" baseline="0" noProof="0">
                <a:ln>
                  <a:noFill/>
                </a:ln>
                <a:solidFill>
                  <a:srgbClr val="000000"/>
                </a:solidFill>
                <a:effectLst/>
                <a:uLnTx/>
                <a:uFillTx/>
                <a:ea typeface="+mn-ea"/>
                <a:cs typeface="+mn-cs"/>
              </a:rPr>
              <a:t>Nos solutions d'assurance vie sur mesure offrent aux entreprises et aux particuliers la sécurité et la liberté de choix qui leur permettent de façonner leur avenir en ligne avec leur propres choix et priorités.</a:t>
            </a:r>
            <a:endParaRPr kumimoji="0" lang="fr-FR" sz="1200" b="0" u="none" strike="noStrike" kern="1200" cap="none" spc="0" normalizeH="0" baseline="0" noProof="0" dirty="0">
              <a:ln>
                <a:noFill/>
              </a:ln>
              <a:solidFill>
                <a:srgbClr val="000000"/>
              </a:solidFill>
              <a:effectLst/>
              <a:uLnTx/>
              <a:uFillTx/>
              <a:ea typeface="+mn-ea"/>
              <a:cs typeface="+mn-cs"/>
            </a:endParaRPr>
          </a:p>
        </p:txBody>
      </p:sp>
      <p:graphicFrame>
        <p:nvGraphicFramePr>
          <p:cNvPr id="26" name="Table 25">
            <a:extLst>
              <a:ext uri="{FF2B5EF4-FFF2-40B4-BE49-F238E27FC236}">
                <a16:creationId xmlns:a16="http://schemas.microsoft.com/office/drawing/2014/main" id="{4AD45DEC-2524-B8D0-2F00-67CECEAF9DB2}"/>
              </a:ext>
            </a:extLst>
          </p:cNvPr>
          <p:cNvGraphicFramePr>
            <a:graphicFrameLocks noGrp="1"/>
          </p:cNvGraphicFramePr>
          <p:nvPr>
            <p:extLst>
              <p:ext uri="{D42A27DB-BD31-4B8C-83A1-F6EECF244321}">
                <p14:modId xmlns:p14="http://schemas.microsoft.com/office/powerpoint/2010/main" val="1880712620"/>
              </p:ext>
            </p:extLst>
          </p:nvPr>
        </p:nvGraphicFramePr>
        <p:xfrm>
          <a:off x="3817765" y="3426831"/>
          <a:ext cx="1660892" cy="1493520"/>
        </p:xfrm>
        <a:graphic>
          <a:graphicData uri="http://schemas.openxmlformats.org/drawingml/2006/table">
            <a:tbl>
              <a:tblPr firstRow="1" bandRow="1">
                <a:tableStyleId>{2D5ABB26-0587-4C30-8999-92F81FD0307C}</a:tableStyleId>
              </a:tblPr>
              <a:tblGrid>
                <a:gridCol w="1660892">
                  <a:extLst>
                    <a:ext uri="{9D8B030D-6E8A-4147-A177-3AD203B41FA5}">
                      <a16:colId xmlns:a16="http://schemas.microsoft.com/office/drawing/2014/main" val="610336296"/>
                    </a:ext>
                  </a:extLst>
                </a:gridCol>
              </a:tblGrid>
              <a:tr h="288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00" b="0" i="0" u="none" strike="noStrike" kern="1200" cap="none" spc="0" normalizeH="0" baseline="0" noProof="0">
                          <a:ln>
                            <a:noFill/>
                          </a:ln>
                          <a:solidFill>
                            <a:srgbClr val="000000"/>
                          </a:solidFill>
                          <a:effectLst/>
                          <a:uLnTx/>
                          <a:uFillTx/>
                          <a:latin typeface="+mn-lt"/>
                          <a:ea typeface="+mn-ea"/>
                          <a:cs typeface="+mn-cs"/>
                        </a:rPr>
                        <a:t>Planification successorale et transfert patrimonial </a:t>
                      </a:r>
                      <a:br>
                        <a:rPr kumimoji="0" lang="fr-FR" sz="1000" b="0" i="0" u="none" strike="noStrike" kern="1200" cap="none" spc="0" normalizeH="0" baseline="0" noProof="0">
                          <a:ln>
                            <a:noFill/>
                          </a:ln>
                          <a:solidFill>
                            <a:srgbClr val="000000"/>
                          </a:solidFill>
                          <a:effectLst/>
                          <a:uLnTx/>
                          <a:uFillTx/>
                          <a:latin typeface="+mn-lt"/>
                          <a:ea typeface="+mn-ea"/>
                          <a:cs typeface="+mn-cs"/>
                        </a:rPr>
                      </a:br>
                      <a:r>
                        <a:rPr kumimoji="0" lang="fr-FR" sz="1000" b="0" i="0" u="none" strike="noStrike" kern="1200" cap="none" spc="0" normalizeH="0" baseline="0" noProof="0">
                          <a:ln>
                            <a:noFill/>
                          </a:ln>
                          <a:solidFill>
                            <a:srgbClr val="000000"/>
                          </a:solidFill>
                          <a:effectLst/>
                          <a:uLnTx/>
                          <a:uFillTx/>
                          <a:latin typeface="+mn-lt"/>
                          <a:ea typeface="+mn-ea"/>
                          <a:cs typeface="+mn-cs"/>
                        </a:rPr>
                        <a:t>sur-mesure</a:t>
                      </a:r>
                      <a:endParaRPr kumimoji="0" lang="fr-FR" sz="1000" b="0" i="0" u="none" strike="noStrike" kern="1200" cap="none" spc="0" normalizeH="0" baseline="0" noProof="0" dirty="0">
                        <a:ln>
                          <a:noFill/>
                        </a:ln>
                        <a:solidFill>
                          <a:srgbClr val="000000"/>
                        </a:solidFill>
                        <a:effectLst/>
                        <a:uLnTx/>
                        <a:uFillTx/>
                        <a:latin typeface="+mn-lt"/>
                        <a:ea typeface="+mn-ea"/>
                        <a:cs typeface="+mn-cs"/>
                      </a:endParaRPr>
                    </a:p>
                  </a:txBody>
                  <a:tcPr anchor="b"/>
                </a:tc>
                <a:extLst>
                  <a:ext uri="{0D108BD9-81ED-4DB2-BD59-A6C34878D82A}">
                    <a16:rowId xmlns:a16="http://schemas.microsoft.com/office/drawing/2014/main" val="1666516225"/>
                  </a:ext>
                </a:extLst>
              </a:tr>
              <a:tr h="370840">
                <a:tc>
                  <a:txBody>
                    <a:bodyPr/>
                    <a:lstStyle/>
                    <a:p>
                      <a:pPr marL="0" indent="0" algn="l">
                        <a:buFont typeface="Arial" panose="020B0604020202020204" pitchFamily="34" charset="0"/>
                        <a:buNone/>
                        <a:defRPr/>
                      </a:pPr>
                      <a:r>
                        <a:rPr lang="fr-FR" sz="800" i="0" kern="1200" noProof="0">
                          <a:solidFill>
                            <a:srgbClr val="808080"/>
                          </a:solidFill>
                          <a:latin typeface="+mn-lt"/>
                          <a:ea typeface="+mn-ea"/>
                          <a:cs typeface="+mn-cs"/>
                        </a:rPr>
                        <a:t>Transfert de patrimoine adaptable à tout moment selon les besoins des clients</a:t>
                      </a:r>
                      <a:br>
                        <a:rPr lang="fr-FR" sz="800" i="0" kern="1200" noProof="0">
                          <a:solidFill>
                            <a:srgbClr val="808080"/>
                          </a:solidFill>
                          <a:latin typeface="+mn-lt"/>
                          <a:ea typeface="+mn-ea"/>
                          <a:cs typeface="+mn-cs"/>
                        </a:rPr>
                      </a:br>
                      <a:br>
                        <a:rPr lang="fr-FR" sz="800" i="0" kern="1200" noProof="0">
                          <a:solidFill>
                            <a:srgbClr val="808080"/>
                          </a:solidFill>
                          <a:latin typeface="+mn-lt"/>
                          <a:ea typeface="+mn-ea"/>
                          <a:cs typeface="+mn-cs"/>
                        </a:rPr>
                      </a:br>
                      <a:r>
                        <a:rPr lang="fr-FR" sz="800" i="0" kern="1200" noProof="0">
                          <a:solidFill>
                            <a:srgbClr val="808080"/>
                          </a:solidFill>
                          <a:latin typeface="+mn-lt"/>
                          <a:ea typeface="+mn-ea"/>
                          <a:cs typeface="+mn-cs"/>
                        </a:rPr>
                        <a:t>Planification familiale long terme sur une ou plusieurs générations</a:t>
                      </a:r>
                      <a:endParaRPr lang="fr-FR" sz="800" i="0" kern="1200" noProof="0" dirty="0">
                        <a:solidFill>
                          <a:srgbClr val="808080"/>
                        </a:solidFill>
                        <a:latin typeface="+mn-lt"/>
                        <a:ea typeface="+mn-ea"/>
                        <a:cs typeface="+mn-cs"/>
                      </a:endParaRPr>
                    </a:p>
                  </a:txBody>
                  <a:tcPr/>
                </a:tc>
                <a:extLst>
                  <a:ext uri="{0D108BD9-81ED-4DB2-BD59-A6C34878D82A}">
                    <a16:rowId xmlns:a16="http://schemas.microsoft.com/office/drawing/2014/main" val="554288233"/>
                  </a:ext>
                </a:extLst>
              </a:tr>
            </a:tbl>
          </a:graphicData>
        </a:graphic>
      </p:graphicFrame>
      <p:graphicFrame>
        <p:nvGraphicFramePr>
          <p:cNvPr id="28" name="Table 27">
            <a:extLst>
              <a:ext uri="{FF2B5EF4-FFF2-40B4-BE49-F238E27FC236}">
                <a16:creationId xmlns:a16="http://schemas.microsoft.com/office/drawing/2014/main" id="{586104F0-86C0-49D3-7408-DC25B5C27CC9}"/>
              </a:ext>
            </a:extLst>
          </p:cNvPr>
          <p:cNvGraphicFramePr>
            <a:graphicFrameLocks noGrp="1"/>
          </p:cNvGraphicFramePr>
          <p:nvPr>
            <p:extLst>
              <p:ext uri="{D42A27DB-BD31-4B8C-83A1-F6EECF244321}">
                <p14:modId xmlns:p14="http://schemas.microsoft.com/office/powerpoint/2010/main" val="3104301231"/>
              </p:ext>
            </p:extLst>
          </p:nvPr>
        </p:nvGraphicFramePr>
        <p:xfrm>
          <a:off x="5753742" y="3428653"/>
          <a:ext cx="1486800" cy="1097280"/>
        </p:xfrm>
        <a:graphic>
          <a:graphicData uri="http://schemas.openxmlformats.org/drawingml/2006/table">
            <a:tbl>
              <a:tblPr firstRow="1" bandRow="1">
                <a:tableStyleId>{2D5ABB26-0587-4C30-8999-92F81FD0307C}</a:tableStyleId>
              </a:tblPr>
              <a:tblGrid>
                <a:gridCol w="1486800">
                  <a:extLst>
                    <a:ext uri="{9D8B030D-6E8A-4147-A177-3AD203B41FA5}">
                      <a16:colId xmlns:a16="http://schemas.microsoft.com/office/drawing/2014/main" val="1069009704"/>
                    </a:ext>
                  </a:extLst>
                </a:gridCol>
              </a:tblGrid>
              <a:tr h="288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00" b="0" i="0" u="none" strike="noStrike" kern="1200" cap="none" spc="0" normalizeH="0" baseline="0" noProof="0">
                          <a:ln>
                            <a:noFill/>
                          </a:ln>
                          <a:solidFill>
                            <a:srgbClr val="000000"/>
                          </a:solidFill>
                          <a:effectLst/>
                          <a:uLnTx/>
                          <a:uFillTx/>
                          <a:latin typeface="+mn-lt"/>
                          <a:ea typeface="+mn-ea"/>
                          <a:cs typeface="+mn-cs"/>
                        </a:rPr>
                        <a:t>Flexibilité et transparence</a:t>
                      </a:r>
                      <a:endParaRPr kumimoji="0" lang="fr-FR" sz="1000" b="0" i="0" u="none" strike="noStrike" kern="1200" cap="none" spc="0" normalizeH="0" baseline="0" noProof="0" dirty="0">
                        <a:ln>
                          <a:noFill/>
                        </a:ln>
                        <a:solidFill>
                          <a:srgbClr val="000000"/>
                        </a:solidFill>
                        <a:effectLst/>
                        <a:uLnTx/>
                        <a:uFillTx/>
                        <a:latin typeface="+mn-lt"/>
                        <a:ea typeface="+mn-ea"/>
                        <a:cs typeface="+mn-cs"/>
                      </a:endParaRPr>
                    </a:p>
                  </a:txBody>
                  <a:tcPr anchor="b"/>
                </a:tc>
                <a:extLst>
                  <a:ext uri="{0D108BD9-81ED-4DB2-BD59-A6C34878D82A}">
                    <a16:rowId xmlns:a16="http://schemas.microsoft.com/office/drawing/2014/main" val="4117057802"/>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800" i="0" kern="1200" noProof="0">
                          <a:solidFill>
                            <a:srgbClr val="808080"/>
                          </a:solidFill>
                          <a:latin typeface="+mn-lt"/>
                          <a:ea typeface="+mn-ea"/>
                          <a:cs typeface="+mn-cs"/>
                        </a:rPr>
                        <a:t>Une planification souple et individuelle de la succession avec un traitement simple et rapide du paiement des prestations et des rachats.</a:t>
                      </a:r>
                      <a:endParaRPr lang="fr-FR" sz="850" i="0" kern="1200" noProof="0" dirty="0">
                        <a:solidFill>
                          <a:srgbClr val="808080"/>
                        </a:solidFill>
                        <a:latin typeface="+mn-lt"/>
                        <a:ea typeface="+mn-ea"/>
                        <a:cs typeface="+mn-cs"/>
                      </a:endParaRPr>
                    </a:p>
                  </a:txBody>
                  <a:tcPr/>
                </a:tc>
                <a:extLst>
                  <a:ext uri="{0D108BD9-81ED-4DB2-BD59-A6C34878D82A}">
                    <a16:rowId xmlns:a16="http://schemas.microsoft.com/office/drawing/2014/main" val="1008313633"/>
                  </a:ext>
                </a:extLst>
              </a:tr>
            </a:tbl>
          </a:graphicData>
        </a:graphic>
      </p:graphicFrame>
      <p:graphicFrame>
        <p:nvGraphicFramePr>
          <p:cNvPr id="29" name="Table 28">
            <a:extLst>
              <a:ext uri="{FF2B5EF4-FFF2-40B4-BE49-F238E27FC236}">
                <a16:creationId xmlns:a16="http://schemas.microsoft.com/office/drawing/2014/main" id="{97C4BE47-D2CA-C6D5-2BFC-D2C41DFBC907}"/>
              </a:ext>
            </a:extLst>
          </p:cNvPr>
          <p:cNvGraphicFramePr>
            <a:graphicFrameLocks noGrp="1"/>
          </p:cNvGraphicFramePr>
          <p:nvPr>
            <p:extLst>
              <p:ext uri="{D42A27DB-BD31-4B8C-83A1-F6EECF244321}">
                <p14:modId xmlns:p14="http://schemas.microsoft.com/office/powerpoint/2010/main" val="1148568871"/>
              </p:ext>
            </p:extLst>
          </p:nvPr>
        </p:nvGraphicFramePr>
        <p:xfrm>
          <a:off x="7509994" y="3446387"/>
          <a:ext cx="1486800" cy="867120"/>
        </p:xfrm>
        <a:graphic>
          <a:graphicData uri="http://schemas.openxmlformats.org/drawingml/2006/table">
            <a:tbl>
              <a:tblPr firstRow="1" bandRow="1">
                <a:tableStyleId>{2D5ABB26-0587-4C30-8999-92F81FD0307C}</a:tableStyleId>
              </a:tblPr>
              <a:tblGrid>
                <a:gridCol w="1486800">
                  <a:extLst>
                    <a:ext uri="{9D8B030D-6E8A-4147-A177-3AD203B41FA5}">
                      <a16:colId xmlns:a16="http://schemas.microsoft.com/office/drawing/2014/main" val="3301789608"/>
                    </a:ext>
                  </a:extLst>
                </a:gridCol>
              </a:tblGrid>
              <a:tr h="288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00" b="0" i="0" u="none" strike="noStrike" kern="1200" cap="none" spc="0" normalizeH="0" baseline="0" noProof="0">
                          <a:ln>
                            <a:noFill/>
                          </a:ln>
                          <a:solidFill>
                            <a:srgbClr val="000000"/>
                          </a:solidFill>
                          <a:effectLst/>
                          <a:uLnTx/>
                          <a:uFillTx/>
                          <a:latin typeface="+mn-lt"/>
                          <a:ea typeface="+mn-ea"/>
                          <a:cs typeface="+mn-cs"/>
                        </a:rPr>
                        <a:t>Protection complète</a:t>
                      </a:r>
                      <a:endParaRPr kumimoji="0" lang="fr-FR" sz="1000" b="0" i="0" u="none" strike="noStrike" kern="1200" cap="none" spc="0" normalizeH="0" baseline="0" noProof="0" dirty="0">
                        <a:ln>
                          <a:noFill/>
                        </a:ln>
                        <a:solidFill>
                          <a:srgbClr val="000000"/>
                        </a:solidFill>
                        <a:effectLst/>
                        <a:uLnTx/>
                        <a:uFillTx/>
                        <a:latin typeface="+mn-lt"/>
                        <a:ea typeface="+mn-ea"/>
                        <a:cs typeface="+mn-cs"/>
                      </a:endParaRPr>
                    </a:p>
                  </a:txBody>
                  <a:tcPr anchor="b"/>
                </a:tc>
                <a:extLst>
                  <a:ext uri="{0D108BD9-81ED-4DB2-BD59-A6C34878D82A}">
                    <a16:rowId xmlns:a16="http://schemas.microsoft.com/office/drawing/2014/main" val="2116045747"/>
                  </a:ext>
                </a:extLst>
              </a:tr>
              <a:tr h="370840">
                <a:tc>
                  <a:txBody>
                    <a:bodyPr/>
                    <a:lstStyle/>
                    <a:p>
                      <a:pPr marL="0" marR="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fr-FR" sz="800" i="0" kern="1200" noProof="0">
                          <a:solidFill>
                            <a:srgbClr val="808080"/>
                          </a:solidFill>
                          <a:latin typeface="+mn-lt"/>
                          <a:ea typeface="+mn-ea"/>
                          <a:cs typeface="+mn-cs"/>
                        </a:rPr>
                        <a:t>Les actifs sous-jacents du contrat sont protégés contre une défaillance de l’assureur ou de la banque dépositaire</a:t>
                      </a:r>
                      <a:endParaRPr lang="fr-FR" sz="800" i="0" noProof="0" dirty="0">
                        <a:latin typeface="+mn-lt"/>
                      </a:endParaRPr>
                    </a:p>
                  </a:txBody>
                  <a:tcPr/>
                </a:tc>
                <a:extLst>
                  <a:ext uri="{0D108BD9-81ED-4DB2-BD59-A6C34878D82A}">
                    <a16:rowId xmlns:a16="http://schemas.microsoft.com/office/drawing/2014/main" val="1085649591"/>
                  </a:ext>
                </a:extLst>
              </a:tr>
            </a:tbl>
          </a:graphicData>
        </a:graphic>
      </p:graphicFrame>
      <p:grpSp>
        <p:nvGrpSpPr>
          <p:cNvPr id="59" name="Group 58">
            <a:extLst>
              <a:ext uri="{FF2B5EF4-FFF2-40B4-BE49-F238E27FC236}">
                <a16:creationId xmlns:a16="http://schemas.microsoft.com/office/drawing/2014/main" id="{AC86FBDC-EF9E-11C3-4F3C-42C684214A53}"/>
              </a:ext>
            </a:extLst>
          </p:cNvPr>
          <p:cNvGrpSpPr/>
          <p:nvPr/>
        </p:nvGrpSpPr>
        <p:grpSpPr>
          <a:xfrm>
            <a:off x="4005743" y="1808659"/>
            <a:ext cx="1440000" cy="1440001"/>
            <a:chOff x="1270000" y="1610594"/>
            <a:chExt cx="1440000" cy="1440001"/>
          </a:xfrm>
        </p:grpSpPr>
        <p:sp>
          <p:nvSpPr>
            <p:cNvPr id="32" name="Pentagon 31">
              <a:extLst>
                <a:ext uri="{FF2B5EF4-FFF2-40B4-BE49-F238E27FC236}">
                  <a16:creationId xmlns:a16="http://schemas.microsoft.com/office/drawing/2014/main" id="{2CA96B04-8CBF-756A-ECA1-C5E98D038823}"/>
                </a:ext>
              </a:extLst>
            </p:cNvPr>
            <p:cNvSpPr/>
            <p:nvPr/>
          </p:nvSpPr>
          <p:spPr>
            <a:xfrm>
              <a:off x="1270000" y="1610594"/>
              <a:ext cx="1440000" cy="1440001"/>
            </a:xfrm>
            <a:prstGeom prst="diamond">
              <a:avLst/>
            </a:prstGeom>
            <a:solidFill>
              <a:schemeClr val="hlink"/>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rgbClr val="FFFFFF"/>
                </a:solidFill>
                <a:latin typeface="Arial" panose="020B0604020202020204" pitchFamily="34" charset="0"/>
                <a:cs typeface="Arial" panose="020B0604020202020204" pitchFamily="34" charset="0"/>
              </a:endParaRPr>
            </a:p>
          </p:txBody>
        </p:sp>
        <p:pic>
          <p:nvPicPr>
            <p:cNvPr id="17" name="Picture 16" descr="A logo of a scissor and scissors&#10;&#10;Description automatically generated">
              <a:extLst>
                <a:ext uri="{FF2B5EF4-FFF2-40B4-BE49-F238E27FC236}">
                  <a16:creationId xmlns:a16="http://schemas.microsoft.com/office/drawing/2014/main" id="{7FE4E1B8-10FC-05E5-0DF7-F08212F20BA4}"/>
                </a:ext>
              </a:extLst>
            </p:cNvPr>
            <p:cNvPicPr>
              <a:picLocks noChangeAspect="1"/>
            </p:cNvPicPr>
            <p:nvPr/>
          </p:nvPicPr>
          <p:blipFill>
            <a:blip r:embed="rId2" cstate="screen">
              <a:biLevel thresh="25000"/>
              <a:extLst>
                <a:ext uri="{28A0092B-C50C-407E-A947-70E740481C1C}">
                  <a14:useLocalDpi xmlns:a14="http://schemas.microsoft.com/office/drawing/2010/main"/>
                </a:ext>
              </a:extLst>
            </a:blip>
            <a:stretch>
              <a:fillRect/>
            </a:stretch>
          </p:blipFill>
          <p:spPr>
            <a:xfrm>
              <a:off x="1593815" y="1916678"/>
              <a:ext cx="720000" cy="720000"/>
            </a:xfrm>
            <a:prstGeom prst="rect">
              <a:avLst/>
            </a:prstGeom>
          </p:spPr>
        </p:pic>
      </p:grpSp>
      <p:grpSp>
        <p:nvGrpSpPr>
          <p:cNvPr id="69" name="Group 68">
            <a:extLst>
              <a:ext uri="{FF2B5EF4-FFF2-40B4-BE49-F238E27FC236}">
                <a16:creationId xmlns:a16="http://schemas.microsoft.com/office/drawing/2014/main" id="{5F64860A-7B76-9A68-1BF6-AEB9AAD38729}"/>
              </a:ext>
            </a:extLst>
          </p:cNvPr>
          <p:cNvGrpSpPr/>
          <p:nvPr/>
        </p:nvGrpSpPr>
        <p:grpSpPr>
          <a:xfrm>
            <a:off x="7515627" y="1828215"/>
            <a:ext cx="1440000" cy="1440000"/>
            <a:chOff x="1581049" y="1984714"/>
            <a:chExt cx="1440000" cy="1440000"/>
          </a:xfrm>
        </p:grpSpPr>
        <p:grpSp>
          <p:nvGrpSpPr>
            <p:cNvPr id="42" name="Group 41">
              <a:extLst>
                <a:ext uri="{FF2B5EF4-FFF2-40B4-BE49-F238E27FC236}">
                  <a16:creationId xmlns:a16="http://schemas.microsoft.com/office/drawing/2014/main" id="{AF8BAF71-FBA8-79EB-BACC-2DC55B2EAFD8}"/>
                </a:ext>
              </a:extLst>
            </p:cNvPr>
            <p:cNvGrpSpPr/>
            <p:nvPr/>
          </p:nvGrpSpPr>
          <p:grpSpPr>
            <a:xfrm>
              <a:off x="1581049" y="1984714"/>
              <a:ext cx="1440000" cy="1440000"/>
              <a:chOff x="1216660" y="1419761"/>
              <a:chExt cx="1440000" cy="1350870"/>
            </a:xfrm>
            <a:solidFill>
              <a:schemeClr val="accent1"/>
            </a:solidFill>
          </p:grpSpPr>
          <p:sp>
            <p:nvSpPr>
              <p:cNvPr id="43" name="Pentagon 31">
                <a:extLst>
                  <a:ext uri="{FF2B5EF4-FFF2-40B4-BE49-F238E27FC236}">
                    <a16:creationId xmlns:a16="http://schemas.microsoft.com/office/drawing/2014/main" id="{5CB52140-C7CE-8A6D-779E-16F45B8A8AE1}"/>
                  </a:ext>
                </a:extLst>
              </p:cNvPr>
              <p:cNvSpPr/>
              <p:nvPr/>
            </p:nvSpPr>
            <p:spPr>
              <a:xfrm>
                <a:off x="1216660" y="1419761"/>
                <a:ext cx="1440000" cy="1350870"/>
              </a:xfrm>
              <a:prstGeom prst="diamond">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rgbClr val="FFFFFF"/>
                  </a:solidFill>
                  <a:latin typeface="Arial" panose="020B0604020202020204" pitchFamily="34" charset="0"/>
                  <a:cs typeface="Arial" panose="020B0604020202020204" pitchFamily="34" charset="0"/>
                </a:endParaRPr>
              </a:p>
            </p:txBody>
          </p:sp>
          <p:sp>
            <p:nvSpPr>
              <p:cNvPr id="44" name="Pentagon 32">
                <a:extLst>
                  <a:ext uri="{FF2B5EF4-FFF2-40B4-BE49-F238E27FC236}">
                    <a16:creationId xmlns:a16="http://schemas.microsoft.com/office/drawing/2014/main" id="{1D361F39-94D5-141F-E702-2BC1D25E6ADF}"/>
                  </a:ext>
                </a:extLst>
              </p:cNvPr>
              <p:cNvSpPr/>
              <p:nvPr/>
            </p:nvSpPr>
            <p:spPr>
              <a:xfrm>
                <a:off x="1277620" y="1478833"/>
                <a:ext cx="1296000" cy="1215783"/>
              </a:xfrm>
              <a:prstGeom prst="diamond">
                <a:avLst/>
              </a:prstGeom>
              <a:solidFill>
                <a:schemeClr val="accent3"/>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rgbClr val="FFFFFF"/>
                  </a:solidFill>
                  <a:latin typeface="Arial" panose="020B0604020202020204" pitchFamily="34" charset="0"/>
                  <a:cs typeface="Arial" panose="020B0604020202020204" pitchFamily="34" charset="0"/>
                </a:endParaRPr>
              </a:p>
            </p:txBody>
          </p:sp>
        </p:grpSp>
        <p:pic>
          <p:nvPicPr>
            <p:cNvPr id="5" name="Picture 4" descr="A red and black logo&#10;&#10;Description automatically generated">
              <a:extLst>
                <a:ext uri="{FF2B5EF4-FFF2-40B4-BE49-F238E27FC236}">
                  <a16:creationId xmlns:a16="http://schemas.microsoft.com/office/drawing/2014/main" id="{F5E6D532-3F2F-EC2C-95FC-E169B86709E1}"/>
                </a:ext>
              </a:extLst>
            </p:cNvPr>
            <p:cNvPicPr>
              <a:picLocks noChangeAspect="1"/>
            </p:cNvPicPr>
            <p:nvPr/>
          </p:nvPicPr>
          <p:blipFill>
            <a:blip r:embed="rId3" cstate="screen">
              <a:biLevel thresh="25000"/>
              <a:extLst>
                <a:ext uri="{28A0092B-C50C-407E-A947-70E740481C1C}">
                  <a14:useLocalDpi xmlns:a14="http://schemas.microsoft.com/office/drawing/2010/main"/>
                </a:ext>
              </a:extLst>
            </a:blip>
            <a:stretch>
              <a:fillRect/>
            </a:stretch>
          </p:blipFill>
          <p:spPr>
            <a:xfrm>
              <a:off x="1857430" y="2279585"/>
              <a:ext cx="828000" cy="828000"/>
            </a:xfrm>
            <a:prstGeom prst="rect">
              <a:avLst/>
            </a:prstGeom>
          </p:spPr>
        </p:pic>
      </p:grpSp>
      <p:grpSp>
        <p:nvGrpSpPr>
          <p:cNvPr id="71" name="Group 70">
            <a:extLst>
              <a:ext uri="{FF2B5EF4-FFF2-40B4-BE49-F238E27FC236}">
                <a16:creationId xmlns:a16="http://schemas.microsoft.com/office/drawing/2014/main" id="{C8E386C9-0A69-2787-83C7-4B0D170A6CBB}"/>
              </a:ext>
            </a:extLst>
          </p:cNvPr>
          <p:cNvGrpSpPr/>
          <p:nvPr/>
        </p:nvGrpSpPr>
        <p:grpSpPr>
          <a:xfrm>
            <a:off x="5751122" y="1810481"/>
            <a:ext cx="1440000" cy="1440000"/>
            <a:chOff x="4276012" y="2191963"/>
            <a:chExt cx="1440000" cy="1440000"/>
          </a:xfrm>
        </p:grpSpPr>
        <p:grpSp>
          <p:nvGrpSpPr>
            <p:cNvPr id="51" name="Group 50">
              <a:extLst>
                <a:ext uri="{FF2B5EF4-FFF2-40B4-BE49-F238E27FC236}">
                  <a16:creationId xmlns:a16="http://schemas.microsoft.com/office/drawing/2014/main" id="{889022D7-2A8F-CF13-A4E2-C3DEDE8888EB}"/>
                </a:ext>
              </a:extLst>
            </p:cNvPr>
            <p:cNvGrpSpPr/>
            <p:nvPr/>
          </p:nvGrpSpPr>
          <p:grpSpPr>
            <a:xfrm>
              <a:off x="4276012" y="2191963"/>
              <a:ext cx="1440000" cy="1440000"/>
              <a:chOff x="1270000" y="1610594"/>
              <a:chExt cx="1440000" cy="1350870"/>
            </a:xfrm>
            <a:solidFill>
              <a:srgbClr val="ECBDAB"/>
            </a:solidFill>
          </p:grpSpPr>
          <p:sp>
            <p:nvSpPr>
              <p:cNvPr id="52" name="Pentagon 31">
                <a:extLst>
                  <a:ext uri="{FF2B5EF4-FFF2-40B4-BE49-F238E27FC236}">
                    <a16:creationId xmlns:a16="http://schemas.microsoft.com/office/drawing/2014/main" id="{69BDDB3D-0E32-ACBE-B775-D17FE25C6410}"/>
                  </a:ext>
                </a:extLst>
              </p:cNvPr>
              <p:cNvSpPr/>
              <p:nvPr/>
            </p:nvSpPr>
            <p:spPr>
              <a:xfrm>
                <a:off x="1270000" y="1610594"/>
                <a:ext cx="1440000" cy="1350870"/>
              </a:xfrm>
              <a:prstGeom prst="diamond">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rgbClr val="FFFFFF"/>
                  </a:solidFill>
                  <a:latin typeface="Arial" panose="020B0604020202020204" pitchFamily="34" charset="0"/>
                  <a:cs typeface="Arial" panose="020B0604020202020204" pitchFamily="34" charset="0"/>
                </a:endParaRPr>
              </a:p>
            </p:txBody>
          </p:sp>
          <p:sp>
            <p:nvSpPr>
              <p:cNvPr id="53" name="Pentagon 32">
                <a:extLst>
                  <a:ext uri="{FF2B5EF4-FFF2-40B4-BE49-F238E27FC236}">
                    <a16:creationId xmlns:a16="http://schemas.microsoft.com/office/drawing/2014/main" id="{8DAC1A81-9B2B-4A8A-0C5A-7EFB3DA23F54}"/>
                  </a:ext>
                </a:extLst>
              </p:cNvPr>
              <p:cNvSpPr/>
              <p:nvPr/>
            </p:nvSpPr>
            <p:spPr>
              <a:xfrm>
                <a:off x="1338580" y="1663463"/>
                <a:ext cx="1296000" cy="1215783"/>
              </a:xfrm>
              <a:prstGeom prst="diamond">
                <a:avLst/>
              </a:prstGeom>
              <a:grp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rgbClr val="FFFFFF"/>
                  </a:solidFill>
                  <a:latin typeface="Arial" panose="020B0604020202020204" pitchFamily="34" charset="0"/>
                  <a:cs typeface="Arial" panose="020B0604020202020204" pitchFamily="34" charset="0"/>
                </a:endParaRPr>
              </a:p>
            </p:txBody>
          </p:sp>
        </p:grpSp>
        <p:pic>
          <p:nvPicPr>
            <p:cNvPr id="14" name="Picture 13" descr="A three arrows pointing to the right&#10;&#10;Description automatically generated">
              <a:extLst>
                <a:ext uri="{FF2B5EF4-FFF2-40B4-BE49-F238E27FC236}">
                  <a16:creationId xmlns:a16="http://schemas.microsoft.com/office/drawing/2014/main" id="{C00A1E78-DB4F-ED46-398A-1DA74F993ACB}"/>
                </a:ext>
              </a:extLst>
            </p:cNvPr>
            <p:cNvPicPr>
              <a:picLocks noChangeAspect="1"/>
            </p:cNvPicPr>
            <p:nvPr/>
          </p:nvPicPr>
          <p:blipFill>
            <a:blip r:embed="rId4" cstate="screen">
              <a:biLevel thresh="25000"/>
              <a:extLst>
                <a:ext uri="{28A0092B-C50C-407E-A947-70E740481C1C}">
                  <a14:useLocalDpi xmlns:a14="http://schemas.microsoft.com/office/drawing/2010/main"/>
                </a:ext>
              </a:extLst>
            </a:blip>
            <a:stretch>
              <a:fillRect/>
            </a:stretch>
          </p:blipFill>
          <p:spPr>
            <a:xfrm>
              <a:off x="4640545" y="2500836"/>
              <a:ext cx="720000" cy="720000"/>
            </a:xfrm>
            <a:prstGeom prst="rect">
              <a:avLst/>
            </a:prstGeom>
          </p:spPr>
        </p:pic>
      </p:grpSp>
      <p:sp>
        <p:nvSpPr>
          <p:cNvPr id="75" name="Pentagon 31">
            <a:extLst>
              <a:ext uri="{FF2B5EF4-FFF2-40B4-BE49-F238E27FC236}">
                <a16:creationId xmlns:a16="http://schemas.microsoft.com/office/drawing/2014/main" id="{5C65403A-448B-E8B0-3731-18FFBBA8B7DD}"/>
              </a:ext>
            </a:extLst>
          </p:cNvPr>
          <p:cNvSpPr/>
          <p:nvPr/>
        </p:nvSpPr>
        <p:spPr>
          <a:xfrm>
            <a:off x="8117307" y="82148"/>
            <a:ext cx="1296000" cy="1296000"/>
          </a:xfrm>
          <a:prstGeom prst="diamond">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rgbClr val="FFFFFF"/>
              </a:solidFill>
              <a:latin typeface="Arial" panose="020B0604020202020204" pitchFamily="34" charset="0"/>
              <a:cs typeface="Arial" panose="020B0604020202020204" pitchFamily="34" charset="0"/>
            </a:endParaRPr>
          </a:p>
        </p:txBody>
      </p:sp>
      <p:graphicFrame>
        <p:nvGraphicFramePr>
          <p:cNvPr id="3" name="Table 2">
            <a:extLst>
              <a:ext uri="{FF2B5EF4-FFF2-40B4-BE49-F238E27FC236}">
                <a16:creationId xmlns:a16="http://schemas.microsoft.com/office/drawing/2014/main" id="{2BB9A7E7-1A79-EB45-6AE0-9C1FE0C8AE3A}"/>
              </a:ext>
            </a:extLst>
          </p:cNvPr>
          <p:cNvGraphicFramePr>
            <a:graphicFrameLocks noGrp="1"/>
          </p:cNvGraphicFramePr>
          <p:nvPr>
            <p:extLst>
              <p:ext uri="{D42A27DB-BD31-4B8C-83A1-F6EECF244321}">
                <p14:modId xmlns:p14="http://schemas.microsoft.com/office/powerpoint/2010/main" val="3846323290"/>
              </p:ext>
            </p:extLst>
          </p:nvPr>
        </p:nvGraphicFramePr>
        <p:xfrm>
          <a:off x="498418" y="3411623"/>
          <a:ext cx="1486800" cy="1743420"/>
        </p:xfrm>
        <a:graphic>
          <a:graphicData uri="http://schemas.openxmlformats.org/drawingml/2006/table">
            <a:tbl>
              <a:tblPr firstRow="1" bandRow="1">
                <a:tableStyleId>{2D5ABB26-0587-4C30-8999-92F81FD0307C}</a:tableStyleId>
              </a:tblPr>
              <a:tblGrid>
                <a:gridCol w="1486800">
                  <a:extLst>
                    <a:ext uri="{9D8B030D-6E8A-4147-A177-3AD203B41FA5}">
                      <a16:colId xmlns:a16="http://schemas.microsoft.com/office/drawing/2014/main" val="3581499877"/>
                    </a:ext>
                  </a:extLst>
                </a:gridCol>
              </a:tblGrid>
              <a:tr h="288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00" b="0" i="0" u="none" strike="noStrike" kern="1200" cap="none" spc="0" normalizeH="0" baseline="0" noProof="0">
                          <a:ln>
                            <a:noFill/>
                          </a:ln>
                          <a:solidFill>
                            <a:srgbClr val="000000"/>
                          </a:solidFill>
                          <a:effectLst/>
                          <a:uLnTx/>
                          <a:uFillTx/>
                          <a:latin typeface="+mn-lt"/>
                          <a:ea typeface="+mn-ea"/>
                          <a:cs typeface="+mn-cs"/>
                        </a:rPr>
                        <a:t>Conformité totale</a:t>
                      </a:r>
                      <a:endParaRPr kumimoji="0" lang="fr-FR" sz="1000" b="0" i="0" u="none" strike="noStrike" kern="1200" cap="none" spc="0" normalizeH="0" baseline="0" noProof="0" dirty="0">
                        <a:ln>
                          <a:noFill/>
                        </a:ln>
                        <a:solidFill>
                          <a:srgbClr val="000000"/>
                        </a:solidFill>
                        <a:effectLst/>
                        <a:uLnTx/>
                        <a:uFillTx/>
                        <a:latin typeface="+mn-lt"/>
                        <a:ea typeface="+mn-ea"/>
                        <a:cs typeface="+mn-cs"/>
                      </a:endParaRPr>
                    </a:p>
                  </a:txBody>
                  <a:tcPr anchor="b"/>
                </a:tc>
                <a:extLst>
                  <a:ext uri="{0D108BD9-81ED-4DB2-BD59-A6C34878D82A}">
                    <a16:rowId xmlns:a16="http://schemas.microsoft.com/office/drawing/2014/main" val="773312043"/>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800" i="0" kern="1200" noProof="0">
                          <a:solidFill>
                            <a:srgbClr val="808080"/>
                          </a:solidFill>
                          <a:latin typeface="+mn-lt"/>
                          <a:ea typeface="+mn-ea"/>
                          <a:cs typeface="+mn-cs"/>
                        </a:rPr>
                        <a:t>L'assurance-vie est un outil de planification patrimoniale reconnu dans tous les pays de l'Union européenne et dans la majorité des pays tiers. Une solution totalement conforme pour détenir des actifs.</a:t>
                      </a:r>
                      <a:endParaRPr lang="fr-FR" sz="850" i="1" kern="1200" noProof="0">
                        <a:solidFill>
                          <a:srgbClr val="A11C36"/>
                        </a:solidFill>
                        <a:latin typeface="+mn-lt"/>
                        <a:ea typeface="+mn-ea"/>
                        <a:cs typeface="+mn-cs"/>
                      </a:endParaRPr>
                    </a:p>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fr-FR" sz="850" i="0" kern="1200" noProof="0">
                        <a:solidFill>
                          <a:srgbClr val="808080"/>
                        </a:solidFill>
                        <a:latin typeface="+mn-lt"/>
                        <a:ea typeface="+mn-ea"/>
                        <a:cs typeface="+mn-cs"/>
                      </a:endParaRPr>
                    </a:p>
                    <a:p>
                      <a:pPr marL="92075" marR="0" indent="-92075" algn="ctr"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fr-FR" sz="850" i="0" kern="1200" noProof="0">
                        <a:solidFill>
                          <a:srgbClr val="808080"/>
                        </a:solidFill>
                        <a:latin typeface="+mn-lt"/>
                        <a:ea typeface="+mn-ea"/>
                        <a:cs typeface="+mn-cs"/>
                      </a:endParaRPr>
                    </a:p>
                    <a:p>
                      <a:pPr algn="ctr"/>
                      <a:endParaRPr lang="fr-FR" sz="850" noProof="0" dirty="0">
                        <a:latin typeface="+mn-lt"/>
                      </a:endParaRPr>
                    </a:p>
                  </a:txBody>
                  <a:tcPr/>
                </a:tc>
                <a:extLst>
                  <a:ext uri="{0D108BD9-81ED-4DB2-BD59-A6C34878D82A}">
                    <a16:rowId xmlns:a16="http://schemas.microsoft.com/office/drawing/2014/main" val="1117364255"/>
                  </a:ext>
                </a:extLst>
              </a:tr>
            </a:tbl>
          </a:graphicData>
        </a:graphic>
      </p:graphicFrame>
      <p:grpSp>
        <p:nvGrpSpPr>
          <p:cNvPr id="4" name="Group 3">
            <a:extLst>
              <a:ext uri="{FF2B5EF4-FFF2-40B4-BE49-F238E27FC236}">
                <a16:creationId xmlns:a16="http://schemas.microsoft.com/office/drawing/2014/main" id="{747D0A79-C1C6-0A98-04E9-12638C70CDDD}"/>
              </a:ext>
            </a:extLst>
          </p:cNvPr>
          <p:cNvGrpSpPr/>
          <p:nvPr/>
        </p:nvGrpSpPr>
        <p:grpSpPr>
          <a:xfrm>
            <a:off x="487545" y="1793451"/>
            <a:ext cx="1440000" cy="1440000"/>
            <a:chOff x="5626139" y="1768279"/>
            <a:chExt cx="1440000" cy="1440000"/>
          </a:xfrm>
        </p:grpSpPr>
        <p:grpSp>
          <p:nvGrpSpPr>
            <p:cNvPr id="6" name="Group 5">
              <a:extLst>
                <a:ext uri="{FF2B5EF4-FFF2-40B4-BE49-F238E27FC236}">
                  <a16:creationId xmlns:a16="http://schemas.microsoft.com/office/drawing/2014/main" id="{B8D7EF6A-F148-5C1E-8D42-12B9264FCE0A}"/>
                </a:ext>
              </a:extLst>
            </p:cNvPr>
            <p:cNvGrpSpPr/>
            <p:nvPr/>
          </p:nvGrpSpPr>
          <p:grpSpPr>
            <a:xfrm>
              <a:off x="5626139" y="1768279"/>
              <a:ext cx="1440000" cy="1440000"/>
              <a:chOff x="1262380" y="1603446"/>
              <a:chExt cx="1440000" cy="1350870"/>
            </a:xfrm>
            <a:solidFill>
              <a:srgbClr val="C45417"/>
            </a:solidFill>
          </p:grpSpPr>
          <p:sp>
            <p:nvSpPr>
              <p:cNvPr id="8" name="Pentagon 31">
                <a:extLst>
                  <a:ext uri="{FF2B5EF4-FFF2-40B4-BE49-F238E27FC236}">
                    <a16:creationId xmlns:a16="http://schemas.microsoft.com/office/drawing/2014/main" id="{DA2D3C97-8855-5FF6-5024-EFBE143AE0BD}"/>
                  </a:ext>
                </a:extLst>
              </p:cNvPr>
              <p:cNvSpPr/>
              <p:nvPr/>
            </p:nvSpPr>
            <p:spPr>
              <a:xfrm>
                <a:off x="1262380" y="1603446"/>
                <a:ext cx="1440000" cy="1350870"/>
              </a:xfrm>
              <a:prstGeom prst="diamond">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rgbClr val="FFFFFF"/>
                  </a:solidFill>
                  <a:latin typeface="Arial" panose="020B0604020202020204" pitchFamily="34" charset="0"/>
                  <a:cs typeface="Arial" panose="020B0604020202020204" pitchFamily="34" charset="0"/>
                </a:endParaRPr>
              </a:p>
            </p:txBody>
          </p:sp>
          <p:sp>
            <p:nvSpPr>
              <p:cNvPr id="9" name="Pentagon 32">
                <a:extLst>
                  <a:ext uri="{FF2B5EF4-FFF2-40B4-BE49-F238E27FC236}">
                    <a16:creationId xmlns:a16="http://schemas.microsoft.com/office/drawing/2014/main" id="{B7D33089-3ECB-365F-E2DA-FD2A192D0DCF}"/>
                  </a:ext>
                </a:extLst>
              </p:cNvPr>
              <p:cNvSpPr/>
              <p:nvPr/>
            </p:nvSpPr>
            <p:spPr>
              <a:xfrm>
                <a:off x="1330960" y="1670611"/>
                <a:ext cx="1296000" cy="1215783"/>
              </a:xfrm>
              <a:prstGeom prst="diamond">
                <a:avLst/>
              </a:prstGeom>
              <a:solidFill>
                <a:srgbClr val="DFDFD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rgbClr val="FFFFFF"/>
                  </a:solidFill>
                  <a:latin typeface="Arial" panose="020B0604020202020204" pitchFamily="34" charset="0"/>
                  <a:cs typeface="Arial" panose="020B0604020202020204" pitchFamily="34" charset="0"/>
                </a:endParaRPr>
              </a:p>
            </p:txBody>
          </p:sp>
        </p:grpSp>
        <p:pic>
          <p:nvPicPr>
            <p:cNvPr id="7" name="Picture 6" descr="A gray letter on a black background&#10;&#10;Description automatically generated">
              <a:extLst>
                <a:ext uri="{FF2B5EF4-FFF2-40B4-BE49-F238E27FC236}">
                  <a16:creationId xmlns:a16="http://schemas.microsoft.com/office/drawing/2014/main" id="{B60A73BD-E865-E6A5-9D67-7A36D6DD00A0}"/>
                </a:ext>
              </a:extLst>
            </p:cNvPr>
            <p:cNvPicPr>
              <a:picLocks noChangeAspect="1"/>
            </p:cNvPicPr>
            <p:nvPr/>
          </p:nvPicPr>
          <p:blipFill>
            <a:blip r:embed="rId5" cstate="screen">
              <a:biLevel thresh="25000"/>
              <a:extLst>
                <a:ext uri="{28A0092B-C50C-407E-A947-70E740481C1C}">
                  <a14:useLocalDpi xmlns:a14="http://schemas.microsoft.com/office/drawing/2010/main"/>
                </a:ext>
              </a:extLst>
            </a:blip>
            <a:stretch>
              <a:fillRect/>
            </a:stretch>
          </p:blipFill>
          <p:spPr>
            <a:xfrm>
              <a:off x="5933926" y="2026277"/>
              <a:ext cx="828000" cy="828000"/>
            </a:xfrm>
            <a:prstGeom prst="rect">
              <a:avLst/>
            </a:prstGeom>
          </p:spPr>
        </p:pic>
      </p:grpSp>
      <p:graphicFrame>
        <p:nvGraphicFramePr>
          <p:cNvPr id="10" name="Table 9">
            <a:extLst>
              <a:ext uri="{FF2B5EF4-FFF2-40B4-BE49-F238E27FC236}">
                <a16:creationId xmlns:a16="http://schemas.microsoft.com/office/drawing/2014/main" id="{DED1126F-A58D-CB58-0393-4E4C5109AAF0}"/>
              </a:ext>
            </a:extLst>
          </p:cNvPr>
          <p:cNvGraphicFramePr>
            <a:graphicFrameLocks noGrp="1"/>
          </p:cNvGraphicFramePr>
          <p:nvPr>
            <p:extLst>
              <p:ext uri="{D42A27DB-BD31-4B8C-83A1-F6EECF244321}">
                <p14:modId xmlns:p14="http://schemas.microsoft.com/office/powerpoint/2010/main" val="975986564"/>
              </p:ext>
            </p:extLst>
          </p:nvPr>
        </p:nvGraphicFramePr>
        <p:xfrm>
          <a:off x="2234640" y="3426832"/>
          <a:ext cx="1486800" cy="1341120"/>
        </p:xfrm>
        <a:graphic>
          <a:graphicData uri="http://schemas.openxmlformats.org/drawingml/2006/table">
            <a:tbl>
              <a:tblPr firstRow="1" bandRow="1">
                <a:tableStyleId>{2D5ABB26-0587-4C30-8999-92F81FD0307C}</a:tableStyleId>
              </a:tblPr>
              <a:tblGrid>
                <a:gridCol w="1486800">
                  <a:extLst>
                    <a:ext uri="{9D8B030D-6E8A-4147-A177-3AD203B41FA5}">
                      <a16:colId xmlns:a16="http://schemas.microsoft.com/office/drawing/2014/main" val="2010311697"/>
                    </a:ext>
                  </a:extLst>
                </a:gridCol>
              </a:tblGrid>
              <a:tr h="288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00" b="0" i="0" u="none" strike="noStrike" kern="1200" cap="none" spc="0" normalizeH="0" baseline="0" noProof="0">
                          <a:ln>
                            <a:noFill/>
                          </a:ln>
                          <a:solidFill>
                            <a:srgbClr val="000000"/>
                          </a:solidFill>
                          <a:effectLst/>
                          <a:uLnTx/>
                          <a:uFillTx/>
                          <a:latin typeface="+mn-lt"/>
                          <a:ea typeface="+mn-ea"/>
                          <a:cs typeface="+mn-cs"/>
                        </a:rPr>
                        <a:t>Gestion souple des investissements</a:t>
                      </a:r>
                      <a:endParaRPr kumimoji="0" lang="fr-FR" sz="1000" b="0" i="0" u="none" strike="noStrike" kern="1200" cap="none" spc="0" normalizeH="0" baseline="0" noProof="0" dirty="0">
                        <a:ln>
                          <a:noFill/>
                        </a:ln>
                        <a:solidFill>
                          <a:srgbClr val="000000"/>
                        </a:solidFill>
                        <a:effectLst/>
                        <a:uLnTx/>
                        <a:uFillTx/>
                        <a:latin typeface="+mn-lt"/>
                        <a:ea typeface="+mn-ea"/>
                        <a:cs typeface="+mn-cs"/>
                      </a:endParaRPr>
                    </a:p>
                  </a:txBody>
                  <a:tcPr anchor="b"/>
                </a:tc>
                <a:extLst>
                  <a:ext uri="{0D108BD9-81ED-4DB2-BD59-A6C34878D82A}">
                    <a16:rowId xmlns:a16="http://schemas.microsoft.com/office/drawing/2014/main" val="2922502537"/>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800" i="0" kern="1200" noProof="0">
                          <a:solidFill>
                            <a:srgbClr val="808080"/>
                          </a:solidFill>
                          <a:latin typeface="+mn-lt"/>
                          <a:ea typeface="+mn-ea"/>
                          <a:cs typeface="+mn-cs"/>
                        </a:rPr>
                        <a:t>Définition de la stratégie d'investissement personnelle du client avec un large éventail de choix d'investissement. Plusieurs gestionnaires d'actifs et dépositaires sont acceptés.</a:t>
                      </a:r>
                      <a:endParaRPr lang="fr-FR" sz="800" i="0" kern="1200" noProof="0" dirty="0">
                        <a:solidFill>
                          <a:srgbClr val="808080"/>
                        </a:solidFill>
                        <a:latin typeface="+mn-lt"/>
                        <a:ea typeface="+mn-ea"/>
                        <a:cs typeface="+mn-cs"/>
                      </a:endParaRPr>
                    </a:p>
                  </a:txBody>
                  <a:tcPr/>
                </a:tc>
                <a:extLst>
                  <a:ext uri="{0D108BD9-81ED-4DB2-BD59-A6C34878D82A}">
                    <a16:rowId xmlns:a16="http://schemas.microsoft.com/office/drawing/2014/main" val="1242253869"/>
                  </a:ext>
                </a:extLst>
              </a:tr>
            </a:tbl>
          </a:graphicData>
        </a:graphic>
      </p:graphicFrame>
      <p:grpSp>
        <p:nvGrpSpPr>
          <p:cNvPr id="11" name="Group 10">
            <a:extLst>
              <a:ext uri="{FF2B5EF4-FFF2-40B4-BE49-F238E27FC236}">
                <a16:creationId xmlns:a16="http://schemas.microsoft.com/office/drawing/2014/main" id="{2A3474AA-7968-551F-04B4-B33F5C060D67}"/>
              </a:ext>
            </a:extLst>
          </p:cNvPr>
          <p:cNvGrpSpPr/>
          <p:nvPr/>
        </p:nvGrpSpPr>
        <p:grpSpPr>
          <a:xfrm>
            <a:off x="2215516" y="1808660"/>
            <a:ext cx="1440001" cy="1440000"/>
            <a:chOff x="6974141" y="1996253"/>
            <a:chExt cx="1440001" cy="1440000"/>
          </a:xfrm>
        </p:grpSpPr>
        <p:grpSp>
          <p:nvGrpSpPr>
            <p:cNvPr id="12" name="Group 11">
              <a:extLst>
                <a:ext uri="{FF2B5EF4-FFF2-40B4-BE49-F238E27FC236}">
                  <a16:creationId xmlns:a16="http://schemas.microsoft.com/office/drawing/2014/main" id="{84864BDF-83FC-7F4A-96B1-24F62F559A91}"/>
                </a:ext>
              </a:extLst>
            </p:cNvPr>
            <p:cNvGrpSpPr/>
            <p:nvPr/>
          </p:nvGrpSpPr>
          <p:grpSpPr>
            <a:xfrm>
              <a:off x="6974141" y="1996253"/>
              <a:ext cx="1440001" cy="1440000"/>
              <a:chOff x="1270000" y="1610594"/>
              <a:chExt cx="1669729" cy="1519730"/>
            </a:xfrm>
            <a:solidFill>
              <a:schemeClr val="accent6"/>
            </a:solidFill>
          </p:grpSpPr>
          <p:sp>
            <p:nvSpPr>
              <p:cNvPr id="15" name="Pentagon 31">
                <a:extLst>
                  <a:ext uri="{FF2B5EF4-FFF2-40B4-BE49-F238E27FC236}">
                    <a16:creationId xmlns:a16="http://schemas.microsoft.com/office/drawing/2014/main" id="{BFC18E69-F15B-70A3-E3B7-0525E9A4C85F}"/>
                  </a:ext>
                </a:extLst>
              </p:cNvPr>
              <p:cNvSpPr/>
              <p:nvPr/>
            </p:nvSpPr>
            <p:spPr>
              <a:xfrm>
                <a:off x="1270000" y="1610594"/>
                <a:ext cx="1669729" cy="1519730"/>
              </a:xfrm>
              <a:prstGeom prst="diamond">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rgbClr val="FFFFFF"/>
                  </a:solidFill>
                  <a:latin typeface="Arial" panose="020B0604020202020204" pitchFamily="34" charset="0"/>
                  <a:cs typeface="Arial" panose="020B0604020202020204" pitchFamily="34" charset="0"/>
                </a:endParaRPr>
              </a:p>
            </p:txBody>
          </p:sp>
          <p:sp>
            <p:nvSpPr>
              <p:cNvPr id="16" name="Pentagon 32">
                <a:extLst>
                  <a:ext uri="{FF2B5EF4-FFF2-40B4-BE49-F238E27FC236}">
                    <a16:creationId xmlns:a16="http://schemas.microsoft.com/office/drawing/2014/main" id="{B7292F3D-4509-505E-BDBB-09CE3979B96A}"/>
                  </a:ext>
                </a:extLst>
              </p:cNvPr>
              <p:cNvSpPr/>
              <p:nvPr/>
            </p:nvSpPr>
            <p:spPr>
              <a:xfrm>
                <a:off x="1346026" y="1682227"/>
                <a:ext cx="1502755" cy="1367757"/>
              </a:xfrm>
              <a:prstGeom prst="diamond">
                <a:avLst/>
              </a:prstGeom>
              <a:grp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rgbClr val="FFFFFF"/>
                  </a:solidFill>
                  <a:latin typeface="Arial" panose="020B0604020202020204" pitchFamily="34" charset="0"/>
                  <a:cs typeface="Arial" panose="020B0604020202020204" pitchFamily="34" charset="0"/>
                </a:endParaRPr>
              </a:p>
            </p:txBody>
          </p:sp>
        </p:grpSp>
        <p:pic>
          <p:nvPicPr>
            <p:cNvPr id="13" name="Picture 12" descr="A grey and white logo&#10;&#10;Description automatically generated with medium confidence">
              <a:extLst>
                <a:ext uri="{FF2B5EF4-FFF2-40B4-BE49-F238E27FC236}">
                  <a16:creationId xmlns:a16="http://schemas.microsoft.com/office/drawing/2014/main" id="{2F4B9EB3-43E2-6E71-7DC0-3BB80B0FBEC8}"/>
                </a:ext>
              </a:extLst>
            </p:cNvPr>
            <p:cNvPicPr>
              <a:picLocks noChangeAspect="1"/>
            </p:cNvPicPr>
            <p:nvPr/>
          </p:nvPicPr>
          <p:blipFill>
            <a:blip r:embed="rId6" cstate="screen">
              <a:biLevel thresh="25000"/>
              <a:extLst>
                <a:ext uri="{28A0092B-C50C-407E-A947-70E740481C1C}">
                  <a14:useLocalDpi xmlns:a14="http://schemas.microsoft.com/office/drawing/2010/main"/>
                </a:ext>
              </a:extLst>
            </a:blip>
            <a:stretch>
              <a:fillRect/>
            </a:stretch>
          </p:blipFill>
          <p:spPr>
            <a:xfrm>
              <a:off x="7242475" y="2240922"/>
              <a:ext cx="828000" cy="828000"/>
            </a:xfrm>
            <a:prstGeom prst="rect">
              <a:avLst/>
            </a:prstGeom>
          </p:spPr>
        </p:pic>
      </p:grpSp>
    </p:spTree>
    <p:extLst>
      <p:ext uri="{BB962C8B-B14F-4D97-AF65-F5344CB8AC3E}">
        <p14:creationId xmlns:p14="http://schemas.microsoft.com/office/powerpoint/2010/main" val="10185632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Placeholder 3">
            <a:extLst>
              <a:ext uri="{FF2B5EF4-FFF2-40B4-BE49-F238E27FC236}">
                <a16:creationId xmlns:a16="http://schemas.microsoft.com/office/drawing/2014/main" id="{61EF4D98-6E1C-E32A-1EE1-FF7C1484ECE4}"/>
              </a:ext>
            </a:extLst>
          </p:cNvPr>
          <p:cNvPicPr>
            <a:picLocks noGrp="1" noChangeAspect="1"/>
          </p:cNvPicPr>
          <p:nvPr>
            <p:ph type="pic" sz="quarter" idx="10"/>
            <p:custDataLst>
              <p:tags r:id="rId1"/>
            </p:custDataLst>
          </p:nvPr>
        </p:nvPicPr>
        <p:blipFill>
          <a:blip r:embed="rId5" cstate="screen">
            <a:extLst>
              <a:ext uri="{28A0092B-C50C-407E-A947-70E740481C1C}">
                <a14:useLocalDpi xmlns:a14="http://schemas.microsoft.com/office/drawing/2010/main"/>
              </a:ext>
            </a:extLst>
          </a:blip>
          <a:srcRect/>
          <a:stretch>
            <a:fillRect/>
          </a:stretch>
        </p:blipFill>
        <p:spPr bwMode="gray"/>
      </p:pic>
      <p:sp>
        <p:nvSpPr>
          <p:cNvPr id="18438" name="Rectangle 8"/>
          <p:cNvSpPr txBox="1">
            <a:spLocks noChangeArrowheads="1"/>
          </p:cNvSpPr>
          <p:nvPr/>
        </p:nvSpPr>
        <p:spPr bwMode="auto">
          <a:xfrm>
            <a:off x="6843449" y="1235604"/>
            <a:ext cx="398198" cy="41420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defRPr sz="2200" b="1">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200">
                <a:solidFill>
                  <a:schemeClr val="tx1"/>
                </a:solidFill>
                <a:latin typeface="Arial" panose="020B0604020202020204" pitchFamily="34" charset="0"/>
                <a:cs typeface="Arial" panose="020B0604020202020204" pitchFamily="34" charset="0"/>
              </a:defRPr>
            </a:lvl2pPr>
            <a:lvl3pPr marL="1143000" indent="-228600">
              <a:spcBef>
                <a:spcPct val="20000"/>
              </a:spcBef>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3pPr>
            <a:lvl4pPr marL="1600200" indent="-228600">
              <a:lnSpc>
                <a:spcPts val="3000"/>
              </a:lnSpc>
              <a:buSzPct val="80000"/>
              <a:buFont typeface="Wingdings" panose="05000000000000000000" pitchFamily="2" charset="2"/>
              <a:buChar char="§"/>
              <a:defRPr sz="2200">
                <a:solidFill>
                  <a:schemeClr val="tx1"/>
                </a:solidFill>
                <a:latin typeface="Arial" panose="020B0604020202020204" pitchFamily="34" charset="0"/>
                <a:cs typeface="Arial" panose="020B0604020202020204" pitchFamily="34" charset="0"/>
              </a:defRPr>
            </a:lvl4pPr>
            <a:lvl5pPr marL="2057400" indent="-228600">
              <a:lnSpc>
                <a:spcPts val="3000"/>
              </a:lnSpc>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lnSpc>
                <a:spcPts val="3000"/>
              </a:lnSpc>
              <a:spcBef>
                <a:spcPct val="0"/>
              </a:spcBef>
              <a:spcAft>
                <a:spcPct val="0"/>
              </a:spcAft>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lnSpc>
                <a:spcPts val="3000"/>
              </a:lnSpc>
              <a:spcBef>
                <a:spcPct val="0"/>
              </a:spcBef>
              <a:spcAft>
                <a:spcPct val="0"/>
              </a:spcAft>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lnSpc>
                <a:spcPts val="3000"/>
              </a:lnSpc>
              <a:spcBef>
                <a:spcPct val="0"/>
              </a:spcBef>
              <a:spcAft>
                <a:spcPct val="0"/>
              </a:spcAft>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lnSpc>
                <a:spcPts val="3000"/>
              </a:lnSpc>
              <a:spcBef>
                <a:spcPct val="0"/>
              </a:spcBef>
              <a:spcAft>
                <a:spcPct val="0"/>
              </a:spcAft>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nSpc>
                <a:spcPts val="2500"/>
              </a:lnSpc>
              <a:spcBef>
                <a:spcPct val="0"/>
              </a:spcBef>
            </a:pPr>
            <a:endParaRPr lang="fr-FR" altLang="de-DE" sz="1833" b="0" dirty="0">
              <a:solidFill>
                <a:srgbClr val="000000"/>
              </a:solidFill>
              <a:ea typeface="MS PGothic" panose="020B0600070205080204" pitchFamily="34" charset="-128"/>
            </a:endParaRPr>
          </a:p>
        </p:txBody>
      </p:sp>
      <p:sp>
        <p:nvSpPr>
          <p:cNvPr id="8" name="Titel 7"/>
          <p:cNvSpPr>
            <a:spLocks noGrp="1"/>
          </p:cNvSpPr>
          <p:nvPr>
            <p:ph type="title"/>
          </p:nvPr>
        </p:nvSpPr>
        <p:spPr>
          <a:xfrm>
            <a:off x="0" y="1670424"/>
            <a:ext cx="6084168" cy="778446"/>
          </a:xfrm>
        </p:spPr>
        <p:txBody>
          <a:bodyPr/>
          <a:lstStyle/>
          <a:p>
            <a:pPr marL="144000">
              <a:lnSpc>
                <a:spcPct val="150000"/>
              </a:lnSpc>
            </a:pPr>
            <a:r>
              <a:rPr lang="fr-FR" sz="2400" dirty="0">
                <a:latin typeface="Times New Roman"/>
                <a:cs typeface="Times New Roman"/>
              </a:rPr>
              <a:t>02 Mise en place du contrat</a:t>
            </a:r>
          </a:p>
        </p:txBody>
      </p:sp>
      <p:pic>
        <p:nvPicPr>
          <p:cNvPr id="2" name="Picture 1">
            <a:extLst>
              <a:ext uri="{FF2B5EF4-FFF2-40B4-BE49-F238E27FC236}">
                <a16:creationId xmlns:a16="http://schemas.microsoft.com/office/drawing/2014/main" id="{4F3FBEFE-16B9-243F-3752-3C3A45A3BD1E}"/>
              </a:ext>
            </a:extLst>
          </p:cNvPr>
          <p:cNvPicPr>
            <a:picLocks noChangeAspect="1"/>
          </p:cNvPicPr>
          <p:nvPr>
            <p:custDataLst>
              <p:tags r:id="rId2"/>
            </p:custDataLst>
          </p:nvPr>
        </p:nvPicPr>
        <p:blipFill>
          <a:blip r:embed="rId6" cstate="print">
            <a:extLst>
              <a:ext uri="{28A0092B-C50C-407E-A947-70E740481C1C}">
                <a14:useLocalDpi xmlns:a14="http://schemas.microsoft.com/office/drawing/2010/main" val="0"/>
              </a:ext>
            </a:extLst>
          </a:blip>
          <a:stretch>
            <a:fillRect/>
          </a:stretch>
        </p:blipFill>
        <p:spPr bwMode="gray">
          <a:xfrm>
            <a:off x="8150398" y="5133975"/>
            <a:ext cx="584769" cy="407250"/>
          </a:xfrm>
          <a:prstGeom prst="rect">
            <a:avLst/>
          </a:prstGeom>
        </p:spPr>
      </p:pic>
    </p:spTree>
    <p:extLst>
      <p:ext uri="{BB962C8B-B14F-4D97-AF65-F5344CB8AC3E}">
        <p14:creationId xmlns:p14="http://schemas.microsoft.com/office/powerpoint/2010/main" val="36847032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6" name="Table 26">
            <a:extLst>
              <a:ext uri="{FF2B5EF4-FFF2-40B4-BE49-F238E27FC236}">
                <a16:creationId xmlns:a16="http://schemas.microsoft.com/office/drawing/2014/main" id="{9685376B-56F3-4051-E6A2-A8BCDEBA35D3}"/>
              </a:ext>
            </a:extLst>
          </p:cNvPr>
          <p:cNvGraphicFramePr>
            <a:graphicFrameLocks noGrp="1"/>
          </p:cNvGraphicFramePr>
          <p:nvPr>
            <p:extLst>
              <p:ext uri="{D42A27DB-BD31-4B8C-83A1-F6EECF244321}">
                <p14:modId xmlns:p14="http://schemas.microsoft.com/office/powerpoint/2010/main" val="598752875"/>
              </p:ext>
            </p:extLst>
          </p:nvPr>
        </p:nvGraphicFramePr>
        <p:xfrm>
          <a:off x="250825" y="1633364"/>
          <a:ext cx="8496621" cy="2994660"/>
        </p:xfrm>
        <a:graphic>
          <a:graphicData uri="http://schemas.openxmlformats.org/drawingml/2006/table">
            <a:tbl>
              <a:tblPr firstRow="1" bandRow="1">
                <a:tableStyleId>{2D5ABB26-0587-4C30-8999-92F81FD0307C}</a:tableStyleId>
              </a:tblPr>
              <a:tblGrid>
                <a:gridCol w="2832207">
                  <a:extLst>
                    <a:ext uri="{9D8B030D-6E8A-4147-A177-3AD203B41FA5}">
                      <a16:colId xmlns:a16="http://schemas.microsoft.com/office/drawing/2014/main" val="1815188623"/>
                    </a:ext>
                  </a:extLst>
                </a:gridCol>
                <a:gridCol w="2832207">
                  <a:extLst>
                    <a:ext uri="{9D8B030D-6E8A-4147-A177-3AD203B41FA5}">
                      <a16:colId xmlns:a16="http://schemas.microsoft.com/office/drawing/2014/main" val="1789638585"/>
                    </a:ext>
                  </a:extLst>
                </a:gridCol>
                <a:gridCol w="2832207">
                  <a:extLst>
                    <a:ext uri="{9D8B030D-6E8A-4147-A177-3AD203B41FA5}">
                      <a16:colId xmlns:a16="http://schemas.microsoft.com/office/drawing/2014/main" val="2940296263"/>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altLang="en-US" sz="1800" b="0" dirty="0">
                          <a:latin typeface="+mn-lt"/>
                          <a:ea typeface="Times New Roman" charset="0"/>
                          <a:cs typeface="Times New Roman" charset="0"/>
                        </a:rPr>
                        <a:t>Preneur d’assurance</a:t>
                      </a:r>
                    </a:p>
                    <a:p>
                      <a:pPr algn="ctr"/>
                      <a:endParaRPr lang="fr-FR"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altLang="en-US" sz="1800" b="0" dirty="0">
                          <a:latin typeface="+mn-lt"/>
                          <a:ea typeface="Times New Roman" charset="0"/>
                          <a:cs typeface="Times New Roman" charset="0"/>
                        </a:rPr>
                        <a:t>Personne assurée</a:t>
                      </a:r>
                    </a:p>
                    <a:p>
                      <a:pPr algn="ctr"/>
                      <a:endParaRPr lang="fr-FR"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altLang="en-US" sz="1800" b="0" dirty="0">
                          <a:latin typeface="+mn-lt"/>
                          <a:ea typeface="Times New Roman" charset="0"/>
                          <a:cs typeface="Times New Roman" charset="0"/>
                        </a:rPr>
                        <a:t>Bénéficiaire</a:t>
                      </a:r>
                    </a:p>
                    <a:p>
                      <a:pPr algn="ctr"/>
                      <a:endParaRPr lang="fr-FR" dirty="0"/>
                    </a:p>
                  </a:txBody>
                  <a:tcPr/>
                </a:tc>
                <a:extLst>
                  <a:ext uri="{0D108BD9-81ED-4DB2-BD59-A6C34878D82A}">
                    <a16:rowId xmlns:a16="http://schemas.microsoft.com/office/drawing/2014/main" val="3686824126"/>
                  </a:ext>
                </a:extLst>
              </a:tr>
              <a:tr h="370840">
                <a:tc>
                  <a:txBody>
                    <a:bodyPr/>
                    <a:lstStyle/>
                    <a:p>
                      <a:endParaRPr lang="fr-FR"/>
                    </a:p>
                    <a:p>
                      <a:endParaRPr lang="fr-FR" dirty="0"/>
                    </a:p>
                  </a:txBody>
                  <a:tcPr/>
                </a:tc>
                <a:tc>
                  <a:txBody>
                    <a:bodyPr/>
                    <a:lstStyle/>
                    <a:p>
                      <a:endParaRPr lang="fr-FR" dirty="0"/>
                    </a:p>
                  </a:txBody>
                  <a:tcPr/>
                </a:tc>
                <a:tc>
                  <a:txBody>
                    <a:bodyPr/>
                    <a:lstStyle/>
                    <a:p>
                      <a:endParaRPr lang="fr-FR" dirty="0"/>
                    </a:p>
                  </a:txBody>
                  <a:tcPr/>
                </a:tc>
                <a:extLst>
                  <a:ext uri="{0D108BD9-81ED-4DB2-BD59-A6C34878D82A}">
                    <a16:rowId xmlns:a16="http://schemas.microsoft.com/office/drawing/2014/main" val="2098902027"/>
                  </a:ext>
                </a:extLst>
              </a:tr>
              <a:tr h="370840">
                <a:tc>
                  <a:txBody>
                    <a:bodyPr/>
                    <a:lstStyle/>
                    <a:p>
                      <a:pPr marL="0" marR="0" lvl="0" indent="0" algn="ctr" defTabSz="914400" rtl="0" eaLnBrk="1" fontAlgn="auto" latinLnBrk="0" hangingPunct="1">
                        <a:lnSpc>
                          <a:spcPct val="100000"/>
                        </a:lnSpc>
                        <a:spcBef>
                          <a:spcPct val="0"/>
                        </a:spcBef>
                        <a:spcAft>
                          <a:spcPts val="0"/>
                        </a:spcAft>
                        <a:buClr>
                          <a:srgbClr val="A11C36"/>
                        </a:buClr>
                        <a:buSzTx/>
                        <a:buFontTx/>
                        <a:buNone/>
                        <a:tabLst/>
                        <a:defRPr/>
                      </a:pPr>
                      <a:r>
                        <a:rPr kumimoji="0" lang="fr-FR" altLang="en-US" sz="1050" b="0" i="0" u="none" strike="noStrike" kern="1200" cap="none" spc="0" normalizeH="0" baseline="0" noProof="0" dirty="0">
                          <a:ln>
                            <a:noFill/>
                          </a:ln>
                          <a:solidFill>
                            <a:srgbClr val="000000"/>
                          </a:solidFill>
                          <a:effectLst/>
                          <a:uLnTx/>
                          <a:uFillTx/>
                          <a:latin typeface="+mn-lt"/>
                          <a:ea typeface="ＭＳ Ｐゴシック" charset="-128"/>
                          <a:cs typeface="+mn-cs"/>
                        </a:rPr>
                        <a:t>une ou plusieurs personnes</a:t>
                      </a:r>
                      <a:br>
                        <a:rPr kumimoji="0" lang="fr-FR" altLang="en-US" sz="1050" b="0" i="0" u="none" strike="noStrike" kern="1200" cap="none" spc="0" normalizeH="0" baseline="0" noProof="0" dirty="0">
                          <a:ln>
                            <a:noFill/>
                          </a:ln>
                          <a:solidFill>
                            <a:srgbClr val="000000"/>
                          </a:solidFill>
                          <a:effectLst/>
                          <a:uLnTx/>
                          <a:uFillTx/>
                          <a:latin typeface="+mn-lt"/>
                          <a:ea typeface="ＭＳ Ｐゴシック" charset="-128"/>
                          <a:cs typeface="+mn-cs"/>
                        </a:rPr>
                      </a:br>
                      <a:r>
                        <a:rPr kumimoji="0" lang="fr-FR" altLang="en-US" sz="1050" b="0" i="0" u="none" strike="noStrike" kern="1200" cap="none" spc="0" normalizeH="0" baseline="0" noProof="0" dirty="0">
                          <a:ln>
                            <a:noFill/>
                          </a:ln>
                          <a:solidFill>
                            <a:srgbClr val="000000"/>
                          </a:solidFill>
                          <a:effectLst/>
                          <a:uLnTx/>
                          <a:uFillTx/>
                          <a:latin typeface="+mn-lt"/>
                          <a:ea typeface="ＭＳ Ｐゴシック" charset="-128"/>
                          <a:cs typeface="+mn-cs"/>
                        </a:rPr>
                        <a:t>physiques (individu) ou une personne morale (trust, fondation ou société)</a:t>
                      </a:r>
                    </a:p>
                    <a:p>
                      <a:pPr algn="ctr"/>
                      <a:endParaRPr lang="fr-FR" sz="2400" dirty="0"/>
                    </a:p>
                  </a:txBody>
                  <a:tcPr/>
                </a:tc>
                <a:tc>
                  <a:txBody>
                    <a:bodyPr/>
                    <a:lstStyle/>
                    <a:p>
                      <a:pPr algn="ctr"/>
                      <a:r>
                        <a:rPr kumimoji="0" lang="fr-FR" altLang="en-US" sz="1050" b="0" i="0" u="none" strike="noStrike" kern="1200" cap="none" spc="0" normalizeH="0" baseline="0" noProof="0" dirty="0">
                          <a:ln>
                            <a:noFill/>
                          </a:ln>
                          <a:solidFill>
                            <a:srgbClr val="000000"/>
                          </a:solidFill>
                          <a:effectLst/>
                          <a:uLnTx/>
                          <a:uFillTx/>
                          <a:latin typeface="+mn-lt"/>
                          <a:ea typeface="ＭＳ Ｐゴシック" charset="-128"/>
                          <a:cs typeface="+mn-cs"/>
                        </a:rPr>
                        <a:t>une ou plusieurs personnes</a:t>
                      </a:r>
                      <a:br>
                        <a:rPr kumimoji="0" lang="fr-FR" altLang="en-US" sz="1050" b="0" i="0" u="none" strike="noStrike" kern="1200" cap="none" spc="0" normalizeH="0" baseline="0" noProof="0" dirty="0">
                          <a:ln>
                            <a:noFill/>
                          </a:ln>
                          <a:solidFill>
                            <a:srgbClr val="000000"/>
                          </a:solidFill>
                          <a:effectLst/>
                          <a:uLnTx/>
                          <a:uFillTx/>
                          <a:latin typeface="+mn-lt"/>
                          <a:ea typeface="ＭＳ Ｐゴシック" charset="-128"/>
                          <a:cs typeface="+mn-cs"/>
                        </a:rPr>
                      </a:br>
                      <a:r>
                        <a:rPr kumimoji="0" lang="fr-FR" altLang="en-US" sz="1050" b="0" i="0" u="none" strike="noStrike" kern="1200" cap="none" spc="0" normalizeH="0" baseline="0" noProof="0" dirty="0">
                          <a:ln>
                            <a:noFill/>
                          </a:ln>
                          <a:solidFill>
                            <a:srgbClr val="000000"/>
                          </a:solidFill>
                          <a:effectLst/>
                          <a:uLnTx/>
                          <a:uFillTx/>
                          <a:latin typeface="+mn-lt"/>
                          <a:ea typeface="ＭＳ Ｐゴシック" charset="-128"/>
                          <a:cs typeface="+mn-cs"/>
                        </a:rPr>
                        <a:t>physiques (individu)</a:t>
                      </a:r>
                      <a:br>
                        <a:rPr kumimoji="0" lang="fr-FR" altLang="en-US" sz="1050" b="0" i="0" u="none" strike="noStrike" kern="1200" cap="none" spc="0" normalizeH="0" baseline="0" noProof="0">
                          <a:ln>
                            <a:noFill/>
                          </a:ln>
                          <a:solidFill>
                            <a:srgbClr val="000000"/>
                          </a:solidFill>
                          <a:effectLst/>
                          <a:uLnTx/>
                          <a:uFillTx/>
                          <a:latin typeface="+mn-lt"/>
                          <a:ea typeface="ＭＳ Ｐゴシック" charset="-128"/>
                          <a:cs typeface="+mn-cs"/>
                        </a:rPr>
                      </a:br>
                      <a:endParaRPr lang="fr-FR" sz="2400" dirty="0"/>
                    </a:p>
                  </a:txBody>
                  <a:tcPr/>
                </a:tc>
                <a:tc>
                  <a:txBody>
                    <a:bodyPr/>
                    <a:lstStyle/>
                    <a:p>
                      <a:pPr marL="0" marR="0" lvl="0" indent="0" algn="ctr" defTabSz="914400" rtl="0" eaLnBrk="1" fontAlgn="auto" latinLnBrk="0" hangingPunct="1">
                        <a:lnSpc>
                          <a:spcPct val="100000"/>
                        </a:lnSpc>
                        <a:spcBef>
                          <a:spcPct val="0"/>
                        </a:spcBef>
                        <a:spcAft>
                          <a:spcPts val="0"/>
                        </a:spcAft>
                        <a:buClr>
                          <a:srgbClr val="A11C36"/>
                        </a:buClr>
                        <a:buSzTx/>
                        <a:buFontTx/>
                        <a:buNone/>
                        <a:tabLst/>
                        <a:defRPr/>
                      </a:pPr>
                      <a:r>
                        <a:rPr kumimoji="0" lang="fr-FR" altLang="en-US" sz="1050" b="0" i="0" u="none" strike="noStrike" kern="1200" cap="none" spc="0" normalizeH="0" baseline="0" noProof="0" dirty="0">
                          <a:ln>
                            <a:noFill/>
                          </a:ln>
                          <a:solidFill>
                            <a:srgbClr val="000000"/>
                          </a:solidFill>
                          <a:effectLst/>
                          <a:uLnTx/>
                          <a:uFillTx/>
                          <a:latin typeface="+mn-lt"/>
                          <a:ea typeface="ＭＳ Ｐゴシック" charset="-128"/>
                          <a:cs typeface="+mn-cs"/>
                        </a:rPr>
                        <a:t>une ou plusieurs personnes </a:t>
                      </a:r>
                      <a:br>
                        <a:rPr kumimoji="0" lang="fr-FR" altLang="en-US" sz="1050" b="0" i="0" u="none" strike="noStrike" kern="1200" cap="none" spc="0" normalizeH="0" baseline="0" noProof="0" dirty="0">
                          <a:ln>
                            <a:noFill/>
                          </a:ln>
                          <a:solidFill>
                            <a:srgbClr val="000000"/>
                          </a:solidFill>
                          <a:effectLst/>
                          <a:uLnTx/>
                          <a:uFillTx/>
                          <a:latin typeface="+mn-lt"/>
                          <a:ea typeface="ＭＳ Ｐゴシック" charset="-128"/>
                          <a:cs typeface="+mn-cs"/>
                        </a:rPr>
                      </a:br>
                      <a:r>
                        <a:rPr kumimoji="0" lang="fr-FR" altLang="en-US" sz="1050" b="0" i="0" u="none" strike="noStrike" kern="1200" cap="none" spc="0" normalizeH="0" baseline="0" noProof="0" dirty="0">
                          <a:ln>
                            <a:noFill/>
                          </a:ln>
                          <a:solidFill>
                            <a:srgbClr val="000000"/>
                          </a:solidFill>
                          <a:effectLst/>
                          <a:uLnTx/>
                          <a:uFillTx/>
                          <a:latin typeface="+mn-lt"/>
                          <a:ea typeface="ＭＳ Ｐゴシック" charset="-128"/>
                          <a:cs typeface="+mn-cs"/>
                        </a:rPr>
                        <a:t>physiques (individu) ou personne(s) morale(s) (trust, fondation ou société)</a:t>
                      </a:r>
                    </a:p>
                    <a:p>
                      <a:pPr algn="ctr"/>
                      <a:endParaRPr lang="fr-FR" sz="2400" dirty="0"/>
                    </a:p>
                  </a:txBody>
                  <a:tcPr/>
                </a:tc>
                <a:extLst>
                  <a:ext uri="{0D108BD9-81ED-4DB2-BD59-A6C34878D82A}">
                    <a16:rowId xmlns:a16="http://schemas.microsoft.com/office/drawing/2014/main" val="718680934"/>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altLang="en-US" sz="1050" b="0" i="1" u="none" strike="noStrike" kern="1200" cap="none" spc="0" normalizeH="0" baseline="0" dirty="0">
                          <a:ln>
                            <a:noFill/>
                          </a:ln>
                          <a:solidFill>
                            <a:srgbClr val="000000"/>
                          </a:solidFill>
                          <a:effectLst/>
                          <a:uLnTx/>
                          <a:uFillTx/>
                          <a:latin typeface="+mn-lt"/>
                          <a:ea typeface="ＭＳ Ｐゴシック" charset="-128"/>
                          <a:cs typeface="+mn-cs"/>
                        </a:rPr>
                        <a:t>Décide des modalités du contrat</a:t>
                      </a:r>
                    </a:p>
                    <a:p>
                      <a:pPr algn="ctr"/>
                      <a:endParaRPr lang="fr-FR" sz="2400" dirty="0"/>
                    </a:p>
                  </a:txBody>
                  <a:tcPr/>
                </a:tc>
                <a:tc>
                  <a:txBody>
                    <a:bodyPr/>
                    <a:lstStyle/>
                    <a:p>
                      <a:pPr marL="0" marR="0" lvl="0" indent="0" algn="ctr" defTabSz="914400" rtl="0" eaLnBrk="1" fontAlgn="auto" latinLnBrk="0" hangingPunct="1">
                        <a:lnSpc>
                          <a:spcPct val="100000"/>
                        </a:lnSpc>
                        <a:spcBef>
                          <a:spcPct val="0"/>
                        </a:spcBef>
                        <a:spcAft>
                          <a:spcPts val="0"/>
                        </a:spcAft>
                        <a:buClr>
                          <a:srgbClr val="A11C36"/>
                        </a:buClr>
                        <a:buSzTx/>
                        <a:buFontTx/>
                        <a:buNone/>
                        <a:tabLst/>
                        <a:defRPr/>
                      </a:pPr>
                      <a:r>
                        <a:rPr kumimoji="0" lang="fr-FR" altLang="en-US" sz="1050" b="0" i="1" u="none" strike="noStrike" kern="1200" cap="none" spc="0" normalizeH="0" baseline="0" noProof="0" dirty="0">
                          <a:ln>
                            <a:noFill/>
                          </a:ln>
                          <a:solidFill>
                            <a:srgbClr val="000000"/>
                          </a:solidFill>
                          <a:effectLst/>
                          <a:uLnTx/>
                          <a:uFillTx/>
                          <a:latin typeface="+mn-lt"/>
                          <a:ea typeface="ＭＳ Ｐゴシック" charset="-128"/>
                          <a:cs typeface="+mn-cs"/>
                        </a:rPr>
                        <a:t>Les termes du contrat </a:t>
                      </a:r>
                      <a:br>
                        <a:rPr kumimoji="0" lang="fr-FR" altLang="en-US" sz="1050" b="0" i="1" u="none" strike="noStrike" kern="1200" cap="none" spc="0" normalizeH="0" baseline="0" noProof="0" dirty="0">
                          <a:ln>
                            <a:noFill/>
                          </a:ln>
                          <a:solidFill>
                            <a:srgbClr val="000000"/>
                          </a:solidFill>
                          <a:effectLst/>
                          <a:uLnTx/>
                          <a:uFillTx/>
                          <a:latin typeface="+mn-lt"/>
                          <a:ea typeface="ＭＳ Ｐゴシック" charset="-128"/>
                          <a:cs typeface="+mn-cs"/>
                        </a:rPr>
                      </a:br>
                      <a:r>
                        <a:rPr kumimoji="0" lang="fr-FR" altLang="en-US" sz="1050" b="0" i="1" u="none" strike="noStrike" kern="1200" cap="none" spc="0" normalizeH="0" baseline="0" noProof="0" dirty="0">
                          <a:ln>
                            <a:noFill/>
                          </a:ln>
                          <a:solidFill>
                            <a:srgbClr val="000000"/>
                          </a:solidFill>
                          <a:effectLst/>
                          <a:uLnTx/>
                          <a:uFillTx/>
                          <a:latin typeface="+mn-lt"/>
                          <a:ea typeface="ＭＳ Ｐゴシック" charset="-128"/>
                          <a:cs typeface="+mn-cs"/>
                        </a:rPr>
                        <a:t>sont liés à sa vie</a:t>
                      </a:r>
                    </a:p>
                    <a:p>
                      <a:pPr algn="ctr"/>
                      <a:endParaRPr lang="fr-FR" sz="2400" dirty="0"/>
                    </a:p>
                  </a:txBody>
                  <a:tcPr/>
                </a:tc>
                <a:tc>
                  <a:txBody>
                    <a:bodyPr/>
                    <a:lstStyle/>
                    <a:p>
                      <a:pPr marL="0" marR="0" lvl="0" indent="0" algn="ctr" defTabSz="914400" rtl="0" eaLnBrk="1" fontAlgn="auto" latinLnBrk="0" hangingPunct="1">
                        <a:lnSpc>
                          <a:spcPct val="100000"/>
                        </a:lnSpc>
                        <a:spcBef>
                          <a:spcPct val="0"/>
                        </a:spcBef>
                        <a:spcAft>
                          <a:spcPts val="0"/>
                        </a:spcAft>
                        <a:buClr>
                          <a:srgbClr val="A11C36"/>
                        </a:buClr>
                        <a:buSzTx/>
                        <a:buFontTx/>
                        <a:buNone/>
                        <a:tabLst/>
                        <a:defRPr/>
                      </a:pPr>
                      <a:r>
                        <a:rPr kumimoji="0" lang="fr-FR" altLang="en-US" sz="1050" b="0" i="1" u="none" strike="noStrike" kern="1200" cap="none" spc="0" normalizeH="0" baseline="0" noProof="0" dirty="0">
                          <a:ln>
                            <a:noFill/>
                          </a:ln>
                          <a:solidFill>
                            <a:srgbClr val="000000"/>
                          </a:solidFill>
                          <a:effectLst/>
                          <a:uLnTx/>
                          <a:uFillTx/>
                          <a:latin typeface="+mn-lt"/>
                          <a:ea typeface="ＭＳ Ｐゴシック" charset="-128"/>
                          <a:cs typeface="+mn-cs"/>
                        </a:rPr>
                        <a:t>Perçoit le bénéfice du contrat </a:t>
                      </a:r>
                      <a:br>
                        <a:rPr kumimoji="0" lang="fr-FR" altLang="en-US" sz="1050" b="0" i="1" u="none" strike="noStrike" kern="1200" cap="none" spc="0" normalizeH="0" baseline="0" noProof="0" dirty="0">
                          <a:ln>
                            <a:noFill/>
                          </a:ln>
                          <a:solidFill>
                            <a:srgbClr val="000000"/>
                          </a:solidFill>
                          <a:effectLst/>
                          <a:uLnTx/>
                          <a:uFillTx/>
                          <a:latin typeface="+mn-lt"/>
                          <a:ea typeface="ＭＳ Ｐゴシック" charset="-128"/>
                          <a:cs typeface="+mn-cs"/>
                        </a:rPr>
                      </a:br>
                      <a:r>
                        <a:rPr kumimoji="0" lang="fr-FR" altLang="en-US" sz="1050" b="0" i="1" u="none" strike="noStrike" kern="1200" cap="none" spc="0" normalizeH="0" baseline="0" noProof="0" dirty="0">
                          <a:ln>
                            <a:noFill/>
                          </a:ln>
                          <a:solidFill>
                            <a:srgbClr val="000000"/>
                          </a:solidFill>
                          <a:effectLst/>
                          <a:uLnTx/>
                          <a:uFillTx/>
                          <a:latin typeface="+mn-lt"/>
                          <a:ea typeface="ＭＳ Ｐゴシック" charset="-128"/>
                          <a:cs typeface="+mn-cs"/>
                        </a:rPr>
                        <a:t>au décès de la personne assurée</a:t>
                      </a:r>
                    </a:p>
                    <a:p>
                      <a:pPr algn="ctr"/>
                      <a:endParaRPr lang="fr-FR" sz="2400" dirty="0"/>
                    </a:p>
                  </a:txBody>
                  <a:tcPr/>
                </a:tc>
                <a:extLst>
                  <a:ext uri="{0D108BD9-81ED-4DB2-BD59-A6C34878D82A}">
                    <a16:rowId xmlns:a16="http://schemas.microsoft.com/office/drawing/2014/main" val="1834911064"/>
                  </a:ext>
                </a:extLst>
              </a:tr>
            </a:tbl>
          </a:graphicData>
        </a:graphic>
      </p:graphicFrame>
      <p:sp>
        <p:nvSpPr>
          <p:cNvPr id="2" name="Title 1">
            <a:extLst>
              <a:ext uri="{FF2B5EF4-FFF2-40B4-BE49-F238E27FC236}">
                <a16:creationId xmlns:a16="http://schemas.microsoft.com/office/drawing/2014/main" id="{9F2BE89B-EB8F-48A9-ABA0-209FA07A28A9}"/>
              </a:ext>
            </a:extLst>
          </p:cNvPr>
          <p:cNvSpPr>
            <a:spLocks noGrp="1"/>
          </p:cNvSpPr>
          <p:nvPr>
            <p:ph type="title"/>
          </p:nvPr>
        </p:nvSpPr>
        <p:spPr/>
        <p:txBody>
          <a:bodyPr/>
          <a:lstStyle/>
          <a:p>
            <a:r>
              <a:rPr lang="fr-FR" dirty="0"/>
              <a:t>Les acteurs d’une police d’assurance vie</a:t>
            </a:r>
          </a:p>
        </p:txBody>
      </p:sp>
      <p:pic>
        <p:nvPicPr>
          <p:cNvPr id="21" name="Picture 20" descr="A red line art of a person&#10;&#10;Description automatically generated">
            <a:extLst>
              <a:ext uri="{FF2B5EF4-FFF2-40B4-BE49-F238E27FC236}">
                <a16:creationId xmlns:a16="http://schemas.microsoft.com/office/drawing/2014/main" id="{0DEDE8E5-62C0-9BC2-0EC5-A4760B80A3C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6066" y="1989755"/>
            <a:ext cx="900000" cy="900000"/>
          </a:xfrm>
          <a:prstGeom prst="rect">
            <a:avLst/>
          </a:prstGeom>
        </p:spPr>
      </p:pic>
      <p:pic>
        <p:nvPicPr>
          <p:cNvPr id="22" name="Picture 21" descr="A red building with a black background&#10;&#10;Description automatically generated">
            <a:extLst>
              <a:ext uri="{FF2B5EF4-FFF2-40B4-BE49-F238E27FC236}">
                <a16:creationId xmlns:a16="http://schemas.microsoft.com/office/drawing/2014/main" id="{7B560E1A-B205-5E42-FE4C-50BD62D3D73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63542" y="1957500"/>
            <a:ext cx="900000" cy="900000"/>
          </a:xfrm>
          <a:prstGeom prst="rect">
            <a:avLst/>
          </a:prstGeom>
        </p:spPr>
      </p:pic>
      <p:pic>
        <p:nvPicPr>
          <p:cNvPr id="23" name="Picture 22" descr="A red line art of a person&#10;&#10;Description automatically generated">
            <a:extLst>
              <a:ext uri="{FF2B5EF4-FFF2-40B4-BE49-F238E27FC236}">
                <a16:creationId xmlns:a16="http://schemas.microsoft.com/office/drawing/2014/main" id="{7707B3A7-362E-1706-B541-3B36DC649EA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513685" y="2005256"/>
            <a:ext cx="900000" cy="900000"/>
          </a:xfrm>
          <a:prstGeom prst="rect">
            <a:avLst/>
          </a:prstGeom>
        </p:spPr>
      </p:pic>
      <p:pic>
        <p:nvPicPr>
          <p:cNvPr id="24" name="Picture 23" descr="A red building with a black background&#10;&#10;Description automatically generated">
            <a:extLst>
              <a:ext uri="{FF2B5EF4-FFF2-40B4-BE49-F238E27FC236}">
                <a16:creationId xmlns:a16="http://schemas.microsoft.com/office/drawing/2014/main" id="{32618F99-E834-4EEE-EED6-8E1F43D127D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155019" y="1994333"/>
            <a:ext cx="900000" cy="900000"/>
          </a:xfrm>
          <a:prstGeom prst="rect">
            <a:avLst/>
          </a:prstGeom>
        </p:spPr>
      </p:pic>
      <p:pic>
        <p:nvPicPr>
          <p:cNvPr id="25" name="Picture 24" descr="A red line art of a person&#10;&#10;Description automatically generated">
            <a:extLst>
              <a:ext uri="{FF2B5EF4-FFF2-40B4-BE49-F238E27FC236}">
                <a16:creationId xmlns:a16="http://schemas.microsoft.com/office/drawing/2014/main" id="{6D99A7E5-4228-9A44-1E26-CF666613F00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988018" y="1989755"/>
            <a:ext cx="900000" cy="900000"/>
          </a:xfrm>
          <a:prstGeom prst="rect">
            <a:avLst/>
          </a:prstGeom>
        </p:spPr>
      </p:pic>
    </p:spTree>
    <p:extLst>
      <p:ext uri="{BB962C8B-B14F-4D97-AF65-F5344CB8AC3E}">
        <p14:creationId xmlns:p14="http://schemas.microsoft.com/office/powerpoint/2010/main" val="10823838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625618-4AAE-4EE7-A260-DA38522F22B1}"/>
              </a:ext>
            </a:extLst>
          </p:cNvPr>
          <p:cNvSpPr>
            <a:spLocks noGrp="1"/>
          </p:cNvSpPr>
          <p:nvPr>
            <p:ph type="title"/>
          </p:nvPr>
        </p:nvSpPr>
        <p:spPr>
          <a:xfrm>
            <a:off x="250826" y="121196"/>
            <a:ext cx="7777558" cy="1080542"/>
          </a:xfrm>
        </p:spPr>
        <p:txBody>
          <a:bodyPr/>
          <a:lstStyle/>
          <a:p>
            <a:r>
              <a:rPr lang="fr-FR" altLang="en-US" dirty="0"/>
              <a:t>Le schéma de mise en place de nos contrats luxembourgeois </a:t>
            </a:r>
            <a:endParaRPr lang="fr-FR" dirty="0"/>
          </a:p>
        </p:txBody>
      </p:sp>
      <p:sp>
        <p:nvSpPr>
          <p:cNvPr id="4" name="Textfeld 6">
            <a:extLst>
              <a:ext uri="{FF2B5EF4-FFF2-40B4-BE49-F238E27FC236}">
                <a16:creationId xmlns:a16="http://schemas.microsoft.com/office/drawing/2014/main" id="{4F6D4A29-D5CA-4DB3-BF81-40F5908630A4}"/>
              </a:ext>
            </a:extLst>
          </p:cNvPr>
          <p:cNvSpPr txBox="1">
            <a:spLocks noChangeArrowheads="1"/>
          </p:cNvSpPr>
          <p:nvPr/>
        </p:nvSpPr>
        <p:spPr bwMode="auto">
          <a:xfrm>
            <a:off x="1075472" y="1511230"/>
            <a:ext cx="201600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a:spAutoFit/>
          </a:bodyPr>
          <a:lstStyle>
            <a:lvl1pPr>
              <a:spcBef>
                <a:spcPct val="20000"/>
              </a:spcBef>
              <a:buChar char="•"/>
              <a:defRPr sz="2200" b="1">
                <a:solidFill>
                  <a:schemeClr val="tx1"/>
                </a:solidFill>
                <a:latin typeface="Arial" charset="0"/>
                <a:ea typeface="Arial" charset="0"/>
                <a:cs typeface="Arial" charset="0"/>
              </a:defRPr>
            </a:lvl1pPr>
            <a:lvl2pPr marL="742950" indent="-285750">
              <a:spcBef>
                <a:spcPct val="20000"/>
              </a:spcBef>
              <a:buClr>
                <a:schemeClr val="tx1"/>
              </a:buClr>
              <a:buFont typeface="Wingdings" charset="2"/>
              <a:buChar char="§"/>
              <a:defRPr sz="2200">
                <a:solidFill>
                  <a:schemeClr val="tx1"/>
                </a:solidFill>
                <a:latin typeface="Arial" charset="0"/>
                <a:ea typeface="Arial" charset="0"/>
                <a:cs typeface="Arial" charset="0"/>
              </a:defRPr>
            </a:lvl2pPr>
            <a:lvl3pPr marL="1143000" indent="-228600">
              <a:spcBef>
                <a:spcPct val="20000"/>
              </a:spcBef>
              <a:buSzPct val="80000"/>
              <a:buFont typeface="Wingdings" charset="2"/>
              <a:buChar char="§"/>
              <a:defRPr sz="2000">
                <a:solidFill>
                  <a:schemeClr val="tx1"/>
                </a:solidFill>
                <a:latin typeface="Arial" charset="0"/>
                <a:ea typeface="Arial" charset="0"/>
                <a:cs typeface="Arial" charset="0"/>
              </a:defRPr>
            </a:lvl3pPr>
            <a:lvl4pPr marL="1600200" indent="-228600">
              <a:lnSpc>
                <a:spcPts val="3000"/>
              </a:lnSpc>
              <a:buSzPct val="80000"/>
              <a:buFont typeface="Wingdings" charset="2"/>
              <a:buChar char="§"/>
              <a:defRPr sz="2200">
                <a:solidFill>
                  <a:schemeClr val="tx1"/>
                </a:solidFill>
                <a:latin typeface="Arial" charset="0"/>
                <a:ea typeface="Arial" charset="0"/>
                <a:cs typeface="Arial" charset="0"/>
              </a:defRPr>
            </a:lvl4pPr>
            <a:lvl5pPr marL="2057400" indent="-228600">
              <a:lnSpc>
                <a:spcPts val="3000"/>
              </a:lnSpc>
              <a:buSzPct val="80000"/>
              <a:buFont typeface="Wingdings" charset="2"/>
              <a:buChar char="§"/>
              <a:defRPr sz="2000">
                <a:solidFill>
                  <a:schemeClr val="tx1"/>
                </a:solidFill>
                <a:latin typeface="Arial" charset="0"/>
                <a:ea typeface="Arial" charset="0"/>
                <a:cs typeface="Arial" charset="0"/>
              </a:defRPr>
            </a:lvl5pPr>
            <a:lvl6pPr marL="2514600" indent="-228600" eaLnBrk="0" fontAlgn="base" hangingPunct="0">
              <a:lnSpc>
                <a:spcPts val="3000"/>
              </a:lnSpc>
              <a:spcBef>
                <a:spcPct val="0"/>
              </a:spcBef>
              <a:spcAft>
                <a:spcPct val="0"/>
              </a:spcAft>
              <a:buSzPct val="80000"/>
              <a:buFont typeface="Wingdings" charset="2"/>
              <a:buChar char="§"/>
              <a:defRPr sz="2000">
                <a:solidFill>
                  <a:schemeClr val="tx1"/>
                </a:solidFill>
                <a:latin typeface="Arial" charset="0"/>
                <a:ea typeface="Arial" charset="0"/>
                <a:cs typeface="Arial" charset="0"/>
              </a:defRPr>
            </a:lvl6pPr>
            <a:lvl7pPr marL="2971800" indent="-228600" eaLnBrk="0" fontAlgn="base" hangingPunct="0">
              <a:lnSpc>
                <a:spcPts val="3000"/>
              </a:lnSpc>
              <a:spcBef>
                <a:spcPct val="0"/>
              </a:spcBef>
              <a:spcAft>
                <a:spcPct val="0"/>
              </a:spcAft>
              <a:buSzPct val="80000"/>
              <a:buFont typeface="Wingdings" charset="2"/>
              <a:buChar char="§"/>
              <a:defRPr sz="2000">
                <a:solidFill>
                  <a:schemeClr val="tx1"/>
                </a:solidFill>
                <a:latin typeface="Arial" charset="0"/>
                <a:ea typeface="Arial" charset="0"/>
                <a:cs typeface="Arial" charset="0"/>
              </a:defRPr>
            </a:lvl7pPr>
            <a:lvl8pPr marL="3429000" indent="-228600" eaLnBrk="0" fontAlgn="base" hangingPunct="0">
              <a:lnSpc>
                <a:spcPts val="3000"/>
              </a:lnSpc>
              <a:spcBef>
                <a:spcPct val="0"/>
              </a:spcBef>
              <a:spcAft>
                <a:spcPct val="0"/>
              </a:spcAft>
              <a:buSzPct val="80000"/>
              <a:buFont typeface="Wingdings" charset="2"/>
              <a:buChar char="§"/>
              <a:defRPr sz="2000">
                <a:solidFill>
                  <a:schemeClr val="tx1"/>
                </a:solidFill>
                <a:latin typeface="Arial" charset="0"/>
                <a:ea typeface="Arial" charset="0"/>
                <a:cs typeface="Arial" charset="0"/>
              </a:defRPr>
            </a:lvl8pPr>
            <a:lvl9pPr marL="3886200" indent="-228600" eaLnBrk="0" fontAlgn="base" hangingPunct="0">
              <a:lnSpc>
                <a:spcPts val="3000"/>
              </a:lnSpc>
              <a:spcBef>
                <a:spcPct val="0"/>
              </a:spcBef>
              <a:spcAft>
                <a:spcPct val="0"/>
              </a:spcAft>
              <a:buSzPct val="80000"/>
              <a:buFont typeface="Wingdings" charset="2"/>
              <a:buChar char="§"/>
              <a:defRPr sz="2000">
                <a:solidFill>
                  <a:schemeClr val="tx1"/>
                </a:solidFill>
                <a:latin typeface="Arial" charset="0"/>
                <a:ea typeface="Arial" charset="0"/>
                <a:cs typeface="Arial" charset="0"/>
              </a:defRPr>
            </a:lvl9pPr>
          </a:lstStyle>
          <a:p>
            <a:pPr algn="ctr">
              <a:spcBef>
                <a:spcPct val="0"/>
              </a:spcBef>
              <a:buFontTx/>
              <a:buNone/>
            </a:pPr>
            <a:r>
              <a:rPr lang="fr-FR" altLang="en-US" sz="1200" b="0" i="1" dirty="0">
                <a:solidFill>
                  <a:srgbClr val="000000"/>
                </a:solidFill>
                <a:latin typeface="+mj-lt"/>
                <a:ea typeface="ＭＳ Ｐゴシック" charset="-128"/>
              </a:rPr>
              <a:t>Preneur d’assurance</a:t>
            </a:r>
          </a:p>
        </p:txBody>
      </p:sp>
      <p:sp>
        <p:nvSpPr>
          <p:cNvPr id="5" name="Textfeld 50">
            <a:extLst>
              <a:ext uri="{FF2B5EF4-FFF2-40B4-BE49-F238E27FC236}">
                <a16:creationId xmlns:a16="http://schemas.microsoft.com/office/drawing/2014/main" id="{491A7197-7503-4F5A-8599-9CAF2E5AD678}"/>
              </a:ext>
            </a:extLst>
          </p:cNvPr>
          <p:cNvSpPr txBox="1">
            <a:spLocks noChangeArrowheads="1"/>
          </p:cNvSpPr>
          <p:nvPr/>
        </p:nvSpPr>
        <p:spPr bwMode="auto">
          <a:xfrm>
            <a:off x="1043832" y="3447671"/>
            <a:ext cx="201600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a:spAutoFit/>
          </a:bodyPr>
          <a:lstStyle>
            <a:defPPr>
              <a:defRPr lang="en-US"/>
            </a:defPPr>
            <a:lvl1pPr>
              <a:spcBef>
                <a:spcPct val="0"/>
              </a:spcBef>
              <a:buFontTx/>
              <a:buNone/>
              <a:defRPr sz="1500" b="0" i="1">
                <a:solidFill>
                  <a:srgbClr val="000000"/>
                </a:solidFill>
                <a:latin typeface="+mj-lt"/>
                <a:ea typeface="ＭＳ Ｐゴシック" charset="-128"/>
                <a:cs typeface="Arial" charset="0"/>
              </a:defRPr>
            </a:lvl1pPr>
            <a:lvl2pPr marL="742950" indent="-285750">
              <a:spcBef>
                <a:spcPct val="20000"/>
              </a:spcBef>
              <a:buClr>
                <a:schemeClr val="tx1"/>
              </a:buClr>
              <a:buFont typeface="Wingdings" charset="2"/>
              <a:buChar char="§"/>
              <a:defRPr sz="2200">
                <a:latin typeface="Arial" charset="0"/>
                <a:ea typeface="Arial" charset="0"/>
                <a:cs typeface="Arial" charset="0"/>
              </a:defRPr>
            </a:lvl2pPr>
            <a:lvl3pPr marL="1143000" indent="-228600">
              <a:spcBef>
                <a:spcPct val="20000"/>
              </a:spcBef>
              <a:buSzPct val="80000"/>
              <a:buFont typeface="Wingdings" charset="2"/>
              <a:buChar char="§"/>
              <a:defRPr sz="2000">
                <a:latin typeface="Arial" charset="0"/>
                <a:ea typeface="Arial" charset="0"/>
                <a:cs typeface="Arial" charset="0"/>
              </a:defRPr>
            </a:lvl3pPr>
            <a:lvl4pPr marL="1600200" indent="-228600">
              <a:lnSpc>
                <a:spcPts val="3000"/>
              </a:lnSpc>
              <a:buSzPct val="80000"/>
              <a:buFont typeface="Wingdings" charset="2"/>
              <a:buChar char="§"/>
              <a:defRPr sz="2200">
                <a:latin typeface="Arial" charset="0"/>
                <a:ea typeface="Arial" charset="0"/>
                <a:cs typeface="Arial" charset="0"/>
              </a:defRPr>
            </a:lvl4pPr>
            <a:lvl5pPr marL="2057400" indent="-228600">
              <a:lnSpc>
                <a:spcPts val="3000"/>
              </a:lnSpc>
              <a:buSzPct val="80000"/>
              <a:buFont typeface="Wingdings" charset="2"/>
              <a:buChar char="§"/>
              <a:defRPr sz="2000">
                <a:latin typeface="Arial" charset="0"/>
                <a:ea typeface="Arial" charset="0"/>
                <a:cs typeface="Arial" charset="0"/>
              </a:defRPr>
            </a:lvl5pPr>
            <a:lvl6pPr marL="2514600" indent="-228600" eaLnBrk="0" fontAlgn="base" hangingPunct="0">
              <a:lnSpc>
                <a:spcPts val="3000"/>
              </a:lnSpc>
              <a:spcBef>
                <a:spcPct val="0"/>
              </a:spcBef>
              <a:spcAft>
                <a:spcPct val="0"/>
              </a:spcAft>
              <a:buSzPct val="80000"/>
              <a:buFont typeface="Wingdings" charset="2"/>
              <a:buChar char="§"/>
              <a:defRPr sz="2000">
                <a:latin typeface="Arial" charset="0"/>
                <a:ea typeface="Arial" charset="0"/>
                <a:cs typeface="Arial" charset="0"/>
              </a:defRPr>
            </a:lvl6pPr>
            <a:lvl7pPr marL="2971800" indent="-228600" eaLnBrk="0" fontAlgn="base" hangingPunct="0">
              <a:lnSpc>
                <a:spcPts val="3000"/>
              </a:lnSpc>
              <a:spcBef>
                <a:spcPct val="0"/>
              </a:spcBef>
              <a:spcAft>
                <a:spcPct val="0"/>
              </a:spcAft>
              <a:buSzPct val="80000"/>
              <a:buFont typeface="Wingdings" charset="2"/>
              <a:buChar char="§"/>
              <a:defRPr sz="2000">
                <a:latin typeface="Arial" charset="0"/>
                <a:ea typeface="Arial" charset="0"/>
                <a:cs typeface="Arial" charset="0"/>
              </a:defRPr>
            </a:lvl7pPr>
            <a:lvl8pPr marL="3429000" indent="-228600" eaLnBrk="0" fontAlgn="base" hangingPunct="0">
              <a:lnSpc>
                <a:spcPts val="3000"/>
              </a:lnSpc>
              <a:spcBef>
                <a:spcPct val="0"/>
              </a:spcBef>
              <a:spcAft>
                <a:spcPct val="0"/>
              </a:spcAft>
              <a:buSzPct val="80000"/>
              <a:buFont typeface="Wingdings" charset="2"/>
              <a:buChar char="§"/>
              <a:defRPr sz="2000">
                <a:latin typeface="Arial" charset="0"/>
                <a:ea typeface="Arial" charset="0"/>
                <a:cs typeface="Arial" charset="0"/>
              </a:defRPr>
            </a:lvl8pPr>
            <a:lvl9pPr marL="3886200" indent="-228600" eaLnBrk="0" fontAlgn="base" hangingPunct="0">
              <a:lnSpc>
                <a:spcPts val="3000"/>
              </a:lnSpc>
              <a:spcBef>
                <a:spcPct val="0"/>
              </a:spcBef>
              <a:spcAft>
                <a:spcPct val="0"/>
              </a:spcAft>
              <a:buSzPct val="80000"/>
              <a:buFont typeface="Wingdings" charset="2"/>
              <a:buChar char="§"/>
              <a:defRPr sz="2000">
                <a:latin typeface="Arial" charset="0"/>
                <a:ea typeface="Arial" charset="0"/>
                <a:cs typeface="Arial" charset="0"/>
              </a:defRPr>
            </a:lvl9pPr>
          </a:lstStyle>
          <a:p>
            <a:pPr algn="ctr"/>
            <a:r>
              <a:rPr lang="fr-FR" altLang="en-US" sz="1200" dirty="0"/>
              <a:t>Bénéficiaire(s)</a:t>
            </a:r>
          </a:p>
        </p:txBody>
      </p:sp>
      <p:cxnSp>
        <p:nvCxnSpPr>
          <p:cNvPr id="6" name="Straight Arrow Connector 5">
            <a:extLst>
              <a:ext uri="{FF2B5EF4-FFF2-40B4-BE49-F238E27FC236}">
                <a16:creationId xmlns:a16="http://schemas.microsoft.com/office/drawing/2014/main" id="{0A8C04F9-0757-4496-B08B-2391608EBAF4}"/>
              </a:ext>
            </a:extLst>
          </p:cNvPr>
          <p:cNvCxnSpPr>
            <a:cxnSpLocks/>
          </p:cNvCxnSpPr>
          <p:nvPr/>
        </p:nvCxnSpPr>
        <p:spPr>
          <a:xfrm>
            <a:off x="2831801" y="2159121"/>
            <a:ext cx="2219999"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E47504C8-7803-49D8-82DD-5DF46602B35B}"/>
              </a:ext>
            </a:extLst>
          </p:cNvPr>
          <p:cNvCxnSpPr>
            <a:cxnSpLocks/>
          </p:cNvCxnSpPr>
          <p:nvPr/>
        </p:nvCxnSpPr>
        <p:spPr>
          <a:xfrm flipH="1">
            <a:off x="2848989" y="2519785"/>
            <a:ext cx="2185622" cy="1533157"/>
          </a:xfrm>
          <a:prstGeom prst="straightConnector1">
            <a:avLst/>
          </a:prstGeom>
          <a:ln cmpd="sng">
            <a:prstDash val="dash"/>
            <a:tailEnd type="arrow"/>
          </a:ln>
        </p:spPr>
        <p:style>
          <a:lnRef idx="1">
            <a:schemeClr val="accent1"/>
          </a:lnRef>
          <a:fillRef idx="0">
            <a:schemeClr val="accent1"/>
          </a:fillRef>
          <a:effectRef idx="0">
            <a:schemeClr val="accent1"/>
          </a:effectRef>
          <a:fontRef idx="minor">
            <a:schemeClr val="tx1"/>
          </a:fontRef>
        </p:style>
      </p:cxnSp>
      <p:sp>
        <p:nvSpPr>
          <p:cNvPr id="8" name="Rechteck 9">
            <a:extLst>
              <a:ext uri="{FF2B5EF4-FFF2-40B4-BE49-F238E27FC236}">
                <a16:creationId xmlns:a16="http://schemas.microsoft.com/office/drawing/2014/main" id="{49B80F11-B4CD-4D67-82BF-3804BF0AAFBE}"/>
              </a:ext>
            </a:extLst>
          </p:cNvPr>
          <p:cNvSpPr/>
          <p:nvPr/>
        </p:nvSpPr>
        <p:spPr>
          <a:xfrm>
            <a:off x="4644008" y="3398186"/>
            <a:ext cx="201600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a:spAutoFit/>
          </a:bodyPr>
          <a:lstStyle/>
          <a:p>
            <a:pPr algn="ctr">
              <a:spcBef>
                <a:spcPct val="0"/>
              </a:spcBef>
            </a:pPr>
            <a:r>
              <a:rPr lang="fr-FR" altLang="it-IT" sz="1200" i="1" dirty="0">
                <a:solidFill>
                  <a:srgbClr val="000000"/>
                </a:solidFill>
                <a:latin typeface="+mj-lt"/>
                <a:ea typeface="ＭＳ Ｐゴシック" charset="-128"/>
                <a:cs typeface="Arial" charset="0"/>
              </a:rPr>
              <a:t>Banque dépositaire</a:t>
            </a:r>
          </a:p>
        </p:txBody>
      </p:sp>
      <p:cxnSp>
        <p:nvCxnSpPr>
          <p:cNvPr id="9" name="Straight Arrow Connector 8">
            <a:extLst>
              <a:ext uri="{FF2B5EF4-FFF2-40B4-BE49-F238E27FC236}">
                <a16:creationId xmlns:a16="http://schemas.microsoft.com/office/drawing/2014/main" id="{E64A1EE7-AFE0-4C38-9CCA-7F43D258BC40}"/>
              </a:ext>
            </a:extLst>
          </p:cNvPr>
          <p:cNvCxnSpPr/>
          <p:nvPr/>
        </p:nvCxnSpPr>
        <p:spPr>
          <a:xfrm>
            <a:off x="5635797" y="2503575"/>
            <a:ext cx="1655" cy="74945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0" name="Rechteck 9">
            <a:extLst>
              <a:ext uri="{FF2B5EF4-FFF2-40B4-BE49-F238E27FC236}">
                <a16:creationId xmlns:a16="http://schemas.microsoft.com/office/drawing/2014/main" id="{BFFEDD03-1E66-45A5-B360-5FF5F5CD680F}"/>
              </a:ext>
            </a:extLst>
          </p:cNvPr>
          <p:cNvSpPr/>
          <p:nvPr/>
        </p:nvSpPr>
        <p:spPr>
          <a:xfrm>
            <a:off x="4627797" y="3890716"/>
            <a:ext cx="2016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a:spAutoFit/>
          </a:bodyPr>
          <a:lstStyle/>
          <a:p>
            <a:pPr algn="ctr">
              <a:spcBef>
                <a:spcPct val="0"/>
              </a:spcBef>
            </a:pPr>
            <a:r>
              <a:rPr lang="fr-FR" altLang="it-IT" sz="1200" i="1" dirty="0">
                <a:solidFill>
                  <a:srgbClr val="000000"/>
                </a:solidFill>
                <a:latin typeface="+mj-lt"/>
                <a:ea typeface="ＭＳ Ｐゴシック" charset="-128"/>
                <a:cs typeface="Arial" charset="0"/>
              </a:rPr>
              <a:t>Gestion des actifs </a:t>
            </a:r>
            <a:br>
              <a:rPr lang="fr-FR" altLang="it-IT" sz="1200" i="1" dirty="0">
                <a:solidFill>
                  <a:srgbClr val="000000"/>
                </a:solidFill>
                <a:latin typeface="+mj-lt"/>
                <a:ea typeface="ＭＳ Ｐゴシック" charset="-128"/>
                <a:cs typeface="Arial" charset="0"/>
              </a:rPr>
            </a:br>
            <a:r>
              <a:rPr lang="fr-FR" altLang="it-IT" sz="1200" i="1" dirty="0">
                <a:solidFill>
                  <a:srgbClr val="000000"/>
                </a:solidFill>
                <a:latin typeface="+mj-lt"/>
                <a:ea typeface="ＭＳ Ｐゴシック" charset="-128"/>
                <a:cs typeface="Arial" charset="0"/>
              </a:rPr>
              <a:t>sous-jacents</a:t>
            </a:r>
          </a:p>
        </p:txBody>
      </p:sp>
      <p:sp>
        <p:nvSpPr>
          <p:cNvPr id="11" name="TextBox 10">
            <a:extLst>
              <a:ext uri="{FF2B5EF4-FFF2-40B4-BE49-F238E27FC236}">
                <a16:creationId xmlns:a16="http://schemas.microsoft.com/office/drawing/2014/main" id="{64C44B45-040D-414A-90A5-A82F56E424FE}"/>
              </a:ext>
            </a:extLst>
          </p:cNvPr>
          <p:cNvSpPr txBox="1"/>
          <p:nvPr/>
        </p:nvSpPr>
        <p:spPr>
          <a:xfrm>
            <a:off x="2771800" y="1935503"/>
            <a:ext cx="2340000" cy="215444"/>
          </a:xfrm>
          <a:prstGeom prst="rect">
            <a:avLst/>
          </a:prstGeom>
          <a:noFill/>
        </p:spPr>
        <p:txBody>
          <a:bodyPr wrap="square" rtlCol="0">
            <a:spAutoFit/>
          </a:bodyPr>
          <a:lstStyle/>
          <a:p>
            <a:pPr algn="ctr"/>
            <a:r>
              <a:rPr lang="fr-FR" sz="800" dirty="0">
                <a:solidFill>
                  <a:schemeClr val="folHlink"/>
                </a:solidFill>
              </a:rPr>
              <a:t>Transfère la prime</a:t>
            </a:r>
          </a:p>
        </p:txBody>
      </p:sp>
      <p:sp>
        <p:nvSpPr>
          <p:cNvPr id="12" name="TextBox 11">
            <a:extLst>
              <a:ext uri="{FF2B5EF4-FFF2-40B4-BE49-F238E27FC236}">
                <a16:creationId xmlns:a16="http://schemas.microsoft.com/office/drawing/2014/main" id="{F8DDEDC1-1AAC-4457-ACD5-C1A3C4C24C18}"/>
              </a:ext>
            </a:extLst>
          </p:cNvPr>
          <p:cNvSpPr txBox="1"/>
          <p:nvPr/>
        </p:nvSpPr>
        <p:spPr>
          <a:xfrm rot="19495058">
            <a:off x="2736976" y="2877837"/>
            <a:ext cx="2340000" cy="338554"/>
          </a:xfrm>
          <a:prstGeom prst="rect">
            <a:avLst/>
          </a:prstGeom>
          <a:noFill/>
        </p:spPr>
        <p:txBody>
          <a:bodyPr wrap="square" rtlCol="0">
            <a:spAutoFit/>
          </a:bodyPr>
          <a:lstStyle/>
          <a:p>
            <a:pPr algn="ctr"/>
            <a:r>
              <a:rPr lang="fr-FR" sz="800" dirty="0">
                <a:solidFill>
                  <a:schemeClr val="folHlink"/>
                </a:solidFill>
              </a:rPr>
              <a:t>Paiement au moment du décès </a:t>
            </a:r>
            <a:br>
              <a:rPr lang="fr-FR" sz="800" dirty="0">
                <a:solidFill>
                  <a:schemeClr val="folHlink"/>
                </a:solidFill>
              </a:rPr>
            </a:br>
            <a:r>
              <a:rPr lang="fr-FR" sz="800" dirty="0">
                <a:solidFill>
                  <a:schemeClr val="folHlink"/>
                </a:solidFill>
              </a:rPr>
              <a:t>de la personne assurée</a:t>
            </a:r>
          </a:p>
        </p:txBody>
      </p:sp>
      <p:sp>
        <p:nvSpPr>
          <p:cNvPr id="17" name="Textfeld 6">
            <a:extLst>
              <a:ext uri="{FF2B5EF4-FFF2-40B4-BE49-F238E27FC236}">
                <a16:creationId xmlns:a16="http://schemas.microsoft.com/office/drawing/2014/main" id="{11FF12F7-9DFF-431D-B288-619709345001}"/>
              </a:ext>
            </a:extLst>
          </p:cNvPr>
          <p:cNvSpPr txBox="1">
            <a:spLocks noChangeArrowheads="1"/>
          </p:cNvSpPr>
          <p:nvPr/>
        </p:nvSpPr>
        <p:spPr bwMode="auto">
          <a:xfrm>
            <a:off x="4644008" y="1485034"/>
            <a:ext cx="201600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a:spAutoFit/>
          </a:bodyPr>
          <a:lstStyle>
            <a:lvl1pPr>
              <a:spcBef>
                <a:spcPct val="20000"/>
              </a:spcBef>
              <a:buChar char="•"/>
              <a:defRPr sz="2200" b="1">
                <a:solidFill>
                  <a:schemeClr val="tx1"/>
                </a:solidFill>
                <a:latin typeface="Arial" charset="0"/>
                <a:ea typeface="Arial" charset="0"/>
                <a:cs typeface="Arial" charset="0"/>
              </a:defRPr>
            </a:lvl1pPr>
            <a:lvl2pPr marL="742950" indent="-285750">
              <a:spcBef>
                <a:spcPct val="20000"/>
              </a:spcBef>
              <a:buClr>
                <a:schemeClr val="tx1"/>
              </a:buClr>
              <a:buFont typeface="Wingdings" charset="2"/>
              <a:buChar char="§"/>
              <a:defRPr sz="2200">
                <a:solidFill>
                  <a:schemeClr val="tx1"/>
                </a:solidFill>
                <a:latin typeface="Arial" charset="0"/>
                <a:ea typeface="Arial" charset="0"/>
                <a:cs typeface="Arial" charset="0"/>
              </a:defRPr>
            </a:lvl2pPr>
            <a:lvl3pPr marL="1143000" indent="-228600">
              <a:spcBef>
                <a:spcPct val="20000"/>
              </a:spcBef>
              <a:buSzPct val="80000"/>
              <a:buFont typeface="Wingdings" charset="2"/>
              <a:buChar char="§"/>
              <a:defRPr sz="2000">
                <a:solidFill>
                  <a:schemeClr val="tx1"/>
                </a:solidFill>
                <a:latin typeface="Arial" charset="0"/>
                <a:ea typeface="Arial" charset="0"/>
                <a:cs typeface="Arial" charset="0"/>
              </a:defRPr>
            </a:lvl3pPr>
            <a:lvl4pPr marL="1600200" indent="-228600">
              <a:lnSpc>
                <a:spcPts val="3000"/>
              </a:lnSpc>
              <a:buSzPct val="80000"/>
              <a:buFont typeface="Wingdings" charset="2"/>
              <a:buChar char="§"/>
              <a:defRPr sz="2200">
                <a:solidFill>
                  <a:schemeClr val="tx1"/>
                </a:solidFill>
                <a:latin typeface="Arial" charset="0"/>
                <a:ea typeface="Arial" charset="0"/>
                <a:cs typeface="Arial" charset="0"/>
              </a:defRPr>
            </a:lvl4pPr>
            <a:lvl5pPr marL="2057400" indent="-228600">
              <a:lnSpc>
                <a:spcPts val="3000"/>
              </a:lnSpc>
              <a:buSzPct val="80000"/>
              <a:buFont typeface="Wingdings" charset="2"/>
              <a:buChar char="§"/>
              <a:defRPr sz="2000">
                <a:solidFill>
                  <a:schemeClr val="tx1"/>
                </a:solidFill>
                <a:latin typeface="Arial" charset="0"/>
                <a:ea typeface="Arial" charset="0"/>
                <a:cs typeface="Arial" charset="0"/>
              </a:defRPr>
            </a:lvl5pPr>
            <a:lvl6pPr marL="2514600" indent="-228600" eaLnBrk="0" fontAlgn="base" hangingPunct="0">
              <a:lnSpc>
                <a:spcPts val="3000"/>
              </a:lnSpc>
              <a:spcBef>
                <a:spcPct val="0"/>
              </a:spcBef>
              <a:spcAft>
                <a:spcPct val="0"/>
              </a:spcAft>
              <a:buSzPct val="80000"/>
              <a:buFont typeface="Wingdings" charset="2"/>
              <a:buChar char="§"/>
              <a:defRPr sz="2000">
                <a:solidFill>
                  <a:schemeClr val="tx1"/>
                </a:solidFill>
                <a:latin typeface="Arial" charset="0"/>
                <a:ea typeface="Arial" charset="0"/>
                <a:cs typeface="Arial" charset="0"/>
              </a:defRPr>
            </a:lvl6pPr>
            <a:lvl7pPr marL="2971800" indent="-228600" eaLnBrk="0" fontAlgn="base" hangingPunct="0">
              <a:lnSpc>
                <a:spcPts val="3000"/>
              </a:lnSpc>
              <a:spcBef>
                <a:spcPct val="0"/>
              </a:spcBef>
              <a:spcAft>
                <a:spcPct val="0"/>
              </a:spcAft>
              <a:buSzPct val="80000"/>
              <a:buFont typeface="Wingdings" charset="2"/>
              <a:buChar char="§"/>
              <a:defRPr sz="2000">
                <a:solidFill>
                  <a:schemeClr val="tx1"/>
                </a:solidFill>
                <a:latin typeface="Arial" charset="0"/>
                <a:ea typeface="Arial" charset="0"/>
                <a:cs typeface="Arial" charset="0"/>
              </a:defRPr>
            </a:lvl7pPr>
            <a:lvl8pPr marL="3429000" indent="-228600" eaLnBrk="0" fontAlgn="base" hangingPunct="0">
              <a:lnSpc>
                <a:spcPts val="3000"/>
              </a:lnSpc>
              <a:spcBef>
                <a:spcPct val="0"/>
              </a:spcBef>
              <a:spcAft>
                <a:spcPct val="0"/>
              </a:spcAft>
              <a:buSzPct val="80000"/>
              <a:buFont typeface="Wingdings" charset="2"/>
              <a:buChar char="§"/>
              <a:defRPr sz="2000">
                <a:solidFill>
                  <a:schemeClr val="tx1"/>
                </a:solidFill>
                <a:latin typeface="Arial" charset="0"/>
                <a:ea typeface="Arial" charset="0"/>
                <a:cs typeface="Arial" charset="0"/>
              </a:defRPr>
            </a:lvl8pPr>
            <a:lvl9pPr marL="3886200" indent="-228600" eaLnBrk="0" fontAlgn="base" hangingPunct="0">
              <a:lnSpc>
                <a:spcPts val="3000"/>
              </a:lnSpc>
              <a:spcBef>
                <a:spcPct val="0"/>
              </a:spcBef>
              <a:spcAft>
                <a:spcPct val="0"/>
              </a:spcAft>
              <a:buSzPct val="80000"/>
              <a:buFont typeface="Wingdings" charset="2"/>
              <a:buChar char="§"/>
              <a:defRPr sz="2000">
                <a:solidFill>
                  <a:schemeClr val="tx1"/>
                </a:solidFill>
                <a:latin typeface="Arial" charset="0"/>
                <a:ea typeface="Arial" charset="0"/>
                <a:cs typeface="Arial" charset="0"/>
              </a:defRPr>
            </a:lvl9pPr>
          </a:lstStyle>
          <a:p>
            <a:pPr algn="ctr">
              <a:spcBef>
                <a:spcPct val="0"/>
              </a:spcBef>
              <a:buFontTx/>
              <a:buNone/>
            </a:pPr>
            <a:r>
              <a:rPr lang="fr-FR" altLang="en-US" sz="1200" b="0" i="1" dirty="0">
                <a:solidFill>
                  <a:srgbClr val="000000"/>
                </a:solidFill>
                <a:latin typeface="+mj-lt"/>
                <a:ea typeface="ＭＳ Ｐゴシック" charset="-128"/>
              </a:rPr>
              <a:t>Swiss Life</a:t>
            </a:r>
          </a:p>
        </p:txBody>
      </p:sp>
      <p:pic>
        <p:nvPicPr>
          <p:cNvPr id="14" name="Picture 13" descr="A red line art of a person&#10;&#10;Description automatically generated">
            <a:extLst>
              <a:ext uri="{FF2B5EF4-FFF2-40B4-BE49-F238E27FC236}">
                <a16:creationId xmlns:a16="http://schemas.microsoft.com/office/drawing/2014/main" id="{F4D15E1F-5D5B-AF4D-1839-30B246A1988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5264" y="1875921"/>
            <a:ext cx="828000" cy="828000"/>
          </a:xfrm>
          <a:prstGeom prst="rect">
            <a:avLst/>
          </a:prstGeom>
        </p:spPr>
      </p:pic>
      <p:pic>
        <p:nvPicPr>
          <p:cNvPr id="23" name="Picture 22" descr="A red building with a black background&#10;&#10;Description automatically generated">
            <a:extLst>
              <a:ext uri="{FF2B5EF4-FFF2-40B4-BE49-F238E27FC236}">
                <a16:creationId xmlns:a16="http://schemas.microsoft.com/office/drawing/2014/main" id="{589D370B-0A2F-1129-24BF-76D60E5BC99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38966" y="1863495"/>
            <a:ext cx="828000" cy="828000"/>
          </a:xfrm>
          <a:prstGeom prst="rect">
            <a:avLst/>
          </a:prstGeom>
        </p:spPr>
      </p:pic>
      <p:pic>
        <p:nvPicPr>
          <p:cNvPr id="24" name="Picture 23" descr="A red pencil on a paper&#10;&#10;Description automatically generated">
            <a:extLst>
              <a:ext uri="{FF2B5EF4-FFF2-40B4-BE49-F238E27FC236}">
                <a16:creationId xmlns:a16="http://schemas.microsoft.com/office/drawing/2014/main" id="{C8DB22ED-CC52-BF8C-EA26-033650E6D65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240626" y="1745121"/>
            <a:ext cx="828000" cy="828000"/>
          </a:xfrm>
          <a:prstGeom prst="rect">
            <a:avLst/>
          </a:prstGeom>
        </p:spPr>
      </p:pic>
      <p:pic>
        <p:nvPicPr>
          <p:cNvPr id="28" name="Picture 27" descr="A hand and a stack of coins&#10;&#10;Description automatically generated">
            <a:extLst>
              <a:ext uri="{FF2B5EF4-FFF2-40B4-BE49-F238E27FC236}">
                <a16:creationId xmlns:a16="http://schemas.microsoft.com/office/drawing/2014/main" id="{FC342239-889B-FC5B-BA68-2537422ABEE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545036" y="3519679"/>
            <a:ext cx="900000" cy="900000"/>
          </a:xfrm>
          <a:prstGeom prst="rect">
            <a:avLst/>
          </a:prstGeom>
        </p:spPr>
      </p:pic>
      <p:pic>
        <p:nvPicPr>
          <p:cNvPr id="29" name="Picture 28" descr="A red line art of a person&#10;&#10;Description automatically generated">
            <a:extLst>
              <a:ext uri="{FF2B5EF4-FFF2-40B4-BE49-F238E27FC236}">
                <a16:creationId xmlns:a16="http://schemas.microsoft.com/office/drawing/2014/main" id="{E749FA07-7EB8-F839-75EC-5409851AFB83}"/>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793124" y="4113327"/>
            <a:ext cx="907086" cy="900000"/>
          </a:xfrm>
          <a:prstGeom prst="rect">
            <a:avLst/>
          </a:prstGeom>
        </p:spPr>
      </p:pic>
      <p:pic>
        <p:nvPicPr>
          <p:cNvPr id="30" name="Picture 29" descr="A red line art of a person&#10;&#10;Description automatically generated">
            <a:extLst>
              <a:ext uri="{FF2B5EF4-FFF2-40B4-BE49-F238E27FC236}">
                <a16:creationId xmlns:a16="http://schemas.microsoft.com/office/drawing/2014/main" id="{525F0429-7FB8-191B-A57F-D11A1C3426F9}"/>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259632" y="4117740"/>
            <a:ext cx="907086" cy="900000"/>
          </a:xfrm>
          <a:prstGeom prst="rect">
            <a:avLst/>
          </a:prstGeom>
        </p:spPr>
      </p:pic>
      <p:pic>
        <p:nvPicPr>
          <p:cNvPr id="31" name="Picture 30" descr="A red circle with a pie chart&#10;&#10;Description automatically generated">
            <a:extLst>
              <a:ext uri="{FF2B5EF4-FFF2-40B4-BE49-F238E27FC236}">
                <a16:creationId xmlns:a16="http://schemas.microsoft.com/office/drawing/2014/main" id="{14EB276C-CDCF-F077-1E07-1DB0328B2E6B}"/>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165528" y="3686436"/>
            <a:ext cx="900000" cy="900000"/>
          </a:xfrm>
          <a:prstGeom prst="rect">
            <a:avLst/>
          </a:prstGeom>
        </p:spPr>
      </p:pic>
      <p:pic>
        <p:nvPicPr>
          <p:cNvPr id="32" name="Picture 31" descr="A red logo on a black background&#10;&#10;Description automatically generated">
            <a:extLst>
              <a:ext uri="{FF2B5EF4-FFF2-40B4-BE49-F238E27FC236}">
                <a16:creationId xmlns:a16="http://schemas.microsoft.com/office/drawing/2014/main" id="{9883C940-F1D4-2A45-8EB9-FC2F553D72BF}"/>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6171458" y="3055787"/>
            <a:ext cx="900000" cy="900000"/>
          </a:xfrm>
          <a:prstGeom prst="rect">
            <a:avLst/>
          </a:prstGeom>
        </p:spPr>
      </p:pic>
    </p:spTree>
    <p:extLst>
      <p:ext uri="{BB962C8B-B14F-4D97-AF65-F5344CB8AC3E}">
        <p14:creationId xmlns:p14="http://schemas.microsoft.com/office/powerpoint/2010/main" val="20904338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kt 2"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5" imgW="353" imgH="353" progId="TCLayout.ActiveDocument.1">
                  <p:embed/>
                </p:oleObj>
              </mc:Choice>
              <mc:Fallback>
                <p:oleObj name="think-cell Folie" r:id="rId5" imgW="353" imgH="353" progId="TCLayout.ActiveDocument.1">
                  <p:embed/>
                  <p:pic>
                    <p:nvPicPr>
                      <p:cNvPr id="3" name="Objekt 2"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4" name="Rechteck 3" hidden="1"/>
          <p:cNvSpPr/>
          <p:nvPr>
            <p:custDataLst>
              <p:tags r:id="rId2"/>
            </p:custDataLst>
          </p:nvPr>
        </p:nvSpPr>
        <p:spPr>
          <a:xfrm>
            <a:off x="-186082" y="-89902"/>
            <a:ext cx="530915" cy="338554"/>
          </a:xfrm>
          <a:prstGeom prst="rect">
            <a:avLst/>
          </a:prstGeom>
          <a:solidFill>
            <a:schemeClr val="accent4">
              <a:lumMod val="20000"/>
              <a:lumOff val="80000"/>
            </a:schemeClr>
          </a:solidFill>
        </p:spPr>
        <p:txBody>
          <a:bodyPr wrap="none" lIns="0" tIns="0" rIns="0" bIns="0" rtlCol="0" anchor="ctr">
            <a:noAutofit/>
          </a:bodyPr>
          <a:lstStyle/>
          <a:p>
            <a:pPr marL="0" marR="0" lvl="0" indent="0" algn="ctr" defTabSz="914400" rtl="0" eaLnBrk="1" fontAlgn="auto" latinLnBrk="0" hangingPunct="1">
              <a:lnSpc>
                <a:spcPct val="100000"/>
              </a:lnSpc>
              <a:spcBef>
                <a:spcPct val="0"/>
              </a:spcBef>
              <a:spcAft>
                <a:spcPct val="0"/>
              </a:spcAft>
              <a:buClr>
                <a:srgbClr val="D82034"/>
              </a:buClr>
              <a:buSzPct val="100000"/>
              <a:buFontTx/>
              <a:buNone/>
              <a:tabLst/>
              <a:defRPr/>
            </a:pPr>
            <a:endParaRPr kumimoji="0" lang="fr-FR" sz="32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Times New Roman" panose="02020603050405020304" pitchFamily="18" charset="0"/>
            </a:endParaRPr>
          </a:p>
        </p:txBody>
      </p:sp>
      <p:sp>
        <p:nvSpPr>
          <p:cNvPr id="54281" name="Titel 1"/>
          <p:cNvSpPr>
            <a:spLocks noGrp="1"/>
          </p:cNvSpPr>
          <p:nvPr>
            <p:ph type="title"/>
          </p:nvPr>
        </p:nvSpPr>
        <p:spPr/>
        <p:txBody>
          <a:bodyPr/>
          <a:lstStyle/>
          <a:p>
            <a:r>
              <a:rPr lang="fr-FR" altLang="de-DE"/>
              <a:t>Processus de mise en place d’une police</a:t>
            </a:r>
            <a:endParaRPr lang="fr-FR" altLang="de-DE" dirty="0"/>
          </a:p>
        </p:txBody>
      </p:sp>
      <p:cxnSp>
        <p:nvCxnSpPr>
          <p:cNvPr id="59" name="Gerade Verbindung 77"/>
          <p:cNvCxnSpPr/>
          <p:nvPr/>
        </p:nvCxnSpPr>
        <p:spPr>
          <a:xfrm flipV="1">
            <a:off x="3581296" y="4541124"/>
            <a:ext cx="95" cy="212956"/>
          </a:xfrm>
          <a:prstGeom prst="line">
            <a:avLst/>
          </a:prstGeom>
          <a:ln w="12700">
            <a:solidFill>
              <a:schemeClr val="bg1">
                <a:lumMod val="50000"/>
              </a:schemeClr>
            </a:solidFill>
            <a:prstDash val="sysDot"/>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4D8036DF-6722-CC65-B2B5-9986DB4771F0}"/>
              </a:ext>
            </a:extLst>
          </p:cNvPr>
          <p:cNvCxnSpPr/>
          <p:nvPr/>
        </p:nvCxnSpPr>
        <p:spPr>
          <a:xfrm>
            <a:off x="269579" y="3179107"/>
            <a:ext cx="8550571" cy="0"/>
          </a:xfrm>
          <a:prstGeom prst="line">
            <a:avLst/>
          </a:prstGeom>
          <a:ln w="28575">
            <a:solidFill>
              <a:schemeClr val="accent3"/>
            </a:solidFill>
            <a:headEnd type="none" w="med" len="med"/>
            <a:tailEnd type="triangle" w="med" len="med"/>
          </a:ln>
        </p:spPr>
        <p:style>
          <a:lnRef idx="1">
            <a:schemeClr val="accent4"/>
          </a:lnRef>
          <a:fillRef idx="0">
            <a:schemeClr val="accent4"/>
          </a:fillRef>
          <a:effectRef idx="0">
            <a:schemeClr val="accent4"/>
          </a:effectRef>
          <a:fontRef idx="minor">
            <a:schemeClr val="tx1"/>
          </a:fontRef>
        </p:style>
      </p:cxnSp>
      <p:grpSp>
        <p:nvGrpSpPr>
          <p:cNvPr id="14" name="Group 13">
            <a:extLst>
              <a:ext uri="{FF2B5EF4-FFF2-40B4-BE49-F238E27FC236}">
                <a16:creationId xmlns:a16="http://schemas.microsoft.com/office/drawing/2014/main" id="{BFF757C8-A881-76C7-FA0C-B9E4CF809D6E}"/>
              </a:ext>
            </a:extLst>
          </p:cNvPr>
          <p:cNvGrpSpPr/>
          <p:nvPr/>
        </p:nvGrpSpPr>
        <p:grpSpPr>
          <a:xfrm>
            <a:off x="373191" y="1568865"/>
            <a:ext cx="864000" cy="1729274"/>
            <a:chOff x="586746" y="913284"/>
            <a:chExt cx="864000" cy="1729274"/>
          </a:xfrm>
        </p:grpSpPr>
        <p:sp>
          <p:nvSpPr>
            <p:cNvPr id="8" name="Oval 7">
              <a:extLst>
                <a:ext uri="{FF2B5EF4-FFF2-40B4-BE49-F238E27FC236}">
                  <a16:creationId xmlns:a16="http://schemas.microsoft.com/office/drawing/2014/main" id="{AA1C6F01-77D5-1365-1EC9-760B6FD79FAF}"/>
                </a:ext>
              </a:extLst>
            </p:cNvPr>
            <p:cNvSpPr/>
            <p:nvPr/>
          </p:nvSpPr>
          <p:spPr>
            <a:xfrm>
              <a:off x="586746" y="913284"/>
              <a:ext cx="864000" cy="864000"/>
            </a:xfrm>
            <a:prstGeom prst="ellipse">
              <a:avLst/>
            </a:prstGeom>
            <a:solidFill>
              <a:schemeClr val="hlink"/>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endParaRPr>
            </a:p>
          </p:txBody>
        </p:sp>
        <p:pic>
          <p:nvPicPr>
            <p:cNvPr id="10" name="Picture 9" descr="A red line art of a person&#10;&#10;Description automatically generated">
              <a:extLst>
                <a:ext uri="{FF2B5EF4-FFF2-40B4-BE49-F238E27FC236}">
                  <a16:creationId xmlns:a16="http://schemas.microsoft.com/office/drawing/2014/main" id="{7DB1F488-9ADE-27FF-B9AB-932E0A2AF465}"/>
                </a:ext>
              </a:extLst>
            </p:cNvPr>
            <p:cNvPicPr>
              <a:picLocks noChangeAspect="1"/>
            </p:cNvPicPr>
            <p:nvPr/>
          </p:nvPicPr>
          <p:blipFill>
            <a:blip r:embed="rId7" cstate="screen">
              <a:biLevel thresh="25000"/>
              <a:extLst>
                <a:ext uri="{28A0092B-C50C-407E-A947-70E740481C1C}">
                  <a14:useLocalDpi xmlns:a14="http://schemas.microsoft.com/office/drawing/2010/main"/>
                </a:ext>
              </a:extLst>
            </a:blip>
            <a:stretch>
              <a:fillRect/>
            </a:stretch>
          </p:blipFill>
          <p:spPr>
            <a:xfrm>
              <a:off x="669802" y="977783"/>
              <a:ext cx="720000" cy="720000"/>
            </a:xfrm>
            <a:prstGeom prst="rect">
              <a:avLst/>
            </a:prstGeom>
          </p:spPr>
        </p:pic>
        <p:cxnSp>
          <p:nvCxnSpPr>
            <p:cNvPr id="12" name="Connector: Elbow 11">
              <a:extLst>
                <a:ext uri="{FF2B5EF4-FFF2-40B4-BE49-F238E27FC236}">
                  <a16:creationId xmlns:a16="http://schemas.microsoft.com/office/drawing/2014/main" id="{C64D49D4-77BE-1886-04B2-F4CD21EF6E94}"/>
                </a:ext>
              </a:extLst>
            </p:cNvPr>
            <p:cNvCxnSpPr>
              <a:stCxn id="8" idx="4"/>
            </p:cNvCxnSpPr>
            <p:nvPr/>
          </p:nvCxnSpPr>
          <p:spPr>
            <a:xfrm rot="5400000">
              <a:off x="586746" y="1993284"/>
              <a:ext cx="648000" cy="216000"/>
            </a:xfrm>
            <a:prstGeom prst="bentConnector3">
              <a:avLst/>
            </a:prstGeom>
            <a:ln w="28575">
              <a:solidFill>
                <a:schemeClr val="hlink"/>
              </a:solidFill>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92A0D7B0-B8CB-685D-6EBF-5F4DBF83197C}"/>
                </a:ext>
              </a:extLst>
            </p:cNvPr>
            <p:cNvSpPr/>
            <p:nvPr/>
          </p:nvSpPr>
          <p:spPr>
            <a:xfrm>
              <a:off x="672520" y="2390558"/>
              <a:ext cx="252000" cy="252000"/>
            </a:xfrm>
            <a:prstGeom prst="ellipse">
              <a:avLst/>
            </a:prstGeom>
            <a:solidFill>
              <a:srgbClr val="FFFFFF"/>
            </a:solidFill>
            <a:ln>
              <a:solidFill>
                <a:schemeClr val="hlink"/>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endParaRPr>
            </a:p>
          </p:txBody>
        </p:sp>
      </p:grpSp>
      <p:grpSp>
        <p:nvGrpSpPr>
          <p:cNvPr id="15" name="Group 14">
            <a:extLst>
              <a:ext uri="{FF2B5EF4-FFF2-40B4-BE49-F238E27FC236}">
                <a16:creationId xmlns:a16="http://schemas.microsoft.com/office/drawing/2014/main" id="{6C9DB923-FFC3-484C-A01B-33EDF32BCF6A}"/>
              </a:ext>
            </a:extLst>
          </p:cNvPr>
          <p:cNvGrpSpPr/>
          <p:nvPr/>
        </p:nvGrpSpPr>
        <p:grpSpPr>
          <a:xfrm>
            <a:off x="2267644" y="1567008"/>
            <a:ext cx="864000" cy="1715891"/>
            <a:chOff x="1259632" y="927802"/>
            <a:chExt cx="864000" cy="1715891"/>
          </a:xfrm>
        </p:grpSpPr>
        <p:grpSp>
          <p:nvGrpSpPr>
            <p:cNvPr id="23" name="Group 22">
              <a:extLst>
                <a:ext uri="{FF2B5EF4-FFF2-40B4-BE49-F238E27FC236}">
                  <a16:creationId xmlns:a16="http://schemas.microsoft.com/office/drawing/2014/main" id="{B4E0A252-402A-64D0-2067-46ACCD35D332}"/>
                </a:ext>
              </a:extLst>
            </p:cNvPr>
            <p:cNvGrpSpPr/>
            <p:nvPr/>
          </p:nvGrpSpPr>
          <p:grpSpPr>
            <a:xfrm>
              <a:off x="1259632" y="927802"/>
              <a:ext cx="864000" cy="1715891"/>
              <a:chOff x="586746" y="890424"/>
              <a:chExt cx="864000" cy="1715891"/>
            </a:xfrm>
            <a:solidFill>
              <a:srgbClr val="ECBDAB"/>
            </a:solidFill>
          </p:grpSpPr>
          <p:sp>
            <p:nvSpPr>
              <p:cNvPr id="24" name="Oval 23">
                <a:extLst>
                  <a:ext uri="{FF2B5EF4-FFF2-40B4-BE49-F238E27FC236}">
                    <a16:creationId xmlns:a16="http://schemas.microsoft.com/office/drawing/2014/main" id="{E285CF7E-06A9-281B-0AEE-F1F38CBB5AFA}"/>
                  </a:ext>
                </a:extLst>
              </p:cNvPr>
              <p:cNvSpPr/>
              <p:nvPr/>
            </p:nvSpPr>
            <p:spPr>
              <a:xfrm>
                <a:off x="586746" y="890424"/>
                <a:ext cx="864000" cy="864000"/>
              </a:xfrm>
              <a:prstGeom prst="ellipse">
                <a:avLst/>
              </a:prstGeom>
              <a:solidFill>
                <a:schemeClr val="hlink"/>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endParaRPr>
              </a:p>
            </p:txBody>
          </p:sp>
          <p:cxnSp>
            <p:nvCxnSpPr>
              <p:cNvPr id="25" name="Connector: Elbow 24">
                <a:extLst>
                  <a:ext uri="{FF2B5EF4-FFF2-40B4-BE49-F238E27FC236}">
                    <a16:creationId xmlns:a16="http://schemas.microsoft.com/office/drawing/2014/main" id="{4725D994-BD74-F9C8-9485-ABB2F5B79604}"/>
                  </a:ext>
                </a:extLst>
              </p:cNvPr>
              <p:cNvCxnSpPr>
                <a:stCxn id="24" idx="4"/>
              </p:cNvCxnSpPr>
              <p:nvPr/>
            </p:nvCxnSpPr>
            <p:spPr>
              <a:xfrm rot="5400000">
                <a:off x="586746" y="1970424"/>
                <a:ext cx="648000" cy="216000"/>
              </a:xfrm>
              <a:prstGeom prst="bentConnector3">
                <a:avLst/>
              </a:prstGeom>
              <a:solidFill>
                <a:schemeClr val="accent1"/>
              </a:solidFill>
              <a:ln w="28575">
                <a:solidFill>
                  <a:schemeClr val="hlink"/>
                </a:solidFill>
              </a:ln>
            </p:spPr>
            <p:style>
              <a:lnRef idx="1">
                <a:schemeClr val="accent1"/>
              </a:lnRef>
              <a:fillRef idx="0">
                <a:schemeClr val="accent1"/>
              </a:fillRef>
              <a:effectRef idx="0">
                <a:schemeClr val="accent1"/>
              </a:effectRef>
              <a:fontRef idx="minor">
                <a:schemeClr val="tx1"/>
              </a:fontRef>
            </p:style>
          </p:cxnSp>
          <p:sp>
            <p:nvSpPr>
              <p:cNvPr id="26" name="Oval 25">
                <a:extLst>
                  <a:ext uri="{FF2B5EF4-FFF2-40B4-BE49-F238E27FC236}">
                    <a16:creationId xmlns:a16="http://schemas.microsoft.com/office/drawing/2014/main" id="{4A3CF7F9-4815-4F00-CE58-98E3F169B02E}"/>
                  </a:ext>
                </a:extLst>
              </p:cNvPr>
              <p:cNvSpPr/>
              <p:nvPr/>
            </p:nvSpPr>
            <p:spPr>
              <a:xfrm>
                <a:off x="680140" y="2354315"/>
                <a:ext cx="252000" cy="252000"/>
              </a:xfrm>
              <a:prstGeom prst="ellipse">
                <a:avLst/>
              </a:prstGeom>
              <a:solidFill>
                <a:srgbClr val="FFFFFF"/>
              </a:solidFill>
              <a:ln>
                <a:solidFill>
                  <a:schemeClr val="hlink"/>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endParaRPr>
              </a:p>
            </p:txBody>
          </p:sp>
        </p:grpSp>
        <p:pic>
          <p:nvPicPr>
            <p:cNvPr id="54287" name="Picture 54286" descr="A red building with a black background&#10;&#10;Description automatically generated">
              <a:extLst>
                <a:ext uri="{FF2B5EF4-FFF2-40B4-BE49-F238E27FC236}">
                  <a16:creationId xmlns:a16="http://schemas.microsoft.com/office/drawing/2014/main" id="{B20D37E2-2C98-6028-162E-8F51E0CF53E8}"/>
                </a:ext>
              </a:extLst>
            </p:cNvPr>
            <p:cNvPicPr>
              <a:picLocks noChangeAspect="1"/>
            </p:cNvPicPr>
            <p:nvPr/>
          </p:nvPicPr>
          <p:blipFill>
            <a:blip r:embed="rId8" cstate="screen">
              <a:biLevel thresh="25000"/>
              <a:extLst>
                <a:ext uri="{28A0092B-C50C-407E-A947-70E740481C1C}">
                  <a14:useLocalDpi xmlns:a14="http://schemas.microsoft.com/office/drawing/2010/main"/>
                </a:ext>
              </a:extLst>
            </a:blip>
            <a:stretch>
              <a:fillRect/>
            </a:stretch>
          </p:blipFill>
          <p:spPr>
            <a:xfrm>
              <a:off x="1287005" y="937091"/>
              <a:ext cx="828000" cy="828000"/>
            </a:xfrm>
            <a:prstGeom prst="rect">
              <a:avLst/>
            </a:prstGeom>
          </p:spPr>
        </p:pic>
      </p:grpSp>
      <p:grpSp>
        <p:nvGrpSpPr>
          <p:cNvPr id="61" name="Group 60">
            <a:extLst>
              <a:ext uri="{FF2B5EF4-FFF2-40B4-BE49-F238E27FC236}">
                <a16:creationId xmlns:a16="http://schemas.microsoft.com/office/drawing/2014/main" id="{25CB46E7-0C38-4E84-B77C-BE2BD9D93110}"/>
              </a:ext>
            </a:extLst>
          </p:cNvPr>
          <p:cNvGrpSpPr/>
          <p:nvPr/>
        </p:nvGrpSpPr>
        <p:grpSpPr>
          <a:xfrm>
            <a:off x="5002165" y="3043290"/>
            <a:ext cx="1080000" cy="1832407"/>
            <a:chOff x="3657321" y="2898510"/>
            <a:chExt cx="1080000" cy="1832407"/>
          </a:xfrm>
        </p:grpSpPr>
        <p:grpSp>
          <p:nvGrpSpPr>
            <p:cNvPr id="54273" name="Group 54272">
              <a:extLst>
                <a:ext uri="{FF2B5EF4-FFF2-40B4-BE49-F238E27FC236}">
                  <a16:creationId xmlns:a16="http://schemas.microsoft.com/office/drawing/2014/main" id="{282DB490-9DAC-6C58-EFBA-B39AA1B43D10}"/>
                </a:ext>
              </a:extLst>
            </p:cNvPr>
            <p:cNvGrpSpPr/>
            <p:nvPr/>
          </p:nvGrpSpPr>
          <p:grpSpPr>
            <a:xfrm rot="10800000">
              <a:off x="3759328" y="2898510"/>
              <a:ext cx="864000" cy="1724387"/>
              <a:chOff x="586746" y="913284"/>
              <a:chExt cx="864000" cy="1724387"/>
            </a:xfrm>
          </p:grpSpPr>
          <p:sp>
            <p:nvSpPr>
              <p:cNvPr id="54274" name="Oval 54273">
                <a:extLst>
                  <a:ext uri="{FF2B5EF4-FFF2-40B4-BE49-F238E27FC236}">
                    <a16:creationId xmlns:a16="http://schemas.microsoft.com/office/drawing/2014/main" id="{27181709-0CA4-4247-2612-4712E813824C}"/>
                  </a:ext>
                </a:extLst>
              </p:cNvPr>
              <p:cNvSpPr/>
              <p:nvPr/>
            </p:nvSpPr>
            <p:spPr>
              <a:xfrm>
                <a:off x="586746" y="913284"/>
                <a:ext cx="864000" cy="8640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endParaRPr>
              </a:p>
            </p:txBody>
          </p:sp>
          <p:cxnSp>
            <p:nvCxnSpPr>
              <p:cNvPr id="54275" name="Connector: Elbow 54274">
                <a:extLst>
                  <a:ext uri="{FF2B5EF4-FFF2-40B4-BE49-F238E27FC236}">
                    <a16:creationId xmlns:a16="http://schemas.microsoft.com/office/drawing/2014/main" id="{F12FA1D8-5D4C-F2B7-A2FE-A64A02089283}"/>
                  </a:ext>
                </a:extLst>
              </p:cNvPr>
              <p:cNvCxnSpPr>
                <a:cxnSpLocks/>
              </p:cNvCxnSpPr>
              <p:nvPr/>
            </p:nvCxnSpPr>
            <p:spPr>
              <a:xfrm rot="16200000" flipH="1">
                <a:off x="798813" y="1993284"/>
                <a:ext cx="648000" cy="216000"/>
              </a:xfrm>
              <a:prstGeom prst="bentConnector3">
                <a:avLst/>
              </a:prstGeom>
              <a:ln w="28575">
                <a:solidFill>
                  <a:schemeClr val="accent4"/>
                </a:solidFill>
              </a:ln>
            </p:spPr>
            <p:style>
              <a:lnRef idx="1">
                <a:schemeClr val="accent1"/>
              </a:lnRef>
              <a:fillRef idx="0">
                <a:schemeClr val="accent1"/>
              </a:fillRef>
              <a:effectRef idx="0">
                <a:schemeClr val="accent1"/>
              </a:effectRef>
              <a:fontRef idx="minor">
                <a:schemeClr val="tx1"/>
              </a:fontRef>
            </p:style>
          </p:cxnSp>
          <p:sp>
            <p:nvSpPr>
              <p:cNvPr id="54276" name="Oval 54275">
                <a:extLst>
                  <a:ext uri="{FF2B5EF4-FFF2-40B4-BE49-F238E27FC236}">
                    <a16:creationId xmlns:a16="http://schemas.microsoft.com/office/drawing/2014/main" id="{4ABBBD1E-09C1-BD16-B051-906B37DD79A5}"/>
                  </a:ext>
                </a:extLst>
              </p:cNvPr>
              <p:cNvSpPr/>
              <p:nvPr/>
            </p:nvSpPr>
            <p:spPr>
              <a:xfrm>
                <a:off x="1104161" y="2385671"/>
                <a:ext cx="252000" cy="252000"/>
              </a:xfrm>
              <a:prstGeom prst="ellipse">
                <a:avLst/>
              </a:prstGeom>
              <a:solidFill>
                <a:srgbClr val="FFFFFF"/>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endParaRPr>
              </a:p>
            </p:txBody>
          </p:sp>
        </p:grpSp>
        <p:pic>
          <p:nvPicPr>
            <p:cNvPr id="18" name="Picture 17" descr="A logo of a gear with a stack of coins in the center&#10;&#10;Description automatically generated">
              <a:extLst>
                <a:ext uri="{FF2B5EF4-FFF2-40B4-BE49-F238E27FC236}">
                  <a16:creationId xmlns:a16="http://schemas.microsoft.com/office/drawing/2014/main" id="{BE52B292-A7E7-E7EA-BBE4-825E302D4CAF}"/>
                </a:ext>
              </a:extLst>
            </p:cNvPr>
            <p:cNvPicPr>
              <a:picLocks noChangeAspect="1"/>
            </p:cNvPicPr>
            <p:nvPr/>
          </p:nvPicPr>
          <p:blipFill>
            <a:blip r:embed="rId9">
              <a:biLevel thresh="25000"/>
              <a:extLst>
                <a:ext uri="{28A0092B-C50C-407E-A947-70E740481C1C}">
                  <a14:useLocalDpi xmlns:a14="http://schemas.microsoft.com/office/drawing/2010/main"/>
                </a:ext>
              </a:extLst>
            </a:blip>
            <a:stretch>
              <a:fillRect/>
            </a:stretch>
          </p:blipFill>
          <p:spPr>
            <a:xfrm>
              <a:off x="3657321" y="3650917"/>
              <a:ext cx="1080000" cy="1080000"/>
            </a:xfrm>
            <a:prstGeom prst="rect">
              <a:avLst/>
            </a:prstGeom>
          </p:spPr>
        </p:pic>
      </p:grpSp>
      <p:grpSp>
        <p:nvGrpSpPr>
          <p:cNvPr id="58" name="Group 57">
            <a:extLst>
              <a:ext uri="{FF2B5EF4-FFF2-40B4-BE49-F238E27FC236}">
                <a16:creationId xmlns:a16="http://schemas.microsoft.com/office/drawing/2014/main" id="{72F7DB2F-08BA-DF87-83A4-F5A9968E13A8}"/>
              </a:ext>
            </a:extLst>
          </p:cNvPr>
          <p:cNvGrpSpPr/>
          <p:nvPr/>
        </p:nvGrpSpPr>
        <p:grpSpPr>
          <a:xfrm>
            <a:off x="7081947" y="3043113"/>
            <a:ext cx="864000" cy="1732314"/>
            <a:chOff x="6804344" y="3043113"/>
            <a:chExt cx="864000" cy="1732314"/>
          </a:xfrm>
        </p:grpSpPr>
        <p:sp>
          <p:nvSpPr>
            <p:cNvPr id="54291" name="Oval 54290">
              <a:extLst>
                <a:ext uri="{FF2B5EF4-FFF2-40B4-BE49-F238E27FC236}">
                  <a16:creationId xmlns:a16="http://schemas.microsoft.com/office/drawing/2014/main" id="{19DEF7F1-1AB1-81C5-B159-7F3CBA9A410A}"/>
                </a:ext>
              </a:extLst>
            </p:cNvPr>
            <p:cNvSpPr/>
            <p:nvPr/>
          </p:nvSpPr>
          <p:spPr>
            <a:xfrm rot="10800000">
              <a:off x="6804344" y="3911427"/>
              <a:ext cx="864000" cy="8640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endParaRPr>
            </a:p>
          </p:txBody>
        </p:sp>
        <p:cxnSp>
          <p:nvCxnSpPr>
            <p:cNvPr id="54292" name="Connector: Elbow 54291">
              <a:extLst>
                <a:ext uri="{FF2B5EF4-FFF2-40B4-BE49-F238E27FC236}">
                  <a16:creationId xmlns:a16="http://schemas.microsoft.com/office/drawing/2014/main" id="{3754EA7D-3F85-4AE9-6643-E95BA0DDC9DE}"/>
                </a:ext>
              </a:extLst>
            </p:cNvPr>
            <p:cNvCxnSpPr>
              <a:cxnSpLocks/>
            </p:cNvCxnSpPr>
            <p:nvPr/>
          </p:nvCxnSpPr>
          <p:spPr>
            <a:xfrm rot="5400000" flipH="1">
              <a:off x="6799316" y="3479427"/>
              <a:ext cx="648000" cy="216000"/>
            </a:xfrm>
            <a:prstGeom prst="bentConnector3">
              <a:avLst/>
            </a:prstGeom>
            <a:ln w="28575">
              <a:solidFill>
                <a:schemeClr val="accent4"/>
              </a:solidFill>
            </a:ln>
          </p:spPr>
          <p:style>
            <a:lnRef idx="1">
              <a:schemeClr val="accent1"/>
            </a:lnRef>
            <a:fillRef idx="0">
              <a:schemeClr val="accent1"/>
            </a:fillRef>
            <a:effectRef idx="0">
              <a:schemeClr val="accent1"/>
            </a:effectRef>
            <a:fontRef idx="minor">
              <a:schemeClr val="tx1"/>
            </a:fontRef>
          </p:style>
        </p:cxnSp>
        <p:sp>
          <p:nvSpPr>
            <p:cNvPr id="54293" name="Oval 54292">
              <a:extLst>
                <a:ext uri="{FF2B5EF4-FFF2-40B4-BE49-F238E27FC236}">
                  <a16:creationId xmlns:a16="http://schemas.microsoft.com/office/drawing/2014/main" id="{3D8F7782-1846-DA91-0F06-FB323A097618}"/>
                </a:ext>
              </a:extLst>
            </p:cNvPr>
            <p:cNvSpPr/>
            <p:nvPr/>
          </p:nvSpPr>
          <p:spPr>
            <a:xfrm rot="10800000">
              <a:off x="6888610" y="3043113"/>
              <a:ext cx="252000" cy="252000"/>
            </a:xfrm>
            <a:prstGeom prst="ellipse">
              <a:avLst/>
            </a:prstGeom>
            <a:solidFill>
              <a:srgbClr val="FFFFFF"/>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endParaRPr>
            </a:p>
          </p:txBody>
        </p:sp>
        <p:pic>
          <p:nvPicPr>
            <p:cNvPr id="42" name="Picture 41" descr="A pencil on a piece of paper&#10;&#10;Description automatically generated">
              <a:extLst>
                <a:ext uri="{FF2B5EF4-FFF2-40B4-BE49-F238E27FC236}">
                  <a16:creationId xmlns:a16="http://schemas.microsoft.com/office/drawing/2014/main" id="{12271C2B-A13B-BD01-EC9E-4849C6B937EB}"/>
                </a:ext>
              </a:extLst>
            </p:cNvPr>
            <p:cNvPicPr>
              <a:picLocks noChangeAspect="1"/>
            </p:cNvPicPr>
            <p:nvPr/>
          </p:nvPicPr>
          <p:blipFill>
            <a:blip r:embed="rId10">
              <a:biLevel thresh="25000"/>
              <a:extLst>
                <a:ext uri="{28A0092B-C50C-407E-A947-70E740481C1C}">
                  <a14:useLocalDpi xmlns:a14="http://schemas.microsoft.com/office/drawing/2010/main"/>
                </a:ext>
              </a:extLst>
            </a:blip>
            <a:stretch>
              <a:fillRect/>
            </a:stretch>
          </p:blipFill>
          <p:spPr>
            <a:xfrm>
              <a:off x="6814723" y="3916948"/>
              <a:ext cx="828000" cy="828000"/>
            </a:xfrm>
            <a:prstGeom prst="rect">
              <a:avLst/>
            </a:prstGeom>
          </p:spPr>
        </p:pic>
      </p:grpSp>
      <p:grpSp>
        <p:nvGrpSpPr>
          <p:cNvPr id="54296" name="Group 54295">
            <a:extLst>
              <a:ext uri="{FF2B5EF4-FFF2-40B4-BE49-F238E27FC236}">
                <a16:creationId xmlns:a16="http://schemas.microsoft.com/office/drawing/2014/main" id="{82A19E95-6D4C-C9EF-ABA9-A52AFBC90C6C}"/>
              </a:ext>
            </a:extLst>
          </p:cNvPr>
          <p:cNvGrpSpPr/>
          <p:nvPr/>
        </p:nvGrpSpPr>
        <p:grpSpPr>
          <a:xfrm rot="10800000" flipV="1">
            <a:off x="7956472" y="1565162"/>
            <a:ext cx="864000" cy="1724386"/>
            <a:chOff x="586746" y="913284"/>
            <a:chExt cx="864000" cy="1724386"/>
          </a:xfrm>
        </p:grpSpPr>
        <p:sp>
          <p:nvSpPr>
            <p:cNvPr id="54297" name="Oval 54296">
              <a:extLst>
                <a:ext uri="{FF2B5EF4-FFF2-40B4-BE49-F238E27FC236}">
                  <a16:creationId xmlns:a16="http://schemas.microsoft.com/office/drawing/2014/main" id="{54F994A4-62F4-9361-45CB-B3D2A3041D60}"/>
                </a:ext>
              </a:extLst>
            </p:cNvPr>
            <p:cNvSpPr/>
            <p:nvPr/>
          </p:nvSpPr>
          <p:spPr>
            <a:xfrm>
              <a:off x="586746" y="913284"/>
              <a:ext cx="864000" cy="864000"/>
            </a:xfrm>
            <a:prstGeom prst="ellipse">
              <a:avLst/>
            </a:prstGeom>
            <a:solidFill>
              <a:schemeClr val="hlink"/>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endParaRPr>
            </a:p>
          </p:txBody>
        </p:sp>
        <p:cxnSp>
          <p:nvCxnSpPr>
            <p:cNvPr id="54298" name="Connector: Elbow 54297">
              <a:extLst>
                <a:ext uri="{FF2B5EF4-FFF2-40B4-BE49-F238E27FC236}">
                  <a16:creationId xmlns:a16="http://schemas.microsoft.com/office/drawing/2014/main" id="{EB7AC7E6-0E1B-CFE6-4A81-A8D2C411F4F0}"/>
                </a:ext>
              </a:extLst>
            </p:cNvPr>
            <p:cNvCxnSpPr>
              <a:cxnSpLocks/>
            </p:cNvCxnSpPr>
            <p:nvPr/>
          </p:nvCxnSpPr>
          <p:spPr>
            <a:xfrm rot="16200000" flipH="1">
              <a:off x="802818" y="1993284"/>
              <a:ext cx="648000" cy="216000"/>
            </a:xfrm>
            <a:prstGeom prst="bentConnector3">
              <a:avLst/>
            </a:prstGeom>
            <a:ln w="28575">
              <a:solidFill>
                <a:schemeClr val="hlink"/>
              </a:solidFill>
            </a:ln>
          </p:spPr>
          <p:style>
            <a:lnRef idx="1">
              <a:schemeClr val="accent1"/>
            </a:lnRef>
            <a:fillRef idx="0">
              <a:schemeClr val="accent1"/>
            </a:fillRef>
            <a:effectRef idx="0">
              <a:schemeClr val="accent1"/>
            </a:effectRef>
            <a:fontRef idx="minor">
              <a:schemeClr val="tx1"/>
            </a:fontRef>
          </p:style>
        </p:cxnSp>
        <p:sp>
          <p:nvSpPr>
            <p:cNvPr id="54299" name="Oval 54298">
              <a:extLst>
                <a:ext uri="{FF2B5EF4-FFF2-40B4-BE49-F238E27FC236}">
                  <a16:creationId xmlns:a16="http://schemas.microsoft.com/office/drawing/2014/main" id="{65C58272-B0A1-BC30-3BD4-FCE09D0B69CD}"/>
                </a:ext>
              </a:extLst>
            </p:cNvPr>
            <p:cNvSpPr/>
            <p:nvPr/>
          </p:nvSpPr>
          <p:spPr>
            <a:xfrm>
              <a:off x="1111594" y="2385670"/>
              <a:ext cx="252000" cy="252000"/>
            </a:xfrm>
            <a:prstGeom prst="ellipse">
              <a:avLst/>
            </a:prstGeom>
            <a:solidFill>
              <a:srgbClr val="FFFFFF"/>
            </a:solidFill>
            <a:ln>
              <a:solidFill>
                <a:schemeClr val="hlink"/>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endParaRPr>
            </a:p>
          </p:txBody>
        </p:sp>
      </p:grpSp>
      <p:grpSp>
        <p:nvGrpSpPr>
          <p:cNvPr id="54310" name="Group 54309">
            <a:extLst>
              <a:ext uri="{FF2B5EF4-FFF2-40B4-BE49-F238E27FC236}">
                <a16:creationId xmlns:a16="http://schemas.microsoft.com/office/drawing/2014/main" id="{97F60EB8-C6CD-3D51-073E-EC1F9F2413B7}"/>
              </a:ext>
            </a:extLst>
          </p:cNvPr>
          <p:cNvGrpSpPr/>
          <p:nvPr/>
        </p:nvGrpSpPr>
        <p:grpSpPr>
          <a:xfrm>
            <a:off x="1284773" y="3057220"/>
            <a:ext cx="870334" cy="1716198"/>
            <a:chOff x="1231433" y="3057220"/>
            <a:chExt cx="870334" cy="1716198"/>
          </a:xfrm>
        </p:grpSpPr>
        <p:grpSp>
          <p:nvGrpSpPr>
            <p:cNvPr id="16" name="Group 15">
              <a:extLst>
                <a:ext uri="{FF2B5EF4-FFF2-40B4-BE49-F238E27FC236}">
                  <a16:creationId xmlns:a16="http://schemas.microsoft.com/office/drawing/2014/main" id="{806DF38E-E350-2E33-9AB2-0057DEEAE6C1}"/>
                </a:ext>
              </a:extLst>
            </p:cNvPr>
            <p:cNvGrpSpPr/>
            <p:nvPr/>
          </p:nvGrpSpPr>
          <p:grpSpPr>
            <a:xfrm flipV="1">
              <a:off x="1237767" y="3057220"/>
              <a:ext cx="864000" cy="1716198"/>
              <a:chOff x="586746" y="913284"/>
              <a:chExt cx="864000" cy="1716198"/>
            </a:xfrm>
            <a:solidFill>
              <a:srgbClr val="ECBDAB"/>
            </a:solidFill>
          </p:grpSpPr>
          <p:sp>
            <p:nvSpPr>
              <p:cNvPr id="17" name="Oval 16">
                <a:extLst>
                  <a:ext uri="{FF2B5EF4-FFF2-40B4-BE49-F238E27FC236}">
                    <a16:creationId xmlns:a16="http://schemas.microsoft.com/office/drawing/2014/main" id="{B532D884-F2EB-2322-5466-28FB2462DF35}"/>
                  </a:ext>
                </a:extLst>
              </p:cNvPr>
              <p:cNvSpPr/>
              <p:nvPr/>
            </p:nvSpPr>
            <p:spPr>
              <a:xfrm>
                <a:off x="586746" y="913284"/>
                <a:ext cx="864000" cy="8640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endParaRPr>
              </a:p>
            </p:txBody>
          </p:sp>
          <p:cxnSp>
            <p:nvCxnSpPr>
              <p:cNvPr id="19" name="Connector: Elbow 18">
                <a:extLst>
                  <a:ext uri="{FF2B5EF4-FFF2-40B4-BE49-F238E27FC236}">
                    <a16:creationId xmlns:a16="http://schemas.microsoft.com/office/drawing/2014/main" id="{66FA5F86-4737-0AD5-180A-9657B9356CC3}"/>
                  </a:ext>
                </a:extLst>
              </p:cNvPr>
              <p:cNvCxnSpPr>
                <a:stCxn id="17" idx="4"/>
              </p:cNvCxnSpPr>
              <p:nvPr/>
            </p:nvCxnSpPr>
            <p:spPr>
              <a:xfrm rot="5400000">
                <a:off x="586746" y="1993284"/>
                <a:ext cx="648000" cy="216000"/>
              </a:xfrm>
              <a:prstGeom prst="bentConnector3">
                <a:avLst/>
              </a:prstGeom>
              <a:solidFill>
                <a:schemeClr val="accent1"/>
              </a:solidFill>
              <a:ln w="28575">
                <a:solidFill>
                  <a:schemeClr val="accent4"/>
                </a:solidFill>
              </a:ln>
            </p:spPr>
            <p:style>
              <a:lnRef idx="1">
                <a:schemeClr val="accent1"/>
              </a:lnRef>
              <a:fillRef idx="0">
                <a:schemeClr val="accent1"/>
              </a:fillRef>
              <a:effectRef idx="0">
                <a:schemeClr val="accent1"/>
              </a:effectRef>
              <a:fontRef idx="minor">
                <a:schemeClr val="tx1"/>
              </a:fontRef>
            </p:style>
          </p:cxnSp>
          <p:sp>
            <p:nvSpPr>
              <p:cNvPr id="20" name="Oval 19">
                <a:extLst>
                  <a:ext uri="{FF2B5EF4-FFF2-40B4-BE49-F238E27FC236}">
                    <a16:creationId xmlns:a16="http://schemas.microsoft.com/office/drawing/2014/main" id="{E3452ECB-4173-FB45-55A6-18B8973EE160}"/>
                  </a:ext>
                </a:extLst>
              </p:cNvPr>
              <p:cNvSpPr/>
              <p:nvPr/>
            </p:nvSpPr>
            <p:spPr>
              <a:xfrm>
                <a:off x="672520" y="2377482"/>
                <a:ext cx="252000" cy="252000"/>
              </a:xfrm>
              <a:prstGeom prst="ellipse">
                <a:avLst/>
              </a:prstGeom>
              <a:solidFill>
                <a:srgbClr val="FFFFFF"/>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endParaRPr>
              </a:p>
            </p:txBody>
          </p:sp>
        </p:grpSp>
        <p:pic>
          <p:nvPicPr>
            <p:cNvPr id="54301" name="Picture 54300" descr="A red pencil on a paper&#10;&#10;Description automatically generated">
              <a:extLst>
                <a:ext uri="{FF2B5EF4-FFF2-40B4-BE49-F238E27FC236}">
                  <a16:creationId xmlns:a16="http://schemas.microsoft.com/office/drawing/2014/main" id="{6F22FBB2-6D26-42CB-35E6-0E8FAB338183}"/>
                </a:ext>
              </a:extLst>
            </p:cNvPr>
            <p:cNvPicPr>
              <a:picLocks noChangeAspect="1"/>
            </p:cNvPicPr>
            <p:nvPr/>
          </p:nvPicPr>
          <p:blipFill>
            <a:blip r:embed="rId11" cstate="screen">
              <a:biLevel thresh="25000"/>
              <a:extLst>
                <a:ext uri="{28A0092B-C50C-407E-A947-70E740481C1C}">
                  <a14:useLocalDpi xmlns:a14="http://schemas.microsoft.com/office/drawing/2010/main"/>
                </a:ext>
              </a:extLst>
            </a:blip>
            <a:stretch>
              <a:fillRect/>
            </a:stretch>
          </p:blipFill>
          <p:spPr>
            <a:xfrm>
              <a:off x="1231433" y="3907511"/>
              <a:ext cx="864000" cy="864000"/>
            </a:xfrm>
            <a:prstGeom prst="rect">
              <a:avLst/>
            </a:prstGeom>
          </p:spPr>
        </p:pic>
      </p:grpSp>
      <p:grpSp>
        <p:nvGrpSpPr>
          <p:cNvPr id="54309" name="Group 54308">
            <a:extLst>
              <a:ext uri="{FF2B5EF4-FFF2-40B4-BE49-F238E27FC236}">
                <a16:creationId xmlns:a16="http://schemas.microsoft.com/office/drawing/2014/main" id="{628EC836-21C1-AB39-63BA-1CE207CE4C28}"/>
              </a:ext>
            </a:extLst>
          </p:cNvPr>
          <p:cNvGrpSpPr/>
          <p:nvPr/>
        </p:nvGrpSpPr>
        <p:grpSpPr>
          <a:xfrm>
            <a:off x="3196228" y="3067975"/>
            <a:ext cx="900000" cy="1710881"/>
            <a:chOff x="3203848" y="3067975"/>
            <a:chExt cx="900000" cy="1710881"/>
          </a:xfrm>
        </p:grpSpPr>
        <p:grpSp>
          <p:nvGrpSpPr>
            <p:cNvPr id="30" name="Group 29">
              <a:extLst>
                <a:ext uri="{FF2B5EF4-FFF2-40B4-BE49-F238E27FC236}">
                  <a16:creationId xmlns:a16="http://schemas.microsoft.com/office/drawing/2014/main" id="{B290066F-7796-9063-536F-809750742B68}"/>
                </a:ext>
              </a:extLst>
            </p:cNvPr>
            <p:cNvGrpSpPr/>
            <p:nvPr/>
          </p:nvGrpSpPr>
          <p:grpSpPr>
            <a:xfrm flipV="1">
              <a:off x="3215389" y="3067975"/>
              <a:ext cx="864000" cy="1699729"/>
              <a:chOff x="586746" y="913284"/>
              <a:chExt cx="864000" cy="1699729"/>
            </a:xfrm>
            <a:solidFill>
              <a:srgbClr val="ECBDAB"/>
            </a:solidFill>
          </p:grpSpPr>
          <p:sp>
            <p:nvSpPr>
              <p:cNvPr id="31" name="Oval 30">
                <a:extLst>
                  <a:ext uri="{FF2B5EF4-FFF2-40B4-BE49-F238E27FC236}">
                    <a16:creationId xmlns:a16="http://schemas.microsoft.com/office/drawing/2014/main" id="{87D29B65-8E99-A152-7857-DAFD6727E76E}"/>
                  </a:ext>
                </a:extLst>
              </p:cNvPr>
              <p:cNvSpPr/>
              <p:nvPr/>
            </p:nvSpPr>
            <p:spPr>
              <a:xfrm>
                <a:off x="586746" y="913284"/>
                <a:ext cx="864000" cy="8640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endParaRPr>
              </a:p>
            </p:txBody>
          </p:sp>
          <p:cxnSp>
            <p:nvCxnSpPr>
              <p:cNvPr id="32" name="Connector: Elbow 31">
                <a:extLst>
                  <a:ext uri="{FF2B5EF4-FFF2-40B4-BE49-F238E27FC236}">
                    <a16:creationId xmlns:a16="http://schemas.microsoft.com/office/drawing/2014/main" id="{87FC0A8F-AB86-05CD-F99D-4E14EFAB4C40}"/>
                  </a:ext>
                </a:extLst>
              </p:cNvPr>
              <p:cNvCxnSpPr>
                <a:stCxn id="31" idx="4"/>
              </p:cNvCxnSpPr>
              <p:nvPr/>
            </p:nvCxnSpPr>
            <p:spPr>
              <a:xfrm rot="5400000">
                <a:off x="586746" y="1993284"/>
                <a:ext cx="648000" cy="216000"/>
              </a:xfrm>
              <a:prstGeom prst="bentConnector3">
                <a:avLst/>
              </a:prstGeom>
              <a:solidFill>
                <a:schemeClr val="accent1"/>
              </a:solidFill>
              <a:ln w="28575">
                <a:solidFill>
                  <a:schemeClr val="accent4"/>
                </a:solidFill>
              </a:ln>
            </p:spPr>
            <p:style>
              <a:lnRef idx="1">
                <a:schemeClr val="accent1"/>
              </a:lnRef>
              <a:fillRef idx="0">
                <a:schemeClr val="accent1"/>
              </a:fillRef>
              <a:effectRef idx="0">
                <a:schemeClr val="accent1"/>
              </a:effectRef>
              <a:fontRef idx="minor">
                <a:schemeClr val="tx1"/>
              </a:fontRef>
            </p:style>
          </p:cxnSp>
          <p:sp>
            <p:nvSpPr>
              <p:cNvPr id="33" name="Oval 32">
                <a:extLst>
                  <a:ext uri="{FF2B5EF4-FFF2-40B4-BE49-F238E27FC236}">
                    <a16:creationId xmlns:a16="http://schemas.microsoft.com/office/drawing/2014/main" id="{E506434F-C172-AA7A-C0FA-B0384FBF0DAF}"/>
                  </a:ext>
                </a:extLst>
              </p:cNvPr>
              <p:cNvSpPr/>
              <p:nvPr/>
            </p:nvSpPr>
            <p:spPr>
              <a:xfrm>
                <a:off x="672520" y="2361013"/>
                <a:ext cx="252000" cy="252000"/>
              </a:xfrm>
              <a:prstGeom prst="ellipse">
                <a:avLst/>
              </a:prstGeom>
              <a:solidFill>
                <a:srgbClr val="FFFFFF"/>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endParaRPr>
              </a:p>
            </p:txBody>
          </p:sp>
        </p:grpSp>
        <p:pic>
          <p:nvPicPr>
            <p:cNvPr id="54302" name="Picture 54301" descr="A red logo on a black background&#10;&#10;Description automatically generated">
              <a:extLst>
                <a:ext uri="{FF2B5EF4-FFF2-40B4-BE49-F238E27FC236}">
                  <a16:creationId xmlns:a16="http://schemas.microsoft.com/office/drawing/2014/main" id="{0B35FB48-B0A5-5454-76CC-C863C1732101}"/>
                </a:ext>
              </a:extLst>
            </p:cNvPr>
            <p:cNvPicPr>
              <a:picLocks noChangeAspect="1"/>
            </p:cNvPicPr>
            <p:nvPr/>
          </p:nvPicPr>
          <p:blipFill>
            <a:blip r:embed="rId12" cstate="screen">
              <a:biLevel thresh="25000"/>
              <a:extLst>
                <a:ext uri="{28A0092B-C50C-407E-A947-70E740481C1C}">
                  <a14:useLocalDpi xmlns:a14="http://schemas.microsoft.com/office/drawing/2010/main"/>
                </a:ext>
              </a:extLst>
            </a:blip>
            <a:stretch>
              <a:fillRect/>
            </a:stretch>
          </p:blipFill>
          <p:spPr>
            <a:xfrm>
              <a:off x="3203848" y="3878856"/>
              <a:ext cx="900000" cy="900000"/>
            </a:xfrm>
            <a:prstGeom prst="rect">
              <a:avLst/>
            </a:prstGeom>
          </p:spPr>
        </p:pic>
      </p:grpSp>
      <p:grpSp>
        <p:nvGrpSpPr>
          <p:cNvPr id="54307" name="Group 54306">
            <a:extLst>
              <a:ext uri="{FF2B5EF4-FFF2-40B4-BE49-F238E27FC236}">
                <a16:creationId xmlns:a16="http://schemas.microsoft.com/office/drawing/2014/main" id="{4AF31369-5D44-2854-8B88-7BCEC62596B7}"/>
              </a:ext>
            </a:extLst>
          </p:cNvPr>
          <p:cNvGrpSpPr/>
          <p:nvPr/>
        </p:nvGrpSpPr>
        <p:grpSpPr>
          <a:xfrm>
            <a:off x="4140053" y="1540684"/>
            <a:ext cx="864000" cy="1748863"/>
            <a:chOff x="4140053" y="1540684"/>
            <a:chExt cx="864000" cy="1748863"/>
          </a:xfrm>
        </p:grpSpPr>
        <p:grpSp>
          <p:nvGrpSpPr>
            <p:cNvPr id="36" name="Group 35">
              <a:extLst>
                <a:ext uri="{FF2B5EF4-FFF2-40B4-BE49-F238E27FC236}">
                  <a16:creationId xmlns:a16="http://schemas.microsoft.com/office/drawing/2014/main" id="{C7DA81D3-6451-6EA8-6207-2F7C58996862}"/>
                </a:ext>
              </a:extLst>
            </p:cNvPr>
            <p:cNvGrpSpPr/>
            <p:nvPr/>
          </p:nvGrpSpPr>
          <p:grpSpPr>
            <a:xfrm rot="10800000" flipV="1">
              <a:off x="4140053" y="1557195"/>
              <a:ext cx="864000" cy="1732352"/>
              <a:chOff x="586746" y="913284"/>
              <a:chExt cx="864000" cy="1732352"/>
            </a:xfrm>
          </p:grpSpPr>
          <p:sp>
            <p:nvSpPr>
              <p:cNvPr id="37" name="Oval 36">
                <a:extLst>
                  <a:ext uri="{FF2B5EF4-FFF2-40B4-BE49-F238E27FC236}">
                    <a16:creationId xmlns:a16="http://schemas.microsoft.com/office/drawing/2014/main" id="{2200A1DE-7C9B-5807-10B1-D77B6E178BCC}"/>
                  </a:ext>
                </a:extLst>
              </p:cNvPr>
              <p:cNvSpPr/>
              <p:nvPr/>
            </p:nvSpPr>
            <p:spPr>
              <a:xfrm>
                <a:off x="586746" y="913284"/>
                <a:ext cx="864000" cy="864000"/>
              </a:xfrm>
              <a:prstGeom prst="ellipse">
                <a:avLst/>
              </a:prstGeom>
              <a:solidFill>
                <a:schemeClr val="hlink"/>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endParaRPr>
              </a:p>
            </p:txBody>
          </p:sp>
          <p:cxnSp>
            <p:nvCxnSpPr>
              <p:cNvPr id="40" name="Connector: Elbow 39">
                <a:extLst>
                  <a:ext uri="{FF2B5EF4-FFF2-40B4-BE49-F238E27FC236}">
                    <a16:creationId xmlns:a16="http://schemas.microsoft.com/office/drawing/2014/main" id="{9B257A5C-731E-368F-04D6-68A85FFE1F78}"/>
                  </a:ext>
                </a:extLst>
              </p:cNvPr>
              <p:cNvCxnSpPr>
                <a:cxnSpLocks/>
              </p:cNvCxnSpPr>
              <p:nvPr/>
            </p:nvCxnSpPr>
            <p:spPr>
              <a:xfrm rot="16200000" flipH="1">
                <a:off x="800106" y="1993284"/>
                <a:ext cx="648000" cy="216000"/>
              </a:xfrm>
              <a:prstGeom prst="bentConnector3">
                <a:avLst/>
              </a:prstGeom>
              <a:ln w="28575">
                <a:solidFill>
                  <a:schemeClr val="hlink"/>
                </a:solidFill>
              </a:ln>
            </p:spPr>
            <p:style>
              <a:lnRef idx="1">
                <a:schemeClr val="accent1"/>
              </a:lnRef>
              <a:fillRef idx="0">
                <a:schemeClr val="accent1"/>
              </a:fillRef>
              <a:effectRef idx="0">
                <a:schemeClr val="accent1"/>
              </a:effectRef>
              <a:fontRef idx="minor">
                <a:schemeClr val="tx1"/>
              </a:fontRef>
            </p:style>
          </p:cxnSp>
          <p:sp>
            <p:nvSpPr>
              <p:cNvPr id="41" name="Oval 40">
                <a:extLst>
                  <a:ext uri="{FF2B5EF4-FFF2-40B4-BE49-F238E27FC236}">
                    <a16:creationId xmlns:a16="http://schemas.microsoft.com/office/drawing/2014/main" id="{A86E1408-673C-5491-04D2-C6B0AECBF5AC}"/>
                  </a:ext>
                </a:extLst>
              </p:cNvPr>
              <p:cNvSpPr/>
              <p:nvPr/>
            </p:nvSpPr>
            <p:spPr>
              <a:xfrm>
                <a:off x="1106643" y="2393636"/>
                <a:ext cx="252000" cy="252000"/>
              </a:xfrm>
              <a:prstGeom prst="ellipse">
                <a:avLst/>
              </a:prstGeom>
              <a:solidFill>
                <a:srgbClr val="FFFFFF"/>
              </a:solidFill>
              <a:ln>
                <a:solidFill>
                  <a:schemeClr val="hlink"/>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endParaRPr>
              </a:p>
            </p:txBody>
          </p:sp>
        </p:grpSp>
        <p:pic>
          <p:nvPicPr>
            <p:cNvPr id="54303" name="Picture 54302" descr="A white icon with a person and a speech bubble&#10;&#10;Description automatically generated">
              <a:extLst>
                <a:ext uri="{FF2B5EF4-FFF2-40B4-BE49-F238E27FC236}">
                  <a16:creationId xmlns:a16="http://schemas.microsoft.com/office/drawing/2014/main" id="{3E80D2DD-AFC0-8C7F-F4E8-BBEC9229C743}"/>
                </a:ext>
              </a:extLst>
            </p:cNvPr>
            <p:cNvPicPr>
              <a:picLocks noChangeAspect="1"/>
            </p:cNvPicPr>
            <p:nvPr/>
          </p:nvPicPr>
          <p:blipFill>
            <a:blip r:embed="rId13">
              <a:extLst>
                <a:ext uri="{28A0092B-C50C-407E-A947-70E740481C1C}">
                  <a14:useLocalDpi xmlns:a14="http://schemas.microsoft.com/office/drawing/2010/main"/>
                </a:ext>
              </a:extLst>
            </a:blip>
            <a:stretch>
              <a:fillRect/>
            </a:stretch>
          </p:blipFill>
          <p:spPr>
            <a:xfrm>
              <a:off x="4145568" y="1540684"/>
              <a:ext cx="828000" cy="828000"/>
            </a:xfrm>
            <a:prstGeom prst="rect">
              <a:avLst/>
            </a:prstGeom>
          </p:spPr>
        </p:pic>
      </p:grpSp>
      <p:grpSp>
        <p:nvGrpSpPr>
          <p:cNvPr id="54308" name="Group 54307">
            <a:extLst>
              <a:ext uri="{FF2B5EF4-FFF2-40B4-BE49-F238E27FC236}">
                <a16:creationId xmlns:a16="http://schemas.microsoft.com/office/drawing/2014/main" id="{0167EEE2-42E3-9A74-187F-91B252CC051E}"/>
              </a:ext>
            </a:extLst>
          </p:cNvPr>
          <p:cNvGrpSpPr/>
          <p:nvPr/>
        </p:nvGrpSpPr>
        <p:grpSpPr>
          <a:xfrm>
            <a:off x="6153805" y="1561356"/>
            <a:ext cx="904382" cy="1728192"/>
            <a:chOff x="5937781" y="1561356"/>
            <a:chExt cx="904382" cy="1728192"/>
          </a:xfrm>
        </p:grpSpPr>
        <p:grpSp>
          <p:nvGrpSpPr>
            <p:cNvPr id="54282" name="Group 54281">
              <a:extLst>
                <a:ext uri="{FF2B5EF4-FFF2-40B4-BE49-F238E27FC236}">
                  <a16:creationId xmlns:a16="http://schemas.microsoft.com/office/drawing/2014/main" id="{302A7F09-9EAF-5A15-FF34-7F12FA7BB35D}"/>
                </a:ext>
              </a:extLst>
            </p:cNvPr>
            <p:cNvGrpSpPr/>
            <p:nvPr/>
          </p:nvGrpSpPr>
          <p:grpSpPr>
            <a:xfrm rot="10800000" flipV="1">
              <a:off x="5937781" y="1576425"/>
              <a:ext cx="864000" cy="1713123"/>
              <a:chOff x="586746" y="913284"/>
              <a:chExt cx="864000" cy="1713123"/>
            </a:xfrm>
          </p:grpSpPr>
          <p:sp>
            <p:nvSpPr>
              <p:cNvPr id="54283" name="Oval 54282">
                <a:extLst>
                  <a:ext uri="{FF2B5EF4-FFF2-40B4-BE49-F238E27FC236}">
                    <a16:creationId xmlns:a16="http://schemas.microsoft.com/office/drawing/2014/main" id="{06FE9A64-36D6-18B1-4770-70AFC2E16B0F}"/>
                  </a:ext>
                </a:extLst>
              </p:cNvPr>
              <p:cNvSpPr/>
              <p:nvPr/>
            </p:nvSpPr>
            <p:spPr>
              <a:xfrm>
                <a:off x="586746" y="913284"/>
                <a:ext cx="864000" cy="864000"/>
              </a:xfrm>
              <a:prstGeom prst="ellipse">
                <a:avLst/>
              </a:prstGeom>
              <a:solidFill>
                <a:schemeClr val="hlink"/>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endParaRPr>
              </a:p>
            </p:txBody>
          </p:sp>
          <p:cxnSp>
            <p:nvCxnSpPr>
              <p:cNvPr id="54284" name="Connector: Elbow 54283">
                <a:extLst>
                  <a:ext uri="{FF2B5EF4-FFF2-40B4-BE49-F238E27FC236}">
                    <a16:creationId xmlns:a16="http://schemas.microsoft.com/office/drawing/2014/main" id="{38B0F945-4E20-C10B-1C66-59A157845070}"/>
                  </a:ext>
                </a:extLst>
              </p:cNvPr>
              <p:cNvCxnSpPr>
                <a:cxnSpLocks/>
              </p:cNvCxnSpPr>
              <p:nvPr/>
            </p:nvCxnSpPr>
            <p:spPr>
              <a:xfrm rot="16200000" flipH="1">
                <a:off x="793357" y="1993284"/>
                <a:ext cx="648000" cy="216000"/>
              </a:xfrm>
              <a:prstGeom prst="bentConnector3">
                <a:avLst/>
              </a:prstGeom>
              <a:ln w="28575">
                <a:solidFill>
                  <a:schemeClr val="hlink"/>
                </a:solidFill>
              </a:ln>
            </p:spPr>
            <p:style>
              <a:lnRef idx="1">
                <a:schemeClr val="accent1"/>
              </a:lnRef>
              <a:fillRef idx="0">
                <a:schemeClr val="accent1"/>
              </a:fillRef>
              <a:effectRef idx="0">
                <a:schemeClr val="accent1"/>
              </a:effectRef>
              <a:fontRef idx="minor">
                <a:schemeClr val="tx1"/>
              </a:fontRef>
            </p:style>
          </p:cxnSp>
          <p:sp>
            <p:nvSpPr>
              <p:cNvPr id="54285" name="Oval 54284">
                <a:extLst>
                  <a:ext uri="{FF2B5EF4-FFF2-40B4-BE49-F238E27FC236}">
                    <a16:creationId xmlns:a16="http://schemas.microsoft.com/office/drawing/2014/main" id="{31CBABEA-3822-3F72-4741-24414E6CD891}"/>
                  </a:ext>
                </a:extLst>
              </p:cNvPr>
              <p:cNvSpPr/>
              <p:nvPr/>
            </p:nvSpPr>
            <p:spPr>
              <a:xfrm>
                <a:off x="1094513" y="2374407"/>
                <a:ext cx="252000" cy="252000"/>
              </a:xfrm>
              <a:prstGeom prst="ellipse">
                <a:avLst/>
              </a:prstGeom>
              <a:solidFill>
                <a:srgbClr val="FFFFFF"/>
              </a:solidFill>
              <a:ln>
                <a:solidFill>
                  <a:schemeClr val="hlink"/>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endParaRPr>
              </a:p>
            </p:txBody>
          </p:sp>
        </p:grpSp>
        <p:pic>
          <p:nvPicPr>
            <p:cNvPr id="54304" name="Picture 54303" descr="A red line drawing of a paper with check marks&#10;&#10;Description automatically generated">
              <a:extLst>
                <a:ext uri="{FF2B5EF4-FFF2-40B4-BE49-F238E27FC236}">
                  <a16:creationId xmlns:a16="http://schemas.microsoft.com/office/drawing/2014/main" id="{24126573-67E1-826C-FE47-FF8B5B82E496}"/>
                </a:ext>
              </a:extLst>
            </p:cNvPr>
            <p:cNvPicPr>
              <a:picLocks noChangeAspect="1"/>
            </p:cNvPicPr>
            <p:nvPr/>
          </p:nvPicPr>
          <p:blipFill>
            <a:blip r:embed="rId14" cstate="screen">
              <a:biLevel thresh="25000"/>
              <a:extLst>
                <a:ext uri="{28A0092B-C50C-407E-A947-70E740481C1C}">
                  <a14:useLocalDpi xmlns:a14="http://schemas.microsoft.com/office/drawing/2010/main"/>
                </a:ext>
              </a:extLst>
            </a:blip>
            <a:stretch>
              <a:fillRect/>
            </a:stretch>
          </p:blipFill>
          <p:spPr>
            <a:xfrm>
              <a:off x="5942163" y="1561356"/>
              <a:ext cx="900000" cy="900000"/>
            </a:xfrm>
            <a:prstGeom prst="rect">
              <a:avLst/>
            </a:prstGeom>
          </p:spPr>
        </p:pic>
      </p:grpSp>
      <p:pic>
        <p:nvPicPr>
          <p:cNvPr id="54305" name="Picture 54304" descr="A white line drawing of a document&#10;&#10;Description automatically generated">
            <a:extLst>
              <a:ext uri="{FF2B5EF4-FFF2-40B4-BE49-F238E27FC236}">
                <a16:creationId xmlns:a16="http://schemas.microsoft.com/office/drawing/2014/main" id="{A623A76D-7A3B-8E0F-8933-E9A7DF2056C1}"/>
              </a:ext>
            </a:extLst>
          </p:cNvPr>
          <p:cNvPicPr>
            <a:picLocks noChangeAspect="1"/>
          </p:cNvPicPr>
          <p:nvPr/>
        </p:nvPicPr>
        <p:blipFill>
          <a:blip r:embed="rId15">
            <a:extLst>
              <a:ext uri="{28A0092B-C50C-407E-A947-70E740481C1C}">
                <a14:useLocalDpi xmlns:a14="http://schemas.microsoft.com/office/drawing/2010/main"/>
              </a:ext>
            </a:extLst>
          </a:blip>
          <a:stretch>
            <a:fillRect/>
          </a:stretch>
        </p:blipFill>
        <p:spPr>
          <a:xfrm>
            <a:off x="7964100" y="1572684"/>
            <a:ext cx="828000" cy="828000"/>
          </a:xfrm>
          <a:prstGeom prst="rect">
            <a:avLst/>
          </a:prstGeom>
        </p:spPr>
      </p:pic>
      <p:sp>
        <p:nvSpPr>
          <p:cNvPr id="6" name="Textfeld 30">
            <a:extLst>
              <a:ext uri="{FF2B5EF4-FFF2-40B4-BE49-F238E27FC236}">
                <a16:creationId xmlns:a16="http://schemas.microsoft.com/office/drawing/2014/main" id="{E9B10CAA-3BA3-95FA-23CA-5637A4629EBC}"/>
              </a:ext>
            </a:extLst>
          </p:cNvPr>
          <p:cNvSpPr txBox="1">
            <a:spLocks noChangeArrowheads="1"/>
          </p:cNvSpPr>
          <p:nvPr/>
        </p:nvSpPr>
        <p:spPr bwMode="auto">
          <a:xfrm>
            <a:off x="301865" y="894700"/>
            <a:ext cx="1461823"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defRPr sz="2200" b="1">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200">
                <a:solidFill>
                  <a:schemeClr val="tx1"/>
                </a:solidFill>
                <a:latin typeface="Arial" panose="020B0604020202020204" pitchFamily="34" charset="0"/>
                <a:cs typeface="Arial" panose="020B0604020202020204" pitchFamily="34" charset="0"/>
              </a:defRPr>
            </a:lvl2pPr>
            <a:lvl3pPr marL="1143000" indent="-228600">
              <a:spcBef>
                <a:spcPct val="20000"/>
              </a:spcBef>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3pPr>
            <a:lvl4pPr marL="1600200" indent="-228600">
              <a:lnSpc>
                <a:spcPts val="3000"/>
              </a:lnSpc>
              <a:buSzPct val="80000"/>
              <a:buFont typeface="Wingdings" panose="05000000000000000000" pitchFamily="2" charset="2"/>
              <a:buChar char="§"/>
              <a:defRPr sz="2200">
                <a:solidFill>
                  <a:schemeClr val="tx1"/>
                </a:solidFill>
                <a:latin typeface="Arial" panose="020B0604020202020204" pitchFamily="34" charset="0"/>
                <a:cs typeface="Arial" panose="020B0604020202020204" pitchFamily="34" charset="0"/>
              </a:defRPr>
            </a:lvl4pPr>
            <a:lvl5pPr marL="2057400" indent="-228600">
              <a:lnSpc>
                <a:spcPts val="3000"/>
              </a:lnSpc>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lnSpc>
                <a:spcPts val="3000"/>
              </a:lnSpc>
              <a:spcBef>
                <a:spcPct val="0"/>
              </a:spcBef>
              <a:spcAft>
                <a:spcPct val="0"/>
              </a:spcAft>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lnSpc>
                <a:spcPts val="3000"/>
              </a:lnSpc>
              <a:spcBef>
                <a:spcPct val="0"/>
              </a:spcBef>
              <a:spcAft>
                <a:spcPct val="0"/>
              </a:spcAft>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lnSpc>
                <a:spcPts val="3000"/>
              </a:lnSpc>
              <a:spcBef>
                <a:spcPct val="0"/>
              </a:spcBef>
              <a:spcAft>
                <a:spcPct val="0"/>
              </a:spcAft>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lnSpc>
                <a:spcPts val="3000"/>
              </a:lnSpc>
              <a:spcBef>
                <a:spcPct val="0"/>
              </a:spcBef>
              <a:spcAft>
                <a:spcPct val="0"/>
              </a:spcAft>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pPr>
            <a:r>
              <a:rPr lang="fr-FR" altLang="de-DE" sz="1050" dirty="0">
                <a:solidFill>
                  <a:schemeClr val="accent3"/>
                </a:solidFill>
                <a:ea typeface="MS PGothic" panose="020B0600070205080204" pitchFamily="34" charset="-128"/>
              </a:rPr>
              <a:t>Réunion </a:t>
            </a:r>
            <a:br>
              <a:rPr lang="fr-FR" altLang="de-DE" sz="1050" dirty="0">
                <a:solidFill>
                  <a:schemeClr val="accent3"/>
                </a:solidFill>
                <a:ea typeface="MS PGothic" panose="020B0600070205080204" pitchFamily="34" charset="-128"/>
              </a:rPr>
            </a:br>
            <a:r>
              <a:rPr lang="fr-FR" altLang="de-DE" sz="1050" dirty="0">
                <a:solidFill>
                  <a:schemeClr val="accent3"/>
                </a:solidFill>
                <a:ea typeface="MS PGothic" panose="020B0600070205080204" pitchFamily="34" charset="-128"/>
              </a:rPr>
              <a:t>avec votre client</a:t>
            </a:r>
          </a:p>
          <a:p>
            <a:pPr>
              <a:spcBef>
                <a:spcPct val="0"/>
              </a:spcBef>
            </a:pPr>
            <a:endParaRPr lang="fr-FR" altLang="de-DE" sz="1050" b="0" dirty="0">
              <a:solidFill>
                <a:schemeClr val="accent3"/>
              </a:solidFill>
              <a:ea typeface="MS PGothic" panose="020B0600070205080204" pitchFamily="34" charset="-128"/>
            </a:endParaRPr>
          </a:p>
          <a:p>
            <a:pPr>
              <a:spcBef>
                <a:spcPct val="0"/>
              </a:spcBef>
            </a:pPr>
            <a:r>
              <a:rPr lang="fr-FR" altLang="de-DE" sz="1050" b="0" dirty="0">
                <a:solidFill>
                  <a:schemeClr val="accent3"/>
                </a:solidFill>
                <a:ea typeface="MS PGothic" panose="020B0600070205080204" pitchFamily="34" charset="-128"/>
              </a:rPr>
              <a:t> </a:t>
            </a:r>
          </a:p>
        </p:txBody>
      </p:sp>
      <p:sp>
        <p:nvSpPr>
          <p:cNvPr id="11" name="Textfeld 36">
            <a:extLst>
              <a:ext uri="{FF2B5EF4-FFF2-40B4-BE49-F238E27FC236}">
                <a16:creationId xmlns:a16="http://schemas.microsoft.com/office/drawing/2014/main" id="{CFF1D0D7-BC42-49C4-71F2-9CB59B722FF5}"/>
              </a:ext>
            </a:extLst>
          </p:cNvPr>
          <p:cNvSpPr txBox="1">
            <a:spLocks noChangeArrowheads="1"/>
          </p:cNvSpPr>
          <p:nvPr/>
        </p:nvSpPr>
        <p:spPr bwMode="auto">
          <a:xfrm>
            <a:off x="2914655" y="4792552"/>
            <a:ext cx="1463146" cy="5437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defRPr sz="2200" b="1">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200">
                <a:solidFill>
                  <a:schemeClr val="tx1"/>
                </a:solidFill>
                <a:latin typeface="Arial" panose="020B0604020202020204" pitchFamily="34" charset="0"/>
                <a:cs typeface="Arial" panose="020B0604020202020204" pitchFamily="34" charset="0"/>
              </a:defRPr>
            </a:lvl2pPr>
            <a:lvl3pPr marL="1143000" indent="-228600">
              <a:spcBef>
                <a:spcPct val="20000"/>
              </a:spcBef>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3pPr>
            <a:lvl4pPr marL="1600200" indent="-228600">
              <a:lnSpc>
                <a:spcPts val="3000"/>
              </a:lnSpc>
              <a:buSzPct val="80000"/>
              <a:buFont typeface="Wingdings" panose="05000000000000000000" pitchFamily="2" charset="2"/>
              <a:buChar char="§"/>
              <a:defRPr sz="2200">
                <a:solidFill>
                  <a:schemeClr val="tx1"/>
                </a:solidFill>
                <a:latin typeface="Arial" panose="020B0604020202020204" pitchFamily="34" charset="0"/>
                <a:cs typeface="Arial" panose="020B0604020202020204" pitchFamily="34" charset="0"/>
              </a:defRPr>
            </a:lvl4pPr>
            <a:lvl5pPr marL="2057400" indent="-228600">
              <a:lnSpc>
                <a:spcPts val="3000"/>
              </a:lnSpc>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lnSpc>
                <a:spcPts val="3000"/>
              </a:lnSpc>
              <a:spcBef>
                <a:spcPct val="0"/>
              </a:spcBef>
              <a:spcAft>
                <a:spcPct val="0"/>
              </a:spcAft>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lnSpc>
                <a:spcPts val="3000"/>
              </a:lnSpc>
              <a:spcBef>
                <a:spcPct val="0"/>
              </a:spcBef>
              <a:spcAft>
                <a:spcPct val="0"/>
              </a:spcAft>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lnSpc>
                <a:spcPts val="3000"/>
              </a:lnSpc>
              <a:spcBef>
                <a:spcPct val="0"/>
              </a:spcBef>
              <a:spcAft>
                <a:spcPct val="0"/>
              </a:spcAft>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lnSpc>
                <a:spcPts val="3000"/>
              </a:lnSpc>
              <a:spcBef>
                <a:spcPct val="0"/>
              </a:spcBef>
              <a:spcAft>
                <a:spcPct val="0"/>
              </a:spcAft>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pPr>
            <a:r>
              <a:rPr lang="fr-FR" altLang="de-DE" sz="1000" dirty="0">
                <a:solidFill>
                  <a:schemeClr val="accent3"/>
                </a:solidFill>
                <a:ea typeface="MS PGothic" panose="020B0600070205080204" pitchFamily="34" charset="-128"/>
              </a:rPr>
              <a:t>Banque dépositaire</a:t>
            </a:r>
          </a:p>
          <a:p>
            <a:pPr algn="ctr">
              <a:spcBef>
                <a:spcPts val="400"/>
              </a:spcBef>
            </a:pPr>
            <a:r>
              <a:rPr lang="fr-FR" altLang="de-DE" sz="800" b="0" dirty="0">
                <a:solidFill>
                  <a:schemeClr val="accent3"/>
                </a:solidFill>
                <a:ea typeface="MS PGothic" panose="020B0600070205080204" pitchFamily="34" charset="-128"/>
              </a:rPr>
              <a:t>Compte ouvert au nom de Swiss Life</a:t>
            </a:r>
          </a:p>
        </p:txBody>
      </p:sp>
      <p:sp>
        <p:nvSpPr>
          <p:cNvPr id="21" name="Textfeld 34">
            <a:extLst>
              <a:ext uri="{FF2B5EF4-FFF2-40B4-BE49-F238E27FC236}">
                <a16:creationId xmlns:a16="http://schemas.microsoft.com/office/drawing/2014/main" id="{9A4AA255-4AA7-BE2E-2594-CD33B51F9C4E}"/>
              </a:ext>
            </a:extLst>
          </p:cNvPr>
          <p:cNvSpPr txBox="1">
            <a:spLocks noChangeArrowheads="1"/>
          </p:cNvSpPr>
          <p:nvPr/>
        </p:nvSpPr>
        <p:spPr bwMode="auto">
          <a:xfrm>
            <a:off x="2252504" y="887006"/>
            <a:ext cx="1634606" cy="746358"/>
          </a:xfrm>
          <a:prstGeom prst="rect">
            <a:avLst/>
          </a:prstGeom>
          <a:noFill/>
          <a:ln w="3175">
            <a:noFill/>
            <a:miter lim="800000"/>
            <a:headEnd/>
            <a:tailEnd/>
          </a:ln>
        </p:spPr>
        <p:txBody>
          <a:bodyPr wrap="square">
            <a:spAutoFit/>
          </a:bodyPr>
          <a:lstStyle>
            <a:lvl1pPr>
              <a:spcBef>
                <a:spcPct val="20000"/>
              </a:spcBef>
              <a:defRPr sz="2200" b="1">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200">
                <a:solidFill>
                  <a:schemeClr val="tx1"/>
                </a:solidFill>
                <a:latin typeface="Arial" panose="020B0604020202020204" pitchFamily="34" charset="0"/>
                <a:cs typeface="Arial" panose="020B0604020202020204" pitchFamily="34" charset="0"/>
              </a:defRPr>
            </a:lvl2pPr>
            <a:lvl3pPr marL="1143000" indent="-228600">
              <a:spcBef>
                <a:spcPct val="20000"/>
              </a:spcBef>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3pPr>
            <a:lvl4pPr marL="1600200" indent="-228600">
              <a:lnSpc>
                <a:spcPts val="3000"/>
              </a:lnSpc>
              <a:buSzPct val="80000"/>
              <a:buFont typeface="Wingdings" panose="05000000000000000000" pitchFamily="2" charset="2"/>
              <a:buChar char="§"/>
              <a:defRPr sz="2200">
                <a:solidFill>
                  <a:schemeClr val="tx1"/>
                </a:solidFill>
                <a:latin typeface="Arial" panose="020B0604020202020204" pitchFamily="34" charset="0"/>
                <a:cs typeface="Arial" panose="020B0604020202020204" pitchFamily="34" charset="0"/>
              </a:defRPr>
            </a:lvl4pPr>
            <a:lvl5pPr marL="2057400" indent="-228600">
              <a:lnSpc>
                <a:spcPts val="3000"/>
              </a:lnSpc>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lnSpc>
                <a:spcPts val="3000"/>
              </a:lnSpc>
              <a:spcBef>
                <a:spcPct val="0"/>
              </a:spcBef>
              <a:spcAft>
                <a:spcPct val="0"/>
              </a:spcAft>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lnSpc>
                <a:spcPts val="3000"/>
              </a:lnSpc>
              <a:spcBef>
                <a:spcPct val="0"/>
              </a:spcBef>
              <a:spcAft>
                <a:spcPct val="0"/>
              </a:spcAft>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lnSpc>
                <a:spcPts val="3000"/>
              </a:lnSpc>
              <a:spcBef>
                <a:spcPct val="0"/>
              </a:spcBef>
              <a:spcAft>
                <a:spcPct val="0"/>
              </a:spcAft>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lnSpc>
                <a:spcPts val="3000"/>
              </a:lnSpc>
              <a:spcBef>
                <a:spcPct val="0"/>
              </a:spcBef>
              <a:spcAft>
                <a:spcPct val="0"/>
              </a:spcAft>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pPr>
            <a:r>
              <a:rPr lang="fr-FR" altLang="de-DE" sz="1050">
                <a:solidFill>
                  <a:schemeClr val="accent3"/>
                </a:solidFill>
                <a:ea typeface="MS PGothic" panose="020B0600070205080204" pitchFamily="34" charset="-128"/>
              </a:rPr>
              <a:t>Swiss Life</a:t>
            </a:r>
          </a:p>
          <a:p>
            <a:pPr marL="95250" indent="-95250">
              <a:spcBef>
                <a:spcPts val="0"/>
              </a:spcBef>
              <a:buFont typeface="Arial" panose="020B0604020202020204" pitchFamily="34" charset="0"/>
              <a:buChar char="•"/>
            </a:pPr>
            <a:r>
              <a:rPr lang="fr-FR" altLang="de-DE" sz="800" b="0">
                <a:solidFill>
                  <a:schemeClr val="accent3"/>
                </a:solidFill>
                <a:ea typeface="MS PGothic" panose="020B0600070205080204" pitchFamily="34" charset="-128"/>
              </a:rPr>
              <a:t>Vérification </a:t>
            </a:r>
            <a:r>
              <a:rPr lang="fr-FR" altLang="de-DE" sz="800" b="0" dirty="0">
                <a:solidFill>
                  <a:schemeClr val="accent3"/>
                </a:solidFill>
                <a:ea typeface="MS PGothic" panose="020B0600070205080204" pitchFamily="34" charset="-128"/>
              </a:rPr>
              <a:t>de conformité</a:t>
            </a:r>
          </a:p>
          <a:p>
            <a:pPr marL="95250" indent="-95250">
              <a:spcBef>
                <a:spcPts val="0"/>
              </a:spcBef>
              <a:buFont typeface="Arial" panose="020B0604020202020204" pitchFamily="34" charset="0"/>
              <a:buChar char="•"/>
            </a:pPr>
            <a:r>
              <a:rPr lang="fr-FR" altLang="de-DE" sz="800" b="0" dirty="0">
                <a:solidFill>
                  <a:schemeClr val="accent3"/>
                </a:solidFill>
                <a:ea typeface="MS PGothic" panose="020B0600070205080204" pitchFamily="34" charset="-128"/>
              </a:rPr>
              <a:t>Vérification des données</a:t>
            </a:r>
          </a:p>
          <a:p>
            <a:pPr marL="95250" indent="-95250">
              <a:spcBef>
                <a:spcPts val="0"/>
              </a:spcBef>
              <a:buFont typeface="Arial" panose="020B0604020202020204" pitchFamily="34" charset="0"/>
              <a:buChar char="•"/>
            </a:pPr>
            <a:r>
              <a:rPr lang="fr-FR" altLang="de-DE" sz="800" b="0" dirty="0">
                <a:solidFill>
                  <a:schemeClr val="accent3"/>
                </a:solidFill>
                <a:ea typeface="MS PGothic" panose="020B0600070205080204" pitchFamily="34" charset="-128"/>
              </a:rPr>
              <a:t>Acceptation interne</a:t>
            </a:r>
          </a:p>
          <a:p>
            <a:pPr marL="95250" indent="-95250">
              <a:spcBef>
                <a:spcPct val="0"/>
              </a:spcBef>
              <a:buFont typeface="Arial" panose="020B0604020202020204" pitchFamily="34" charset="0"/>
              <a:buChar char="•"/>
            </a:pPr>
            <a:endParaRPr lang="fr-FR" altLang="de-DE" sz="800" b="0" dirty="0">
              <a:solidFill>
                <a:schemeClr val="accent3"/>
              </a:solidFill>
              <a:ea typeface="MS PGothic" panose="020B0600070205080204" pitchFamily="34" charset="-128"/>
            </a:endParaRPr>
          </a:p>
        </p:txBody>
      </p:sp>
      <p:sp>
        <p:nvSpPr>
          <p:cNvPr id="22" name="Textfeld 46">
            <a:extLst>
              <a:ext uri="{FF2B5EF4-FFF2-40B4-BE49-F238E27FC236}">
                <a16:creationId xmlns:a16="http://schemas.microsoft.com/office/drawing/2014/main" id="{68B17773-D124-ABEA-8AA6-6598496E647B}"/>
              </a:ext>
            </a:extLst>
          </p:cNvPr>
          <p:cNvSpPr txBox="1">
            <a:spLocks noChangeArrowheads="1"/>
          </p:cNvSpPr>
          <p:nvPr/>
        </p:nvSpPr>
        <p:spPr bwMode="auto">
          <a:xfrm>
            <a:off x="7213806" y="890888"/>
            <a:ext cx="2205210" cy="551433"/>
          </a:xfrm>
          <a:prstGeom prst="rect">
            <a:avLst/>
          </a:prstGeom>
          <a:noFill/>
          <a:ln w="3175">
            <a:noFill/>
            <a:miter lim="800000"/>
            <a:headEnd/>
            <a:tailEnd/>
          </a:ln>
        </p:spPr>
        <p:txBody>
          <a:bodyPr wrap="square" lIns="60000" rIns="0">
            <a:spAutoFit/>
          </a:bodyPr>
          <a:lstStyle>
            <a:lvl1pPr>
              <a:spcBef>
                <a:spcPct val="20000"/>
              </a:spcBef>
              <a:defRPr sz="2200" b="1">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200">
                <a:solidFill>
                  <a:schemeClr val="tx1"/>
                </a:solidFill>
                <a:latin typeface="Arial" panose="020B0604020202020204" pitchFamily="34" charset="0"/>
                <a:cs typeface="Arial" panose="020B0604020202020204" pitchFamily="34" charset="0"/>
              </a:defRPr>
            </a:lvl2pPr>
            <a:lvl3pPr marL="1143000" indent="-228600">
              <a:spcBef>
                <a:spcPct val="20000"/>
              </a:spcBef>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3pPr>
            <a:lvl4pPr marL="1600200" indent="-228600">
              <a:lnSpc>
                <a:spcPts val="3000"/>
              </a:lnSpc>
              <a:buSzPct val="80000"/>
              <a:buFont typeface="Wingdings" panose="05000000000000000000" pitchFamily="2" charset="2"/>
              <a:buChar char="§"/>
              <a:defRPr sz="2200">
                <a:solidFill>
                  <a:schemeClr val="tx1"/>
                </a:solidFill>
                <a:latin typeface="Arial" panose="020B0604020202020204" pitchFamily="34" charset="0"/>
                <a:cs typeface="Arial" panose="020B0604020202020204" pitchFamily="34" charset="0"/>
              </a:defRPr>
            </a:lvl4pPr>
            <a:lvl5pPr marL="2057400" indent="-228600">
              <a:lnSpc>
                <a:spcPts val="3000"/>
              </a:lnSpc>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lnSpc>
                <a:spcPts val="3000"/>
              </a:lnSpc>
              <a:spcBef>
                <a:spcPct val="0"/>
              </a:spcBef>
              <a:spcAft>
                <a:spcPct val="0"/>
              </a:spcAft>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lnSpc>
                <a:spcPts val="3000"/>
              </a:lnSpc>
              <a:spcBef>
                <a:spcPct val="0"/>
              </a:spcBef>
              <a:spcAft>
                <a:spcPct val="0"/>
              </a:spcAft>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lnSpc>
                <a:spcPts val="3000"/>
              </a:lnSpc>
              <a:spcBef>
                <a:spcPct val="0"/>
              </a:spcBef>
              <a:spcAft>
                <a:spcPct val="0"/>
              </a:spcAft>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lnSpc>
                <a:spcPts val="3000"/>
              </a:lnSpc>
              <a:spcBef>
                <a:spcPct val="0"/>
              </a:spcBef>
              <a:spcAft>
                <a:spcPct val="0"/>
              </a:spcAft>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a:spcBef>
                <a:spcPct val="50000"/>
              </a:spcBef>
            </a:pPr>
            <a:r>
              <a:rPr lang="fr-FR" altLang="de-DE" sz="1050">
                <a:solidFill>
                  <a:schemeClr val="accent3"/>
                </a:solidFill>
                <a:ea typeface="MS PGothic" panose="020B0600070205080204" pitchFamily="34" charset="-128"/>
              </a:rPr>
              <a:t>Émission de la police</a:t>
            </a:r>
          </a:p>
          <a:p>
            <a:pPr algn="ctr">
              <a:spcBef>
                <a:spcPts val="400"/>
              </a:spcBef>
            </a:pPr>
            <a:r>
              <a:rPr lang="fr-FR" altLang="de-DE" sz="800" b="0">
                <a:solidFill>
                  <a:schemeClr val="accent3"/>
                </a:solidFill>
                <a:ea typeface="MS PGothic" panose="020B0600070205080204" pitchFamily="34" charset="-128"/>
              </a:rPr>
              <a:t>Swiss </a:t>
            </a:r>
            <a:r>
              <a:rPr lang="fr-FR" altLang="de-DE" sz="800" b="0" dirty="0">
                <a:solidFill>
                  <a:schemeClr val="accent3"/>
                </a:solidFill>
                <a:ea typeface="MS PGothic" panose="020B0600070205080204" pitchFamily="34" charset="-128"/>
              </a:rPr>
              <a:t>Life émet </a:t>
            </a:r>
            <a:br>
              <a:rPr lang="fr-FR" altLang="de-DE" sz="800" b="0" dirty="0">
                <a:solidFill>
                  <a:schemeClr val="accent3"/>
                </a:solidFill>
                <a:ea typeface="MS PGothic" panose="020B0600070205080204" pitchFamily="34" charset="-128"/>
              </a:rPr>
            </a:br>
            <a:r>
              <a:rPr lang="fr-FR" altLang="de-DE" sz="800" b="0" dirty="0">
                <a:solidFill>
                  <a:schemeClr val="accent3"/>
                </a:solidFill>
                <a:ea typeface="MS PGothic" panose="020B0600070205080204" pitchFamily="34" charset="-128"/>
              </a:rPr>
              <a:t>le contrat d’assurance</a:t>
            </a:r>
          </a:p>
        </p:txBody>
      </p:sp>
      <p:sp>
        <p:nvSpPr>
          <p:cNvPr id="27" name="Textfeld 42">
            <a:extLst>
              <a:ext uri="{FF2B5EF4-FFF2-40B4-BE49-F238E27FC236}">
                <a16:creationId xmlns:a16="http://schemas.microsoft.com/office/drawing/2014/main" id="{4D011B2D-A671-E7F1-46AD-403515852EDD}"/>
              </a:ext>
            </a:extLst>
          </p:cNvPr>
          <p:cNvSpPr txBox="1">
            <a:spLocks noChangeArrowheads="1"/>
          </p:cNvSpPr>
          <p:nvPr/>
        </p:nvSpPr>
        <p:spPr bwMode="auto">
          <a:xfrm>
            <a:off x="5803994" y="872203"/>
            <a:ext cx="1582399" cy="674544"/>
          </a:xfrm>
          <a:prstGeom prst="rect">
            <a:avLst/>
          </a:prstGeom>
          <a:noFill/>
          <a:ln>
            <a:noFill/>
          </a:ln>
        </p:spPr>
        <p:txBody>
          <a:bodyPr wrap="square" lIns="60000">
            <a:spAutoFit/>
          </a:bodyPr>
          <a:lstStyle>
            <a:lvl1pPr>
              <a:spcBef>
                <a:spcPct val="20000"/>
              </a:spcBef>
              <a:defRPr sz="2200" b="1">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200">
                <a:solidFill>
                  <a:schemeClr val="tx1"/>
                </a:solidFill>
                <a:latin typeface="Arial" panose="020B0604020202020204" pitchFamily="34" charset="0"/>
                <a:cs typeface="Arial" panose="020B0604020202020204" pitchFamily="34" charset="0"/>
              </a:defRPr>
            </a:lvl2pPr>
            <a:lvl3pPr marL="1143000" indent="-228600">
              <a:spcBef>
                <a:spcPct val="20000"/>
              </a:spcBef>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3pPr>
            <a:lvl4pPr marL="1600200" indent="-228600">
              <a:lnSpc>
                <a:spcPts val="3000"/>
              </a:lnSpc>
              <a:buSzPct val="80000"/>
              <a:buFont typeface="Wingdings" panose="05000000000000000000" pitchFamily="2" charset="2"/>
              <a:buChar char="§"/>
              <a:defRPr sz="2200">
                <a:solidFill>
                  <a:schemeClr val="tx1"/>
                </a:solidFill>
                <a:latin typeface="Arial" panose="020B0604020202020204" pitchFamily="34" charset="0"/>
                <a:cs typeface="Arial" panose="020B0604020202020204" pitchFamily="34" charset="0"/>
              </a:defRPr>
            </a:lvl4pPr>
            <a:lvl5pPr marL="2057400" indent="-228600">
              <a:lnSpc>
                <a:spcPts val="3000"/>
              </a:lnSpc>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lnSpc>
                <a:spcPts val="3000"/>
              </a:lnSpc>
              <a:spcBef>
                <a:spcPct val="0"/>
              </a:spcBef>
              <a:spcAft>
                <a:spcPct val="0"/>
              </a:spcAft>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lnSpc>
                <a:spcPts val="3000"/>
              </a:lnSpc>
              <a:spcBef>
                <a:spcPct val="0"/>
              </a:spcBef>
              <a:spcAft>
                <a:spcPct val="0"/>
              </a:spcAft>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lnSpc>
                <a:spcPts val="3000"/>
              </a:lnSpc>
              <a:spcBef>
                <a:spcPct val="0"/>
              </a:spcBef>
              <a:spcAft>
                <a:spcPct val="0"/>
              </a:spcAft>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lnSpc>
                <a:spcPts val="3000"/>
              </a:lnSpc>
              <a:spcBef>
                <a:spcPct val="0"/>
              </a:spcBef>
              <a:spcAft>
                <a:spcPct val="0"/>
              </a:spcAft>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pPr>
            <a:r>
              <a:rPr lang="fr-FR" altLang="de-DE" sz="1050" dirty="0">
                <a:solidFill>
                  <a:schemeClr val="accent3"/>
                </a:solidFill>
                <a:ea typeface="MS PGothic" panose="020B0600070205080204" pitchFamily="34" charset="-128"/>
              </a:rPr>
              <a:t>Confirmation</a:t>
            </a:r>
          </a:p>
          <a:p>
            <a:pPr algn="ctr">
              <a:spcBef>
                <a:spcPts val="400"/>
              </a:spcBef>
            </a:pPr>
            <a:r>
              <a:rPr lang="fr-FR" altLang="de-DE" sz="800" b="0" dirty="0">
                <a:solidFill>
                  <a:schemeClr val="accent3"/>
                </a:solidFill>
                <a:ea typeface="MS PGothic" panose="020B0600070205080204" pitchFamily="34" charset="-128"/>
              </a:rPr>
              <a:t>La banque dépositaire informe Swiss Life que les fonds ont </a:t>
            </a:r>
            <a:br>
              <a:rPr lang="fr-FR" altLang="de-DE" sz="800" b="0" dirty="0">
                <a:solidFill>
                  <a:schemeClr val="accent3"/>
                </a:solidFill>
                <a:ea typeface="MS PGothic" panose="020B0600070205080204" pitchFamily="34" charset="-128"/>
              </a:rPr>
            </a:br>
            <a:r>
              <a:rPr lang="fr-FR" altLang="de-DE" sz="800" b="0" dirty="0">
                <a:solidFill>
                  <a:schemeClr val="accent3"/>
                </a:solidFill>
                <a:ea typeface="MS PGothic" panose="020B0600070205080204" pitchFamily="34" charset="-128"/>
              </a:rPr>
              <a:t>été transférés </a:t>
            </a:r>
          </a:p>
        </p:txBody>
      </p:sp>
      <p:sp>
        <p:nvSpPr>
          <p:cNvPr id="28" name="Textfeld 40">
            <a:extLst>
              <a:ext uri="{FF2B5EF4-FFF2-40B4-BE49-F238E27FC236}">
                <a16:creationId xmlns:a16="http://schemas.microsoft.com/office/drawing/2014/main" id="{9FA830D6-F60E-6428-7794-353AF71CAD98}"/>
              </a:ext>
            </a:extLst>
          </p:cNvPr>
          <p:cNvSpPr txBox="1">
            <a:spLocks noChangeArrowheads="1"/>
          </p:cNvSpPr>
          <p:nvPr/>
        </p:nvSpPr>
        <p:spPr bwMode="auto">
          <a:xfrm>
            <a:off x="4801887" y="4775125"/>
            <a:ext cx="1468567" cy="628377"/>
          </a:xfrm>
          <a:prstGeom prst="rect">
            <a:avLst/>
          </a:prstGeom>
          <a:noFill/>
          <a:ln>
            <a:noFill/>
          </a:ln>
        </p:spPr>
        <p:txBody>
          <a:bodyPr wrap="square" lIns="60000" rIns="60000" bIns="0">
            <a:spAutoFit/>
          </a:bodyPr>
          <a:lstStyle>
            <a:lvl1pPr>
              <a:spcBef>
                <a:spcPct val="20000"/>
              </a:spcBef>
              <a:defRPr sz="2200" b="1">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200">
                <a:solidFill>
                  <a:schemeClr val="tx1"/>
                </a:solidFill>
                <a:latin typeface="Arial" panose="020B0604020202020204" pitchFamily="34" charset="0"/>
                <a:cs typeface="Arial" panose="020B0604020202020204" pitchFamily="34" charset="0"/>
              </a:defRPr>
            </a:lvl2pPr>
            <a:lvl3pPr marL="1143000" indent="-228600">
              <a:spcBef>
                <a:spcPct val="20000"/>
              </a:spcBef>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3pPr>
            <a:lvl4pPr marL="1600200" indent="-228600">
              <a:lnSpc>
                <a:spcPts val="3000"/>
              </a:lnSpc>
              <a:buSzPct val="80000"/>
              <a:buFont typeface="Wingdings" panose="05000000000000000000" pitchFamily="2" charset="2"/>
              <a:buChar char="§"/>
              <a:defRPr sz="2200">
                <a:solidFill>
                  <a:schemeClr val="tx1"/>
                </a:solidFill>
                <a:latin typeface="Arial" panose="020B0604020202020204" pitchFamily="34" charset="0"/>
                <a:cs typeface="Arial" panose="020B0604020202020204" pitchFamily="34" charset="0"/>
              </a:defRPr>
            </a:lvl4pPr>
            <a:lvl5pPr marL="2057400" indent="-228600">
              <a:lnSpc>
                <a:spcPts val="3000"/>
              </a:lnSpc>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lnSpc>
                <a:spcPts val="3000"/>
              </a:lnSpc>
              <a:spcBef>
                <a:spcPct val="0"/>
              </a:spcBef>
              <a:spcAft>
                <a:spcPct val="0"/>
              </a:spcAft>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lnSpc>
                <a:spcPts val="3000"/>
              </a:lnSpc>
              <a:spcBef>
                <a:spcPct val="0"/>
              </a:spcBef>
              <a:spcAft>
                <a:spcPct val="0"/>
              </a:spcAft>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lnSpc>
                <a:spcPts val="3000"/>
              </a:lnSpc>
              <a:spcBef>
                <a:spcPct val="0"/>
              </a:spcBef>
              <a:spcAft>
                <a:spcPct val="0"/>
              </a:spcAft>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lnSpc>
                <a:spcPts val="3000"/>
              </a:lnSpc>
              <a:spcBef>
                <a:spcPct val="0"/>
              </a:spcBef>
              <a:spcAft>
                <a:spcPct val="0"/>
              </a:spcAft>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pPr>
            <a:r>
              <a:rPr lang="fr-FR" altLang="de-DE" sz="1050">
                <a:solidFill>
                  <a:schemeClr val="accent3"/>
                </a:solidFill>
                <a:ea typeface="MS PGothic" panose="020B0600070205080204" pitchFamily="34" charset="-128"/>
              </a:rPr>
              <a:t>Transfert des actifs</a:t>
            </a:r>
          </a:p>
          <a:p>
            <a:pPr algn="ctr">
              <a:spcBef>
                <a:spcPts val="400"/>
              </a:spcBef>
            </a:pPr>
            <a:r>
              <a:rPr lang="fr-FR" altLang="de-DE" sz="800" b="0">
                <a:solidFill>
                  <a:schemeClr val="accent3"/>
                </a:solidFill>
                <a:ea typeface="MS PGothic" panose="020B0600070205080204" pitchFamily="34" charset="-128"/>
              </a:rPr>
              <a:t>Le </a:t>
            </a:r>
            <a:r>
              <a:rPr lang="fr-FR" altLang="de-DE" sz="800" b="0" dirty="0">
                <a:solidFill>
                  <a:schemeClr val="accent3"/>
                </a:solidFill>
                <a:ea typeface="MS PGothic" panose="020B0600070205080204" pitchFamily="34" charset="-128"/>
              </a:rPr>
              <a:t>client transfère la prime </a:t>
            </a:r>
            <a:br>
              <a:rPr lang="fr-FR" altLang="de-DE" sz="800" b="0" dirty="0">
                <a:solidFill>
                  <a:schemeClr val="accent3"/>
                </a:solidFill>
                <a:ea typeface="MS PGothic" panose="020B0600070205080204" pitchFamily="34" charset="-128"/>
              </a:rPr>
            </a:br>
            <a:r>
              <a:rPr lang="fr-FR" altLang="de-DE" sz="800" b="0" dirty="0">
                <a:solidFill>
                  <a:schemeClr val="accent3"/>
                </a:solidFill>
                <a:ea typeface="MS PGothic" panose="020B0600070205080204" pitchFamily="34" charset="-128"/>
              </a:rPr>
              <a:t>sur le compte de prime ou par prélèvement SEPA</a:t>
            </a:r>
          </a:p>
        </p:txBody>
      </p:sp>
      <p:sp>
        <p:nvSpPr>
          <p:cNvPr id="29" name="Textfeld 38">
            <a:extLst>
              <a:ext uri="{FF2B5EF4-FFF2-40B4-BE49-F238E27FC236}">
                <a16:creationId xmlns:a16="http://schemas.microsoft.com/office/drawing/2014/main" id="{C9E13949-9415-D8A5-47A1-D82D48AF8B0F}"/>
              </a:ext>
            </a:extLst>
          </p:cNvPr>
          <p:cNvSpPr txBox="1">
            <a:spLocks noChangeArrowheads="1"/>
          </p:cNvSpPr>
          <p:nvPr/>
        </p:nvSpPr>
        <p:spPr bwMode="auto">
          <a:xfrm>
            <a:off x="3838456" y="890568"/>
            <a:ext cx="1582400" cy="672888"/>
          </a:xfrm>
          <a:prstGeom prst="rect">
            <a:avLst/>
          </a:prstGeom>
          <a:noFill/>
          <a:ln w="3175">
            <a:noFill/>
            <a:miter lim="800000"/>
            <a:headEnd/>
            <a:tailEnd/>
          </a:ln>
        </p:spPr>
        <p:txBody>
          <a:bodyPr wrap="square" lIns="60000" tIns="39000" rIns="0" bIns="0">
            <a:spAutoFit/>
          </a:bodyPr>
          <a:lstStyle>
            <a:lvl1pPr>
              <a:spcBef>
                <a:spcPct val="20000"/>
              </a:spcBef>
              <a:defRPr sz="2200" b="1">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200">
                <a:solidFill>
                  <a:schemeClr val="tx1"/>
                </a:solidFill>
                <a:latin typeface="Arial" panose="020B0604020202020204" pitchFamily="34" charset="0"/>
                <a:cs typeface="Arial" panose="020B0604020202020204" pitchFamily="34" charset="0"/>
              </a:defRPr>
            </a:lvl2pPr>
            <a:lvl3pPr marL="1143000" indent="-228600">
              <a:spcBef>
                <a:spcPct val="20000"/>
              </a:spcBef>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3pPr>
            <a:lvl4pPr marL="1600200" indent="-228600">
              <a:lnSpc>
                <a:spcPts val="3000"/>
              </a:lnSpc>
              <a:buSzPct val="80000"/>
              <a:buFont typeface="Wingdings" panose="05000000000000000000" pitchFamily="2" charset="2"/>
              <a:buChar char="§"/>
              <a:defRPr sz="2200">
                <a:solidFill>
                  <a:schemeClr val="tx1"/>
                </a:solidFill>
                <a:latin typeface="Arial" panose="020B0604020202020204" pitchFamily="34" charset="0"/>
                <a:cs typeface="Arial" panose="020B0604020202020204" pitchFamily="34" charset="0"/>
              </a:defRPr>
            </a:lvl4pPr>
            <a:lvl5pPr marL="2057400" indent="-228600">
              <a:lnSpc>
                <a:spcPts val="3000"/>
              </a:lnSpc>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lnSpc>
                <a:spcPts val="3000"/>
              </a:lnSpc>
              <a:spcBef>
                <a:spcPct val="0"/>
              </a:spcBef>
              <a:spcAft>
                <a:spcPct val="0"/>
              </a:spcAft>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lnSpc>
                <a:spcPts val="3000"/>
              </a:lnSpc>
              <a:spcBef>
                <a:spcPct val="0"/>
              </a:spcBef>
              <a:spcAft>
                <a:spcPct val="0"/>
              </a:spcAft>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lnSpc>
                <a:spcPts val="3000"/>
              </a:lnSpc>
              <a:spcBef>
                <a:spcPct val="0"/>
              </a:spcBef>
              <a:spcAft>
                <a:spcPct val="0"/>
              </a:spcAft>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lnSpc>
                <a:spcPts val="3000"/>
              </a:lnSpc>
              <a:spcBef>
                <a:spcPct val="0"/>
              </a:spcBef>
              <a:spcAft>
                <a:spcPct val="0"/>
              </a:spcAft>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a:spcBef>
                <a:spcPts val="400"/>
              </a:spcBef>
            </a:pPr>
            <a:r>
              <a:rPr lang="fr-FR" altLang="de-DE" sz="1050">
                <a:solidFill>
                  <a:schemeClr val="accent3"/>
                </a:solidFill>
                <a:ea typeface="MS PGothic" panose="020B0600070205080204" pitchFamily="34" charset="-128"/>
              </a:rPr>
              <a:t>Ouverture du compte</a:t>
            </a:r>
            <a:r>
              <a:rPr lang="fr-FR" altLang="de-DE" sz="1000" b="0">
                <a:solidFill>
                  <a:schemeClr val="accent3"/>
                </a:solidFill>
                <a:ea typeface="MS PGothic" panose="020B0600070205080204" pitchFamily="34" charset="-128"/>
              </a:rPr>
              <a:t> </a:t>
            </a:r>
          </a:p>
          <a:p>
            <a:pPr algn="ctr">
              <a:spcBef>
                <a:spcPts val="400"/>
              </a:spcBef>
            </a:pPr>
            <a:r>
              <a:rPr lang="fr-FR" altLang="de-DE" sz="800" b="0">
                <a:solidFill>
                  <a:schemeClr val="accent3"/>
                </a:solidFill>
                <a:ea typeface="MS PGothic" panose="020B0600070205080204" pitchFamily="34" charset="-128"/>
              </a:rPr>
              <a:t>La </a:t>
            </a:r>
            <a:r>
              <a:rPr lang="fr-FR" altLang="de-DE" sz="800" b="0" dirty="0">
                <a:solidFill>
                  <a:schemeClr val="accent3"/>
                </a:solidFill>
                <a:ea typeface="MS PGothic" panose="020B0600070205080204" pitchFamily="34" charset="-128"/>
              </a:rPr>
              <a:t>banque dépositaire confirme l’ouverture du compte.</a:t>
            </a:r>
          </a:p>
          <a:p>
            <a:pPr algn="ctr">
              <a:spcBef>
                <a:spcPts val="400"/>
              </a:spcBef>
            </a:pPr>
            <a:r>
              <a:rPr lang="fr-FR" altLang="de-DE" sz="800" b="0">
                <a:solidFill>
                  <a:schemeClr val="accent3"/>
                </a:solidFill>
                <a:ea typeface="MS PGothic" panose="020B0600070205080204" pitchFamily="34" charset="-128"/>
              </a:rPr>
              <a:t>.</a:t>
            </a:r>
            <a:endParaRPr lang="fr-FR" altLang="de-DE" sz="800" b="0" dirty="0">
              <a:solidFill>
                <a:schemeClr val="accent3"/>
              </a:solidFill>
              <a:ea typeface="MS PGothic" panose="020B0600070205080204" pitchFamily="34" charset="-128"/>
            </a:endParaRPr>
          </a:p>
        </p:txBody>
      </p:sp>
      <p:sp>
        <p:nvSpPr>
          <p:cNvPr id="34" name="Textfeld 57">
            <a:extLst>
              <a:ext uri="{FF2B5EF4-FFF2-40B4-BE49-F238E27FC236}">
                <a16:creationId xmlns:a16="http://schemas.microsoft.com/office/drawing/2014/main" id="{FB4A6C42-DE4A-2FCA-364A-130C95960998}"/>
              </a:ext>
            </a:extLst>
          </p:cNvPr>
          <p:cNvSpPr txBox="1">
            <a:spLocks noChangeArrowheads="1"/>
          </p:cNvSpPr>
          <p:nvPr/>
        </p:nvSpPr>
        <p:spPr bwMode="auto">
          <a:xfrm>
            <a:off x="3963300" y="3726843"/>
            <a:ext cx="1384464"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defRPr sz="2200" b="1">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200">
                <a:solidFill>
                  <a:schemeClr val="tx1"/>
                </a:solidFill>
                <a:latin typeface="Arial" panose="020B0604020202020204" pitchFamily="34" charset="0"/>
                <a:cs typeface="Arial" panose="020B0604020202020204" pitchFamily="34" charset="0"/>
              </a:defRPr>
            </a:lvl2pPr>
            <a:lvl3pPr marL="1143000" indent="-228600">
              <a:spcBef>
                <a:spcPct val="20000"/>
              </a:spcBef>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3pPr>
            <a:lvl4pPr marL="1600200" indent="-228600">
              <a:lnSpc>
                <a:spcPts val="3000"/>
              </a:lnSpc>
              <a:buSzPct val="80000"/>
              <a:buFont typeface="Wingdings" panose="05000000000000000000" pitchFamily="2" charset="2"/>
              <a:buChar char="§"/>
              <a:defRPr sz="2200">
                <a:solidFill>
                  <a:schemeClr val="tx1"/>
                </a:solidFill>
                <a:latin typeface="Arial" panose="020B0604020202020204" pitchFamily="34" charset="0"/>
                <a:cs typeface="Arial" panose="020B0604020202020204" pitchFamily="34" charset="0"/>
              </a:defRPr>
            </a:lvl4pPr>
            <a:lvl5pPr marL="2057400" indent="-228600">
              <a:lnSpc>
                <a:spcPts val="3000"/>
              </a:lnSpc>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lnSpc>
                <a:spcPts val="3000"/>
              </a:lnSpc>
              <a:spcBef>
                <a:spcPct val="0"/>
              </a:spcBef>
              <a:spcAft>
                <a:spcPct val="0"/>
              </a:spcAft>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lnSpc>
                <a:spcPts val="3000"/>
              </a:lnSpc>
              <a:spcBef>
                <a:spcPct val="0"/>
              </a:spcBef>
              <a:spcAft>
                <a:spcPct val="0"/>
              </a:spcAft>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lnSpc>
                <a:spcPts val="3000"/>
              </a:lnSpc>
              <a:spcBef>
                <a:spcPct val="0"/>
              </a:spcBef>
              <a:spcAft>
                <a:spcPct val="0"/>
              </a:spcAft>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lnSpc>
                <a:spcPts val="3000"/>
              </a:lnSpc>
              <a:spcBef>
                <a:spcPct val="0"/>
              </a:spcBef>
              <a:spcAft>
                <a:spcPct val="0"/>
              </a:spcAft>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pPr>
            <a:r>
              <a:rPr lang="fr-FR" altLang="de-DE" sz="700" b="0" dirty="0">
                <a:solidFill>
                  <a:schemeClr val="accent4">
                    <a:lumMod val="50000"/>
                  </a:schemeClr>
                </a:solidFill>
                <a:ea typeface="MS PGothic" panose="020B0600070205080204" pitchFamily="34" charset="-128"/>
              </a:rPr>
              <a:t>Mise en place du mandat de gestion financière entre </a:t>
            </a:r>
            <a:br>
              <a:rPr lang="fr-FR" altLang="de-DE" sz="700" b="0" dirty="0">
                <a:solidFill>
                  <a:schemeClr val="accent4">
                    <a:lumMod val="50000"/>
                  </a:schemeClr>
                </a:solidFill>
                <a:ea typeface="MS PGothic" panose="020B0600070205080204" pitchFamily="34" charset="-128"/>
              </a:rPr>
            </a:br>
            <a:r>
              <a:rPr lang="fr-FR" altLang="de-DE" sz="700" b="0" dirty="0">
                <a:solidFill>
                  <a:schemeClr val="accent4">
                    <a:lumMod val="50000"/>
                  </a:schemeClr>
                </a:solidFill>
                <a:ea typeface="MS PGothic" panose="020B0600070205080204" pitchFamily="34" charset="-128"/>
              </a:rPr>
              <a:t>Swiss Life et le gestionnaire</a:t>
            </a:r>
            <a:endParaRPr lang="fr-FR" altLang="de-DE" sz="700" dirty="0">
              <a:solidFill>
                <a:schemeClr val="accent4">
                  <a:lumMod val="50000"/>
                </a:schemeClr>
              </a:solidFill>
              <a:ea typeface="MS PGothic" panose="020B0600070205080204" pitchFamily="34" charset="-128"/>
            </a:endParaRPr>
          </a:p>
        </p:txBody>
      </p:sp>
      <p:sp>
        <p:nvSpPr>
          <p:cNvPr id="35" name="Textfeld 46">
            <a:extLst>
              <a:ext uri="{FF2B5EF4-FFF2-40B4-BE49-F238E27FC236}">
                <a16:creationId xmlns:a16="http://schemas.microsoft.com/office/drawing/2014/main" id="{1CF9B48A-240A-E167-EE5F-300A4DD58525}"/>
              </a:ext>
            </a:extLst>
          </p:cNvPr>
          <p:cNvSpPr txBox="1">
            <a:spLocks noChangeArrowheads="1"/>
          </p:cNvSpPr>
          <p:nvPr/>
        </p:nvSpPr>
        <p:spPr bwMode="auto">
          <a:xfrm>
            <a:off x="6631847" y="4784688"/>
            <a:ext cx="1764197" cy="551433"/>
          </a:xfrm>
          <a:prstGeom prst="rect">
            <a:avLst/>
          </a:prstGeom>
          <a:noFill/>
          <a:ln w="3175">
            <a:noFill/>
            <a:miter lim="800000"/>
            <a:headEnd/>
            <a:tailEnd/>
          </a:ln>
        </p:spPr>
        <p:txBody>
          <a:bodyPr wrap="square" lIns="60000" rIns="0">
            <a:spAutoFit/>
          </a:bodyPr>
          <a:lstStyle>
            <a:lvl1pPr>
              <a:spcBef>
                <a:spcPct val="20000"/>
              </a:spcBef>
              <a:defRPr sz="2200" b="1">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200">
                <a:solidFill>
                  <a:schemeClr val="tx1"/>
                </a:solidFill>
                <a:latin typeface="Arial" panose="020B0604020202020204" pitchFamily="34" charset="0"/>
                <a:cs typeface="Arial" panose="020B0604020202020204" pitchFamily="34" charset="0"/>
              </a:defRPr>
            </a:lvl2pPr>
            <a:lvl3pPr marL="1143000" indent="-228600">
              <a:spcBef>
                <a:spcPct val="20000"/>
              </a:spcBef>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3pPr>
            <a:lvl4pPr marL="1600200" indent="-228600">
              <a:lnSpc>
                <a:spcPts val="3000"/>
              </a:lnSpc>
              <a:buSzPct val="80000"/>
              <a:buFont typeface="Wingdings" panose="05000000000000000000" pitchFamily="2" charset="2"/>
              <a:buChar char="§"/>
              <a:defRPr sz="2200">
                <a:solidFill>
                  <a:schemeClr val="tx1"/>
                </a:solidFill>
                <a:latin typeface="Arial" panose="020B0604020202020204" pitchFamily="34" charset="0"/>
                <a:cs typeface="Arial" panose="020B0604020202020204" pitchFamily="34" charset="0"/>
              </a:defRPr>
            </a:lvl4pPr>
            <a:lvl5pPr marL="2057400" indent="-228600">
              <a:lnSpc>
                <a:spcPts val="3000"/>
              </a:lnSpc>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lnSpc>
                <a:spcPts val="3000"/>
              </a:lnSpc>
              <a:spcBef>
                <a:spcPct val="0"/>
              </a:spcBef>
              <a:spcAft>
                <a:spcPct val="0"/>
              </a:spcAft>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lnSpc>
                <a:spcPts val="3000"/>
              </a:lnSpc>
              <a:spcBef>
                <a:spcPct val="0"/>
              </a:spcBef>
              <a:spcAft>
                <a:spcPct val="0"/>
              </a:spcAft>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lnSpc>
                <a:spcPts val="3000"/>
              </a:lnSpc>
              <a:spcBef>
                <a:spcPct val="0"/>
              </a:spcBef>
              <a:spcAft>
                <a:spcPct val="0"/>
              </a:spcAft>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lnSpc>
                <a:spcPts val="3000"/>
              </a:lnSpc>
              <a:spcBef>
                <a:spcPct val="0"/>
              </a:spcBef>
              <a:spcAft>
                <a:spcPct val="0"/>
              </a:spcAft>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pPr>
            <a:r>
              <a:rPr lang="fr-FR" altLang="de-DE" sz="1050">
                <a:solidFill>
                  <a:schemeClr val="accent3"/>
                </a:solidFill>
                <a:ea typeface="MS PGothic" panose="020B0600070205080204" pitchFamily="34" charset="-128"/>
              </a:rPr>
              <a:t>Procuration</a:t>
            </a:r>
          </a:p>
          <a:p>
            <a:pPr algn="ctr">
              <a:spcBef>
                <a:spcPts val="400"/>
              </a:spcBef>
            </a:pPr>
            <a:r>
              <a:rPr lang="fr-FR" altLang="de-DE" sz="800" b="0">
                <a:solidFill>
                  <a:schemeClr val="accent3"/>
                </a:solidFill>
                <a:ea typeface="MS PGothic" panose="020B0600070205080204" pitchFamily="34" charset="-128"/>
              </a:rPr>
              <a:t>Swiss </a:t>
            </a:r>
            <a:r>
              <a:rPr lang="fr-FR" altLang="de-DE" sz="800" b="0" dirty="0">
                <a:solidFill>
                  <a:schemeClr val="accent3"/>
                </a:solidFill>
                <a:ea typeface="MS PGothic" panose="020B0600070205080204" pitchFamily="34" charset="-128"/>
              </a:rPr>
              <a:t>Life donne </a:t>
            </a:r>
            <a:br>
              <a:rPr lang="fr-FR" altLang="de-DE" sz="800" b="0" dirty="0">
                <a:solidFill>
                  <a:schemeClr val="accent3"/>
                </a:solidFill>
                <a:ea typeface="MS PGothic" panose="020B0600070205080204" pitchFamily="34" charset="-128"/>
              </a:rPr>
            </a:br>
            <a:r>
              <a:rPr lang="fr-FR" altLang="de-DE" sz="800" b="0" dirty="0">
                <a:solidFill>
                  <a:schemeClr val="accent3"/>
                </a:solidFill>
                <a:ea typeface="MS PGothic" panose="020B0600070205080204" pitchFamily="34" charset="-128"/>
              </a:rPr>
              <a:t>procuration au gestionnaire</a:t>
            </a:r>
          </a:p>
        </p:txBody>
      </p:sp>
      <p:sp>
        <p:nvSpPr>
          <p:cNvPr id="38" name="Textfeld 56">
            <a:extLst>
              <a:ext uri="{FF2B5EF4-FFF2-40B4-BE49-F238E27FC236}">
                <a16:creationId xmlns:a16="http://schemas.microsoft.com/office/drawing/2014/main" id="{C6A3E6C4-0129-C6AE-6643-36B03CE2350F}"/>
              </a:ext>
            </a:extLst>
          </p:cNvPr>
          <p:cNvSpPr txBox="1">
            <a:spLocks noChangeArrowheads="1"/>
          </p:cNvSpPr>
          <p:nvPr/>
        </p:nvSpPr>
        <p:spPr bwMode="auto">
          <a:xfrm>
            <a:off x="2096289" y="3735027"/>
            <a:ext cx="1364758"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defRPr sz="2200" b="1">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200">
                <a:solidFill>
                  <a:schemeClr val="tx1"/>
                </a:solidFill>
                <a:latin typeface="Arial" panose="020B0604020202020204" pitchFamily="34" charset="0"/>
                <a:cs typeface="Arial" panose="020B0604020202020204" pitchFamily="34" charset="0"/>
              </a:defRPr>
            </a:lvl2pPr>
            <a:lvl3pPr marL="1143000" indent="-228600">
              <a:spcBef>
                <a:spcPct val="20000"/>
              </a:spcBef>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3pPr>
            <a:lvl4pPr marL="1600200" indent="-228600">
              <a:lnSpc>
                <a:spcPts val="3000"/>
              </a:lnSpc>
              <a:buSzPct val="80000"/>
              <a:buFont typeface="Wingdings" panose="05000000000000000000" pitchFamily="2" charset="2"/>
              <a:buChar char="§"/>
              <a:defRPr sz="2200">
                <a:solidFill>
                  <a:schemeClr val="tx1"/>
                </a:solidFill>
                <a:latin typeface="Arial" panose="020B0604020202020204" pitchFamily="34" charset="0"/>
                <a:cs typeface="Arial" panose="020B0604020202020204" pitchFamily="34" charset="0"/>
              </a:defRPr>
            </a:lvl4pPr>
            <a:lvl5pPr marL="2057400" indent="-228600">
              <a:lnSpc>
                <a:spcPts val="3000"/>
              </a:lnSpc>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lnSpc>
                <a:spcPts val="3000"/>
              </a:lnSpc>
              <a:spcBef>
                <a:spcPct val="0"/>
              </a:spcBef>
              <a:spcAft>
                <a:spcPct val="0"/>
              </a:spcAft>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lnSpc>
                <a:spcPts val="3000"/>
              </a:lnSpc>
              <a:spcBef>
                <a:spcPct val="0"/>
              </a:spcBef>
              <a:spcAft>
                <a:spcPct val="0"/>
              </a:spcAft>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lnSpc>
                <a:spcPts val="3000"/>
              </a:lnSpc>
              <a:spcBef>
                <a:spcPct val="0"/>
              </a:spcBef>
              <a:spcAft>
                <a:spcPct val="0"/>
              </a:spcAft>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lnSpc>
                <a:spcPts val="3000"/>
              </a:lnSpc>
              <a:spcBef>
                <a:spcPct val="0"/>
              </a:spcBef>
              <a:spcAft>
                <a:spcPct val="0"/>
              </a:spcAft>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pPr>
            <a:r>
              <a:rPr lang="fr-FR" altLang="de-DE" sz="700" b="0" dirty="0">
                <a:solidFill>
                  <a:schemeClr val="accent4">
                    <a:lumMod val="50000"/>
                  </a:schemeClr>
                </a:solidFill>
                <a:ea typeface="MS PGothic" panose="020B0600070205080204" pitchFamily="34" charset="-128"/>
              </a:rPr>
              <a:t>La stratégie d’investissement est mise en place entre le client et Swiss Life</a:t>
            </a:r>
            <a:endParaRPr lang="fr-FR" altLang="de-DE" sz="700" dirty="0">
              <a:solidFill>
                <a:schemeClr val="accent4">
                  <a:lumMod val="50000"/>
                </a:schemeClr>
              </a:solidFill>
              <a:ea typeface="MS PGothic" panose="020B0600070205080204" pitchFamily="34" charset="-128"/>
            </a:endParaRPr>
          </a:p>
        </p:txBody>
      </p:sp>
      <p:sp>
        <p:nvSpPr>
          <p:cNvPr id="39" name="Textfeld 12">
            <a:extLst>
              <a:ext uri="{FF2B5EF4-FFF2-40B4-BE49-F238E27FC236}">
                <a16:creationId xmlns:a16="http://schemas.microsoft.com/office/drawing/2014/main" id="{AAF7FABE-4696-0EFD-B383-A28683A89A07}"/>
              </a:ext>
            </a:extLst>
          </p:cNvPr>
          <p:cNvSpPr txBox="1">
            <a:spLocks noChangeArrowheads="1"/>
          </p:cNvSpPr>
          <p:nvPr/>
        </p:nvSpPr>
        <p:spPr bwMode="auto">
          <a:xfrm>
            <a:off x="843606" y="4783588"/>
            <a:ext cx="2187384" cy="725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85725" indent="-85725">
              <a:spcBef>
                <a:spcPct val="20000"/>
              </a:spcBef>
              <a:defRPr sz="2200" b="1">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200">
                <a:solidFill>
                  <a:schemeClr val="tx1"/>
                </a:solidFill>
                <a:latin typeface="Arial" panose="020B0604020202020204" pitchFamily="34" charset="0"/>
                <a:cs typeface="Arial" panose="020B0604020202020204" pitchFamily="34" charset="0"/>
              </a:defRPr>
            </a:lvl2pPr>
            <a:lvl3pPr marL="1143000" indent="-228600">
              <a:spcBef>
                <a:spcPct val="20000"/>
              </a:spcBef>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3pPr>
            <a:lvl4pPr marL="1600200" indent="-228600">
              <a:lnSpc>
                <a:spcPts val="3000"/>
              </a:lnSpc>
              <a:buSzPct val="80000"/>
              <a:buFont typeface="Wingdings" panose="05000000000000000000" pitchFamily="2" charset="2"/>
              <a:buChar char="§"/>
              <a:defRPr sz="2200">
                <a:solidFill>
                  <a:schemeClr val="tx1"/>
                </a:solidFill>
                <a:latin typeface="Arial" panose="020B0604020202020204" pitchFamily="34" charset="0"/>
                <a:cs typeface="Arial" panose="020B0604020202020204" pitchFamily="34" charset="0"/>
              </a:defRPr>
            </a:lvl4pPr>
            <a:lvl5pPr marL="2057400" indent="-228600">
              <a:lnSpc>
                <a:spcPts val="3000"/>
              </a:lnSpc>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lnSpc>
                <a:spcPts val="3000"/>
              </a:lnSpc>
              <a:spcBef>
                <a:spcPct val="0"/>
              </a:spcBef>
              <a:spcAft>
                <a:spcPct val="0"/>
              </a:spcAft>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lnSpc>
                <a:spcPts val="3000"/>
              </a:lnSpc>
              <a:spcBef>
                <a:spcPct val="0"/>
              </a:spcBef>
              <a:spcAft>
                <a:spcPct val="0"/>
              </a:spcAft>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lnSpc>
                <a:spcPts val="3000"/>
              </a:lnSpc>
              <a:spcBef>
                <a:spcPct val="0"/>
              </a:spcBef>
              <a:spcAft>
                <a:spcPct val="0"/>
              </a:spcAft>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lnSpc>
                <a:spcPts val="3000"/>
              </a:lnSpc>
              <a:spcBef>
                <a:spcPct val="0"/>
              </a:spcBef>
              <a:spcAft>
                <a:spcPct val="0"/>
              </a:spcAft>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marL="87313" indent="-87313">
              <a:spcBef>
                <a:spcPct val="0"/>
              </a:spcBef>
            </a:pPr>
            <a:r>
              <a:rPr lang="fr-FR" altLang="de-DE" sz="1050" dirty="0">
                <a:solidFill>
                  <a:schemeClr val="accent3"/>
                </a:solidFill>
                <a:ea typeface="MS PGothic" panose="020B0600070205080204" pitchFamily="34" charset="-128"/>
              </a:rPr>
              <a:t>Demande de souscription</a:t>
            </a:r>
          </a:p>
          <a:p>
            <a:pPr marL="0" indent="-87313">
              <a:spcBef>
                <a:spcPts val="400"/>
              </a:spcBef>
              <a:buFont typeface="Arial" panose="020B0604020202020204" pitchFamily="34" charset="0"/>
              <a:buChar char="•"/>
            </a:pPr>
            <a:r>
              <a:rPr lang="fr-FR" altLang="de-DE" sz="800" b="0" dirty="0">
                <a:solidFill>
                  <a:schemeClr val="accent3"/>
                </a:solidFill>
                <a:ea typeface="MS PGothic" panose="020B0600070205080204" pitchFamily="34" charset="-128"/>
              </a:rPr>
              <a:t>Identification des parties</a:t>
            </a:r>
          </a:p>
          <a:p>
            <a:pPr marL="0" indent="-87313">
              <a:spcBef>
                <a:spcPts val="400"/>
              </a:spcBef>
              <a:buFont typeface="Arial" panose="020B0604020202020204" pitchFamily="34" charset="0"/>
              <a:buChar char="•"/>
            </a:pPr>
            <a:r>
              <a:rPr lang="fr-FR" altLang="de-DE" sz="800" b="0" dirty="0">
                <a:solidFill>
                  <a:schemeClr val="accent3"/>
                </a:solidFill>
                <a:ea typeface="MS PGothic" panose="020B0600070205080204" pitchFamily="34" charset="-128"/>
              </a:rPr>
              <a:t>Choix de la / des banque(s) dépositaire(s) et du/des gestionnaire(s) du contrat</a:t>
            </a:r>
          </a:p>
        </p:txBody>
      </p:sp>
    </p:spTree>
    <p:extLst>
      <p:ext uri="{BB962C8B-B14F-4D97-AF65-F5344CB8AC3E}">
        <p14:creationId xmlns:p14="http://schemas.microsoft.com/office/powerpoint/2010/main" val="2057989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4">
            <a:extLst>
              <a:ext uri="{FF2B5EF4-FFF2-40B4-BE49-F238E27FC236}">
                <a16:creationId xmlns:a16="http://schemas.microsoft.com/office/drawing/2014/main" id="{7FC3E05B-C22B-4677-F109-C4E6178C0974}"/>
              </a:ext>
            </a:extLst>
          </p:cNvPr>
          <p:cNvPicPr>
            <a:picLocks noGrp="1" noChangeAspect="1"/>
          </p:cNvPicPr>
          <p:nvPr>
            <p:ph type="pic" sz="quarter" idx="10"/>
            <p:custDataLst>
              <p:tags r:id="rId1"/>
            </p:custDataLst>
          </p:nvPr>
        </p:nvPicPr>
        <p:blipFill>
          <a:blip r:embed="rId4" cstate="screen">
            <a:extLst>
              <a:ext uri="{28A0092B-C50C-407E-A947-70E740481C1C}">
                <a14:useLocalDpi xmlns:a14="http://schemas.microsoft.com/office/drawing/2010/main"/>
              </a:ext>
            </a:extLst>
          </a:blip>
          <a:srcRect/>
          <a:stretch>
            <a:fillRect/>
          </a:stretch>
        </p:blipFill>
        <p:spPr bwMode="gray"/>
      </p:pic>
      <p:sp>
        <p:nvSpPr>
          <p:cNvPr id="3" name="Title 2"/>
          <p:cNvSpPr>
            <a:spLocks noGrp="1"/>
          </p:cNvSpPr>
          <p:nvPr>
            <p:ph type="title"/>
          </p:nvPr>
        </p:nvSpPr>
        <p:spPr>
          <a:xfrm>
            <a:off x="0" y="2046987"/>
            <a:ext cx="8244408" cy="644756"/>
          </a:xfrm>
        </p:spPr>
        <p:txBody>
          <a:bodyPr/>
          <a:lstStyle/>
          <a:p>
            <a:r>
              <a:rPr lang="fr-FR"/>
              <a:t>03 Une offre complete : Premium Lux et Swiss Life Generations</a:t>
            </a:r>
            <a:endParaRPr lang="fr-FR" dirty="0"/>
          </a:p>
        </p:txBody>
      </p:sp>
      <p:pic>
        <p:nvPicPr>
          <p:cNvPr id="4" name="Picture 3">
            <a:extLst>
              <a:ext uri="{FF2B5EF4-FFF2-40B4-BE49-F238E27FC236}">
                <a16:creationId xmlns:a16="http://schemas.microsoft.com/office/drawing/2014/main" id="{730E3DE5-5469-EAFF-C5D4-53DA31375A09}"/>
              </a:ext>
            </a:extLst>
          </p:cNvPr>
          <p:cNvPicPr>
            <a:picLocks noChangeAspect="1"/>
          </p:cNvPicPr>
          <p:nvPr>
            <p:custDataLst>
              <p:tags r:id="rId2"/>
            </p:custDataLst>
          </p:nvPr>
        </p:nvPicPr>
        <p:blipFill>
          <a:blip r:embed="rId5" cstate="print">
            <a:extLst>
              <a:ext uri="{28A0092B-C50C-407E-A947-70E740481C1C}">
                <a14:useLocalDpi xmlns:a14="http://schemas.microsoft.com/office/drawing/2010/main" val="0"/>
              </a:ext>
            </a:extLst>
          </a:blip>
          <a:stretch>
            <a:fillRect/>
          </a:stretch>
        </p:blipFill>
        <p:spPr bwMode="gray">
          <a:xfrm>
            <a:off x="8150398" y="5133975"/>
            <a:ext cx="584769" cy="407250"/>
          </a:xfrm>
          <a:prstGeom prst="rect">
            <a:avLst/>
          </a:prstGeom>
        </p:spPr>
      </p:pic>
    </p:spTree>
    <p:extLst>
      <p:ext uri="{BB962C8B-B14F-4D97-AF65-F5344CB8AC3E}">
        <p14:creationId xmlns:p14="http://schemas.microsoft.com/office/powerpoint/2010/main" val="14569536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fr-FR"/>
              <a:t>Premium Lux</a:t>
            </a:r>
            <a:br>
              <a:rPr lang="fr-FR"/>
            </a:br>
            <a:r>
              <a:rPr lang="fr-FR" sz="1800"/>
              <a:t>Assurance vie et contrat de capitalisation en unités de compte</a:t>
            </a:r>
            <a:endParaRPr lang="fr-FR" dirty="0"/>
          </a:p>
        </p:txBody>
      </p:sp>
    </p:spTree>
    <p:extLst>
      <p:ext uri="{BB962C8B-B14F-4D97-AF65-F5344CB8AC3E}">
        <p14:creationId xmlns:p14="http://schemas.microsoft.com/office/powerpoint/2010/main" val="27825179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11E0F9-E487-C9B2-37F9-2C181184BA9D}"/>
              </a:ext>
            </a:extLst>
          </p:cNvPr>
          <p:cNvSpPr>
            <a:spLocks noGrp="1"/>
          </p:cNvSpPr>
          <p:nvPr>
            <p:ph type="title"/>
          </p:nvPr>
        </p:nvSpPr>
        <p:spPr/>
        <p:txBody>
          <a:bodyPr/>
          <a:lstStyle/>
          <a:p>
            <a:r>
              <a:rPr lang="fr-FR"/>
              <a:t>Premium Lux – Caractéristiques détaillées</a:t>
            </a:r>
            <a:endParaRPr lang="fr-FR" dirty="0"/>
          </a:p>
        </p:txBody>
      </p:sp>
      <p:graphicFrame>
        <p:nvGraphicFramePr>
          <p:cNvPr id="3" name="Table 3">
            <a:extLst>
              <a:ext uri="{FF2B5EF4-FFF2-40B4-BE49-F238E27FC236}">
                <a16:creationId xmlns:a16="http://schemas.microsoft.com/office/drawing/2014/main" id="{AB5F0E65-6902-438E-1224-6911C57E975B}"/>
              </a:ext>
            </a:extLst>
          </p:cNvPr>
          <p:cNvGraphicFramePr>
            <a:graphicFrameLocks noGrp="1"/>
          </p:cNvGraphicFramePr>
          <p:nvPr>
            <p:extLst>
              <p:ext uri="{D42A27DB-BD31-4B8C-83A1-F6EECF244321}">
                <p14:modId xmlns:p14="http://schemas.microsoft.com/office/powerpoint/2010/main" val="2097043056"/>
              </p:ext>
            </p:extLst>
          </p:nvPr>
        </p:nvGraphicFramePr>
        <p:xfrm>
          <a:off x="250825" y="1489348"/>
          <a:ext cx="7921575" cy="3759200"/>
        </p:xfrm>
        <a:graphic>
          <a:graphicData uri="http://schemas.openxmlformats.org/drawingml/2006/table">
            <a:tbl>
              <a:tblPr firstCol="1" bandRow="1">
                <a:tableStyleId>{D27102A9-8310-4765-A935-A1911B00CA55}</a:tableStyleId>
              </a:tblPr>
              <a:tblGrid>
                <a:gridCol w="1735202">
                  <a:extLst>
                    <a:ext uri="{9D8B030D-6E8A-4147-A177-3AD203B41FA5}">
                      <a16:colId xmlns:a16="http://schemas.microsoft.com/office/drawing/2014/main" val="3470915813"/>
                    </a:ext>
                  </a:extLst>
                </a:gridCol>
                <a:gridCol w="6186373">
                  <a:extLst>
                    <a:ext uri="{9D8B030D-6E8A-4147-A177-3AD203B41FA5}">
                      <a16:colId xmlns:a16="http://schemas.microsoft.com/office/drawing/2014/main" val="3383534912"/>
                    </a:ext>
                  </a:extLst>
                </a:gridCol>
              </a:tblGrid>
              <a:tr h="370840">
                <a:tc>
                  <a:txBody>
                    <a:bodyPr/>
                    <a:lstStyle/>
                    <a:p>
                      <a:r>
                        <a:rPr lang="fr-FR" sz="1000" noProof="0"/>
                        <a:t>L’assureur</a:t>
                      </a:r>
                      <a:endParaRPr lang="fr-FR" sz="1000" noProof="0" dirty="0"/>
                    </a:p>
                  </a:txBody>
                  <a:tcPr/>
                </a:tc>
                <a:tc>
                  <a:txBody>
                    <a:bodyPr/>
                    <a:lstStyle/>
                    <a:p>
                      <a:r>
                        <a:rPr lang="fr-FR" sz="1000" noProof="0"/>
                        <a:t>Swiss Life Luxembourg, compagnie d’assurance vie luxembourgeoise</a:t>
                      </a:r>
                      <a:endParaRPr lang="fr-FR" sz="1000" noProof="0" dirty="0"/>
                    </a:p>
                  </a:txBody>
                  <a:tcPr/>
                </a:tc>
                <a:extLst>
                  <a:ext uri="{0D108BD9-81ED-4DB2-BD59-A6C34878D82A}">
                    <a16:rowId xmlns:a16="http://schemas.microsoft.com/office/drawing/2014/main" val="2631714657"/>
                  </a:ext>
                </a:extLst>
              </a:tr>
              <a:tr h="370840">
                <a:tc>
                  <a:txBody>
                    <a:bodyPr/>
                    <a:lstStyle/>
                    <a:p>
                      <a:r>
                        <a:rPr lang="fr-FR" sz="1000" noProof="0"/>
                        <a:t>Le distributeur</a:t>
                      </a:r>
                      <a:endParaRPr lang="fr-FR" sz="1000" noProof="0" dirty="0"/>
                    </a:p>
                  </a:txBody>
                  <a:tcPr/>
                </a:tc>
                <a:tc>
                  <a:txBody>
                    <a:bodyPr/>
                    <a:lstStyle/>
                    <a:p>
                      <a:r>
                        <a:rPr lang="fr-FR" sz="1000" noProof="0"/>
                        <a:t>Swiss Life Assurance et Patrimoine</a:t>
                      </a:r>
                      <a:endParaRPr lang="fr-FR" sz="1000" noProof="0" dirty="0"/>
                    </a:p>
                  </a:txBody>
                  <a:tcPr/>
                </a:tc>
                <a:extLst>
                  <a:ext uri="{0D108BD9-81ED-4DB2-BD59-A6C34878D82A}">
                    <a16:rowId xmlns:a16="http://schemas.microsoft.com/office/drawing/2014/main" val="1603468377"/>
                  </a:ext>
                </a:extLst>
              </a:tr>
              <a:tr h="370840">
                <a:tc>
                  <a:txBody>
                    <a:bodyPr/>
                    <a:lstStyle/>
                    <a:p>
                      <a:r>
                        <a:rPr lang="fr-FR" sz="1000" noProof="0"/>
                        <a:t>Droit du contrat</a:t>
                      </a:r>
                      <a:endParaRPr lang="fr-FR" sz="1000" noProof="0" dirty="0"/>
                    </a:p>
                  </a:txBody>
                  <a:tcPr/>
                </a:tc>
                <a:tc>
                  <a:txBody>
                    <a:bodyPr/>
                    <a:lstStyle/>
                    <a:p>
                      <a:r>
                        <a:rPr lang="fr-FR" sz="1000" noProof="0"/>
                        <a:t>Règles prudentielles du Luxembourg et droit du pays de résidence du souscripteur s’agissant du contrat</a:t>
                      </a:r>
                      <a:endParaRPr lang="fr-FR" sz="1000" noProof="0" dirty="0"/>
                    </a:p>
                  </a:txBody>
                  <a:tcPr/>
                </a:tc>
                <a:extLst>
                  <a:ext uri="{0D108BD9-81ED-4DB2-BD59-A6C34878D82A}">
                    <a16:rowId xmlns:a16="http://schemas.microsoft.com/office/drawing/2014/main" val="1651161063"/>
                  </a:ext>
                </a:extLst>
              </a:tr>
              <a:tr h="370840">
                <a:tc>
                  <a:txBody>
                    <a:bodyPr/>
                    <a:lstStyle/>
                    <a:p>
                      <a:r>
                        <a:rPr lang="fr-FR" sz="1000" noProof="0"/>
                        <a:t>Devise du contrat</a:t>
                      </a:r>
                      <a:endParaRPr lang="fr-FR" sz="1000" noProof="0" dirty="0"/>
                    </a:p>
                  </a:txBody>
                  <a:tcPr/>
                </a:tc>
                <a:tc>
                  <a:txBody>
                    <a:bodyPr/>
                    <a:lstStyle/>
                    <a:p>
                      <a:r>
                        <a:rPr lang="fr-FR" sz="1000" noProof="0"/>
                        <a:t>EUR</a:t>
                      </a:r>
                      <a:endParaRPr lang="fr-FR" sz="1000" noProof="0" dirty="0"/>
                    </a:p>
                  </a:txBody>
                  <a:tcPr/>
                </a:tc>
                <a:extLst>
                  <a:ext uri="{0D108BD9-81ED-4DB2-BD59-A6C34878D82A}">
                    <a16:rowId xmlns:a16="http://schemas.microsoft.com/office/drawing/2014/main" val="467448760"/>
                  </a:ext>
                </a:extLst>
              </a:tr>
              <a:tr h="370840">
                <a:tc>
                  <a:txBody>
                    <a:bodyPr/>
                    <a:lstStyle/>
                    <a:p>
                      <a:r>
                        <a:rPr lang="fr-FR" sz="1000" noProof="0"/>
                        <a:t>Clients cibles</a:t>
                      </a:r>
                      <a:endParaRPr lang="fr-FR" sz="1000" noProof="0" dirty="0"/>
                    </a:p>
                  </a:txBody>
                  <a:tcPr/>
                </a:tc>
                <a:tc>
                  <a:txBody>
                    <a:bodyPr/>
                    <a:lstStyle/>
                    <a:p>
                      <a:r>
                        <a:rPr lang="fr-FR" sz="1000" noProof="0"/>
                        <a:t>Résidents fiscaux français</a:t>
                      </a:r>
                      <a:endParaRPr lang="fr-FR" sz="1000" noProof="0" dirty="0"/>
                    </a:p>
                  </a:txBody>
                  <a:tcPr/>
                </a:tc>
                <a:extLst>
                  <a:ext uri="{0D108BD9-81ED-4DB2-BD59-A6C34878D82A}">
                    <a16:rowId xmlns:a16="http://schemas.microsoft.com/office/drawing/2014/main" val="2763906346"/>
                  </a:ext>
                </a:extLst>
              </a:tr>
              <a:tr h="370840">
                <a:tc>
                  <a:txBody>
                    <a:bodyPr/>
                    <a:lstStyle/>
                    <a:p>
                      <a:r>
                        <a:rPr lang="fr-FR" sz="1000" noProof="0"/>
                        <a:t>Prime minimum </a:t>
                      </a:r>
                      <a:endParaRPr lang="fr-FR" sz="1000" noProof="0" dirty="0"/>
                    </a:p>
                  </a:txBody>
                  <a:tcPr/>
                </a:tc>
                <a:tc>
                  <a:txBody>
                    <a:bodyPr/>
                    <a:lstStyle/>
                    <a:p>
                      <a:r>
                        <a:rPr lang="fr-FR" sz="1000" noProof="0"/>
                        <a:t>EUR 250 000</a:t>
                      </a:r>
                      <a:endParaRPr lang="fr-FR" sz="1000" noProof="0" dirty="0"/>
                    </a:p>
                  </a:txBody>
                  <a:tcPr/>
                </a:tc>
                <a:extLst>
                  <a:ext uri="{0D108BD9-81ED-4DB2-BD59-A6C34878D82A}">
                    <a16:rowId xmlns:a16="http://schemas.microsoft.com/office/drawing/2014/main" val="636924154"/>
                  </a:ext>
                </a:extLst>
              </a:tr>
              <a:tr h="370840">
                <a:tc>
                  <a:txBody>
                    <a:bodyPr/>
                    <a:lstStyle/>
                    <a:p>
                      <a:r>
                        <a:rPr lang="fr-FR" sz="1000" noProof="0"/>
                        <a:t>Support d’investissement</a:t>
                      </a:r>
                      <a:endParaRPr lang="fr-FR" sz="1000" noProof="0" dirty="0"/>
                    </a:p>
                  </a:txBody>
                  <a:tcPr/>
                </a:tc>
                <a:tc>
                  <a:txBody>
                    <a:bodyPr/>
                    <a:lstStyle/>
                    <a:p>
                      <a:pPr marL="171450" marR="0" lvl="0" indent="-171450" algn="l" defTabSz="914400" rtl="0" eaLnBrk="1" fontAlgn="base" latinLnBrk="0" hangingPunct="1">
                        <a:lnSpc>
                          <a:spcPct val="100000"/>
                        </a:lnSpc>
                        <a:spcBef>
                          <a:spcPct val="20000"/>
                        </a:spcBef>
                        <a:spcAft>
                          <a:spcPct val="0"/>
                        </a:spcAft>
                        <a:buClr>
                          <a:srgbClr val="D82034"/>
                        </a:buClr>
                        <a:buSzPct val="100000"/>
                        <a:buFont typeface="Arial" panose="020B0604020202020204" pitchFamily="34" charset="0"/>
                        <a:buChar char="•"/>
                        <a:tabLst/>
                      </a:pPr>
                      <a:r>
                        <a:rPr kumimoji="0" lang="fr-FR" sz="1000" u="none" strike="noStrike" cap="none" normalizeH="0" baseline="0" noProof="0">
                          <a:ln>
                            <a:noFill/>
                          </a:ln>
                          <a:effectLst/>
                        </a:rPr>
                        <a:t>Fonds externes </a:t>
                      </a:r>
                    </a:p>
                    <a:p>
                      <a:pPr marL="171450" marR="0" lvl="0" indent="-171450" algn="l" defTabSz="914400" rtl="0" eaLnBrk="1" fontAlgn="base" latinLnBrk="0" hangingPunct="1">
                        <a:lnSpc>
                          <a:spcPct val="100000"/>
                        </a:lnSpc>
                        <a:spcBef>
                          <a:spcPct val="20000"/>
                        </a:spcBef>
                        <a:spcAft>
                          <a:spcPct val="0"/>
                        </a:spcAft>
                        <a:buClr>
                          <a:srgbClr val="D82034"/>
                        </a:buClr>
                        <a:buSzPct val="100000"/>
                        <a:buFont typeface="Arial" panose="020B0604020202020204" pitchFamily="34" charset="0"/>
                        <a:buChar char="•"/>
                        <a:tabLst/>
                      </a:pPr>
                      <a:r>
                        <a:rPr kumimoji="0" lang="fr-FR" sz="1000" u="none" strike="noStrike" cap="none" normalizeH="0" baseline="0" noProof="0">
                          <a:ln>
                            <a:noFill/>
                          </a:ln>
                          <a:effectLst/>
                        </a:rPr>
                        <a:t>Fonds internes dédiés (FID)</a:t>
                      </a:r>
                    </a:p>
                    <a:p>
                      <a:pPr marL="171450" marR="0" lvl="0" indent="-171450" algn="l" defTabSz="914400" rtl="0" eaLnBrk="1" fontAlgn="base" latinLnBrk="0" hangingPunct="1">
                        <a:lnSpc>
                          <a:spcPct val="100000"/>
                        </a:lnSpc>
                        <a:spcBef>
                          <a:spcPct val="20000"/>
                        </a:spcBef>
                        <a:spcAft>
                          <a:spcPct val="0"/>
                        </a:spcAft>
                        <a:buClr>
                          <a:srgbClr val="D82034"/>
                        </a:buClr>
                        <a:buSzPct val="100000"/>
                        <a:buFont typeface="Arial" panose="020B0604020202020204" pitchFamily="34" charset="0"/>
                        <a:buChar char="•"/>
                        <a:tabLst/>
                      </a:pPr>
                      <a:r>
                        <a:rPr kumimoji="0" lang="fr-FR" sz="1000" u="none" strike="noStrike" cap="none" normalizeH="0" baseline="0" noProof="0">
                          <a:ln>
                            <a:noFill/>
                          </a:ln>
                          <a:effectLst/>
                        </a:rPr>
                        <a:t>Fonds d’Assurance Spécialisés (FAS)</a:t>
                      </a:r>
                    </a:p>
                    <a:p>
                      <a:pPr marL="171450" marR="0" lvl="0" indent="-171450" algn="l" defTabSz="914400" rtl="0" eaLnBrk="1" fontAlgn="base" latinLnBrk="0" hangingPunct="1">
                        <a:lnSpc>
                          <a:spcPct val="100000"/>
                        </a:lnSpc>
                        <a:spcBef>
                          <a:spcPct val="20000"/>
                        </a:spcBef>
                        <a:spcAft>
                          <a:spcPct val="0"/>
                        </a:spcAft>
                        <a:buClr>
                          <a:srgbClr val="D82034"/>
                        </a:buClr>
                        <a:buSzPct val="100000"/>
                        <a:buFont typeface="Arial" panose="020B0604020202020204" pitchFamily="34" charset="0"/>
                        <a:buChar char="•"/>
                        <a:tabLst/>
                      </a:pPr>
                      <a:r>
                        <a:rPr kumimoji="0" lang="fr-FR" sz="1000" b="0" u="none" strike="noStrike" cap="none" normalizeH="0" baseline="0" noProof="0">
                          <a:ln>
                            <a:noFill/>
                          </a:ln>
                          <a:effectLst/>
                        </a:rPr>
                        <a:t>Fonds en Euros</a:t>
                      </a:r>
                      <a:endParaRPr kumimoji="0" lang="fr-FR" sz="1000" b="0" u="none" strike="noStrike" cap="none" normalizeH="0" baseline="0" noProof="0" dirty="0">
                        <a:ln>
                          <a:noFill/>
                        </a:ln>
                        <a:effectLst/>
                      </a:endParaRPr>
                    </a:p>
                  </a:txBody>
                  <a:tcPr/>
                </a:tc>
                <a:extLst>
                  <a:ext uri="{0D108BD9-81ED-4DB2-BD59-A6C34878D82A}">
                    <a16:rowId xmlns:a16="http://schemas.microsoft.com/office/drawing/2014/main" val="1481561965"/>
                  </a:ext>
                </a:extLst>
              </a:tr>
              <a:tr h="370840">
                <a:tc>
                  <a:txBody>
                    <a:bodyPr/>
                    <a:lstStyle/>
                    <a:p>
                      <a:r>
                        <a:rPr lang="fr-FR" sz="1000" noProof="0"/>
                        <a:t>Versement sur le contrat</a:t>
                      </a:r>
                      <a:endParaRPr lang="fr-FR" sz="1000" noProof="0" dirty="0"/>
                    </a:p>
                  </a:txBody>
                  <a:tcPr/>
                </a:tc>
                <a:tc>
                  <a:txBody>
                    <a:bodyPr/>
                    <a:lstStyle/>
                    <a:p>
                      <a:r>
                        <a:rPr lang="fr-FR" sz="1000" noProof="0"/>
                        <a:t>En numéraire ou en titres, sous réserve d’acceptation de l’assureur </a:t>
                      </a:r>
                      <a:endParaRPr lang="fr-FR" sz="1000" noProof="0" dirty="0"/>
                    </a:p>
                  </a:txBody>
                  <a:tcPr/>
                </a:tc>
                <a:extLst>
                  <a:ext uri="{0D108BD9-81ED-4DB2-BD59-A6C34878D82A}">
                    <a16:rowId xmlns:a16="http://schemas.microsoft.com/office/drawing/2014/main" val="2754429865"/>
                  </a:ext>
                </a:extLst>
              </a:tr>
              <a:tr h="370840">
                <a:tc>
                  <a:txBody>
                    <a:bodyPr/>
                    <a:lstStyle/>
                    <a:p>
                      <a:r>
                        <a:rPr lang="fr-FR" sz="1000" noProof="0"/>
                        <a:t>Fiscalité applicable</a:t>
                      </a:r>
                      <a:endParaRPr lang="fr-FR" sz="1000" noProof="0" dirty="0"/>
                    </a:p>
                  </a:txBody>
                  <a:tcPr/>
                </a:tc>
                <a:tc>
                  <a:txBody>
                    <a:bodyPr/>
                    <a:lstStyle/>
                    <a:p>
                      <a:r>
                        <a:rPr lang="fr-FR" sz="1000" noProof="0"/>
                        <a:t>Pays de résidence du souscripteur</a:t>
                      </a:r>
                      <a:endParaRPr lang="fr-FR" sz="1000" noProof="0" dirty="0"/>
                    </a:p>
                  </a:txBody>
                  <a:tcPr/>
                </a:tc>
                <a:extLst>
                  <a:ext uri="{0D108BD9-81ED-4DB2-BD59-A6C34878D82A}">
                    <a16:rowId xmlns:a16="http://schemas.microsoft.com/office/drawing/2014/main" val="442502033"/>
                  </a:ext>
                </a:extLst>
              </a:tr>
            </a:tbl>
          </a:graphicData>
        </a:graphic>
      </p:graphicFrame>
    </p:spTree>
    <p:extLst>
      <p:ext uri="{BB962C8B-B14F-4D97-AF65-F5344CB8AC3E}">
        <p14:creationId xmlns:p14="http://schemas.microsoft.com/office/powerpoint/2010/main" val="41053771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11E0F9-E487-C9B2-37F9-2C181184BA9D}"/>
              </a:ext>
            </a:extLst>
          </p:cNvPr>
          <p:cNvSpPr>
            <a:spLocks noGrp="1"/>
          </p:cNvSpPr>
          <p:nvPr>
            <p:ph type="title"/>
          </p:nvPr>
        </p:nvSpPr>
        <p:spPr/>
        <p:txBody>
          <a:bodyPr/>
          <a:lstStyle/>
          <a:p>
            <a:r>
              <a:rPr lang="fr-FR"/>
              <a:t>Premium Lux – Caractéristiques détaillées</a:t>
            </a:r>
            <a:endParaRPr lang="fr-FR" dirty="0"/>
          </a:p>
        </p:txBody>
      </p:sp>
      <p:graphicFrame>
        <p:nvGraphicFramePr>
          <p:cNvPr id="3" name="Table 3">
            <a:extLst>
              <a:ext uri="{FF2B5EF4-FFF2-40B4-BE49-F238E27FC236}">
                <a16:creationId xmlns:a16="http://schemas.microsoft.com/office/drawing/2014/main" id="{AB5F0E65-6902-438E-1224-6911C57E975B}"/>
              </a:ext>
            </a:extLst>
          </p:cNvPr>
          <p:cNvGraphicFramePr>
            <a:graphicFrameLocks noGrp="1"/>
          </p:cNvGraphicFramePr>
          <p:nvPr>
            <p:extLst>
              <p:ext uri="{D42A27DB-BD31-4B8C-83A1-F6EECF244321}">
                <p14:modId xmlns:p14="http://schemas.microsoft.com/office/powerpoint/2010/main" val="4109069683"/>
              </p:ext>
            </p:extLst>
          </p:nvPr>
        </p:nvGraphicFramePr>
        <p:xfrm>
          <a:off x="251520" y="1489348"/>
          <a:ext cx="7920880" cy="1854200"/>
        </p:xfrm>
        <a:graphic>
          <a:graphicData uri="http://schemas.openxmlformats.org/drawingml/2006/table">
            <a:tbl>
              <a:tblPr firstCol="1" bandRow="1">
                <a:tableStyleId>{D27102A9-8310-4765-A935-A1911B00CA55}</a:tableStyleId>
              </a:tblPr>
              <a:tblGrid>
                <a:gridCol w="1872208">
                  <a:extLst>
                    <a:ext uri="{9D8B030D-6E8A-4147-A177-3AD203B41FA5}">
                      <a16:colId xmlns:a16="http://schemas.microsoft.com/office/drawing/2014/main" val="3470915813"/>
                    </a:ext>
                  </a:extLst>
                </a:gridCol>
                <a:gridCol w="6048672">
                  <a:extLst>
                    <a:ext uri="{9D8B030D-6E8A-4147-A177-3AD203B41FA5}">
                      <a16:colId xmlns:a16="http://schemas.microsoft.com/office/drawing/2014/main" val="3383534912"/>
                    </a:ext>
                  </a:extLst>
                </a:gridCol>
              </a:tblGrid>
              <a:tr h="370840">
                <a:tc>
                  <a:txBody>
                    <a:bodyPr/>
                    <a:lstStyle/>
                    <a:p>
                      <a:r>
                        <a:rPr lang="fr-FR" sz="1000" noProof="0"/>
                        <a:t>Rachat total</a:t>
                      </a:r>
                      <a:endParaRPr lang="fr-FR" sz="1000" noProof="0" dirty="0"/>
                    </a:p>
                  </a:txBody>
                  <a:tcPr/>
                </a:tc>
                <a:tc>
                  <a:txBody>
                    <a:bodyPr/>
                    <a:lstStyle/>
                    <a:p>
                      <a:r>
                        <a:rPr lang="fr-FR" sz="1000" noProof="0"/>
                        <a:t>Possible à tout moment sans pénalités</a:t>
                      </a:r>
                      <a:endParaRPr lang="fr-FR" sz="1000" noProof="0" dirty="0"/>
                    </a:p>
                  </a:txBody>
                  <a:tcPr/>
                </a:tc>
                <a:extLst>
                  <a:ext uri="{0D108BD9-81ED-4DB2-BD59-A6C34878D82A}">
                    <a16:rowId xmlns:a16="http://schemas.microsoft.com/office/drawing/2014/main" val="2631714657"/>
                  </a:ext>
                </a:extLst>
              </a:tr>
              <a:tr h="370840">
                <a:tc>
                  <a:txBody>
                    <a:bodyPr/>
                    <a:lstStyle/>
                    <a:p>
                      <a:r>
                        <a:rPr lang="fr-FR" sz="1000" noProof="0"/>
                        <a:t>Rachat partiel</a:t>
                      </a:r>
                      <a:endParaRPr lang="fr-FR" sz="1000" noProof="0" dirty="0"/>
                    </a:p>
                  </a:txBody>
                  <a:tcPr/>
                </a:tc>
                <a:tc>
                  <a:txBody>
                    <a:bodyPr/>
                    <a:lstStyle/>
                    <a:p>
                      <a:r>
                        <a:rPr lang="fr-FR" sz="1000" noProof="0"/>
                        <a:t>Minimum : 10.000 EUR – Sans frais </a:t>
                      </a:r>
                      <a:endParaRPr lang="fr-FR" sz="1000" noProof="0" dirty="0"/>
                    </a:p>
                  </a:txBody>
                  <a:tcPr/>
                </a:tc>
                <a:extLst>
                  <a:ext uri="{0D108BD9-81ED-4DB2-BD59-A6C34878D82A}">
                    <a16:rowId xmlns:a16="http://schemas.microsoft.com/office/drawing/2014/main" val="1603468377"/>
                  </a:ext>
                </a:extLst>
              </a:tr>
              <a:tr h="370840">
                <a:tc>
                  <a:txBody>
                    <a:bodyPr/>
                    <a:lstStyle/>
                    <a:p>
                      <a:r>
                        <a:rPr lang="fr-FR" sz="1000" noProof="0"/>
                        <a:t>Versement complèmentaire </a:t>
                      </a:r>
                      <a:endParaRPr lang="fr-FR" sz="1000" noProof="0" dirty="0"/>
                    </a:p>
                  </a:txBody>
                  <a:tcPr/>
                </a:tc>
                <a:tc>
                  <a:txBody>
                    <a:bodyPr/>
                    <a:lstStyle/>
                    <a:p>
                      <a:r>
                        <a:rPr lang="fr-FR" sz="1000" noProof="0"/>
                        <a:t>Minimum : 25.000 EUR</a:t>
                      </a:r>
                      <a:endParaRPr lang="fr-FR" sz="1000" noProof="0" dirty="0"/>
                    </a:p>
                  </a:txBody>
                  <a:tcPr/>
                </a:tc>
                <a:extLst>
                  <a:ext uri="{0D108BD9-81ED-4DB2-BD59-A6C34878D82A}">
                    <a16:rowId xmlns:a16="http://schemas.microsoft.com/office/drawing/2014/main" val="1651161063"/>
                  </a:ext>
                </a:extLst>
              </a:tr>
              <a:tr h="370840">
                <a:tc>
                  <a:txBody>
                    <a:bodyPr/>
                    <a:lstStyle/>
                    <a:p>
                      <a:r>
                        <a:rPr lang="fr-FR" sz="1000" noProof="0"/>
                        <a:t>Devise du contrat</a:t>
                      </a:r>
                      <a:endParaRPr lang="fr-FR" sz="1000" noProof="0" dirty="0"/>
                    </a:p>
                  </a:txBody>
                  <a:tcPr/>
                </a:tc>
                <a:tc>
                  <a:txBody>
                    <a:bodyPr/>
                    <a:lstStyle/>
                    <a:p>
                      <a:r>
                        <a:rPr lang="fr-FR" sz="1000" noProof="0"/>
                        <a:t>EUR </a:t>
                      </a:r>
                      <a:endParaRPr lang="fr-FR" sz="1000" noProof="0" dirty="0"/>
                    </a:p>
                  </a:txBody>
                  <a:tcPr/>
                </a:tc>
                <a:extLst>
                  <a:ext uri="{0D108BD9-81ED-4DB2-BD59-A6C34878D82A}">
                    <a16:rowId xmlns:a16="http://schemas.microsoft.com/office/drawing/2014/main" val="467448760"/>
                  </a:ext>
                </a:extLst>
              </a:tr>
              <a:tr h="370840">
                <a:tc>
                  <a:txBody>
                    <a:bodyPr/>
                    <a:lstStyle/>
                    <a:p>
                      <a:r>
                        <a:rPr lang="fr-FR" sz="1000" noProof="0"/>
                        <a:t>Option décès : </a:t>
                      </a:r>
                      <a:endParaRPr lang="fr-FR" sz="1000" noProof="0" dirty="0"/>
                    </a:p>
                  </a:txBody>
                  <a:tcPr/>
                </a:tc>
                <a:tc>
                  <a:txBody>
                    <a:bodyPr/>
                    <a:lstStyle/>
                    <a:p>
                      <a:r>
                        <a:rPr lang="fr-FR" sz="1000" noProof="0"/>
                        <a:t>1) Valeur du contrat ou 2) plancher décès </a:t>
                      </a:r>
                      <a:endParaRPr lang="fr-FR" sz="1000" noProof="0" dirty="0"/>
                    </a:p>
                  </a:txBody>
                  <a:tcPr/>
                </a:tc>
                <a:extLst>
                  <a:ext uri="{0D108BD9-81ED-4DB2-BD59-A6C34878D82A}">
                    <a16:rowId xmlns:a16="http://schemas.microsoft.com/office/drawing/2014/main" val="2763906346"/>
                  </a:ext>
                </a:extLst>
              </a:tr>
            </a:tbl>
          </a:graphicData>
        </a:graphic>
      </p:graphicFrame>
    </p:spTree>
    <p:extLst>
      <p:ext uri="{BB962C8B-B14F-4D97-AF65-F5344CB8AC3E}">
        <p14:creationId xmlns:p14="http://schemas.microsoft.com/office/powerpoint/2010/main" val="35327849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5784061-2E7A-7C13-520B-C94EC8136B22}"/>
              </a:ext>
            </a:extLst>
          </p:cNvPr>
          <p:cNvSpPr>
            <a:spLocks noGrp="1"/>
          </p:cNvSpPr>
          <p:nvPr>
            <p:ph type="title"/>
          </p:nvPr>
        </p:nvSpPr>
        <p:spPr>
          <a:xfrm>
            <a:off x="250826" y="121196"/>
            <a:ext cx="7201494" cy="1080542"/>
          </a:xfrm>
        </p:spPr>
        <p:txBody>
          <a:bodyPr>
            <a:noAutofit/>
          </a:bodyPr>
          <a:lstStyle/>
          <a:p>
            <a:r>
              <a:rPr lang="fr-FR" dirty="0"/>
              <a:t>Les avantages du Premium Lux</a:t>
            </a:r>
          </a:p>
        </p:txBody>
      </p:sp>
      <p:graphicFrame>
        <p:nvGraphicFramePr>
          <p:cNvPr id="6" name="Espace réservé du contenu 5">
            <a:extLst>
              <a:ext uri="{FF2B5EF4-FFF2-40B4-BE49-F238E27FC236}">
                <a16:creationId xmlns:a16="http://schemas.microsoft.com/office/drawing/2014/main" id="{6B497B63-ABDE-10F4-97BB-F05E445B4792}"/>
              </a:ext>
            </a:extLst>
          </p:cNvPr>
          <p:cNvGraphicFramePr>
            <a:graphicFrameLocks noGrp="1"/>
          </p:cNvGraphicFramePr>
          <p:nvPr>
            <p:ph idx="1"/>
            <p:extLst>
              <p:ext uri="{D42A27DB-BD31-4B8C-83A1-F6EECF244321}">
                <p14:modId xmlns:p14="http://schemas.microsoft.com/office/powerpoint/2010/main" val="1654529091"/>
              </p:ext>
            </p:extLst>
          </p:nvPr>
        </p:nvGraphicFramePr>
        <p:xfrm>
          <a:off x="250825" y="1562100"/>
          <a:ext cx="5761038" cy="36004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Rectangle 6">
            <a:extLst>
              <a:ext uri="{FF2B5EF4-FFF2-40B4-BE49-F238E27FC236}">
                <a16:creationId xmlns:a16="http://schemas.microsoft.com/office/drawing/2014/main" id="{17968BD7-BA15-73B2-5F78-9B3C7BAD5D49}"/>
              </a:ext>
            </a:extLst>
          </p:cNvPr>
          <p:cNvSpPr/>
          <p:nvPr/>
        </p:nvSpPr>
        <p:spPr>
          <a:xfrm>
            <a:off x="138479" y="5145698"/>
            <a:ext cx="3152043" cy="21101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solidFill>
                <a:srgbClr val="FFFFFF"/>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572631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59820" y="2154428"/>
            <a:ext cx="4860251" cy="390295"/>
          </a:xfrm>
        </p:spPr>
        <p:txBody>
          <a:bodyPr/>
          <a:lstStyle/>
          <a:p>
            <a:r>
              <a:rPr lang="fr-FR"/>
              <a:t>Swiss Life Generations</a:t>
            </a:r>
            <a:br>
              <a:rPr lang="fr-FR"/>
            </a:br>
            <a:r>
              <a:rPr lang="fr-FR" sz="1800"/>
              <a:t>Une </a:t>
            </a:r>
            <a:r>
              <a:rPr lang="fr-FR" sz="1800" dirty="0"/>
              <a:t>solution d’assurance vie </a:t>
            </a:r>
            <a:r>
              <a:rPr lang="fr-FR" sz="1800"/>
              <a:t>universelle variable</a:t>
            </a:r>
            <a:endParaRPr lang="fr-FR" dirty="0"/>
          </a:p>
        </p:txBody>
      </p:sp>
    </p:spTree>
    <p:extLst>
      <p:ext uri="{BB962C8B-B14F-4D97-AF65-F5344CB8AC3E}">
        <p14:creationId xmlns:p14="http://schemas.microsoft.com/office/powerpoint/2010/main" val="35476775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Straight Connector 13">
            <a:extLst>
              <a:ext uri="{FF2B5EF4-FFF2-40B4-BE49-F238E27FC236}">
                <a16:creationId xmlns:a16="http://schemas.microsoft.com/office/drawing/2014/main" id="{95691240-C284-4215-A222-64B8F05E59A7}"/>
              </a:ext>
            </a:extLst>
          </p:cNvPr>
          <p:cNvCxnSpPr/>
          <p:nvPr/>
        </p:nvCxnSpPr>
        <p:spPr>
          <a:xfrm>
            <a:off x="0" y="1777380"/>
            <a:ext cx="9144000" cy="0"/>
          </a:xfrm>
          <a:prstGeom prst="line">
            <a:avLst/>
          </a:prstGeom>
          <a:ln w="38100">
            <a:solidFill>
              <a:schemeClr val="hlink"/>
            </a:solidFill>
          </a:ln>
        </p:spPr>
        <p:style>
          <a:lnRef idx="1">
            <a:schemeClr val="accent4"/>
          </a:lnRef>
          <a:fillRef idx="0">
            <a:schemeClr val="accent4"/>
          </a:fillRef>
          <a:effectRef idx="0">
            <a:schemeClr val="accent4"/>
          </a:effectRef>
          <a:fontRef idx="minor">
            <a:schemeClr val="tx1"/>
          </a:fontRef>
        </p:style>
      </p:cxnSp>
      <p:sp>
        <p:nvSpPr>
          <p:cNvPr id="70" name="Titel 1">
            <a:extLst>
              <a:ext uri="{FF2B5EF4-FFF2-40B4-BE49-F238E27FC236}">
                <a16:creationId xmlns:a16="http://schemas.microsoft.com/office/drawing/2014/main" id="{867040BD-B197-46B7-83FC-E2914A99D051}"/>
              </a:ext>
            </a:extLst>
          </p:cNvPr>
          <p:cNvSpPr txBox="1">
            <a:spLocks/>
          </p:cNvSpPr>
          <p:nvPr/>
        </p:nvSpPr>
        <p:spPr>
          <a:xfrm>
            <a:off x="232934" y="120650"/>
            <a:ext cx="8803562" cy="1080542"/>
          </a:xfrm>
          <a:prstGeom prst="rect">
            <a:avLst/>
          </a:prstGeom>
        </p:spPr>
        <p:txBody>
          <a:bodyPr vert="horz" lIns="36000" tIns="36000" rIns="0" bIns="0" rtlCol="0" anchor="t" anchorCtr="0">
            <a:noAutofit/>
          </a:bodyPr>
          <a:lstStyle>
            <a:lvl1pPr algn="l" defTabSz="914400" rtl="0" eaLnBrk="1" latinLnBrk="0" hangingPunct="1">
              <a:spcBef>
                <a:spcPct val="0"/>
              </a:spcBef>
              <a:buNone/>
              <a:defRPr sz="3200" kern="1200">
                <a:solidFill>
                  <a:schemeClr val="tx2"/>
                </a:solidFill>
                <a:latin typeface="Times New Roman" panose="02020603050405020304" pitchFamily="18" charset="0"/>
                <a:ea typeface="+mj-ea"/>
                <a:cs typeface="Times New Roman" panose="02020603050405020304" pitchFamily="18" charset="0"/>
              </a:defRPr>
            </a:lvl1pPr>
          </a:lstStyle>
          <a:p>
            <a:pPr lvl="0"/>
            <a:r>
              <a:rPr lang="fr-FR" spc="-50" dirty="0">
                <a:solidFill>
                  <a:srgbClr val="000000"/>
                </a:solidFill>
              </a:rPr>
              <a:t>Planification de liquidité pour tous les aspects de la vie</a:t>
            </a:r>
            <a:br>
              <a:rPr kumimoji="0" lang="fr-FR" b="0" u="none" strike="noStrike" kern="1200" cap="none" spc="0" normalizeH="0" baseline="0" noProof="0" dirty="0">
                <a:ln>
                  <a:noFill/>
                </a:ln>
                <a:solidFill>
                  <a:srgbClr val="808080"/>
                </a:solidFill>
                <a:effectLst/>
                <a:uLnTx/>
                <a:uFillTx/>
                <a:latin typeface="Times New Roman" panose="02020603050405020304" pitchFamily="18" charset="0"/>
                <a:ea typeface="+mj-ea"/>
                <a:cs typeface="Times New Roman" panose="02020603050405020304" pitchFamily="18" charset="0"/>
              </a:rPr>
            </a:br>
            <a:endParaRPr kumimoji="0" lang="fr-FR" b="0" u="none" strike="noStrike" kern="1200" cap="none" spc="0" normalizeH="0" baseline="0" noProof="0" dirty="0">
              <a:ln>
                <a:noFill/>
              </a:ln>
              <a:solidFill>
                <a:srgbClr val="808080"/>
              </a:solidFill>
              <a:effectLst/>
              <a:uLnTx/>
              <a:uFillTx/>
              <a:ea typeface="+mj-ea"/>
              <a:cs typeface="Times New Roman" panose="02020603050405020304" pitchFamily="18" charset="0"/>
            </a:endParaRPr>
          </a:p>
        </p:txBody>
      </p:sp>
      <p:pic>
        <p:nvPicPr>
          <p:cNvPr id="12" name="Grafik 35">
            <a:extLst>
              <a:ext uri="{FF2B5EF4-FFF2-40B4-BE49-F238E27FC236}">
                <a16:creationId xmlns:a16="http://schemas.microsoft.com/office/drawing/2014/main" id="{F0245BAF-32EF-41CF-A0CF-270872385536}"/>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955895" y="952500"/>
            <a:ext cx="1675050" cy="1692000"/>
          </a:xfrm>
          <a:prstGeom prst="ellipse">
            <a:avLst/>
          </a:prstGeom>
          <a:ln>
            <a:noFill/>
          </a:ln>
          <a:effectLst/>
        </p:spPr>
      </p:pic>
      <p:pic>
        <p:nvPicPr>
          <p:cNvPr id="15" name="Picture 14">
            <a:extLst>
              <a:ext uri="{FF2B5EF4-FFF2-40B4-BE49-F238E27FC236}">
                <a16:creationId xmlns:a16="http://schemas.microsoft.com/office/drawing/2014/main" id="{B604581D-17B0-452A-A4EE-F789B554E993}"/>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a:stretch/>
        </p:blipFill>
        <p:spPr>
          <a:xfrm>
            <a:off x="3607308" y="974717"/>
            <a:ext cx="1675997" cy="1692000"/>
          </a:xfrm>
          <a:prstGeom prst="ellipse">
            <a:avLst/>
          </a:prstGeom>
          <a:ln>
            <a:noFill/>
          </a:ln>
          <a:effectLst/>
        </p:spPr>
      </p:pic>
      <p:pic>
        <p:nvPicPr>
          <p:cNvPr id="16" name="Picture 15">
            <a:extLst>
              <a:ext uri="{FF2B5EF4-FFF2-40B4-BE49-F238E27FC236}">
                <a16:creationId xmlns:a16="http://schemas.microsoft.com/office/drawing/2014/main" id="{8DF5EF0E-47BF-4B30-8BE5-310E35157C8F}"/>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6897" r="16897"/>
          <a:stretch/>
        </p:blipFill>
        <p:spPr>
          <a:xfrm>
            <a:off x="6414679" y="970533"/>
            <a:ext cx="1680321" cy="1692000"/>
          </a:xfrm>
          <a:prstGeom prst="ellipse">
            <a:avLst/>
          </a:prstGeom>
          <a:ln>
            <a:noFill/>
          </a:ln>
          <a:effectLst/>
        </p:spPr>
      </p:pic>
      <p:sp>
        <p:nvSpPr>
          <p:cNvPr id="33" name="TextBox 61">
            <a:extLst>
              <a:ext uri="{FF2B5EF4-FFF2-40B4-BE49-F238E27FC236}">
                <a16:creationId xmlns:a16="http://schemas.microsoft.com/office/drawing/2014/main" id="{6878E447-BEEF-4044-B548-7D16E05108C1}"/>
              </a:ext>
            </a:extLst>
          </p:cNvPr>
          <p:cNvSpPr txBox="1"/>
          <p:nvPr/>
        </p:nvSpPr>
        <p:spPr>
          <a:xfrm>
            <a:off x="6446016" y="4958586"/>
            <a:ext cx="2320432" cy="787267"/>
          </a:xfrm>
          <a:prstGeom prst="rect">
            <a:avLst/>
          </a:prstGeom>
          <a:noFill/>
          <a:extLst>
            <a:ext uri="{909E8E84-426E-40DD-AFC4-6F175D3DCCD1}">
              <a14:hiddenFill xmlns:a14="http://schemas.microsoft.com/office/drawing/2010/main">
                <a:solidFill>
                  <a:srgbClr val="DFDFDF"/>
                </a:solidFill>
              </a14:hiddenFill>
            </a:ext>
          </a:extLst>
        </p:spPr>
        <p:txBody>
          <a:bodyPr wrap="square" rtlCol="0">
            <a:noAutofit/>
          </a:bodyPr>
          <a:lstStyle/>
          <a:p>
            <a:pPr marL="228600" indent="-228600" defTabSz="355600">
              <a:lnSpc>
                <a:spcPct val="90000"/>
              </a:lnSpc>
              <a:spcBef>
                <a:spcPct val="0"/>
              </a:spcBef>
              <a:buSzPct val="100000"/>
              <a:buFont typeface="Arial" panose="020B0604020202020204" pitchFamily="34" charset="0"/>
              <a:buChar char="-"/>
            </a:pPr>
            <a:endParaRPr lang="fr-FR" sz="1000" i="1" dirty="0">
              <a:solidFill>
                <a:srgbClr val="000000"/>
              </a:solidFill>
              <a:latin typeface="+mj-lt"/>
            </a:endParaRPr>
          </a:p>
          <a:p>
            <a:pPr marL="228600" indent="-228600" defTabSz="355600">
              <a:lnSpc>
                <a:spcPct val="90000"/>
              </a:lnSpc>
              <a:spcBef>
                <a:spcPct val="0"/>
              </a:spcBef>
              <a:buSzPct val="100000"/>
              <a:buFont typeface="Arial" panose="020B0604020202020204" pitchFamily="34" charset="0"/>
              <a:buChar char="-"/>
            </a:pPr>
            <a:endParaRPr lang="fr-FR" sz="1000" i="1" dirty="0">
              <a:solidFill>
                <a:srgbClr val="000000"/>
              </a:solidFill>
              <a:latin typeface="+mj-lt"/>
            </a:endParaRPr>
          </a:p>
        </p:txBody>
      </p:sp>
      <p:graphicFrame>
        <p:nvGraphicFramePr>
          <p:cNvPr id="2" name="Table 2">
            <a:extLst>
              <a:ext uri="{FF2B5EF4-FFF2-40B4-BE49-F238E27FC236}">
                <a16:creationId xmlns:a16="http://schemas.microsoft.com/office/drawing/2014/main" id="{F897AF57-61C3-4C6F-B84A-5BFD59C8A4B0}"/>
              </a:ext>
            </a:extLst>
          </p:cNvPr>
          <p:cNvGraphicFramePr>
            <a:graphicFrameLocks noGrp="1"/>
          </p:cNvGraphicFramePr>
          <p:nvPr>
            <p:extLst>
              <p:ext uri="{D42A27DB-BD31-4B8C-83A1-F6EECF244321}">
                <p14:modId xmlns:p14="http://schemas.microsoft.com/office/powerpoint/2010/main" val="1963040288"/>
              </p:ext>
            </p:extLst>
          </p:nvPr>
        </p:nvGraphicFramePr>
        <p:xfrm>
          <a:off x="714981" y="2671280"/>
          <a:ext cx="8105169" cy="2692654"/>
        </p:xfrm>
        <a:graphic>
          <a:graphicData uri="http://schemas.openxmlformats.org/drawingml/2006/table">
            <a:tbl>
              <a:tblPr firstRow="1" bandRow="1">
                <a:tableStyleId>{2D5ABB26-0587-4C30-8999-92F81FD0307C}</a:tableStyleId>
              </a:tblPr>
              <a:tblGrid>
                <a:gridCol w="2701723">
                  <a:extLst>
                    <a:ext uri="{9D8B030D-6E8A-4147-A177-3AD203B41FA5}">
                      <a16:colId xmlns:a16="http://schemas.microsoft.com/office/drawing/2014/main" val="3798326381"/>
                    </a:ext>
                  </a:extLst>
                </a:gridCol>
                <a:gridCol w="2701723">
                  <a:extLst>
                    <a:ext uri="{9D8B030D-6E8A-4147-A177-3AD203B41FA5}">
                      <a16:colId xmlns:a16="http://schemas.microsoft.com/office/drawing/2014/main" val="1255283403"/>
                    </a:ext>
                  </a:extLst>
                </a:gridCol>
                <a:gridCol w="2701723">
                  <a:extLst>
                    <a:ext uri="{9D8B030D-6E8A-4147-A177-3AD203B41FA5}">
                      <a16:colId xmlns:a16="http://schemas.microsoft.com/office/drawing/2014/main" val="3652655260"/>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b="0" i="1" kern="1200" dirty="0">
                          <a:solidFill>
                            <a:schemeClr val="hlink"/>
                          </a:solidFill>
                          <a:latin typeface="+mj-lt"/>
                        </a:rPr>
                        <a:t>Planifier pour sa famille</a:t>
                      </a:r>
                      <a:endParaRPr lang="fr-FR" b="0" i="1" dirty="0">
                        <a:latin typeface="+mj-lt"/>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i="1" kern="1200" dirty="0">
                          <a:solidFill>
                            <a:schemeClr val="hlink"/>
                          </a:solidFill>
                          <a:latin typeface="+mj-lt"/>
                          <a:ea typeface="+mn-ea"/>
                          <a:cs typeface="+mn-cs"/>
                        </a:rPr>
                        <a:t>Protéger l’entreprise</a:t>
                      </a:r>
                      <a:endParaRPr lang="fr-FR" b="0" i="1" dirty="0">
                        <a:latin typeface="+mj-lt"/>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b="0" i="1" kern="1200" dirty="0">
                          <a:solidFill>
                            <a:schemeClr val="hlink"/>
                          </a:solidFill>
                          <a:latin typeface="+mj-lt"/>
                        </a:rPr>
                        <a:t>Projets de bienfaisance</a:t>
                      </a:r>
                      <a:endParaRPr lang="fr-FR" b="0" i="1" dirty="0">
                        <a:latin typeface="+mj-lt"/>
                      </a:endParaRPr>
                    </a:p>
                  </a:txBody>
                  <a:tcPr/>
                </a:tc>
                <a:extLst>
                  <a:ext uri="{0D108BD9-81ED-4DB2-BD59-A6C34878D82A}">
                    <a16:rowId xmlns:a16="http://schemas.microsoft.com/office/drawing/2014/main" val="1567076111"/>
                  </a:ext>
                </a:extLst>
              </a:tr>
              <a:tr h="370840">
                <a:tc>
                  <a:txBody>
                    <a:bodyPr/>
                    <a:lstStyle/>
                    <a:p>
                      <a:pPr marL="72000" defTabSz="355600">
                        <a:spcBef>
                          <a:spcPct val="0"/>
                        </a:spcBef>
                      </a:pPr>
                      <a:r>
                        <a:rPr lang="fr-FR" sz="1100" dirty="0">
                          <a:solidFill>
                            <a:srgbClr val="000000"/>
                          </a:solidFill>
                        </a:rPr>
                        <a:t>Transfert de patrimoine</a:t>
                      </a:r>
                    </a:p>
                    <a:p>
                      <a:pPr marL="180000" indent="-108000" defTabSz="355600">
                        <a:lnSpc>
                          <a:spcPct val="150000"/>
                        </a:lnSpc>
                        <a:spcBef>
                          <a:spcPct val="0"/>
                        </a:spcBef>
                        <a:buFontTx/>
                        <a:buChar char="-"/>
                      </a:pPr>
                      <a:r>
                        <a:rPr lang="fr-FR" sz="800" dirty="0">
                          <a:solidFill>
                            <a:srgbClr val="000000"/>
                          </a:solidFill>
                        </a:rPr>
                        <a:t>Financer les droits de succession</a:t>
                      </a:r>
                    </a:p>
                    <a:p>
                      <a:pPr marL="180000" indent="-108000" defTabSz="355600">
                        <a:lnSpc>
                          <a:spcPct val="150000"/>
                        </a:lnSpc>
                        <a:spcBef>
                          <a:spcPct val="0"/>
                        </a:spcBef>
                        <a:buFontTx/>
                        <a:buChar char="-"/>
                      </a:pPr>
                      <a:r>
                        <a:rPr lang="fr-FR" sz="800" dirty="0">
                          <a:solidFill>
                            <a:schemeClr val="tx1"/>
                          </a:solidFill>
                        </a:rPr>
                        <a:t>Remplacer</a:t>
                      </a:r>
                      <a:r>
                        <a:rPr lang="fr-FR" sz="800" dirty="0">
                          <a:solidFill>
                            <a:srgbClr val="000000"/>
                          </a:solidFill>
                        </a:rPr>
                        <a:t> la perte de revenus</a:t>
                      </a:r>
                    </a:p>
                    <a:p>
                      <a:pPr marL="180000" indent="-108000" defTabSz="355600">
                        <a:lnSpc>
                          <a:spcPct val="150000"/>
                        </a:lnSpc>
                        <a:spcBef>
                          <a:spcPct val="0"/>
                        </a:spcBef>
                        <a:buFontTx/>
                        <a:buChar char="-"/>
                      </a:pPr>
                      <a:r>
                        <a:rPr lang="fr-FR" sz="800" dirty="0">
                          <a:solidFill>
                            <a:srgbClr val="000000"/>
                          </a:solidFill>
                        </a:rPr>
                        <a:t>Avoir des liquidités pour d’autres investissements</a:t>
                      </a:r>
                      <a:endParaRPr lang="fr-FR" sz="800" dirty="0"/>
                    </a:p>
                  </a:txBody>
                  <a:tcPr/>
                </a:tc>
                <a:tc>
                  <a:txBody>
                    <a:bodyPr/>
                    <a:lstStyle/>
                    <a:p>
                      <a:pPr marL="72000" defTabSz="355600">
                        <a:lnSpc>
                          <a:spcPct val="90000"/>
                        </a:lnSpc>
                        <a:spcBef>
                          <a:spcPct val="0"/>
                        </a:spcBef>
                      </a:pPr>
                      <a:r>
                        <a:rPr lang="fr-FR" sz="1100" i="0" kern="1200" dirty="0">
                          <a:solidFill>
                            <a:srgbClr val="000000"/>
                          </a:solidFill>
                          <a:latin typeface="+mn-lt"/>
                          <a:ea typeface="+mn-ea"/>
                          <a:cs typeface="+mn-cs"/>
                        </a:rPr>
                        <a:t>Personne clé et succession </a:t>
                      </a:r>
                    </a:p>
                    <a:p>
                      <a:pPr marL="180000" indent="-108000" algn="l" defTabSz="355600" rtl="0" eaLnBrk="1" latinLnBrk="0" hangingPunct="1">
                        <a:lnSpc>
                          <a:spcPct val="150000"/>
                        </a:lnSpc>
                        <a:spcBef>
                          <a:spcPct val="0"/>
                        </a:spcBef>
                        <a:buFontTx/>
                        <a:buChar char="-"/>
                      </a:pPr>
                      <a:r>
                        <a:rPr lang="fr-FR" sz="800" kern="1200" dirty="0">
                          <a:solidFill>
                            <a:srgbClr val="000000"/>
                          </a:solidFill>
                          <a:latin typeface="+mn-lt"/>
                          <a:ea typeface="+mn-ea"/>
                          <a:cs typeface="+mn-cs"/>
                        </a:rPr>
                        <a:t>Perte de chiffre d'affaires</a:t>
                      </a:r>
                    </a:p>
                    <a:p>
                      <a:pPr marL="180000" indent="-108000" algn="l" defTabSz="355600" rtl="0" eaLnBrk="1" latinLnBrk="0" hangingPunct="1">
                        <a:lnSpc>
                          <a:spcPct val="150000"/>
                        </a:lnSpc>
                        <a:spcBef>
                          <a:spcPct val="0"/>
                        </a:spcBef>
                        <a:buFontTx/>
                        <a:buChar char="-"/>
                      </a:pPr>
                      <a:r>
                        <a:rPr lang="fr-FR" sz="800" kern="1200" dirty="0">
                          <a:solidFill>
                            <a:srgbClr val="000000"/>
                          </a:solidFill>
                          <a:latin typeface="+mn-lt"/>
                          <a:ea typeface="+mn-ea"/>
                          <a:cs typeface="+mn-cs"/>
                        </a:rPr>
                        <a:t>Paiement des coûts liés au remplacement de l'homme clé</a:t>
                      </a:r>
                    </a:p>
                  </a:txBody>
                  <a:tcPr/>
                </a:tc>
                <a:tc>
                  <a:txBody>
                    <a:bodyPr/>
                    <a:lstStyle/>
                    <a:p>
                      <a:pPr marL="72000" defTabSz="355600">
                        <a:lnSpc>
                          <a:spcPct val="90000"/>
                        </a:lnSpc>
                        <a:spcBef>
                          <a:spcPct val="0"/>
                        </a:spcBef>
                      </a:pPr>
                      <a:r>
                        <a:rPr lang="fr-FR" sz="1100" kern="1200" dirty="0">
                          <a:solidFill>
                            <a:srgbClr val="000000"/>
                          </a:solidFill>
                        </a:rPr>
                        <a:t>Donation de la police d’assurance vie</a:t>
                      </a:r>
                      <a:endParaRPr lang="fr-FR" sz="300" kern="1200" dirty="0">
                        <a:solidFill>
                          <a:srgbClr val="000000"/>
                        </a:solidFill>
                      </a:endParaRPr>
                    </a:p>
                    <a:p>
                      <a:pPr marL="180000" indent="-108000" algn="l" defTabSz="355600" rtl="0" eaLnBrk="1" latinLnBrk="0" hangingPunct="1">
                        <a:lnSpc>
                          <a:spcPct val="150000"/>
                        </a:lnSpc>
                        <a:spcBef>
                          <a:spcPct val="0"/>
                        </a:spcBef>
                        <a:buSzPct val="100000"/>
                        <a:buFontTx/>
                        <a:buChar char="-"/>
                      </a:pPr>
                      <a:r>
                        <a:rPr lang="fr-FR" sz="800" kern="1200" dirty="0">
                          <a:solidFill>
                            <a:srgbClr val="000000"/>
                          </a:solidFill>
                          <a:latin typeface="+mn-lt"/>
                          <a:ea typeface="+mn-ea"/>
                          <a:cs typeface="+mn-cs"/>
                        </a:rPr>
                        <a:t>Décider des objectifs caritatifs de son vivant</a:t>
                      </a:r>
                      <a:endParaRPr lang="fr-FR" sz="800" dirty="0"/>
                    </a:p>
                  </a:txBody>
                  <a:tcPr/>
                </a:tc>
                <a:extLst>
                  <a:ext uri="{0D108BD9-81ED-4DB2-BD59-A6C34878D82A}">
                    <a16:rowId xmlns:a16="http://schemas.microsoft.com/office/drawing/2014/main" val="3996720068"/>
                  </a:ext>
                </a:extLst>
              </a:tr>
              <a:tr h="261466">
                <a:tc>
                  <a:txBody>
                    <a:bodyPr/>
                    <a:lstStyle/>
                    <a:p>
                      <a:pPr marL="72000" defTabSz="355600">
                        <a:lnSpc>
                          <a:spcPct val="90000"/>
                        </a:lnSpc>
                        <a:spcBef>
                          <a:spcPct val="0"/>
                        </a:spcBef>
                      </a:pPr>
                      <a:r>
                        <a:rPr lang="fr-FR" sz="1100" kern="1200" dirty="0">
                          <a:solidFill>
                            <a:srgbClr val="000000"/>
                          </a:solidFill>
                        </a:rPr>
                        <a:t>Péréquation successorale</a:t>
                      </a:r>
                    </a:p>
                    <a:p>
                      <a:pPr marL="180000" indent="-108000" algn="l" defTabSz="355600" rtl="0" eaLnBrk="1" latinLnBrk="0" hangingPunct="1">
                        <a:lnSpc>
                          <a:spcPct val="150000"/>
                        </a:lnSpc>
                        <a:spcBef>
                          <a:spcPct val="0"/>
                        </a:spcBef>
                        <a:buFontTx/>
                        <a:buChar char="-"/>
                      </a:pPr>
                      <a:r>
                        <a:rPr lang="fr-FR" sz="800" kern="1200" dirty="0">
                          <a:solidFill>
                            <a:srgbClr val="000000"/>
                          </a:solidFill>
                          <a:latin typeface="+mn-lt"/>
                          <a:ea typeface="+mn-ea"/>
                          <a:cs typeface="+mn-cs"/>
                        </a:rPr>
                        <a:t>Planification patrimoniale</a:t>
                      </a:r>
                    </a:p>
                    <a:p>
                      <a:pPr marL="180000" indent="-108000" algn="l" defTabSz="355600" rtl="0" eaLnBrk="1" latinLnBrk="0" hangingPunct="1">
                        <a:lnSpc>
                          <a:spcPct val="150000"/>
                        </a:lnSpc>
                        <a:spcBef>
                          <a:spcPct val="0"/>
                        </a:spcBef>
                        <a:buFontTx/>
                        <a:buChar char="-"/>
                      </a:pPr>
                      <a:r>
                        <a:rPr lang="fr-FR" sz="800" kern="1200" dirty="0">
                          <a:solidFill>
                            <a:srgbClr val="000000"/>
                          </a:solidFill>
                          <a:latin typeface="+mn-lt"/>
                          <a:ea typeface="+mn-ea"/>
                          <a:cs typeface="+mn-cs"/>
                        </a:rPr>
                        <a:t>Règles de succession</a:t>
                      </a:r>
                    </a:p>
                    <a:p>
                      <a:pPr marL="180000" indent="-108000" algn="l" defTabSz="355600" rtl="0" eaLnBrk="1" latinLnBrk="0" hangingPunct="1">
                        <a:lnSpc>
                          <a:spcPct val="150000"/>
                        </a:lnSpc>
                        <a:spcBef>
                          <a:spcPct val="0"/>
                        </a:spcBef>
                        <a:buFontTx/>
                        <a:buChar char="-"/>
                      </a:pPr>
                      <a:r>
                        <a:rPr lang="fr-FR" sz="800" kern="1200" dirty="0">
                          <a:solidFill>
                            <a:srgbClr val="000000"/>
                          </a:solidFill>
                          <a:latin typeface="+mn-lt"/>
                          <a:ea typeface="+mn-ea"/>
                          <a:cs typeface="+mn-cs"/>
                        </a:rPr>
                        <a:t>Besoins spécifiques de la famille</a:t>
                      </a:r>
                    </a:p>
                  </a:txBody>
                  <a:tcPr/>
                </a:tc>
                <a:tc>
                  <a:txBody>
                    <a:bodyPr/>
                    <a:lstStyle/>
                    <a:p>
                      <a:pPr marL="72000" defTabSz="355600">
                        <a:lnSpc>
                          <a:spcPct val="90000"/>
                        </a:lnSpc>
                        <a:spcBef>
                          <a:spcPct val="0"/>
                        </a:spcBef>
                      </a:pPr>
                      <a:r>
                        <a:rPr lang="fr-FR" sz="1100" i="0" kern="1200" dirty="0">
                          <a:solidFill>
                            <a:srgbClr val="000000"/>
                          </a:solidFill>
                          <a:latin typeface="+mn-lt"/>
                          <a:ea typeface="+mn-ea"/>
                          <a:cs typeface="+mn-cs"/>
                        </a:rPr>
                        <a:t>Protection des participations </a:t>
                      </a:r>
                    </a:p>
                    <a:p>
                      <a:pPr marL="180000" indent="-108000" algn="l" defTabSz="355600" rtl="0" eaLnBrk="1" latinLnBrk="0" hangingPunct="1">
                        <a:lnSpc>
                          <a:spcPct val="150000"/>
                        </a:lnSpc>
                        <a:spcBef>
                          <a:spcPct val="0"/>
                        </a:spcBef>
                        <a:buFontTx/>
                        <a:buChar char="-"/>
                      </a:pPr>
                      <a:r>
                        <a:rPr lang="fr-FR" sz="800" kern="1200" dirty="0">
                          <a:solidFill>
                            <a:srgbClr val="000000"/>
                          </a:solidFill>
                          <a:latin typeface="+mn-lt"/>
                          <a:ea typeface="+mn-ea"/>
                          <a:cs typeface="+mn-cs"/>
                        </a:rPr>
                        <a:t>Achat d'actions</a:t>
                      </a:r>
                    </a:p>
                    <a:p>
                      <a:pPr marL="180000" indent="-108000" algn="l" defTabSz="355600" rtl="0" eaLnBrk="1" latinLnBrk="0" hangingPunct="1">
                        <a:lnSpc>
                          <a:spcPct val="150000"/>
                        </a:lnSpc>
                        <a:spcBef>
                          <a:spcPct val="0"/>
                        </a:spcBef>
                        <a:buFontTx/>
                        <a:buChar char="-"/>
                      </a:pPr>
                      <a:r>
                        <a:rPr lang="fr-FR" sz="800" kern="1200" dirty="0">
                          <a:solidFill>
                            <a:srgbClr val="000000"/>
                          </a:solidFill>
                          <a:latin typeface="+mn-lt"/>
                          <a:ea typeface="+mn-ea"/>
                          <a:cs typeface="+mn-cs"/>
                        </a:rPr>
                        <a:t>Conservation du contrôle</a:t>
                      </a:r>
                    </a:p>
                    <a:p>
                      <a:pPr marL="180000" indent="-108000" algn="l" defTabSz="355600" rtl="0" eaLnBrk="1" latinLnBrk="0" hangingPunct="1">
                        <a:lnSpc>
                          <a:spcPct val="150000"/>
                        </a:lnSpc>
                        <a:spcBef>
                          <a:spcPct val="0"/>
                        </a:spcBef>
                        <a:buFontTx/>
                        <a:buChar char="-"/>
                      </a:pPr>
                      <a:r>
                        <a:rPr lang="fr-FR" sz="800" kern="1200" dirty="0">
                          <a:solidFill>
                            <a:srgbClr val="000000"/>
                          </a:solidFill>
                          <a:latin typeface="+mn-lt"/>
                          <a:ea typeface="+mn-ea"/>
                          <a:cs typeface="+mn-cs"/>
                        </a:rPr>
                        <a:t>Accords d'achat-vente</a:t>
                      </a:r>
                      <a:endParaRPr lang="fr-FR" sz="700" dirty="0"/>
                    </a:p>
                  </a:txBody>
                  <a:tcPr/>
                </a:tc>
                <a:tc>
                  <a:txBody>
                    <a:bodyPr/>
                    <a:lstStyle/>
                    <a:p>
                      <a:pPr marL="72000" defTabSz="355600">
                        <a:lnSpc>
                          <a:spcPct val="90000"/>
                        </a:lnSpc>
                        <a:spcBef>
                          <a:spcPct val="0"/>
                        </a:spcBef>
                      </a:pPr>
                      <a:r>
                        <a:rPr lang="fr-FR" sz="1100" kern="1200" dirty="0">
                          <a:solidFill>
                            <a:srgbClr val="000000"/>
                          </a:solidFill>
                        </a:rPr>
                        <a:t>Effet multiplicateur pour donner </a:t>
                      </a:r>
                    </a:p>
                    <a:p>
                      <a:pPr marL="180000" indent="-108000" algn="l" defTabSz="355600" rtl="0" eaLnBrk="1" latinLnBrk="0" hangingPunct="1">
                        <a:lnSpc>
                          <a:spcPct val="150000"/>
                        </a:lnSpc>
                        <a:spcBef>
                          <a:spcPct val="0"/>
                        </a:spcBef>
                        <a:buSzPct val="100000"/>
                        <a:buFontTx/>
                        <a:buChar char="-"/>
                      </a:pPr>
                      <a:r>
                        <a:rPr lang="fr-FR" sz="800" kern="1200" dirty="0">
                          <a:solidFill>
                            <a:srgbClr val="000000"/>
                          </a:solidFill>
                          <a:latin typeface="+mn-lt"/>
                          <a:ea typeface="+mn-ea"/>
                          <a:cs typeface="+mn-cs"/>
                        </a:rPr>
                        <a:t>Soutien financier aux communautés vulnérables</a:t>
                      </a:r>
                    </a:p>
                    <a:p>
                      <a:pPr marL="180000" indent="-108000" algn="l" defTabSz="355600" rtl="0" eaLnBrk="1" latinLnBrk="0" hangingPunct="1">
                        <a:lnSpc>
                          <a:spcPct val="150000"/>
                        </a:lnSpc>
                        <a:spcBef>
                          <a:spcPct val="0"/>
                        </a:spcBef>
                        <a:buSzPct val="100000"/>
                        <a:buFontTx/>
                        <a:buChar char="-"/>
                      </a:pPr>
                      <a:r>
                        <a:rPr lang="fr-FR" sz="800" kern="1200" dirty="0">
                          <a:solidFill>
                            <a:srgbClr val="000000"/>
                          </a:solidFill>
                          <a:latin typeface="+mn-lt"/>
                          <a:ea typeface="+mn-ea"/>
                          <a:cs typeface="+mn-cs"/>
                        </a:rPr>
                        <a:t>Maintien d'une part équitable de l’héritage pour votre famille</a:t>
                      </a:r>
                      <a:endParaRPr lang="fr-FR" sz="1100" dirty="0"/>
                    </a:p>
                  </a:txBody>
                  <a:tcPr/>
                </a:tc>
                <a:extLst>
                  <a:ext uri="{0D108BD9-81ED-4DB2-BD59-A6C34878D82A}">
                    <a16:rowId xmlns:a16="http://schemas.microsoft.com/office/drawing/2014/main" val="742387331"/>
                  </a:ext>
                </a:extLst>
              </a:tr>
              <a:tr h="370840">
                <a:tc>
                  <a:txBody>
                    <a:bodyPr/>
                    <a:lstStyle/>
                    <a:p>
                      <a:pPr marL="72000" defTabSz="355600">
                        <a:lnSpc>
                          <a:spcPct val="90000"/>
                        </a:lnSpc>
                        <a:spcBef>
                          <a:spcPct val="0"/>
                        </a:spcBef>
                      </a:pPr>
                      <a:r>
                        <a:rPr lang="fr-FR" sz="1100" kern="1200" dirty="0">
                          <a:solidFill>
                            <a:srgbClr val="000000"/>
                          </a:solidFill>
                        </a:rPr>
                        <a:t>Remboursement de dettes/passifs</a:t>
                      </a:r>
                      <a:endParaRPr lang="fr-FR" sz="700" dirty="0">
                        <a:solidFill>
                          <a:srgbClr val="000000"/>
                        </a:solidFill>
                      </a:endParaRPr>
                    </a:p>
                    <a:p>
                      <a:pPr marL="180000" indent="-108000" algn="l" defTabSz="355600" rtl="0" eaLnBrk="1" latinLnBrk="0" hangingPunct="1">
                        <a:lnSpc>
                          <a:spcPct val="150000"/>
                        </a:lnSpc>
                        <a:spcBef>
                          <a:spcPct val="0"/>
                        </a:spcBef>
                        <a:buFontTx/>
                        <a:buChar char="-"/>
                      </a:pPr>
                      <a:r>
                        <a:rPr lang="fr-FR" sz="800" kern="1200" dirty="0">
                          <a:solidFill>
                            <a:srgbClr val="000000"/>
                          </a:solidFill>
                          <a:latin typeface="+mn-lt"/>
                          <a:ea typeface="+mn-ea"/>
                          <a:cs typeface="+mn-cs"/>
                        </a:rPr>
                        <a:t>Crédits immobiliers</a:t>
                      </a:r>
                    </a:p>
                    <a:p>
                      <a:pPr marL="180000" indent="-108000" algn="l" defTabSz="355600" rtl="0" eaLnBrk="1" latinLnBrk="0" hangingPunct="1">
                        <a:lnSpc>
                          <a:spcPct val="150000"/>
                        </a:lnSpc>
                        <a:spcBef>
                          <a:spcPct val="0"/>
                        </a:spcBef>
                        <a:buFontTx/>
                        <a:buChar char="-"/>
                      </a:pPr>
                      <a:r>
                        <a:rPr lang="fr-FR" sz="800" kern="1200" dirty="0">
                          <a:solidFill>
                            <a:srgbClr val="000000"/>
                          </a:solidFill>
                          <a:latin typeface="+mn-lt"/>
                          <a:ea typeface="+mn-ea"/>
                          <a:cs typeface="+mn-cs"/>
                        </a:rPr>
                        <a:t>Crédits lombards</a:t>
                      </a:r>
                    </a:p>
                    <a:p>
                      <a:pPr marL="180000" indent="-108000" algn="l" defTabSz="355600" rtl="0" eaLnBrk="1" latinLnBrk="0" hangingPunct="1">
                        <a:lnSpc>
                          <a:spcPct val="150000"/>
                        </a:lnSpc>
                        <a:spcBef>
                          <a:spcPct val="0"/>
                        </a:spcBef>
                        <a:buFontTx/>
                        <a:buChar char="-"/>
                      </a:pPr>
                      <a:r>
                        <a:rPr lang="fr-FR" sz="800" kern="1200" dirty="0">
                          <a:solidFill>
                            <a:srgbClr val="000000"/>
                          </a:solidFill>
                          <a:latin typeface="+mn-lt"/>
                          <a:ea typeface="+mn-ea"/>
                          <a:cs typeface="+mn-cs"/>
                        </a:rPr>
                        <a:t>Garanties personnelles</a:t>
                      </a:r>
                      <a:endParaRPr lang="fr-FR" sz="900" dirty="0"/>
                    </a:p>
                  </a:txBody>
                  <a:tcPr/>
                </a:tc>
                <a:tc>
                  <a:txBody>
                    <a:bodyPr/>
                    <a:lstStyle/>
                    <a:p>
                      <a:pPr marL="72000" defTabSz="355600">
                        <a:lnSpc>
                          <a:spcPct val="90000"/>
                        </a:lnSpc>
                        <a:spcBef>
                          <a:spcPct val="0"/>
                        </a:spcBef>
                      </a:pPr>
                      <a:r>
                        <a:rPr lang="fr-FR" sz="1100" kern="1200" dirty="0">
                          <a:solidFill>
                            <a:srgbClr val="000000"/>
                          </a:solidFill>
                        </a:rPr>
                        <a:t>Création de liquidité</a:t>
                      </a:r>
                    </a:p>
                    <a:p>
                      <a:pPr marL="180000" indent="-108000" algn="l" defTabSz="355600" rtl="0" eaLnBrk="1" latinLnBrk="0" hangingPunct="1">
                        <a:lnSpc>
                          <a:spcPct val="150000"/>
                        </a:lnSpc>
                        <a:spcBef>
                          <a:spcPct val="0"/>
                        </a:spcBef>
                        <a:buFontTx/>
                        <a:buChar char="-"/>
                      </a:pPr>
                      <a:r>
                        <a:rPr lang="fr-FR" sz="800" kern="1200" dirty="0">
                          <a:solidFill>
                            <a:srgbClr val="000000"/>
                          </a:solidFill>
                          <a:latin typeface="+mn-lt"/>
                          <a:ea typeface="+mn-ea"/>
                          <a:cs typeface="+mn-cs"/>
                        </a:rPr>
                        <a:t>Remboursement des dettes</a:t>
                      </a:r>
                    </a:p>
                    <a:p>
                      <a:pPr marL="180000" indent="-108000" algn="l" defTabSz="355600" rtl="0" eaLnBrk="1" latinLnBrk="0" hangingPunct="1">
                        <a:lnSpc>
                          <a:spcPct val="150000"/>
                        </a:lnSpc>
                        <a:spcBef>
                          <a:spcPct val="0"/>
                        </a:spcBef>
                        <a:buFontTx/>
                        <a:buChar char="-"/>
                      </a:pPr>
                      <a:r>
                        <a:rPr lang="fr-FR" sz="800" kern="1200" dirty="0">
                          <a:solidFill>
                            <a:srgbClr val="000000"/>
                          </a:solidFill>
                          <a:latin typeface="+mn-lt"/>
                          <a:ea typeface="+mn-ea"/>
                          <a:cs typeface="+mn-cs"/>
                        </a:rPr>
                        <a:t>Investir dans de nouveaux talents</a:t>
                      </a:r>
                    </a:p>
                    <a:p>
                      <a:pPr marL="180000" indent="-108000" algn="l" defTabSz="355600" rtl="0" eaLnBrk="1" latinLnBrk="0" hangingPunct="1">
                        <a:lnSpc>
                          <a:spcPct val="150000"/>
                        </a:lnSpc>
                        <a:spcBef>
                          <a:spcPct val="0"/>
                        </a:spcBef>
                        <a:buFontTx/>
                        <a:buChar char="-"/>
                      </a:pPr>
                      <a:r>
                        <a:rPr lang="fr-FR" sz="800" kern="1200" dirty="0">
                          <a:solidFill>
                            <a:srgbClr val="000000"/>
                          </a:solidFill>
                          <a:latin typeface="+mn-lt"/>
                          <a:ea typeface="+mn-ea"/>
                          <a:cs typeface="+mn-cs"/>
                        </a:rPr>
                        <a:t>Avantages sociaux</a:t>
                      </a:r>
                      <a:endParaRPr lang="fr-FR" sz="700" dirty="0"/>
                    </a:p>
                  </a:txBody>
                  <a:tcPr/>
                </a:tc>
                <a:tc>
                  <a:txBody>
                    <a:bodyPr/>
                    <a:lstStyle/>
                    <a:p>
                      <a:pPr marL="72000" defTabSz="355600">
                        <a:lnSpc>
                          <a:spcPct val="90000"/>
                        </a:lnSpc>
                        <a:spcBef>
                          <a:spcPct val="0"/>
                        </a:spcBef>
                      </a:pPr>
                      <a:r>
                        <a:rPr lang="fr-FR" sz="1100" kern="1200" dirty="0">
                          <a:solidFill>
                            <a:srgbClr val="000000"/>
                          </a:solidFill>
                        </a:rPr>
                        <a:t>Planification de donations futures</a:t>
                      </a:r>
                      <a:endParaRPr lang="fr-FR" sz="1100" kern="1200" dirty="0">
                        <a:solidFill>
                          <a:schemeClr val="accent1"/>
                        </a:solidFill>
                      </a:endParaRPr>
                    </a:p>
                    <a:p>
                      <a:pPr marL="180000" indent="-108000" algn="l" defTabSz="355600" rtl="0" eaLnBrk="1" latinLnBrk="0" hangingPunct="1">
                        <a:lnSpc>
                          <a:spcPct val="150000"/>
                        </a:lnSpc>
                        <a:spcBef>
                          <a:spcPct val="0"/>
                        </a:spcBef>
                        <a:buSzPct val="100000"/>
                        <a:buFontTx/>
                        <a:buChar char="-"/>
                      </a:pPr>
                      <a:r>
                        <a:rPr lang="fr-FR" sz="800" kern="1200" dirty="0">
                          <a:solidFill>
                            <a:srgbClr val="000000"/>
                          </a:solidFill>
                          <a:latin typeface="+mn-lt"/>
                          <a:ea typeface="+mn-ea"/>
                          <a:cs typeface="+mn-cs"/>
                        </a:rPr>
                        <a:t>Souplesse dans la désignation des bénéficiaires</a:t>
                      </a:r>
                    </a:p>
                    <a:p>
                      <a:pPr marL="180000" indent="-108000" algn="l" defTabSz="355600" rtl="0" eaLnBrk="1" latinLnBrk="0" hangingPunct="1">
                        <a:lnSpc>
                          <a:spcPct val="150000"/>
                        </a:lnSpc>
                        <a:spcBef>
                          <a:spcPct val="0"/>
                        </a:spcBef>
                        <a:buSzPct val="100000"/>
                        <a:buFontTx/>
                        <a:buChar char="-"/>
                      </a:pPr>
                      <a:r>
                        <a:rPr lang="fr-FR" sz="800" kern="1200" dirty="0">
                          <a:solidFill>
                            <a:srgbClr val="000000"/>
                          </a:solidFill>
                          <a:latin typeface="+mn-lt"/>
                          <a:ea typeface="+mn-ea"/>
                          <a:cs typeface="+mn-cs"/>
                        </a:rPr>
                        <a:t>Prévoyez une contribution importante à la société</a:t>
                      </a:r>
                      <a:endParaRPr lang="fr-FR" sz="700" dirty="0"/>
                    </a:p>
                  </a:txBody>
                  <a:tcPr/>
                </a:tc>
                <a:extLst>
                  <a:ext uri="{0D108BD9-81ED-4DB2-BD59-A6C34878D82A}">
                    <a16:rowId xmlns:a16="http://schemas.microsoft.com/office/drawing/2014/main" val="601449204"/>
                  </a:ext>
                </a:extLst>
              </a:tr>
            </a:tbl>
          </a:graphicData>
        </a:graphic>
      </p:graphicFrame>
    </p:spTree>
    <p:custDataLst>
      <p:tags r:id="rId1"/>
    </p:custDataLst>
    <p:extLst>
      <p:ext uri="{BB962C8B-B14F-4D97-AF65-F5344CB8AC3E}">
        <p14:creationId xmlns:p14="http://schemas.microsoft.com/office/powerpoint/2010/main" val="3585718500"/>
      </p:ext>
    </p:extLst>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kt 4"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493" imgH="493" progId="TCLayout.ActiveDocument.1">
                  <p:embed/>
                </p:oleObj>
              </mc:Choice>
              <mc:Fallback>
                <p:oleObj name="think-cell Folie" r:id="rId4" imgW="493" imgH="493" progId="TCLayout.ActiveDocument.1">
                  <p:embed/>
                  <p:pic>
                    <p:nvPicPr>
                      <p:cNvPr id="5" name="Objekt 4"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6" name="Rechteck 5" hidden="1"/>
          <p:cNvSpPr/>
          <p:nvPr>
            <p:custDataLst>
              <p:tags r:id="rId2"/>
            </p:custDataLst>
          </p:nvPr>
        </p:nvSpPr>
        <p:spPr>
          <a:xfrm>
            <a:off x="0" y="0"/>
            <a:ext cx="158750" cy="15875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marR="0" lvl="0" indent="0" algn="ctr" defTabSz="914400" rtl="0" eaLnBrk="1" fontAlgn="auto" latinLnBrk="0" hangingPunct="1">
              <a:lnSpc>
                <a:spcPct val="100000"/>
              </a:lnSpc>
              <a:spcBef>
                <a:spcPct val="0"/>
              </a:spcBef>
              <a:spcAft>
                <a:spcPct val="0"/>
              </a:spcAft>
              <a:buClrTx/>
              <a:buSzTx/>
              <a:buFontTx/>
              <a:buNone/>
              <a:tabLst/>
              <a:defRPr/>
            </a:pPr>
            <a:endParaRPr kumimoji="0" lang="fr-FR" sz="3200" b="0" i="0" u="none" strike="noStrike" kern="1200" cap="none" spc="0" normalizeH="0" baseline="0" noProof="0" dirty="0">
              <a:ln>
                <a:noFill/>
              </a:ln>
              <a:solidFill>
                <a:srgbClr val="FFFFFF"/>
              </a:solidFill>
              <a:effectLst/>
              <a:uLnTx/>
              <a:uFillTx/>
              <a:latin typeface="Times New Roman" panose="02020603050405020304" pitchFamily="18" charset="0"/>
              <a:ea typeface="+mn-ea"/>
              <a:cs typeface="Times New Roman" panose="02020603050405020304" pitchFamily="18" charset="0"/>
              <a:sym typeface="Times New Roman" panose="02020603050405020304" pitchFamily="18" charset="0"/>
            </a:endParaRPr>
          </a:p>
        </p:txBody>
      </p:sp>
      <p:sp>
        <p:nvSpPr>
          <p:cNvPr id="2" name="Titel 1"/>
          <p:cNvSpPr>
            <a:spLocks noGrp="1"/>
          </p:cNvSpPr>
          <p:nvPr>
            <p:ph type="title"/>
          </p:nvPr>
        </p:nvSpPr>
        <p:spPr/>
        <p:txBody>
          <a:bodyPr/>
          <a:lstStyle/>
          <a:p>
            <a:r>
              <a:rPr lang="fr-FR" dirty="0"/>
              <a:t>Concept de base</a:t>
            </a:r>
          </a:p>
        </p:txBody>
      </p:sp>
      <p:sp>
        <p:nvSpPr>
          <p:cNvPr id="3" name="Inhaltsplatzhalter 2"/>
          <p:cNvSpPr>
            <a:spLocks noGrp="1"/>
          </p:cNvSpPr>
          <p:nvPr>
            <p:ph idx="1"/>
          </p:nvPr>
        </p:nvSpPr>
        <p:spPr>
          <a:xfrm>
            <a:off x="260662" y="3259779"/>
            <a:ext cx="3529083" cy="1799456"/>
          </a:xfrm>
        </p:spPr>
        <p:txBody>
          <a:bodyPr/>
          <a:lstStyle/>
          <a:p>
            <a:pPr marL="0" indent="0">
              <a:buNone/>
            </a:pPr>
            <a:r>
              <a:rPr lang="fr-FR" sz="1200" b="1" dirty="0">
                <a:solidFill>
                  <a:schemeClr val="bg2">
                    <a:lumMod val="75000"/>
                  </a:schemeClr>
                </a:solidFill>
              </a:rPr>
              <a:t>Somme assurée</a:t>
            </a:r>
            <a:br>
              <a:rPr lang="fr-FR" sz="1200" dirty="0">
                <a:solidFill>
                  <a:schemeClr val="bg2">
                    <a:lumMod val="75000"/>
                  </a:schemeClr>
                </a:solidFill>
              </a:rPr>
            </a:br>
            <a:r>
              <a:rPr lang="fr-FR" sz="1100" dirty="0"/>
              <a:t>Payé aux bénéficiaires en cas de décès</a:t>
            </a:r>
          </a:p>
          <a:p>
            <a:pPr marL="0" indent="0">
              <a:spcAft>
                <a:spcPts val="0"/>
              </a:spcAft>
              <a:buNone/>
            </a:pPr>
            <a:r>
              <a:rPr lang="fr-FR" sz="1200" b="1" dirty="0">
                <a:solidFill>
                  <a:schemeClr val="accent3"/>
                </a:solidFill>
              </a:rPr>
              <a:t>Somme à risque</a:t>
            </a:r>
          </a:p>
          <a:p>
            <a:pPr marL="0" indent="0">
              <a:buNone/>
            </a:pPr>
            <a:r>
              <a:rPr lang="fr-FR" sz="1100" dirty="0"/>
              <a:t>Différence entre la VNI et la somme assurée, couverte par l'assurance </a:t>
            </a:r>
          </a:p>
          <a:p>
            <a:pPr marL="0" indent="0">
              <a:buNone/>
            </a:pPr>
            <a:r>
              <a:rPr lang="fr-FR" sz="1200" b="1" dirty="0">
                <a:solidFill>
                  <a:schemeClr val="tx2">
                    <a:lumMod val="75000"/>
                  </a:schemeClr>
                </a:solidFill>
              </a:rPr>
              <a:t>Actifs sous-jacents</a:t>
            </a:r>
            <a:br>
              <a:rPr lang="fr-FR" sz="1200" b="1" dirty="0">
                <a:solidFill>
                  <a:schemeClr val="tx2">
                    <a:lumMod val="75000"/>
                  </a:schemeClr>
                </a:solidFill>
              </a:rPr>
            </a:br>
            <a:r>
              <a:rPr lang="fr-FR" sz="1100" dirty="0"/>
              <a:t>VNI du portefeuille à un moment donné</a:t>
            </a:r>
            <a:endParaRPr lang="fr-FR" sz="1100" b="1" dirty="0"/>
          </a:p>
        </p:txBody>
      </p:sp>
      <p:sp>
        <p:nvSpPr>
          <p:cNvPr id="11" name="TextBox 62"/>
          <p:cNvSpPr txBox="1"/>
          <p:nvPr/>
        </p:nvSpPr>
        <p:spPr>
          <a:xfrm>
            <a:off x="4639638" y="1419030"/>
            <a:ext cx="461355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800" b="0" u="none" strike="noStrike" kern="0" cap="none" spc="0" normalizeH="0" baseline="0" noProof="0" dirty="0">
                <a:ln>
                  <a:noFill/>
                </a:ln>
                <a:solidFill>
                  <a:srgbClr val="000000"/>
                </a:solidFill>
                <a:effectLst/>
                <a:uLnTx/>
                <a:uFillTx/>
                <a:latin typeface="Times New Roman"/>
                <a:ea typeface="+mn-ea"/>
                <a:cs typeface="+mn-cs"/>
              </a:rPr>
              <a:t>Illustration simplifiée du concept </a:t>
            </a:r>
          </a:p>
        </p:txBody>
      </p:sp>
      <p:sp>
        <p:nvSpPr>
          <p:cNvPr id="32" name="TextBox 31"/>
          <p:cNvSpPr txBox="1"/>
          <p:nvPr/>
        </p:nvSpPr>
        <p:spPr>
          <a:xfrm>
            <a:off x="4717472" y="4889568"/>
            <a:ext cx="3969328"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800" b="0" i="0" u="none" strike="noStrike" kern="1200" cap="none" spc="0" normalizeH="0" baseline="0" noProof="0" dirty="0">
                <a:ln>
                  <a:noFill/>
                </a:ln>
                <a:solidFill>
                  <a:schemeClr val="accent3"/>
                </a:solidFill>
                <a:effectLst/>
                <a:uLnTx/>
                <a:uFillTx/>
                <a:latin typeface="Arial"/>
                <a:ea typeface="+mn-ea"/>
                <a:cs typeface="+mn-cs"/>
              </a:rPr>
              <a:t>Cette étude de cas est présentée à titre d'exemple. Les chiffres utilisés sont uniquement indicatifs.</a:t>
            </a:r>
          </a:p>
        </p:txBody>
      </p:sp>
      <p:grpSp>
        <p:nvGrpSpPr>
          <p:cNvPr id="61" name="Gruppieren 60">
            <a:extLst>
              <a:ext uri="{FF2B5EF4-FFF2-40B4-BE49-F238E27FC236}">
                <a16:creationId xmlns:a16="http://schemas.microsoft.com/office/drawing/2014/main" id="{F79A8276-B523-44ED-A278-3509149BAAA3}"/>
              </a:ext>
            </a:extLst>
          </p:cNvPr>
          <p:cNvGrpSpPr/>
          <p:nvPr/>
        </p:nvGrpSpPr>
        <p:grpSpPr>
          <a:xfrm>
            <a:off x="4457720" y="1899682"/>
            <a:ext cx="4089104" cy="2807725"/>
            <a:chOff x="4457720" y="1899682"/>
            <a:chExt cx="4089104" cy="2807725"/>
          </a:xfrm>
        </p:grpSpPr>
        <p:sp>
          <p:nvSpPr>
            <p:cNvPr id="20" name="TextBox 47"/>
            <p:cNvSpPr txBox="1"/>
            <p:nvPr/>
          </p:nvSpPr>
          <p:spPr>
            <a:xfrm>
              <a:off x="4872010" y="1899682"/>
              <a:ext cx="3674814"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0" cap="none" spc="0" normalizeH="0" baseline="0" noProof="0" dirty="0">
                  <a:ln>
                    <a:noFill/>
                  </a:ln>
                  <a:solidFill>
                    <a:srgbClr val="D82034">
                      <a:lumMod val="75000"/>
                    </a:srgbClr>
                  </a:solidFill>
                  <a:effectLst/>
                  <a:uLnTx/>
                  <a:uFillTx/>
                  <a:latin typeface="Arial"/>
                  <a:ea typeface="+mn-ea"/>
                  <a:cs typeface="+mn-cs"/>
                </a:rPr>
                <a:t>Somme assurée</a:t>
              </a:r>
            </a:p>
          </p:txBody>
        </p:sp>
        <p:grpSp>
          <p:nvGrpSpPr>
            <p:cNvPr id="44" name="Gruppieren 43">
              <a:extLst>
                <a:ext uri="{FF2B5EF4-FFF2-40B4-BE49-F238E27FC236}">
                  <a16:creationId xmlns:a16="http://schemas.microsoft.com/office/drawing/2014/main" id="{F0E5F7A1-DDF9-451C-90DD-55F87F5AF17B}"/>
                </a:ext>
              </a:extLst>
            </p:cNvPr>
            <p:cNvGrpSpPr/>
            <p:nvPr/>
          </p:nvGrpSpPr>
          <p:grpSpPr>
            <a:xfrm>
              <a:off x="4457720" y="2115185"/>
              <a:ext cx="3984183" cy="2592222"/>
              <a:chOff x="4457720" y="2115185"/>
              <a:chExt cx="3984183" cy="2592222"/>
            </a:xfrm>
          </p:grpSpPr>
          <p:sp>
            <p:nvSpPr>
              <p:cNvPr id="9" name="Rechteck 8">
                <a:extLst>
                  <a:ext uri="{FF2B5EF4-FFF2-40B4-BE49-F238E27FC236}">
                    <a16:creationId xmlns:a16="http://schemas.microsoft.com/office/drawing/2014/main" id="{4E470176-06A0-478F-815A-A30D5CA60A30}"/>
                  </a:ext>
                </a:extLst>
              </p:cNvPr>
              <p:cNvSpPr/>
              <p:nvPr/>
            </p:nvSpPr>
            <p:spPr>
              <a:xfrm>
                <a:off x="4703198" y="2153136"/>
                <a:ext cx="3600000" cy="2311937"/>
              </a:xfrm>
              <a:prstGeom prst="rect">
                <a:avLst/>
              </a:prstGeom>
              <a:solidFill>
                <a:schemeClr val="accent4">
                  <a:lumMod val="20000"/>
                  <a:lumOff val="80000"/>
                </a:schemeClr>
              </a:solidFill>
              <a:ln>
                <a:solidFill>
                  <a:schemeClr val="accent4">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28" name="Freeform 57"/>
              <p:cNvSpPr/>
              <p:nvPr/>
            </p:nvSpPr>
            <p:spPr>
              <a:xfrm>
                <a:off x="4703198" y="2533738"/>
                <a:ext cx="3600000" cy="1931335"/>
              </a:xfrm>
              <a:custGeom>
                <a:avLst/>
                <a:gdLst>
                  <a:gd name="connsiteX0" fmla="*/ 3233542 w 3233542"/>
                  <a:gd name="connsiteY0" fmla="*/ 0 h 1476375"/>
                  <a:gd name="connsiteX1" fmla="*/ 3233542 w 3233542"/>
                  <a:gd name="connsiteY1" fmla="*/ 1476375 h 1476375"/>
                  <a:gd name="connsiteX2" fmla="*/ 0 w 3233542"/>
                  <a:gd name="connsiteY2" fmla="*/ 1476375 h 1476375"/>
                  <a:gd name="connsiteX3" fmla="*/ 0 w 3233542"/>
                  <a:gd name="connsiteY3" fmla="*/ 1165994 h 1476375"/>
                  <a:gd name="connsiteX4" fmla="*/ 204690 w 3233542"/>
                  <a:gd name="connsiteY4" fmla="*/ 952500 h 1476375"/>
                  <a:gd name="connsiteX5" fmla="*/ 302101 w 3233542"/>
                  <a:gd name="connsiteY5" fmla="*/ 1054100 h 1476375"/>
                  <a:gd name="connsiteX6" fmla="*/ 512142 w 3233542"/>
                  <a:gd name="connsiteY6" fmla="*/ 835025 h 1476375"/>
                  <a:gd name="connsiteX7" fmla="*/ 798284 w 3233542"/>
                  <a:gd name="connsiteY7" fmla="*/ 1133475 h 1476375"/>
                  <a:gd name="connsiteX8" fmla="*/ 977885 w 3233542"/>
                  <a:gd name="connsiteY8" fmla="*/ 1133475 h 1476375"/>
                  <a:gd name="connsiteX9" fmla="*/ 1419275 w 3233542"/>
                  <a:gd name="connsiteY9" fmla="*/ 673100 h 1476375"/>
                  <a:gd name="connsiteX10" fmla="*/ 1471024 w 3233542"/>
                  <a:gd name="connsiteY10" fmla="*/ 727075 h 1476375"/>
                  <a:gd name="connsiteX11" fmla="*/ 1617140 w 3233542"/>
                  <a:gd name="connsiteY11" fmla="*/ 574675 h 1476375"/>
                  <a:gd name="connsiteX12" fmla="*/ 1830225 w 3233542"/>
                  <a:gd name="connsiteY12" fmla="*/ 796925 h 1476375"/>
                  <a:gd name="connsiteX13" fmla="*/ 2186381 w 3233542"/>
                  <a:gd name="connsiteY13" fmla="*/ 425450 h 1476375"/>
                  <a:gd name="connsiteX14" fmla="*/ 2292924 w 3233542"/>
                  <a:gd name="connsiteY14" fmla="*/ 536575 h 1476375"/>
                  <a:gd name="connsiteX15" fmla="*/ 2341629 w 3233542"/>
                  <a:gd name="connsiteY15" fmla="*/ 485775 h 1476375"/>
                  <a:gd name="connsiteX16" fmla="*/ 2554714 w 3233542"/>
                  <a:gd name="connsiteY16" fmla="*/ 708025 h 1476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33542" h="1476375">
                    <a:moveTo>
                      <a:pt x="3233542" y="0"/>
                    </a:moveTo>
                    <a:lnTo>
                      <a:pt x="3233542" y="1476375"/>
                    </a:lnTo>
                    <a:lnTo>
                      <a:pt x="0" y="1476375"/>
                    </a:lnTo>
                    <a:lnTo>
                      <a:pt x="0" y="1165994"/>
                    </a:lnTo>
                    <a:lnTo>
                      <a:pt x="204690" y="952500"/>
                    </a:lnTo>
                    <a:lnTo>
                      <a:pt x="302101" y="1054100"/>
                    </a:lnTo>
                    <a:lnTo>
                      <a:pt x="512142" y="835025"/>
                    </a:lnTo>
                    <a:lnTo>
                      <a:pt x="798284" y="1133475"/>
                    </a:lnTo>
                    <a:lnTo>
                      <a:pt x="977885" y="1133475"/>
                    </a:lnTo>
                    <a:lnTo>
                      <a:pt x="1419275" y="673100"/>
                    </a:lnTo>
                    <a:lnTo>
                      <a:pt x="1471024" y="727075"/>
                    </a:lnTo>
                    <a:lnTo>
                      <a:pt x="1617140" y="574675"/>
                    </a:lnTo>
                    <a:lnTo>
                      <a:pt x="1830225" y="796925"/>
                    </a:lnTo>
                    <a:lnTo>
                      <a:pt x="2186381" y="425450"/>
                    </a:lnTo>
                    <a:lnTo>
                      <a:pt x="2292924" y="536575"/>
                    </a:lnTo>
                    <a:lnTo>
                      <a:pt x="2341629" y="485775"/>
                    </a:lnTo>
                    <a:lnTo>
                      <a:pt x="2554714" y="708025"/>
                    </a:lnTo>
                    <a:close/>
                  </a:path>
                </a:pathLst>
              </a:custGeom>
              <a:solidFill>
                <a:srgbClr val="8CAA76"/>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3200" b="0" i="0" u="none" strike="noStrike" kern="0" cap="none" spc="0" normalizeH="0" baseline="0" noProof="0" dirty="0">
                  <a:ln>
                    <a:noFill/>
                  </a:ln>
                  <a:solidFill>
                    <a:srgbClr val="FFFFFF"/>
                  </a:solidFill>
                  <a:effectLst/>
                  <a:uLnTx/>
                  <a:uFillTx/>
                  <a:latin typeface="Arial"/>
                  <a:ea typeface="+mn-ea"/>
                  <a:cs typeface="Arial" panose="020B0604020202020204" pitchFamily="34" charset="0"/>
                </a:endParaRPr>
              </a:p>
            </p:txBody>
          </p:sp>
          <p:sp>
            <p:nvSpPr>
              <p:cNvPr id="39" name="L-Form 38">
                <a:extLst>
                  <a:ext uri="{FF2B5EF4-FFF2-40B4-BE49-F238E27FC236}">
                    <a16:creationId xmlns:a16="http://schemas.microsoft.com/office/drawing/2014/main" id="{DCD4A912-53D4-4409-A106-3013C83AFC4D}"/>
                  </a:ext>
                </a:extLst>
              </p:cNvPr>
              <p:cNvSpPr/>
              <p:nvPr/>
            </p:nvSpPr>
            <p:spPr>
              <a:xfrm>
                <a:off x="4457720" y="2115185"/>
                <a:ext cx="3899360" cy="2592222"/>
              </a:xfrm>
              <a:prstGeom prst="corner">
                <a:avLst>
                  <a:gd name="adj1" fmla="val 9531"/>
                  <a:gd name="adj2" fmla="val 991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42" name="Rechteck 41">
                <a:extLst>
                  <a:ext uri="{FF2B5EF4-FFF2-40B4-BE49-F238E27FC236}">
                    <a16:creationId xmlns:a16="http://schemas.microsoft.com/office/drawing/2014/main" id="{76DE0BB7-5973-4C16-9E64-72450789828B}"/>
                  </a:ext>
                </a:extLst>
              </p:cNvPr>
              <p:cNvSpPr/>
              <p:nvPr/>
            </p:nvSpPr>
            <p:spPr>
              <a:xfrm>
                <a:off x="8288932" y="2115185"/>
                <a:ext cx="152971" cy="24502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endParaRPr>
              </a:p>
            </p:txBody>
          </p:sp>
        </p:grpSp>
        <p:cxnSp>
          <p:nvCxnSpPr>
            <p:cNvPr id="24" name="Straight Arrow Connector 52"/>
            <p:cNvCxnSpPr>
              <a:cxnSpLocks/>
            </p:cNvCxnSpPr>
            <p:nvPr/>
          </p:nvCxnSpPr>
          <p:spPr>
            <a:xfrm>
              <a:off x="4711429" y="4462031"/>
              <a:ext cx="3756437" cy="0"/>
            </a:xfrm>
            <a:prstGeom prst="straightConnector1">
              <a:avLst/>
            </a:prstGeom>
            <a:noFill/>
            <a:ln w="9525" cap="flat" cmpd="sng" algn="ctr">
              <a:solidFill>
                <a:srgbClr val="000000"/>
              </a:solidFill>
              <a:prstDash val="solid"/>
              <a:tailEnd type="stealth" w="med" len="med"/>
            </a:ln>
            <a:effectLst/>
          </p:spPr>
        </p:cxnSp>
        <p:sp>
          <p:nvSpPr>
            <p:cNvPr id="25" name="TextBox 54"/>
            <p:cNvSpPr txBox="1"/>
            <p:nvPr/>
          </p:nvSpPr>
          <p:spPr>
            <a:xfrm>
              <a:off x="4788024" y="4461706"/>
              <a:ext cx="3382369" cy="2308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900" b="0" i="0" u="none" strike="noStrike" kern="0" cap="none" spc="0" normalizeH="0" baseline="0" noProof="0" dirty="0">
                  <a:ln>
                    <a:noFill/>
                  </a:ln>
                  <a:solidFill>
                    <a:srgbClr val="000000"/>
                  </a:solidFill>
                  <a:effectLst/>
                  <a:uLnTx/>
                  <a:uFillTx/>
                  <a:latin typeface="Arial"/>
                  <a:ea typeface="+mn-ea"/>
                  <a:cs typeface="+mn-cs"/>
                </a:rPr>
                <a:t>Durée du contrat</a:t>
              </a:r>
            </a:p>
          </p:txBody>
        </p:sp>
        <p:sp>
          <p:nvSpPr>
            <p:cNvPr id="26" name="TextBox 55"/>
            <p:cNvSpPr txBox="1"/>
            <p:nvPr/>
          </p:nvSpPr>
          <p:spPr>
            <a:xfrm rot="16200000">
              <a:off x="3579965" y="3114647"/>
              <a:ext cx="2041269" cy="2308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900" b="0" i="0" u="none" strike="noStrike" kern="0" cap="none" spc="0" normalizeH="0" baseline="0" noProof="0" dirty="0">
                  <a:ln>
                    <a:noFill/>
                  </a:ln>
                  <a:solidFill>
                    <a:srgbClr val="000000"/>
                  </a:solidFill>
                  <a:effectLst/>
                  <a:uLnTx/>
                  <a:uFillTx/>
                  <a:latin typeface="Arial"/>
                  <a:ea typeface="+mn-ea"/>
                  <a:cs typeface="+mn-cs"/>
                </a:rPr>
                <a:t>Valeur</a:t>
              </a:r>
            </a:p>
          </p:txBody>
        </p:sp>
        <p:cxnSp>
          <p:nvCxnSpPr>
            <p:cNvPr id="27" name="Straight Connector 56"/>
            <p:cNvCxnSpPr>
              <a:cxnSpLocks/>
            </p:cNvCxnSpPr>
            <p:nvPr/>
          </p:nvCxnSpPr>
          <p:spPr>
            <a:xfrm>
              <a:off x="4712028" y="2138084"/>
              <a:ext cx="3574722" cy="8216"/>
            </a:xfrm>
            <a:prstGeom prst="line">
              <a:avLst/>
            </a:prstGeom>
            <a:noFill/>
            <a:ln w="19050" cap="flat" cmpd="sng" algn="ctr">
              <a:solidFill>
                <a:schemeClr val="bg2">
                  <a:lumMod val="75000"/>
                </a:schemeClr>
              </a:solidFill>
              <a:prstDash val="solid"/>
            </a:ln>
            <a:effectLst/>
          </p:spPr>
        </p:cxnSp>
        <p:cxnSp>
          <p:nvCxnSpPr>
            <p:cNvPr id="23" name="Straight Arrow Connector 51"/>
            <p:cNvCxnSpPr>
              <a:cxnSpLocks/>
            </p:cNvCxnSpPr>
            <p:nvPr/>
          </p:nvCxnSpPr>
          <p:spPr>
            <a:xfrm flipV="1">
              <a:off x="4713034" y="1992099"/>
              <a:ext cx="0" cy="2469932"/>
            </a:xfrm>
            <a:prstGeom prst="straightConnector1">
              <a:avLst/>
            </a:prstGeom>
            <a:noFill/>
            <a:ln w="9525" cap="flat" cmpd="sng" algn="ctr">
              <a:solidFill>
                <a:srgbClr val="000000"/>
              </a:solidFill>
              <a:prstDash val="solid"/>
              <a:tailEnd type="stealth"/>
            </a:ln>
            <a:effectLst/>
          </p:spPr>
        </p:cxnSp>
        <p:sp>
          <p:nvSpPr>
            <p:cNvPr id="48" name="TextBox 44">
              <a:extLst>
                <a:ext uri="{FF2B5EF4-FFF2-40B4-BE49-F238E27FC236}">
                  <a16:creationId xmlns:a16="http://schemas.microsoft.com/office/drawing/2014/main" id="{E3FE3999-29E9-4163-B30D-EA6816E2DDDB}"/>
                </a:ext>
              </a:extLst>
            </p:cNvPr>
            <p:cNvSpPr txBox="1"/>
            <p:nvPr/>
          </p:nvSpPr>
          <p:spPr>
            <a:xfrm>
              <a:off x="5083479" y="2541894"/>
              <a:ext cx="1360729" cy="43088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0" cap="none" spc="0" normalizeH="0" baseline="0" noProof="0" dirty="0">
                  <a:ln>
                    <a:noFill/>
                  </a:ln>
                  <a:solidFill>
                    <a:srgbClr val="FFFFFF">
                      <a:lumMod val="50000"/>
                    </a:srgbClr>
                  </a:solidFill>
                  <a:effectLst/>
                  <a:uLnTx/>
                  <a:uFillTx/>
                  <a:latin typeface="Arial"/>
                  <a:ea typeface="+mn-ea"/>
                  <a:cs typeface="+mn-cs"/>
                </a:rPr>
                <a:t>Somme à risque (variable)</a:t>
              </a:r>
            </a:p>
          </p:txBody>
        </p:sp>
        <p:sp>
          <p:nvSpPr>
            <p:cNvPr id="49" name="TextBox 45">
              <a:extLst>
                <a:ext uri="{FF2B5EF4-FFF2-40B4-BE49-F238E27FC236}">
                  <a16:creationId xmlns:a16="http://schemas.microsoft.com/office/drawing/2014/main" id="{22E459EB-9BA1-4F18-8BBD-4FEB68E3C044}"/>
                </a:ext>
              </a:extLst>
            </p:cNvPr>
            <p:cNvSpPr txBox="1"/>
            <p:nvPr/>
          </p:nvSpPr>
          <p:spPr>
            <a:xfrm>
              <a:off x="6997011" y="3707624"/>
              <a:ext cx="1217943" cy="43088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0" cap="none" spc="0" normalizeH="0" baseline="0" noProof="0" dirty="0">
                  <a:ln>
                    <a:noFill/>
                  </a:ln>
                  <a:solidFill>
                    <a:srgbClr val="5F7D45">
                      <a:lumMod val="50000"/>
                    </a:srgbClr>
                  </a:solidFill>
                  <a:effectLst/>
                  <a:uLnTx/>
                  <a:uFillTx/>
                  <a:latin typeface="Arial"/>
                  <a:ea typeface="+mn-ea"/>
                  <a:cs typeface="+mn-cs"/>
                </a:rPr>
                <a:t>Actifs </a:t>
              </a:r>
              <a:br>
                <a:rPr kumimoji="0" lang="fr-FR" sz="1100" b="0" i="0" u="none" strike="noStrike" kern="0" cap="none" spc="0" normalizeH="0" baseline="0" noProof="0" dirty="0">
                  <a:ln>
                    <a:noFill/>
                  </a:ln>
                  <a:solidFill>
                    <a:srgbClr val="5F7D45">
                      <a:lumMod val="50000"/>
                    </a:srgbClr>
                  </a:solidFill>
                  <a:effectLst/>
                  <a:uLnTx/>
                  <a:uFillTx/>
                  <a:latin typeface="Arial"/>
                  <a:ea typeface="+mn-ea"/>
                  <a:cs typeface="+mn-cs"/>
                </a:rPr>
              </a:br>
              <a:r>
                <a:rPr kumimoji="0" lang="fr-FR" sz="1100" b="0" i="0" u="none" strike="noStrike" kern="0" cap="none" spc="0" normalizeH="0" baseline="0" noProof="0" dirty="0">
                  <a:ln>
                    <a:noFill/>
                  </a:ln>
                  <a:solidFill>
                    <a:srgbClr val="5F7D45">
                      <a:lumMod val="50000"/>
                    </a:srgbClr>
                  </a:solidFill>
                  <a:effectLst/>
                  <a:uLnTx/>
                  <a:uFillTx/>
                  <a:latin typeface="Arial"/>
                  <a:ea typeface="+mn-ea"/>
                  <a:cs typeface="+mn-cs"/>
                </a:rPr>
                <a:t>sous-jacents</a:t>
              </a:r>
            </a:p>
          </p:txBody>
        </p:sp>
      </p:grpSp>
      <p:sp>
        <p:nvSpPr>
          <p:cNvPr id="53" name="Inhaltsplatzhalter 2">
            <a:extLst>
              <a:ext uri="{FF2B5EF4-FFF2-40B4-BE49-F238E27FC236}">
                <a16:creationId xmlns:a16="http://schemas.microsoft.com/office/drawing/2014/main" id="{BB4C0CE4-90FD-4B14-ADF0-ACE193ABB97F}"/>
              </a:ext>
            </a:extLst>
          </p:cNvPr>
          <p:cNvSpPr txBox="1">
            <a:spLocks/>
          </p:cNvSpPr>
          <p:nvPr/>
        </p:nvSpPr>
        <p:spPr>
          <a:xfrm>
            <a:off x="250826" y="1556610"/>
            <a:ext cx="3899354" cy="1799456"/>
          </a:xfrm>
          <a:prstGeom prst="rect">
            <a:avLst/>
          </a:prstGeom>
        </p:spPr>
        <p:txBody>
          <a:bodyPr vert="horz" lIns="36000" tIns="0" rIns="0" bIns="0" rtlCol="0">
            <a:noAutofit/>
          </a:bodyPr>
          <a:lstStyle>
            <a:lvl1pPr marL="180000" indent="-180000" algn="l" defTabSz="914400" rtl="0" eaLnBrk="1" latinLnBrk="0" hangingPunct="1">
              <a:lnSpc>
                <a:spcPct val="100000"/>
              </a:lnSpc>
              <a:spcBef>
                <a:spcPts val="0"/>
              </a:spcBef>
              <a:spcAft>
                <a:spcPts val="800"/>
              </a:spcAft>
              <a:buClr>
                <a:srgbClr val="D82034"/>
              </a:buClr>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1pPr>
            <a:lvl2pPr marL="396000" indent="-180000" algn="l" defTabSz="914400" rtl="0" eaLnBrk="1" latinLnBrk="0" hangingPunct="1">
              <a:lnSpc>
                <a:spcPct val="100000"/>
              </a:lnSpc>
              <a:spcBef>
                <a:spcPts val="0"/>
              </a:spcBef>
              <a:spcAft>
                <a:spcPts val="600"/>
              </a:spcAft>
              <a:buClr>
                <a:srgbClr val="D82034"/>
              </a:buClr>
              <a:buFont typeface="Arial" panose="020B0604020202020204" pitchFamily="34" charset="0"/>
              <a:buChar char="–"/>
              <a:defRPr sz="1500" kern="1200">
                <a:solidFill>
                  <a:schemeClr val="tx1"/>
                </a:solidFill>
                <a:latin typeface="Arial" panose="020B0604020202020204" pitchFamily="34" charset="0"/>
                <a:ea typeface="+mn-ea"/>
                <a:cs typeface="Arial" panose="020B0604020202020204" pitchFamily="34" charset="0"/>
              </a:defRPr>
            </a:lvl2pPr>
            <a:lvl3pPr marL="540000" indent="-180000" algn="l" defTabSz="914400" rtl="0" eaLnBrk="1" latinLnBrk="0" hangingPunct="1">
              <a:lnSpc>
                <a:spcPct val="100000"/>
              </a:lnSpc>
              <a:spcBef>
                <a:spcPts val="0"/>
              </a:spcBef>
              <a:spcAft>
                <a:spcPts val="600"/>
              </a:spcAft>
              <a:buClr>
                <a:srgbClr val="D82034"/>
              </a:buClr>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3pPr>
            <a:lvl4pPr marL="719138" indent="-179388" algn="l" defTabSz="914400" rtl="0" eaLnBrk="1" latinLnBrk="0" hangingPunct="1">
              <a:lnSpc>
                <a:spcPct val="100000"/>
              </a:lnSpc>
              <a:spcBef>
                <a:spcPts val="0"/>
              </a:spcBef>
              <a:spcAft>
                <a:spcPts val="600"/>
              </a:spcAft>
              <a:buClr>
                <a:srgbClr val="D82034"/>
              </a:buClr>
              <a:buFont typeface="Arial" panose="020B0604020202020204" pitchFamily="34" charset="0"/>
              <a:buChar char="–"/>
              <a:defRPr sz="1300" kern="1200">
                <a:solidFill>
                  <a:schemeClr val="tx1"/>
                </a:solidFill>
                <a:latin typeface="Arial" panose="020B0604020202020204" pitchFamily="34" charset="0"/>
                <a:ea typeface="+mn-ea"/>
                <a:cs typeface="Arial" panose="020B0604020202020204" pitchFamily="34" charset="0"/>
              </a:defRPr>
            </a:lvl4pPr>
            <a:lvl5pPr marL="892800" indent="-179388" algn="l" defTabSz="1076325" rtl="0" eaLnBrk="1" latinLnBrk="0" hangingPunct="1">
              <a:lnSpc>
                <a:spcPct val="100000"/>
              </a:lnSpc>
              <a:spcBef>
                <a:spcPts val="0"/>
              </a:spcBef>
              <a:spcAft>
                <a:spcPts val="600"/>
              </a:spcAft>
              <a:buClr>
                <a:srgbClr val="D82034"/>
              </a:buClr>
              <a:buFont typeface="Arial" panose="020B0604020202020204" pitchFamily="34" charset="0"/>
              <a:buChar char="•"/>
              <a:tabLst/>
              <a:defRPr sz="1200" kern="1200">
                <a:solidFill>
                  <a:schemeClr val="tx1"/>
                </a:solidFill>
                <a:latin typeface="Arial" panose="020B0604020202020204" pitchFamily="34" charset="0"/>
                <a:ea typeface="+mn-ea"/>
                <a:cs typeface="Arial" panose="020B0604020202020204" pitchFamily="34" charset="0"/>
              </a:defRPr>
            </a:lvl5pPr>
            <a:lvl6pPr marL="1072800" indent="-180000" algn="l" defTabSz="914400" rtl="0" eaLnBrk="1" latinLnBrk="0" hangingPunct="1">
              <a:spcBef>
                <a:spcPts val="0"/>
              </a:spcBef>
              <a:spcAft>
                <a:spcPts val="600"/>
              </a:spcAft>
              <a:buClr>
                <a:srgbClr val="D82034"/>
              </a:buClr>
              <a:buFont typeface="Arial" panose="020B0604020202020204" pitchFamily="34" charset="0"/>
              <a:buChar char="–"/>
              <a:defRPr sz="1200" kern="1200">
                <a:solidFill>
                  <a:schemeClr val="tx1"/>
                </a:solidFill>
                <a:latin typeface="+mn-lt"/>
                <a:ea typeface="+mn-ea"/>
                <a:cs typeface="+mn-cs"/>
              </a:defRPr>
            </a:lvl6pPr>
            <a:lvl7pPr marL="1227600" indent="-180000" algn="l" defTabSz="914400" rtl="0" eaLnBrk="1" latinLnBrk="0" hangingPunct="1">
              <a:spcBef>
                <a:spcPts val="0"/>
              </a:spcBef>
              <a:spcAft>
                <a:spcPts val="600"/>
              </a:spcAft>
              <a:buClr>
                <a:srgbClr val="D82034"/>
              </a:buClr>
              <a:buFont typeface="Arial" panose="020B0604020202020204" pitchFamily="34" charset="0"/>
              <a:buChar char="•"/>
              <a:defRPr sz="1200" kern="1200">
                <a:solidFill>
                  <a:schemeClr val="tx1"/>
                </a:solidFill>
                <a:latin typeface="+mn-lt"/>
                <a:ea typeface="+mn-ea"/>
                <a:cs typeface="+mn-cs"/>
              </a:defRPr>
            </a:lvl7pPr>
            <a:lvl8pPr marL="1414800" indent="-180000" algn="l" defTabSz="914400" rtl="0" eaLnBrk="1" latinLnBrk="0" hangingPunct="1">
              <a:spcBef>
                <a:spcPts val="0"/>
              </a:spcBef>
              <a:spcAft>
                <a:spcPts val="600"/>
              </a:spcAft>
              <a:buClr>
                <a:srgbClr val="D82034"/>
              </a:buClr>
              <a:buFont typeface="Arial" panose="020B0604020202020204" pitchFamily="34" charset="0"/>
              <a:buChar char="–"/>
              <a:defRPr sz="1200" kern="1200">
                <a:solidFill>
                  <a:schemeClr val="tx1"/>
                </a:solidFill>
                <a:latin typeface="+mn-lt"/>
                <a:ea typeface="+mn-ea"/>
                <a:cs typeface="+mn-cs"/>
              </a:defRPr>
            </a:lvl8pPr>
            <a:lvl9pPr marL="1602000" indent="-180000" algn="l" defTabSz="914400" rtl="0" eaLnBrk="1" latinLnBrk="0" hangingPunct="1">
              <a:spcBef>
                <a:spcPts val="0"/>
              </a:spcBef>
              <a:spcAft>
                <a:spcPts val="600"/>
              </a:spcAft>
              <a:buClr>
                <a:srgbClr val="D82034"/>
              </a:buClr>
              <a:buFont typeface="Arial" panose="020B0604020202020204" pitchFamily="34" charset="0"/>
              <a:buChar char="•"/>
              <a:defRPr sz="12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800"/>
              </a:spcAft>
              <a:buClr>
                <a:srgbClr val="D82034"/>
              </a:buClr>
              <a:buSzTx/>
              <a:buFont typeface="Arial" panose="020B0604020202020204" pitchFamily="34" charset="0"/>
              <a:buNone/>
              <a:tabLst/>
              <a:defRPr/>
            </a:pPr>
            <a:r>
              <a:rPr kumimoji="0" lang="fr-FR" sz="12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Type de police</a:t>
            </a:r>
            <a:br>
              <a:rPr kumimoji="0" lang="fr-FR" sz="12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br>
            <a:r>
              <a:rPr lang="fr-FR" sz="1100" dirty="0"/>
              <a:t>Assurance vie universelle variable </a:t>
            </a:r>
            <a:r>
              <a:rPr kumimoji="0" lang="fr-FR" sz="11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(en unités de compte)</a:t>
            </a:r>
          </a:p>
          <a:p>
            <a:pPr marL="0" marR="0" lvl="0" indent="0" algn="l" defTabSz="914400" rtl="0" eaLnBrk="1" fontAlgn="auto" latinLnBrk="0" hangingPunct="1">
              <a:lnSpc>
                <a:spcPct val="100000"/>
              </a:lnSpc>
              <a:spcBef>
                <a:spcPts val="0"/>
              </a:spcBef>
              <a:spcAft>
                <a:spcPts val="800"/>
              </a:spcAft>
              <a:buClr>
                <a:srgbClr val="D82034"/>
              </a:buClr>
              <a:buSzTx/>
              <a:buFont typeface="Arial" panose="020B0604020202020204" pitchFamily="34" charset="0"/>
              <a:buNone/>
              <a:tabLst/>
              <a:defRPr/>
            </a:pPr>
            <a:r>
              <a:rPr kumimoji="0" lang="fr-FR" sz="12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Durée de la police</a:t>
            </a:r>
            <a:br>
              <a:rPr kumimoji="0" lang="fr-FR" sz="12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br>
            <a:r>
              <a:rPr kumimoji="0" lang="fr-FR" sz="11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Vie entière </a:t>
            </a:r>
          </a:p>
          <a:p>
            <a:pPr marL="0" marR="0" lvl="0" indent="0" algn="l" defTabSz="914400" rtl="0" eaLnBrk="1" fontAlgn="auto" latinLnBrk="0" hangingPunct="1">
              <a:lnSpc>
                <a:spcPct val="100000"/>
              </a:lnSpc>
              <a:spcBef>
                <a:spcPts val="0"/>
              </a:spcBef>
              <a:spcAft>
                <a:spcPts val="800"/>
              </a:spcAft>
              <a:buClr>
                <a:srgbClr val="D82034"/>
              </a:buClr>
              <a:buSzTx/>
              <a:buFont typeface="Arial" panose="020B0604020202020204" pitchFamily="34" charset="0"/>
              <a:buNone/>
              <a:tabLst/>
              <a:defRPr/>
            </a:pPr>
            <a:r>
              <a:rPr kumimoji="0" lang="fr-FR" sz="12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Type de prime</a:t>
            </a:r>
            <a:br>
              <a:rPr kumimoji="0" lang="fr-FR" sz="12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br>
            <a:r>
              <a:rPr kumimoji="0" lang="fr-FR" sz="1100" b="0" i="0" u="none" strike="noStrike" kern="1200" cap="none" spc="0" normalizeH="0" baseline="0" noProof="0" dirty="0" err="1">
                <a:ln>
                  <a:noFill/>
                </a:ln>
                <a:solidFill>
                  <a:srgbClr val="000000"/>
                </a:solidFill>
                <a:effectLst/>
                <a:uLnTx/>
                <a:uFillTx/>
                <a:latin typeface="Arial" panose="020B0604020202020204" pitchFamily="34" charset="0"/>
                <a:ea typeface="+mn-ea"/>
                <a:cs typeface="Arial" panose="020B0604020202020204" pitchFamily="34" charset="0"/>
              </a:rPr>
              <a:t>Prime</a:t>
            </a:r>
            <a:r>
              <a:rPr kumimoji="0" lang="fr-FR" sz="11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unique</a:t>
            </a:r>
          </a:p>
        </p:txBody>
      </p:sp>
    </p:spTree>
    <p:extLst>
      <p:ext uri="{BB962C8B-B14F-4D97-AF65-F5344CB8AC3E}">
        <p14:creationId xmlns:p14="http://schemas.microsoft.com/office/powerpoint/2010/main" val="33757352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a:solidFill>
                  <a:srgbClr val="000000"/>
                </a:solidFill>
              </a:rPr>
              <a:t>Comparaison de produits</a:t>
            </a:r>
            <a:br>
              <a:rPr lang="fr-FR" dirty="0">
                <a:solidFill>
                  <a:srgbClr val="808080"/>
                </a:solidFill>
              </a:rPr>
            </a:br>
            <a:r>
              <a:rPr lang="fr-FR" sz="1600" dirty="0">
                <a:solidFill>
                  <a:srgbClr val="808080"/>
                </a:solidFill>
              </a:rPr>
              <a:t>Premium Lux (PLUX) et Swiss Life Generations (SLG)</a:t>
            </a:r>
            <a:endParaRPr lang="fr-FR" dirty="0">
              <a:solidFill>
                <a:schemeClr val="folHlink"/>
              </a:solidFill>
            </a:endParaRPr>
          </a:p>
        </p:txBody>
      </p:sp>
      <p:graphicFrame>
        <p:nvGraphicFramePr>
          <p:cNvPr id="6" name="Table 3">
            <a:extLst>
              <a:ext uri="{FF2B5EF4-FFF2-40B4-BE49-F238E27FC236}">
                <a16:creationId xmlns:a16="http://schemas.microsoft.com/office/drawing/2014/main" id="{8BDB0783-7FA5-46C4-9B55-1009EAE57008}"/>
              </a:ext>
            </a:extLst>
          </p:cNvPr>
          <p:cNvGraphicFramePr>
            <a:graphicFrameLocks noGrp="1"/>
          </p:cNvGraphicFramePr>
          <p:nvPr>
            <p:extLst>
              <p:ext uri="{D42A27DB-BD31-4B8C-83A1-F6EECF244321}">
                <p14:modId xmlns:p14="http://schemas.microsoft.com/office/powerpoint/2010/main" val="492453132"/>
              </p:ext>
            </p:extLst>
          </p:nvPr>
        </p:nvGraphicFramePr>
        <p:xfrm>
          <a:off x="250826" y="1175693"/>
          <a:ext cx="8588375" cy="2441548"/>
        </p:xfrm>
        <a:graphic>
          <a:graphicData uri="http://schemas.openxmlformats.org/drawingml/2006/table">
            <a:tbl>
              <a:tblPr firstRow="1" bandRow="1">
                <a:tableStyleId>{5C22544A-7EE6-4342-B048-85BDC9FD1C3A}</a:tableStyleId>
              </a:tblPr>
              <a:tblGrid>
                <a:gridCol w="1140050">
                  <a:extLst>
                    <a:ext uri="{9D8B030D-6E8A-4147-A177-3AD203B41FA5}">
                      <a16:colId xmlns:a16="http://schemas.microsoft.com/office/drawing/2014/main" val="1116745137"/>
                    </a:ext>
                  </a:extLst>
                </a:gridCol>
                <a:gridCol w="3485924">
                  <a:extLst>
                    <a:ext uri="{9D8B030D-6E8A-4147-A177-3AD203B41FA5}">
                      <a16:colId xmlns:a16="http://schemas.microsoft.com/office/drawing/2014/main" val="398787935"/>
                    </a:ext>
                  </a:extLst>
                </a:gridCol>
                <a:gridCol w="3962401">
                  <a:extLst>
                    <a:ext uri="{9D8B030D-6E8A-4147-A177-3AD203B41FA5}">
                      <a16:colId xmlns:a16="http://schemas.microsoft.com/office/drawing/2014/main" val="443821548"/>
                    </a:ext>
                  </a:extLst>
                </a:gridCol>
              </a:tblGrid>
              <a:tr h="253678">
                <a:tc>
                  <a:txBody>
                    <a:bodyPr/>
                    <a:lstStyle/>
                    <a:p>
                      <a:pPr algn="l" fontAlgn="b"/>
                      <a:endParaRPr lang="fr-FR" sz="900" b="0" i="0" u="none" strike="noStrike" dirty="0">
                        <a:effectLst/>
                        <a:latin typeface="Arial" panose="020B0604020202020204" pitchFamily="34" charset="0"/>
                      </a:endParaRPr>
                    </a:p>
                  </a:txBody>
                  <a:tcPr marL="36000" marR="36000" marT="36000" marB="36000" anchor="ctr">
                    <a:solidFill>
                      <a:schemeClr val="accent4"/>
                    </a:solidFill>
                  </a:tcPr>
                </a:tc>
                <a:tc>
                  <a:txBody>
                    <a:bodyPr/>
                    <a:lstStyle/>
                    <a:p>
                      <a:pPr algn="l" fontAlgn="b"/>
                      <a:r>
                        <a:rPr lang="fr-FR" sz="900" dirty="0">
                          <a:solidFill>
                            <a:srgbClr val="000000"/>
                          </a:solidFill>
                        </a:rPr>
                        <a:t>Premium Lux (PLUX) </a:t>
                      </a:r>
                      <a:endParaRPr lang="fr-FR" sz="900" b="1" i="0" u="none" strike="noStrike" dirty="0">
                        <a:solidFill>
                          <a:srgbClr val="000000"/>
                        </a:solidFill>
                        <a:effectLst/>
                        <a:latin typeface="Arial" panose="020B0604020202020204" pitchFamily="34" charset="0"/>
                      </a:endParaRPr>
                    </a:p>
                  </a:txBody>
                  <a:tcPr marL="36000" marR="36000" marT="36000" marB="36000" anchor="ctr">
                    <a:solidFill>
                      <a:schemeClr val="accent4"/>
                    </a:solidFill>
                  </a:tcPr>
                </a:tc>
                <a:tc>
                  <a:txBody>
                    <a:bodyPr/>
                    <a:lstStyle/>
                    <a:p>
                      <a:pPr algn="l" fontAlgn="b"/>
                      <a:r>
                        <a:rPr lang="fr-FR" sz="900" dirty="0">
                          <a:solidFill>
                            <a:srgbClr val="000000"/>
                          </a:solidFill>
                        </a:rPr>
                        <a:t>Swiss Life Generations (SLG)</a:t>
                      </a:r>
                      <a:endParaRPr lang="fr-FR" sz="900" b="1" i="0" u="none" strike="noStrike" dirty="0">
                        <a:solidFill>
                          <a:srgbClr val="000000"/>
                        </a:solidFill>
                        <a:effectLst/>
                        <a:latin typeface="Arial" panose="020B0604020202020204" pitchFamily="34" charset="0"/>
                      </a:endParaRPr>
                    </a:p>
                  </a:txBody>
                  <a:tcPr marL="36000" marR="36000" marT="36000" marB="36000" anchor="ctr">
                    <a:solidFill>
                      <a:schemeClr val="accent4"/>
                    </a:solidFill>
                  </a:tcPr>
                </a:tc>
                <a:extLst>
                  <a:ext uri="{0D108BD9-81ED-4DB2-BD59-A6C34878D82A}">
                    <a16:rowId xmlns:a16="http://schemas.microsoft.com/office/drawing/2014/main" val="2634324635"/>
                  </a:ext>
                </a:extLst>
              </a:tr>
              <a:tr h="199971">
                <a:tc>
                  <a:txBody>
                    <a:bodyPr/>
                    <a:lstStyle/>
                    <a:p>
                      <a:pPr algn="l" fontAlgn="b"/>
                      <a:r>
                        <a:rPr lang="fr-FR" sz="800" b="0" i="0" u="none" strike="noStrike" dirty="0">
                          <a:effectLst/>
                          <a:latin typeface="Arial" panose="020B0604020202020204" pitchFamily="34" charset="0"/>
                        </a:rPr>
                        <a:t>Prime</a:t>
                      </a:r>
                    </a:p>
                  </a:txBody>
                  <a:tcPr marL="36000" marR="36000" marT="36000" marB="36000" anchor="ctr">
                    <a:solidFill>
                      <a:srgbClr val="DFDFDF"/>
                    </a:solidFill>
                  </a:tcPr>
                </a:tc>
                <a:tc gridSpan="2">
                  <a:txBody>
                    <a:bodyPr/>
                    <a:lstStyle/>
                    <a:p>
                      <a:pPr algn="l" fontAlgn="b"/>
                      <a:r>
                        <a:rPr lang="fr-FR" sz="800" b="0" i="0" u="none" strike="noStrike" dirty="0">
                          <a:effectLst/>
                          <a:latin typeface="Arial" panose="020B0604020202020204" pitchFamily="34" charset="0"/>
                        </a:rPr>
                        <a:t>Le portefeuille peut être apporté en espèces ou en nature</a:t>
                      </a:r>
                    </a:p>
                  </a:txBody>
                  <a:tcPr marL="36000" marR="36000" marT="36000" marB="36000" anchor="ctr">
                    <a:solidFill>
                      <a:srgbClr val="DFDFDF"/>
                    </a:solidFill>
                  </a:tcPr>
                </a:tc>
                <a:tc hMerge="1">
                  <a:txBody>
                    <a:bodyPr/>
                    <a:lstStyle/>
                    <a:p>
                      <a:endParaRPr lang="en-GB"/>
                    </a:p>
                  </a:txBody>
                  <a:tcPr/>
                </a:tc>
                <a:extLst>
                  <a:ext uri="{0D108BD9-81ED-4DB2-BD59-A6C34878D82A}">
                    <a16:rowId xmlns:a16="http://schemas.microsoft.com/office/drawing/2014/main" val="3444445409"/>
                  </a:ext>
                </a:extLst>
              </a:tr>
              <a:tr h="224173">
                <a:tc>
                  <a:txBody>
                    <a:bodyPr/>
                    <a:lstStyle/>
                    <a:p>
                      <a:pPr algn="l" fontAlgn="b"/>
                      <a:r>
                        <a:rPr lang="fr-FR" sz="800" b="0" i="0" u="none" strike="noStrike" dirty="0">
                          <a:effectLst/>
                          <a:latin typeface="Arial" panose="020B0604020202020204" pitchFamily="34" charset="0"/>
                        </a:rPr>
                        <a:t>Gestion d’actifs</a:t>
                      </a:r>
                    </a:p>
                  </a:txBody>
                  <a:tcPr marL="36000" marR="36000" marT="36000" marB="36000" anchor="ctr">
                    <a:solidFill>
                      <a:srgbClr val="FFFFFF"/>
                    </a:solidFill>
                  </a:tcPr>
                </a:tc>
                <a:tc gridSpan="2">
                  <a:txBody>
                    <a:bodyPr/>
                    <a:lstStyle/>
                    <a:p>
                      <a:pPr algn="l" fontAlgn="b"/>
                      <a:r>
                        <a:rPr lang="fr-FR" sz="800" b="0" i="0" u="none" strike="noStrike" dirty="0">
                          <a:effectLst/>
                          <a:latin typeface="Arial" panose="020B0604020202020204" pitchFamily="34" charset="0"/>
                        </a:rPr>
                        <a:t>La garde et la gestion d'actifs restent inchangées avec la banque de choix</a:t>
                      </a:r>
                    </a:p>
                  </a:txBody>
                  <a:tcPr marL="36000" marR="36000" marT="36000" marB="36000" anchor="ctr">
                    <a:solidFill>
                      <a:srgbClr val="FFFFFF"/>
                    </a:solidFill>
                  </a:tcPr>
                </a:tc>
                <a:tc hMerge="1">
                  <a:txBody>
                    <a:bodyPr/>
                    <a:lstStyle/>
                    <a:p>
                      <a:endParaRPr lang="en-GB"/>
                    </a:p>
                  </a:txBody>
                  <a:tcPr/>
                </a:tc>
                <a:extLst>
                  <a:ext uri="{0D108BD9-81ED-4DB2-BD59-A6C34878D82A}">
                    <a16:rowId xmlns:a16="http://schemas.microsoft.com/office/drawing/2014/main" val="1138766238"/>
                  </a:ext>
                </a:extLst>
              </a:tr>
              <a:tr h="224173">
                <a:tc>
                  <a:txBody>
                    <a:bodyPr/>
                    <a:lstStyle/>
                    <a:p>
                      <a:pPr algn="l" fontAlgn="b"/>
                      <a:r>
                        <a:rPr lang="fr-FR" sz="800" b="0" i="0" u="none" strike="noStrike" dirty="0">
                          <a:effectLst/>
                          <a:latin typeface="Arial" panose="020B0604020202020204" pitchFamily="34" charset="0"/>
                        </a:rPr>
                        <a:t>Flexibilité</a:t>
                      </a:r>
                    </a:p>
                  </a:txBody>
                  <a:tcPr marL="36000" marR="36000" marT="36000" marB="36000" anchor="ctr">
                    <a:solidFill>
                      <a:srgbClr val="DFDFDF"/>
                    </a:solidFill>
                  </a:tcPr>
                </a:tc>
                <a:tc gridSpan="2">
                  <a:txBody>
                    <a:bodyPr/>
                    <a:lstStyle/>
                    <a:p>
                      <a:pPr algn="l" fontAlgn="b"/>
                      <a:r>
                        <a:rPr lang="fr-FR" sz="800" b="0" i="0" u="none" strike="noStrike" dirty="0">
                          <a:effectLst/>
                          <a:latin typeface="Arial" panose="020B0604020202020204" pitchFamily="34" charset="0"/>
                        </a:rPr>
                        <a:t>Rachat, rachat partiel, prime supplémentaire, changement de stratégie d'investissement et changement de bénéficiaires possibles à tout moment</a:t>
                      </a:r>
                    </a:p>
                  </a:txBody>
                  <a:tcPr marL="36000" marR="36000" marT="36000" marB="36000" anchor="ctr">
                    <a:solidFill>
                      <a:srgbClr val="DFDFDF"/>
                    </a:solidFill>
                  </a:tcPr>
                </a:tc>
                <a:tc hMerge="1">
                  <a:txBody>
                    <a:bodyPr/>
                    <a:lstStyle/>
                    <a:p>
                      <a:endParaRPr lang="en-GB"/>
                    </a:p>
                  </a:txBody>
                  <a:tcPr/>
                </a:tc>
                <a:extLst>
                  <a:ext uri="{0D108BD9-81ED-4DB2-BD59-A6C34878D82A}">
                    <a16:rowId xmlns:a16="http://schemas.microsoft.com/office/drawing/2014/main" val="4205510678"/>
                  </a:ext>
                </a:extLst>
              </a:tr>
              <a:tr h="253678">
                <a:tc>
                  <a:txBody>
                    <a:bodyPr/>
                    <a:lstStyle/>
                    <a:p>
                      <a:pPr algn="l" fontAlgn="b"/>
                      <a:r>
                        <a:rPr lang="fr-FR" sz="800" b="0" i="0" u="none" strike="noStrike" dirty="0">
                          <a:effectLst/>
                          <a:latin typeface="Arial" panose="020B0604020202020204" pitchFamily="34" charset="0"/>
                        </a:rPr>
                        <a:t>Report d'impôt</a:t>
                      </a:r>
                    </a:p>
                  </a:txBody>
                  <a:tcPr marL="36000" marR="36000" marT="36000" marB="36000" anchor="ctr">
                    <a:solidFill>
                      <a:srgbClr val="FFFFFF"/>
                    </a:solidFill>
                  </a:tcPr>
                </a:tc>
                <a:tc gridSpan="2">
                  <a:txBody>
                    <a:bodyPr/>
                    <a:lstStyle/>
                    <a:p>
                      <a:pPr algn="l" fontAlgn="b"/>
                      <a:r>
                        <a:rPr lang="fr-FR" sz="800" b="0" i="0" u="none" strike="noStrike" dirty="0">
                          <a:effectLst/>
                          <a:latin typeface="Arial" panose="020B0604020202020204" pitchFamily="34" charset="0"/>
                        </a:rPr>
                        <a:t>Applicable aux deux produits de manière identique</a:t>
                      </a:r>
                    </a:p>
                  </a:txBody>
                  <a:tcPr marL="36000" marR="36000" marT="36000" marB="36000" anchor="ctr">
                    <a:solidFill>
                      <a:srgbClr val="FFFFFF"/>
                    </a:solidFill>
                  </a:tcPr>
                </a:tc>
                <a:tc hMerge="1">
                  <a:txBody>
                    <a:bodyPr/>
                    <a:lstStyle/>
                    <a:p>
                      <a:endParaRPr lang="en-GB"/>
                    </a:p>
                  </a:txBody>
                  <a:tcPr/>
                </a:tc>
                <a:extLst>
                  <a:ext uri="{0D108BD9-81ED-4DB2-BD59-A6C34878D82A}">
                    <a16:rowId xmlns:a16="http://schemas.microsoft.com/office/drawing/2014/main" val="1740417827"/>
                  </a:ext>
                </a:extLst>
              </a:tr>
              <a:tr h="787960">
                <a:tc>
                  <a:txBody>
                    <a:bodyPr/>
                    <a:lstStyle/>
                    <a:p>
                      <a:pPr algn="l" fontAlgn="b"/>
                      <a:r>
                        <a:rPr lang="fr-FR" sz="800" b="0" i="0" u="none" strike="noStrike" dirty="0">
                          <a:effectLst/>
                          <a:latin typeface="Arial" panose="020B0604020202020204" pitchFamily="34" charset="0"/>
                        </a:rPr>
                        <a:t>Frais &amp; charges</a:t>
                      </a:r>
                    </a:p>
                  </a:txBody>
                  <a:tcPr marL="36000" marR="36000" marT="36000" marB="36000" anchor="ctr">
                    <a:solidFill>
                      <a:srgbClr val="DFDFDF"/>
                    </a:solidFill>
                  </a:tcPr>
                </a:tc>
                <a:tc>
                  <a:txBody>
                    <a:bodyPr/>
                    <a:lstStyle/>
                    <a:p>
                      <a:pPr algn="l" fontAlgn="b"/>
                      <a:r>
                        <a:rPr lang="fr-FR" sz="800" b="0" i="0" u="none" strike="noStrike" dirty="0">
                          <a:effectLst/>
                          <a:latin typeface="Arial" panose="020B0604020202020204" pitchFamily="34" charset="0"/>
                        </a:rPr>
                        <a:t>Calculés annuellement en % de la VNI</a:t>
                      </a:r>
                    </a:p>
                  </a:txBody>
                  <a:tcPr marL="36000" marR="36000" marT="36000" marB="36000" anchor="ctr">
                    <a:solidFill>
                      <a:srgbClr val="DFDFDF"/>
                    </a:solidFill>
                  </a:tcPr>
                </a:tc>
                <a:tc>
                  <a:txBody>
                    <a:bodyPr/>
                    <a:lstStyle/>
                    <a:p>
                      <a:r>
                        <a:rPr lang="fr-FR" sz="800" b="0" dirty="0"/>
                        <a:t>Calculés sur la prime :</a:t>
                      </a:r>
                    </a:p>
                    <a:p>
                      <a:r>
                        <a:rPr lang="fr-FR" sz="800" b="0" dirty="0"/>
                        <a:t>Avance : 2.4 %</a:t>
                      </a:r>
                    </a:p>
                    <a:p>
                      <a:r>
                        <a:rPr lang="fr-FR" sz="800" b="0" dirty="0"/>
                        <a:t>Année 1-10 : 0.95 % </a:t>
                      </a:r>
                    </a:p>
                    <a:p>
                      <a:r>
                        <a:rPr lang="fr-FR" sz="800" b="0" dirty="0"/>
                        <a:t>Année 11 et suivantes : 0.5 % </a:t>
                      </a:r>
                    </a:p>
                    <a:p>
                      <a:r>
                        <a:rPr lang="fr-FR" sz="800" b="0" dirty="0"/>
                        <a:t>Frais de mortalité : calculés à un taux basé sur l'état de santé et l'âge du client, multiplié par la somme à risque</a:t>
                      </a:r>
                      <a:endParaRPr lang="fr-FR" sz="800" b="0" i="0" u="none" strike="noStrike" dirty="0">
                        <a:effectLst/>
                        <a:latin typeface="Arial" panose="020B0604020202020204" pitchFamily="34" charset="0"/>
                      </a:endParaRPr>
                    </a:p>
                  </a:txBody>
                  <a:tcPr marL="36000" marR="36000" marT="36000" marB="36000" anchor="ctr">
                    <a:solidFill>
                      <a:srgbClr val="DFDFDF"/>
                    </a:solidFill>
                  </a:tcPr>
                </a:tc>
                <a:extLst>
                  <a:ext uri="{0D108BD9-81ED-4DB2-BD59-A6C34878D82A}">
                    <a16:rowId xmlns:a16="http://schemas.microsoft.com/office/drawing/2014/main" val="3794752305"/>
                  </a:ext>
                </a:extLst>
              </a:tr>
              <a:tr h="228677">
                <a:tc>
                  <a:txBody>
                    <a:bodyPr/>
                    <a:lstStyle/>
                    <a:p>
                      <a:pPr algn="l" fontAlgn="b"/>
                      <a:r>
                        <a:rPr lang="fr-FR" sz="800" b="0" i="0" u="none" strike="noStrike" dirty="0">
                          <a:effectLst/>
                          <a:latin typeface="Arial" panose="020B0604020202020204" pitchFamily="34" charset="0"/>
                        </a:rPr>
                        <a:t>Clause bénéficiaire</a:t>
                      </a:r>
                    </a:p>
                  </a:txBody>
                  <a:tcPr marL="36000" marR="36000" marT="36000" marB="36000" anchor="ctr">
                    <a:solidFill>
                      <a:schemeClr val="bg1"/>
                    </a:solidFill>
                  </a:tcPr>
                </a:tc>
                <a:tc>
                  <a:txBody>
                    <a:bodyPr/>
                    <a:lstStyle/>
                    <a:p>
                      <a:pPr algn="l" fontAlgn="b"/>
                      <a:r>
                        <a:rPr lang="fr-FR" sz="800" b="0" i="0" u="none" strike="noStrike" dirty="0">
                          <a:effectLst/>
                          <a:latin typeface="Arial" panose="020B0604020202020204" pitchFamily="34" charset="0"/>
                        </a:rPr>
                        <a:t>Applicable aux deux produits de manière identique</a:t>
                      </a:r>
                    </a:p>
                  </a:txBody>
                  <a:tcPr marL="36000" marR="36000" marT="36000" marB="36000" anchor="ctr">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kumimoji="0" lang="fr-FR" sz="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a:txBody>
                  <a:tcPr marL="36000" marR="36000" marT="36000" marB="36000" anchor="ctr">
                    <a:solidFill>
                      <a:schemeClr val="bg1"/>
                    </a:solidFill>
                  </a:tcPr>
                </a:tc>
                <a:extLst>
                  <a:ext uri="{0D108BD9-81ED-4DB2-BD59-A6C34878D82A}">
                    <a16:rowId xmlns:a16="http://schemas.microsoft.com/office/drawing/2014/main" val="1259873006"/>
                  </a:ext>
                </a:extLst>
              </a:tr>
              <a:tr h="253678">
                <a:tc>
                  <a:txBody>
                    <a:bodyPr/>
                    <a:lstStyle/>
                    <a:p>
                      <a:pPr algn="l" fontAlgn="b"/>
                      <a:r>
                        <a:rPr lang="fr-FR" sz="800" b="0" i="0" u="none" strike="noStrike" dirty="0">
                          <a:effectLst/>
                          <a:latin typeface="Arial" panose="020B0604020202020204" pitchFamily="34" charset="0"/>
                        </a:rPr>
                        <a:t>Couverture vie</a:t>
                      </a:r>
                    </a:p>
                  </a:txBody>
                  <a:tcPr marL="36000" marR="36000" marT="36000" marB="36000" anchor="ctr">
                    <a:solidFill>
                      <a:srgbClr val="DFDFDF"/>
                    </a:solidFill>
                  </a:tcPr>
                </a:tc>
                <a:tc>
                  <a:txBody>
                    <a:bodyPr/>
                    <a:lstStyle/>
                    <a:p>
                      <a:pPr algn="l" fontAlgn="b"/>
                      <a:r>
                        <a:rPr lang="fr-FR" sz="800" b="0" i="0" u="none" strike="noStrike" dirty="0">
                          <a:effectLst/>
                          <a:latin typeface="Arial" panose="020B0604020202020204" pitchFamily="34" charset="0"/>
                        </a:rPr>
                        <a:t>Valeur du portefeuille</a:t>
                      </a:r>
                    </a:p>
                  </a:txBody>
                  <a:tcPr marL="36000" marR="36000" marT="36000" marB="36000" anchor="ctr">
                    <a:solidFill>
                      <a:srgbClr val="DFDFDF"/>
                    </a:solidFill>
                  </a:tcPr>
                </a:tc>
                <a:tc>
                  <a:txBody>
                    <a:bodyPr/>
                    <a:lstStyle/>
                    <a:p>
                      <a:pPr algn="l" fontAlgn="b"/>
                      <a:r>
                        <a:rPr lang="fr-FR" sz="800" b="0" i="0" u="none" strike="noStrike" dirty="0">
                          <a:effectLst/>
                          <a:latin typeface="Arial" panose="020B0604020202020204" pitchFamily="34" charset="0"/>
                        </a:rPr>
                        <a:t>Somme assurée (garantie dès le premier jour)</a:t>
                      </a:r>
                    </a:p>
                  </a:txBody>
                  <a:tcPr marL="36000" marR="36000" marT="36000" marB="36000" anchor="ctr">
                    <a:solidFill>
                      <a:srgbClr val="DFDFDF"/>
                    </a:solidFill>
                  </a:tcPr>
                </a:tc>
                <a:extLst>
                  <a:ext uri="{0D108BD9-81ED-4DB2-BD59-A6C34878D82A}">
                    <a16:rowId xmlns:a16="http://schemas.microsoft.com/office/drawing/2014/main" val="3450538060"/>
                  </a:ext>
                </a:extLst>
              </a:tr>
            </a:tbl>
          </a:graphicData>
        </a:graphic>
      </p:graphicFrame>
      <p:grpSp>
        <p:nvGrpSpPr>
          <p:cNvPr id="54" name="Gruppieren 53">
            <a:extLst>
              <a:ext uri="{FF2B5EF4-FFF2-40B4-BE49-F238E27FC236}">
                <a16:creationId xmlns:a16="http://schemas.microsoft.com/office/drawing/2014/main" id="{F908E2F4-496A-4970-A3D4-0617D56C0294}"/>
              </a:ext>
            </a:extLst>
          </p:cNvPr>
          <p:cNvGrpSpPr/>
          <p:nvPr/>
        </p:nvGrpSpPr>
        <p:grpSpPr>
          <a:xfrm>
            <a:off x="5001174" y="3666899"/>
            <a:ext cx="3447209" cy="1683133"/>
            <a:chOff x="4473306" y="1816880"/>
            <a:chExt cx="4073518" cy="3033065"/>
          </a:xfrm>
        </p:grpSpPr>
        <p:sp>
          <p:nvSpPr>
            <p:cNvPr id="55" name="TextBox 47">
              <a:extLst>
                <a:ext uri="{FF2B5EF4-FFF2-40B4-BE49-F238E27FC236}">
                  <a16:creationId xmlns:a16="http://schemas.microsoft.com/office/drawing/2014/main" id="{50A898D9-AB6A-4DBF-B1F5-C18A5C672B7F}"/>
                </a:ext>
              </a:extLst>
            </p:cNvPr>
            <p:cNvSpPr txBox="1"/>
            <p:nvPr/>
          </p:nvSpPr>
          <p:spPr>
            <a:xfrm>
              <a:off x="4872010" y="1816880"/>
              <a:ext cx="3674814" cy="388238"/>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fr-FR" sz="800" b="0" i="0" u="none" strike="noStrike" kern="0" cap="none" spc="0" normalizeH="0" baseline="0" noProof="0" dirty="0">
                  <a:ln>
                    <a:noFill/>
                  </a:ln>
                  <a:solidFill>
                    <a:srgbClr val="15847B"/>
                  </a:solidFill>
                  <a:effectLst/>
                  <a:uLnTx/>
                  <a:uFillTx/>
                </a:rPr>
                <a:t>Somme assurée</a:t>
              </a:r>
            </a:p>
          </p:txBody>
        </p:sp>
        <p:grpSp>
          <p:nvGrpSpPr>
            <p:cNvPr id="56" name="Gruppieren 55">
              <a:extLst>
                <a:ext uri="{FF2B5EF4-FFF2-40B4-BE49-F238E27FC236}">
                  <a16:creationId xmlns:a16="http://schemas.microsoft.com/office/drawing/2014/main" id="{6CFB0970-A69B-4699-A4A8-474938DB1CFD}"/>
                </a:ext>
              </a:extLst>
            </p:cNvPr>
            <p:cNvGrpSpPr/>
            <p:nvPr/>
          </p:nvGrpSpPr>
          <p:grpSpPr>
            <a:xfrm>
              <a:off x="4544541" y="2115185"/>
              <a:ext cx="3899359" cy="2592222"/>
              <a:chOff x="4544541" y="2115185"/>
              <a:chExt cx="3899359" cy="2592222"/>
            </a:xfrm>
          </p:grpSpPr>
          <p:sp>
            <p:nvSpPr>
              <p:cNvPr id="64" name="Rechteck 63">
                <a:extLst>
                  <a:ext uri="{FF2B5EF4-FFF2-40B4-BE49-F238E27FC236}">
                    <a16:creationId xmlns:a16="http://schemas.microsoft.com/office/drawing/2014/main" id="{56B83A1C-EA09-4CC1-BE78-BCBF65FB8BCC}"/>
                  </a:ext>
                </a:extLst>
              </p:cNvPr>
              <p:cNvSpPr/>
              <p:nvPr/>
            </p:nvSpPr>
            <p:spPr>
              <a:xfrm>
                <a:off x="4726231" y="2153136"/>
                <a:ext cx="3576967" cy="2311937"/>
              </a:xfrm>
              <a:prstGeom prst="rect">
                <a:avLst/>
              </a:prstGeom>
              <a:solidFill>
                <a:srgbClr val="C0C0C0">
                  <a:lumMod val="20000"/>
                  <a:lumOff val="80000"/>
                </a:srgbClr>
              </a:solidFill>
              <a:ln w="25400" cap="flat" cmpd="sng" algn="ctr">
                <a:solidFill>
                  <a:srgbClr val="C0C0C0">
                    <a:lumMod val="20000"/>
                    <a:lumOff val="8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800" b="0" i="0" u="none" strike="noStrike" kern="0" cap="none" spc="0" normalizeH="0" baseline="0" noProof="0" dirty="0">
                  <a:ln>
                    <a:noFill/>
                  </a:ln>
                  <a:solidFill>
                    <a:srgbClr val="FFFFFF"/>
                  </a:solidFill>
                  <a:effectLst/>
                  <a:uLnTx/>
                  <a:uFillTx/>
                  <a:latin typeface="Arial"/>
                  <a:ea typeface="+mn-ea"/>
                  <a:cs typeface="Arial" panose="020B0604020202020204" pitchFamily="34" charset="0"/>
                </a:endParaRPr>
              </a:p>
            </p:txBody>
          </p:sp>
          <p:sp>
            <p:nvSpPr>
              <p:cNvPr id="65" name="Freeform 57">
                <a:extLst>
                  <a:ext uri="{FF2B5EF4-FFF2-40B4-BE49-F238E27FC236}">
                    <a16:creationId xmlns:a16="http://schemas.microsoft.com/office/drawing/2014/main" id="{30B9DD39-5410-4A3A-AAA2-90B81EB2EFFB}"/>
                  </a:ext>
                </a:extLst>
              </p:cNvPr>
              <p:cNvSpPr/>
              <p:nvPr/>
            </p:nvSpPr>
            <p:spPr>
              <a:xfrm>
                <a:off x="4703198" y="2533738"/>
                <a:ext cx="3600000" cy="1931335"/>
              </a:xfrm>
              <a:custGeom>
                <a:avLst/>
                <a:gdLst>
                  <a:gd name="connsiteX0" fmla="*/ 3233542 w 3233542"/>
                  <a:gd name="connsiteY0" fmla="*/ 0 h 1476375"/>
                  <a:gd name="connsiteX1" fmla="*/ 3233542 w 3233542"/>
                  <a:gd name="connsiteY1" fmla="*/ 1476375 h 1476375"/>
                  <a:gd name="connsiteX2" fmla="*/ 0 w 3233542"/>
                  <a:gd name="connsiteY2" fmla="*/ 1476375 h 1476375"/>
                  <a:gd name="connsiteX3" fmla="*/ 0 w 3233542"/>
                  <a:gd name="connsiteY3" fmla="*/ 1165994 h 1476375"/>
                  <a:gd name="connsiteX4" fmla="*/ 204690 w 3233542"/>
                  <a:gd name="connsiteY4" fmla="*/ 952500 h 1476375"/>
                  <a:gd name="connsiteX5" fmla="*/ 302101 w 3233542"/>
                  <a:gd name="connsiteY5" fmla="*/ 1054100 h 1476375"/>
                  <a:gd name="connsiteX6" fmla="*/ 512142 w 3233542"/>
                  <a:gd name="connsiteY6" fmla="*/ 835025 h 1476375"/>
                  <a:gd name="connsiteX7" fmla="*/ 798284 w 3233542"/>
                  <a:gd name="connsiteY7" fmla="*/ 1133475 h 1476375"/>
                  <a:gd name="connsiteX8" fmla="*/ 977885 w 3233542"/>
                  <a:gd name="connsiteY8" fmla="*/ 1133475 h 1476375"/>
                  <a:gd name="connsiteX9" fmla="*/ 1419275 w 3233542"/>
                  <a:gd name="connsiteY9" fmla="*/ 673100 h 1476375"/>
                  <a:gd name="connsiteX10" fmla="*/ 1471024 w 3233542"/>
                  <a:gd name="connsiteY10" fmla="*/ 727075 h 1476375"/>
                  <a:gd name="connsiteX11" fmla="*/ 1617140 w 3233542"/>
                  <a:gd name="connsiteY11" fmla="*/ 574675 h 1476375"/>
                  <a:gd name="connsiteX12" fmla="*/ 1830225 w 3233542"/>
                  <a:gd name="connsiteY12" fmla="*/ 796925 h 1476375"/>
                  <a:gd name="connsiteX13" fmla="*/ 2186381 w 3233542"/>
                  <a:gd name="connsiteY13" fmla="*/ 425450 h 1476375"/>
                  <a:gd name="connsiteX14" fmla="*/ 2292924 w 3233542"/>
                  <a:gd name="connsiteY14" fmla="*/ 536575 h 1476375"/>
                  <a:gd name="connsiteX15" fmla="*/ 2341629 w 3233542"/>
                  <a:gd name="connsiteY15" fmla="*/ 485775 h 1476375"/>
                  <a:gd name="connsiteX16" fmla="*/ 2554714 w 3233542"/>
                  <a:gd name="connsiteY16" fmla="*/ 708025 h 1476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33542" h="1476375">
                    <a:moveTo>
                      <a:pt x="3233542" y="0"/>
                    </a:moveTo>
                    <a:lnTo>
                      <a:pt x="3233542" y="1476375"/>
                    </a:lnTo>
                    <a:lnTo>
                      <a:pt x="0" y="1476375"/>
                    </a:lnTo>
                    <a:lnTo>
                      <a:pt x="0" y="1165994"/>
                    </a:lnTo>
                    <a:lnTo>
                      <a:pt x="204690" y="952500"/>
                    </a:lnTo>
                    <a:lnTo>
                      <a:pt x="302101" y="1054100"/>
                    </a:lnTo>
                    <a:lnTo>
                      <a:pt x="512142" y="835025"/>
                    </a:lnTo>
                    <a:lnTo>
                      <a:pt x="798284" y="1133475"/>
                    </a:lnTo>
                    <a:lnTo>
                      <a:pt x="977885" y="1133475"/>
                    </a:lnTo>
                    <a:lnTo>
                      <a:pt x="1419275" y="673100"/>
                    </a:lnTo>
                    <a:lnTo>
                      <a:pt x="1471024" y="727075"/>
                    </a:lnTo>
                    <a:lnTo>
                      <a:pt x="1617140" y="574675"/>
                    </a:lnTo>
                    <a:lnTo>
                      <a:pt x="1830225" y="796925"/>
                    </a:lnTo>
                    <a:lnTo>
                      <a:pt x="2186381" y="425450"/>
                    </a:lnTo>
                    <a:lnTo>
                      <a:pt x="2292924" y="536575"/>
                    </a:lnTo>
                    <a:lnTo>
                      <a:pt x="2341629" y="485775"/>
                    </a:lnTo>
                    <a:lnTo>
                      <a:pt x="2554714" y="708025"/>
                    </a:lnTo>
                    <a:close/>
                  </a:path>
                </a:pathLst>
              </a:custGeom>
              <a:solidFill>
                <a:srgbClr val="5F7D45">
                  <a:lumMod val="60000"/>
                  <a:lumOff val="40000"/>
                </a:srgbClr>
              </a:solidFill>
              <a:ln w="25400" cap="flat" cmpd="sng" algn="ctr">
                <a:solidFill>
                  <a:srgbClr val="5F7D45">
                    <a:lumMod val="7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800" b="0" i="0" u="none" strike="noStrike" kern="0" cap="none" spc="0" normalizeH="0" baseline="0" noProof="0" dirty="0">
                  <a:ln>
                    <a:noFill/>
                  </a:ln>
                  <a:solidFill>
                    <a:srgbClr val="FFFFFF"/>
                  </a:solidFill>
                  <a:effectLst/>
                  <a:uLnTx/>
                  <a:uFillTx/>
                  <a:latin typeface="Arial"/>
                  <a:ea typeface="+mn-ea"/>
                  <a:cs typeface="Arial" panose="020B0604020202020204" pitchFamily="34" charset="0"/>
                </a:endParaRPr>
              </a:p>
            </p:txBody>
          </p:sp>
          <p:sp>
            <p:nvSpPr>
              <p:cNvPr id="66" name="L-Form 65">
                <a:extLst>
                  <a:ext uri="{FF2B5EF4-FFF2-40B4-BE49-F238E27FC236}">
                    <a16:creationId xmlns:a16="http://schemas.microsoft.com/office/drawing/2014/main" id="{5DE99F50-F71E-4362-947C-AEA8C141F7BE}"/>
                  </a:ext>
                </a:extLst>
              </p:cNvPr>
              <p:cNvSpPr/>
              <p:nvPr/>
            </p:nvSpPr>
            <p:spPr>
              <a:xfrm>
                <a:off x="4544541" y="2115185"/>
                <a:ext cx="3899359" cy="2592222"/>
              </a:xfrm>
              <a:prstGeom prst="corner">
                <a:avLst>
                  <a:gd name="adj1" fmla="val 9531"/>
                  <a:gd name="adj2" fmla="val 9910"/>
                </a:avLst>
              </a:prstGeom>
              <a:solidFill>
                <a:srgbClr val="FFFFFF"/>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800" b="0" i="0" u="none" strike="noStrike" kern="0" cap="none" spc="0" normalizeH="0" baseline="0" noProof="0" dirty="0">
                  <a:ln>
                    <a:noFill/>
                  </a:ln>
                  <a:solidFill>
                    <a:srgbClr val="FFFFFF"/>
                  </a:solidFill>
                  <a:effectLst/>
                  <a:uLnTx/>
                  <a:uFillTx/>
                  <a:latin typeface="Arial"/>
                  <a:ea typeface="+mn-ea"/>
                  <a:cs typeface="Arial" panose="020B0604020202020204" pitchFamily="34" charset="0"/>
                </a:endParaRPr>
              </a:p>
            </p:txBody>
          </p:sp>
          <p:sp>
            <p:nvSpPr>
              <p:cNvPr id="67" name="Rechteck 66">
                <a:extLst>
                  <a:ext uri="{FF2B5EF4-FFF2-40B4-BE49-F238E27FC236}">
                    <a16:creationId xmlns:a16="http://schemas.microsoft.com/office/drawing/2014/main" id="{104AB740-B74A-4633-AA3C-3A9CEC3145C4}"/>
                  </a:ext>
                </a:extLst>
              </p:cNvPr>
              <p:cNvSpPr/>
              <p:nvPr/>
            </p:nvSpPr>
            <p:spPr>
              <a:xfrm>
                <a:off x="8288932" y="2115185"/>
                <a:ext cx="152971" cy="2450234"/>
              </a:xfrm>
              <a:prstGeom prst="rect">
                <a:avLst/>
              </a:prstGeom>
              <a:solidFill>
                <a:srgbClr val="FFFFFF"/>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800" b="0" i="0" u="none" strike="noStrike" kern="0" cap="none" spc="0" normalizeH="0" baseline="0" noProof="0" dirty="0">
                  <a:ln>
                    <a:noFill/>
                  </a:ln>
                  <a:solidFill>
                    <a:srgbClr val="FFFFFF"/>
                  </a:solidFill>
                  <a:effectLst/>
                  <a:uLnTx/>
                  <a:uFillTx/>
                  <a:latin typeface="Arial"/>
                  <a:ea typeface="+mn-ea"/>
                  <a:cs typeface="Arial" panose="020B0604020202020204" pitchFamily="34" charset="0"/>
                </a:endParaRPr>
              </a:p>
            </p:txBody>
          </p:sp>
        </p:grpSp>
        <p:cxnSp>
          <p:nvCxnSpPr>
            <p:cNvPr id="57" name="Straight Arrow Connector 52">
              <a:extLst>
                <a:ext uri="{FF2B5EF4-FFF2-40B4-BE49-F238E27FC236}">
                  <a16:creationId xmlns:a16="http://schemas.microsoft.com/office/drawing/2014/main" id="{6AAB3389-0780-4282-8160-4643E57926FD}"/>
                </a:ext>
              </a:extLst>
            </p:cNvPr>
            <p:cNvCxnSpPr>
              <a:cxnSpLocks/>
            </p:cNvCxnSpPr>
            <p:nvPr/>
          </p:nvCxnSpPr>
          <p:spPr>
            <a:xfrm>
              <a:off x="4711429" y="4462031"/>
              <a:ext cx="3756437" cy="0"/>
            </a:xfrm>
            <a:prstGeom prst="straightConnector1">
              <a:avLst/>
            </a:prstGeom>
            <a:noFill/>
            <a:ln w="9525" cap="flat" cmpd="sng" algn="ctr">
              <a:solidFill>
                <a:srgbClr val="000000"/>
              </a:solidFill>
              <a:prstDash val="solid"/>
              <a:tailEnd type="stealth" w="med" len="med"/>
            </a:ln>
            <a:effectLst/>
          </p:spPr>
        </p:cxnSp>
        <p:sp>
          <p:nvSpPr>
            <p:cNvPr id="58" name="TextBox 54">
              <a:extLst>
                <a:ext uri="{FF2B5EF4-FFF2-40B4-BE49-F238E27FC236}">
                  <a16:creationId xmlns:a16="http://schemas.microsoft.com/office/drawing/2014/main" id="{22F9DC2A-DD9E-481E-BFA5-931A1D7B94B9}"/>
                </a:ext>
              </a:extLst>
            </p:cNvPr>
            <p:cNvSpPr txBox="1"/>
            <p:nvPr/>
          </p:nvSpPr>
          <p:spPr>
            <a:xfrm>
              <a:off x="4788023" y="4461707"/>
              <a:ext cx="3382369" cy="388238"/>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800" b="0" i="0" u="none" strike="noStrike" kern="0" cap="none" spc="0" normalizeH="0" baseline="0" noProof="0" dirty="0">
                  <a:ln>
                    <a:noFill/>
                  </a:ln>
                  <a:solidFill>
                    <a:srgbClr val="000000"/>
                  </a:solidFill>
                  <a:effectLst/>
                  <a:uLnTx/>
                  <a:uFillTx/>
                </a:rPr>
                <a:t>Durée du contrat</a:t>
              </a:r>
            </a:p>
          </p:txBody>
        </p:sp>
        <p:sp>
          <p:nvSpPr>
            <p:cNvPr id="59" name="TextBox 55">
              <a:extLst>
                <a:ext uri="{FF2B5EF4-FFF2-40B4-BE49-F238E27FC236}">
                  <a16:creationId xmlns:a16="http://schemas.microsoft.com/office/drawing/2014/main" id="{6F22C653-94B2-48EB-A641-12DB22EF28DA}"/>
                </a:ext>
              </a:extLst>
            </p:cNvPr>
            <p:cNvSpPr txBox="1"/>
            <p:nvPr/>
          </p:nvSpPr>
          <p:spPr>
            <a:xfrm rot="16200000">
              <a:off x="3579965" y="3102770"/>
              <a:ext cx="2041270" cy="254587"/>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800" b="0" i="0" u="none" strike="noStrike" kern="0" cap="none" spc="0" normalizeH="0" baseline="0" noProof="0" dirty="0">
                  <a:ln>
                    <a:noFill/>
                  </a:ln>
                  <a:solidFill>
                    <a:srgbClr val="000000"/>
                  </a:solidFill>
                  <a:effectLst/>
                  <a:uLnTx/>
                  <a:uFillTx/>
                </a:rPr>
                <a:t>Valeur</a:t>
              </a:r>
            </a:p>
          </p:txBody>
        </p:sp>
        <p:cxnSp>
          <p:nvCxnSpPr>
            <p:cNvPr id="60" name="Straight Connector 56">
              <a:extLst>
                <a:ext uri="{FF2B5EF4-FFF2-40B4-BE49-F238E27FC236}">
                  <a16:creationId xmlns:a16="http://schemas.microsoft.com/office/drawing/2014/main" id="{A5D7B33F-1304-4BA7-BDD0-EF81DAA3E64C}"/>
                </a:ext>
              </a:extLst>
            </p:cNvPr>
            <p:cNvCxnSpPr>
              <a:cxnSpLocks/>
            </p:cNvCxnSpPr>
            <p:nvPr/>
          </p:nvCxnSpPr>
          <p:spPr>
            <a:xfrm>
              <a:off x="4712028" y="2138084"/>
              <a:ext cx="3574722" cy="8216"/>
            </a:xfrm>
            <a:prstGeom prst="line">
              <a:avLst/>
            </a:prstGeom>
            <a:noFill/>
            <a:ln w="19050" cap="flat" cmpd="sng" algn="ctr">
              <a:solidFill>
                <a:schemeClr val="accent5"/>
              </a:solidFill>
              <a:prstDash val="solid"/>
            </a:ln>
            <a:effectLst/>
          </p:spPr>
        </p:cxnSp>
        <p:cxnSp>
          <p:nvCxnSpPr>
            <p:cNvPr id="61" name="Straight Arrow Connector 51">
              <a:extLst>
                <a:ext uri="{FF2B5EF4-FFF2-40B4-BE49-F238E27FC236}">
                  <a16:creationId xmlns:a16="http://schemas.microsoft.com/office/drawing/2014/main" id="{9FA243D5-2931-4B92-A13A-D809CC6B30CA}"/>
                </a:ext>
              </a:extLst>
            </p:cNvPr>
            <p:cNvCxnSpPr>
              <a:cxnSpLocks/>
            </p:cNvCxnSpPr>
            <p:nvPr/>
          </p:nvCxnSpPr>
          <p:spPr>
            <a:xfrm flipH="1" flipV="1">
              <a:off x="4709024" y="1903109"/>
              <a:ext cx="4011" cy="2558926"/>
            </a:xfrm>
            <a:prstGeom prst="straightConnector1">
              <a:avLst/>
            </a:prstGeom>
            <a:noFill/>
            <a:ln w="9525" cap="flat" cmpd="sng" algn="ctr">
              <a:solidFill>
                <a:srgbClr val="000000"/>
              </a:solidFill>
              <a:prstDash val="solid"/>
              <a:tailEnd type="stealth"/>
            </a:ln>
            <a:effectLst/>
          </p:spPr>
        </p:cxnSp>
        <p:sp>
          <p:nvSpPr>
            <p:cNvPr id="62" name="TextBox 44">
              <a:extLst>
                <a:ext uri="{FF2B5EF4-FFF2-40B4-BE49-F238E27FC236}">
                  <a16:creationId xmlns:a16="http://schemas.microsoft.com/office/drawing/2014/main" id="{58B0C597-0AE1-4834-94C8-325F14732FA9}"/>
                </a:ext>
              </a:extLst>
            </p:cNvPr>
            <p:cNvSpPr txBox="1"/>
            <p:nvPr/>
          </p:nvSpPr>
          <p:spPr>
            <a:xfrm>
              <a:off x="5083478" y="2541895"/>
              <a:ext cx="1265106" cy="610086"/>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fr-FR" sz="800" b="0" i="0" u="none" strike="noStrike" kern="0" cap="none" spc="0" normalizeH="0" baseline="0" noProof="0" dirty="0">
                  <a:ln>
                    <a:noFill/>
                  </a:ln>
                  <a:solidFill>
                    <a:srgbClr val="FFFFFF">
                      <a:lumMod val="50000"/>
                    </a:srgbClr>
                  </a:solidFill>
                  <a:effectLst/>
                  <a:uLnTx/>
                  <a:uFillTx/>
                </a:rPr>
                <a:t>Somme à risque (variable)</a:t>
              </a:r>
            </a:p>
          </p:txBody>
        </p:sp>
      </p:grpSp>
      <p:grpSp>
        <p:nvGrpSpPr>
          <p:cNvPr id="97" name="Gruppieren 96">
            <a:extLst>
              <a:ext uri="{FF2B5EF4-FFF2-40B4-BE49-F238E27FC236}">
                <a16:creationId xmlns:a16="http://schemas.microsoft.com/office/drawing/2014/main" id="{E84F849E-E7E3-4118-8FEE-A3C636D75EB3}"/>
              </a:ext>
            </a:extLst>
          </p:cNvPr>
          <p:cNvGrpSpPr/>
          <p:nvPr/>
        </p:nvGrpSpPr>
        <p:grpSpPr>
          <a:xfrm>
            <a:off x="1403980" y="3843137"/>
            <a:ext cx="3299827" cy="1438497"/>
            <a:chOff x="1403980" y="3843137"/>
            <a:chExt cx="3299827" cy="1438497"/>
          </a:xfrm>
        </p:grpSpPr>
        <p:sp>
          <p:nvSpPr>
            <p:cNvPr id="94" name="Freeform 57">
              <a:extLst>
                <a:ext uri="{FF2B5EF4-FFF2-40B4-BE49-F238E27FC236}">
                  <a16:creationId xmlns:a16="http://schemas.microsoft.com/office/drawing/2014/main" id="{348EB48F-4419-4DEF-8930-D00E98A99F4C}"/>
                </a:ext>
              </a:extLst>
            </p:cNvPr>
            <p:cNvSpPr/>
            <p:nvPr/>
          </p:nvSpPr>
          <p:spPr>
            <a:xfrm>
              <a:off x="1538243" y="4075404"/>
              <a:ext cx="3046495" cy="1071752"/>
            </a:xfrm>
            <a:custGeom>
              <a:avLst/>
              <a:gdLst>
                <a:gd name="connsiteX0" fmla="*/ 3233542 w 3233542"/>
                <a:gd name="connsiteY0" fmla="*/ 0 h 1476375"/>
                <a:gd name="connsiteX1" fmla="*/ 3233542 w 3233542"/>
                <a:gd name="connsiteY1" fmla="*/ 1476375 h 1476375"/>
                <a:gd name="connsiteX2" fmla="*/ 0 w 3233542"/>
                <a:gd name="connsiteY2" fmla="*/ 1476375 h 1476375"/>
                <a:gd name="connsiteX3" fmla="*/ 0 w 3233542"/>
                <a:gd name="connsiteY3" fmla="*/ 1165994 h 1476375"/>
                <a:gd name="connsiteX4" fmla="*/ 204690 w 3233542"/>
                <a:gd name="connsiteY4" fmla="*/ 952500 h 1476375"/>
                <a:gd name="connsiteX5" fmla="*/ 302101 w 3233542"/>
                <a:gd name="connsiteY5" fmla="*/ 1054100 h 1476375"/>
                <a:gd name="connsiteX6" fmla="*/ 512142 w 3233542"/>
                <a:gd name="connsiteY6" fmla="*/ 835025 h 1476375"/>
                <a:gd name="connsiteX7" fmla="*/ 798284 w 3233542"/>
                <a:gd name="connsiteY7" fmla="*/ 1133475 h 1476375"/>
                <a:gd name="connsiteX8" fmla="*/ 977885 w 3233542"/>
                <a:gd name="connsiteY8" fmla="*/ 1133475 h 1476375"/>
                <a:gd name="connsiteX9" fmla="*/ 1419275 w 3233542"/>
                <a:gd name="connsiteY9" fmla="*/ 673100 h 1476375"/>
                <a:gd name="connsiteX10" fmla="*/ 1471024 w 3233542"/>
                <a:gd name="connsiteY10" fmla="*/ 727075 h 1476375"/>
                <a:gd name="connsiteX11" fmla="*/ 1617140 w 3233542"/>
                <a:gd name="connsiteY11" fmla="*/ 574675 h 1476375"/>
                <a:gd name="connsiteX12" fmla="*/ 1830225 w 3233542"/>
                <a:gd name="connsiteY12" fmla="*/ 796925 h 1476375"/>
                <a:gd name="connsiteX13" fmla="*/ 2186381 w 3233542"/>
                <a:gd name="connsiteY13" fmla="*/ 425450 h 1476375"/>
                <a:gd name="connsiteX14" fmla="*/ 2292924 w 3233542"/>
                <a:gd name="connsiteY14" fmla="*/ 536575 h 1476375"/>
                <a:gd name="connsiteX15" fmla="*/ 2341629 w 3233542"/>
                <a:gd name="connsiteY15" fmla="*/ 485775 h 1476375"/>
                <a:gd name="connsiteX16" fmla="*/ 2554714 w 3233542"/>
                <a:gd name="connsiteY16" fmla="*/ 708025 h 1476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33542" h="1476375">
                  <a:moveTo>
                    <a:pt x="3233542" y="0"/>
                  </a:moveTo>
                  <a:lnTo>
                    <a:pt x="3233542" y="1476375"/>
                  </a:lnTo>
                  <a:lnTo>
                    <a:pt x="0" y="1476375"/>
                  </a:lnTo>
                  <a:lnTo>
                    <a:pt x="0" y="1165994"/>
                  </a:lnTo>
                  <a:lnTo>
                    <a:pt x="204690" y="952500"/>
                  </a:lnTo>
                  <a:lnTo>
                    <a:pt x="302101" y="1054100"/>
                  </a:lnTo>
                  <a:lnTo>
                    <a:pt x="512142" y="835025"/>
                  </a:lnTo>
                  <a:lnTo>
                    <a:pt x="798284" y="1133475"/>
                  </a:lnTo>
                  <a:lnTo>
                    <a:pt x="977885" y="1133475"/>
                  </a:lnTo>
                  <a:lnTo>
                    <a:pt x="1419275" y="673100"/>
                  </a:lnTo>
                  <a:lnTo>
                    <a:pt x="1471024" y="727075"/>
                  </a:lnTo>
                  <a:lnTo>
                    <a:pt x="1617140" y="574675"/>
                  </a:lnTo>
                  <a:lnTo>
                    <a:pt x="1830225" y="796925"/>
                  </a:lnTo>
                  <a:lnTo>
                    <a:pt x="2186381" y="425450"/>
                  </a:lnTo>
                  <a:lnTo>
                    <a:pt x="2292924" y="536575"/>
                  </a:lnTo>
                  <a:lnTo>
                    <a:pt x="2341629" y="485775"/>
                  </a:lnTo>
                  <a:lnTo>
                    <a:pt x="2554714" y="708025"/>
                  </a:lnTo>
                  <a:close/>
                </a:path>
              </a:pathLst>
            </a:custGeom>
            <a:solidFill>
              <a:srgbClr val="5F7D45">
                <a:lumMod val="60000"/>
                <a:lumOff val="40000"/>
              </a:srgbClr>
            </a:solidFill>
            <a:ln w="25400" cap="flat" cmpd="sng" algn="ctr">
              <a:solidFill>
                <a:srgbClr val="5F7D45">
                  <a:lumMod val="7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800" b="0" i="0" u="none" strike="noStrike" kern="0" cap="none" spc="0" normalizeH="0" baseline="0" noProof="0" dirty="0">
                <a:ln>
                  <a:noFill/>
                </a:ln>
                <a:solidFill>
                  <a:srgbClr val="FFFFFF"/>
                </a:solidFill>
                <a:effectLst/>
                <a:uLnTx/>
                <a:uFillTx/>
                <a:latin typeface="Arial"/>
                <a:ea typeface="+mn-ea"/>
                <a:cs typeface="Arial" panose="020B0604020202020204" pitchFamily="34" charset="0"/>
              </a:endParaRPr>
            </a:p>
          </p:txBody>
        </p:sp>
        <p:sp>
          <p:nvSpPr>
            <p:cNvPr id="95" name="L-Form 94">
              <a:extLst>
                <a:ext uri="{FF2B5EF4-FFF2-40B4-BE49-F238E27FC236}">
                  <a16:creationId xmlns:a16="http://schemas.microsoft.com/office/drawing/2014/main" id="{47B381BA-80B5-4D00-8001-41DFD36425DE}"/>
                </a:ext>
              </a:extLst>
            </p:cNvPr>
            <p:cNvSpPr/>
            <p:nvPr/>
          </p:nvSpPr>
          <p:spPr>
            <a:xfrm>
              <a:off x="1403980" y="3843137"/>
              <a:ext cx="3299827" cy="1438497"/>
            </a:xfrm>
            <a:prstGeom prst="corner">
              <a:avLst>
                <a:gd name="adj1" fmla="val 9531"/>
                <a:gd name="adj2" fmla="val 9910"/>
              </a:avLst>
            </a:prstGeom>
            <a:solidFill>
              <a:srgbClr val="FFFFFF"/>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800" b="0" i="0" u="none" strike="noStrike" kern="0" cap="none" spc="0" normalizeH="0" baseline="0" noProof="0" dirty="0">
                <a:ln>
                  <a:noFill/>
                </a:ln>
                <a:solidFill>
                  <a:srgbClr val="FFFFFF"/>
                </a:solidFill>
                <a:effectLst/>
                <a:uLnTx/>
                <a:uFillTx/>
                <a:latin typeface="Arial"/>
                <a:ea typeface="+mn-ea"/>
                <a:cs typeface="Arial" panose="020B0604020202020204" pitchFamily="34" charset="0"/>
              </a:endParaRPr>
            </a:p>
          </p:txBody>
        </p:sp>
        <p:sp>
          <p:nvSpPr>
            <p:cNvPr id="96" name="Rechteck 95">
              <a:extLst>
                <a:ext uri="{FF2B5EF4-FFF2-40B4-BE49-F238E27FC236}">
                  <a16:creationId xmlns:a16="http://schemas.microsoft.com/office/drawing/2014/main" id="{74AF5A0C-FC5E-4869-99A6-B0CDB2B2CE4B}"/>
                </a:ext>
              </a:extLst>
            </p:cNvPr>
            <p:cNvSpPr/>
            <p:nvPr/>
          </p:nvSpPr>
          <p:spPr>
            <a:xfrm>
              <a:off x="4572666" y="3843137"/>
              <a:ext cx="129451" cy="1359704"/>
            </a:xfrm>
            <a:prstGeom prst="rect">
              <a:avLst/>
            </a:prstGeom>
            <a:solidFill>
              <a:srgbClr val="FFFFFF"/>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800" b="0" i="0" u="none" strike="noStrike" kern="0" cap="none" spc="0" normalizeH="0" baseline="0" noProof="0" dirty="0">
                <a:ln>
                  <a:noFill/>
                </a:ln>
                <a:solidFill>
                  <a:srgbClr val="FFFFFF"/>
                </a:solidFill>
                <a:effectLst/>
                <a:uLnTx/>
                <a:uFillTx/>
                <a:latin typeface="Arial"/>
                <a:ea typeface="+mn-ea"/>
                <a:cs typeface="Arial" panose="020B0604020202020204" pitchFamily="34" charset="0"/>
              </a:endParaRPr>
            </a:p>
          </p:txBody>
        </p:sp>
      </p:grpSp>
      <p:cxnSp>
        <p:nvCxnSpPr>
          <p:cNvPr id="86" name="Straight Arrow Connector 52">
            <a:extLst>
              <a:ext uri="{FF2B5EF4-FFF2-40B4-BE49-F238E27FC236}">
                <a16:creationId xmlns:a16="http://schemas.microsoft.com/office/drawing/2014/main" id="{92C4C5DC-676B-4CDF-97EC-614BAF080F16}"/>
              </a:ext>
            </a:extLst>
          </p:cNvPr>
          <p:cNvCxnSpPr>
            <a:cxnSpLocks/>
          </p:cNvCxnSpPr>
          <p:nvPr/>
        </p:nvCxnSpPr>
        <p:spPr>
          <a:xfrm>
            <a:off x="1545209" y="5145468"/>
            <a:ext cx="3178880" cy="0"/>
          </a:xfrm>
          <a:prstGeom prst="straightConnector1">
            <a:avLst/>
          </a:prstGeom>
          <a:noFill/>
          <a:ln w="9525" cap="flat" cmpd="sng" algn="ctr">
            <a:solidFill>
              <a:srgbClr val="000000"/>
            </a:solidFill>
            <a:prstDash val="solid"/>
            <a:tailEnd type="stealth" w="med" len="med"/>
          </a:ln>
          <a:effectLst/>
        </p:spPr>
      </p:cxnSp>
      <p:sp>
        <p:nvSpPr>
          <p:cNvPr id="87" name="TextBox 54">
            <a:extLst>
              <a:ext uri="{FF2B5EF4-FFF2-40B4-BE49-F238E27FC236}">
                <a16:creationId xmlns:a16="http://schemas.microsoft.com/office/drawing/2014/main" id="{D667FD14-3163-4120-A034-B5D39BFC3EDC}"/>
              </a:ext>
            </a:extLst>
          </p:cNvPr>
          <p:cNvSpPr txBox="1"/>
          <p:nvPr/>
        </p:nvSpPr>
        <p:spPr>
          <a:xfrm>
            <a:off x="1610027" y="5145288"/>
            <a:ext cx="2862325" cy="215444"/>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800" b="0" i="0" u="none" strike="noStrike" kern="0" cap="none" spc="0" normalizeH="0" baseline="0" noProof="0" dirty="0">
                <a:ln>
                  <a:noFill/>
                </a:ln>
                <a:solidFill>
                  <a:srgbClr val="000000"/>
                </a:solidFill>
                <a:effectLst/>
                <a:uLnTx/>
                <a:uFillTx/>
              </a:rPr>
              <a:t>Durée du contrat</a:t>
            </a:r>
          </a:p>
        </p:txBody>
      </p:sp>
      <p:sp>
        <p:nvSpPr>
          <p:cNvPr id="88" name="TextBox 55">
            <a:extLst>
              <a:ext uri="{FF2B5EF4-FFF2-40B4-BE49-F238E27FC236}">
                <a16:creationId xmlns:a16="http://schemas.microsoft.com/office/drawing/2014/main" id="{76274E62-F561-4ACA-B6DE-86EC7C73DA7A}"/>
              </a:ext>
            </a:extLst>
          </p:cNvPr>
          <p:cNvSpPr txBox="1"/>
          <p:nvPr/>
        </p:nvSpPr>
        <p:spPr>
          <a:xfrm rot="16200000">
            <a:off x="885041" y="4354092"/>
            <a:ext cx="1132758" cy="215444"/>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800" b="0" i="0" u="none" strike="noStrike" kern="0" cap="none" spc="0" normalizeH="0" baseline="0" noProof="0" dirty="0">
                <a:ln>
                  <a:noFill/>
                </a:ln>
                <a:solidFill>
                  <a:srgbClr val="000000"/>
                </a:solidFill>
                <a:effectLst/>
                <a:uLnTx/>
                <a:uFillTx/>
              </a:rPr>
              <a:t>Valeur</a:t>
            </a:r>
          </a:p>
        </p:txBody>
      </p:sp>
      <p:cxnSp>
        <p:nvCxnSpPr>
          <p:cNvPr id="90" name="Straight Arrow Connector 51">
            <a:extLst>
              <a:ext uri="{FF2B5EF4-FFF2-40B4-BE49-F238E27FC236}">
                <a16:creationId xmlns:a16="http://schemas.microsoft.com/office/drawing/2014/main" id="{A49E04CB-443C-4D52-8A85-D1253ADC7920}"/>
              </a:ext>
            </a:extLst>
          </p:cNvPr>
          <p:cNvCxnSpPr>
            <a:cxnSpLocks/>
          </p:cNvCxnSpPr>
          <p:nvPr/>
        </p:nvCxnSpPr>
        <p:spPr>
          <a:xfrm flipH="1" flipV="1">
            <a:off x="1543174" y="3725450"/>
            <a:ext cx="3394" cy="1420020"/>
          </a:xfrm>
          <a:prstGeom prst="straightConnector1">
            <a:avLst/>
          </a:prstGeom>
          <a:noFill/>
          <a:ln w="9525" cap="flat" cmpd="sng" algn="ctr">
            <a:solidFill>
              <a:srgbClr val="000000"/>
            </a:solidFill>
            <a:prstDash val="solid"/>
            <a:tailEnd type="stealth"/>
          </a:ln>
          <a:effectLst/>
        </p:spPr>
      </p:cxnSp>
      <p:sp>
        <p:nvSpPr>
          <p:cNvPr id="92" name="TextBox 45">
            <a:extLst>
              <a:ext uri="{FF2B5EF4-FFF2-40B4-BE49-F238E27FC236}">
                <a16:creationId xmlns:a16="http://schemas.microsoft.com/office/drawing/2014/main" id="{A5E76874-DF1D-4B14-8C7B-D1E6E94D8115}"/>
              </a:ext>
            </a:extLst>
          </p:cNvPr>
          <p:cNvSpPr txBox="1"/>
          <p:nvPr/>
        </p:nvSpPr>
        <p:spPr>
          <a:xfrm>
            <a:off x="3363484" y="4726826"/>
            <a:ext cx="1146578" cy="215444"/>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fr-FR" sz="800" b="0" i="0" u="none" strike="noStrike" kern="0" cap="none" spc="0" normalizeH="0" baseline="0" noProof="0" dirty="0">
                <a:ln>
                  <a:noFill/>
                </a:ln>
                <a:solidFill>
                  <a:srgbClr val="5F7D45">
                    <a:lumMod val="50000"/>
                  </a:srgbClr>
                </a:solidFill>
                <a:effectLst/>
                <a:uLnTx/>
                <a:uFillTx/>
              </a:rPr>
              <a:t>Actifs sous-jacents</a:t>
            </a:r>
          </a:p>
        </p:txBody>
      </p:sp>
      <p:sp>
        <p:nvSpPr>
          <p:cNvPr id="27" name="TextBox 45">
            <a:extLst>
              <a:ext uri="{FF2B5EF4-FFF2-40B4-BE49-F238E27FC236}">
                <a16:creationId xmlns:a16="http://schemas.microsoft.com/office/drawing/2014/main" id="{E66464EB-951B-43EE-B895-E43B732D29C9}"/>
              </a:ext>
            </a:extLst>
          </p:cNvPr>
          <p:cNvSpPr txBox="1"/>
          <p:nvPr/>
        </p:nvSpPr>
        <p:spPr>
          <a:xfrm>
            <a:off x="7145877" y="4747385"/>
            <a:ext cx="1146578" cy="215444"/>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fr-FR" sz="800" b="0" i="0" u="none" strike="noStrike" kern="0" cap="none" spc="0" normalizeH="0" baseline="0" noProof="0" dirty="0">
                <a:ln>
                  <a:noFill/>
                </a:ln>
                <a:solidFill>
                  <a:srgbClr val="5F7D45">
                    <a:lumMod val="50000"/>
                  </a:srgbClr>
                </a:solidFill>
                <a:effectLst/>
                <a:uLnTx/>
                <a:uFillTx/>
              </a:rPr>
              <a:t>Actifs sous-jacents</a:t>
            </a:r>
          </a:p>
        </p:txBody>
      </p:sp>
    </p:spTree>
    <p:extLst>
      <p:ext uri="{BB962C8B-B14F-4D97-AF65-F5344CB8AC3E}">
        <p14:creationId xmlns:p14="http://schemas.microsoft.com/office/powerpoint/2010/main" val="6578657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C08D746A-11D9-4EBC-AC7C-E202F6D92944}"/>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240" t="-62" r="6758" b="41298"/>
          <a:stretch/>
        </p:blipFill>
        <p:spPr>
          <a:xfrm>
            <a:off x="0" y="1162050"/>
            <a:ext cx="9144446" cy="3852000"/>
          </a:xfrm>
          <a:prstGeom prst="rect">
            <a:avLst/>
          </a:prstGeom>
        </p:spPr>
      </p:pic>
      <p:sp>
        <p:nvSpPr>
          <p:cNvPr id="6" name="Rectangle 5">
            <a:extLst>
              <a:ext uri="{FF2B5EF4-FFF2-40B4-BE49-F238E27FC236}">
                <a16:creationId xmlns:a16="http://schemas.microsoft.com/office/drawing/2014/main" id="{30045D51-8074-4850-A3A4-18D006366536}"/>
              </a:ext>
            </a:extLst>
          </p:cNvPr>
          <p:cNvSpPr/>
          <p:nvPr/>
        </p:nvSpPr>
        <p:spPr>
          <a:xfrm>
            <a:off x="1115616" y="1470660"/>
            <a:ext cx="8028384" cy="2987040"/>
          </a:xfrm>
          <a:prstGeom prst="rect">
            <a:avLst/>
          </a:prstGeom>
          <a:solidFill>
            <a:srgbClr val="FFFF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rgbClr val="FFFFFF"/>
              </a:solidFill>
              <a:latin typeface="Arial" panose="020B0604020202020204" pitchFamily="34" charset="0"/>
              <a:cs typeface="Arial" panose="020B0604020202020204" pitchFamily="34" charset="0"/>
            </a:endParaRPr>
          </a:p>
        </p:txBody>
      </p:sp>
      <p:graphicFrame>
        <p:nvGraphicFramePr>
          <p:cNvPr id="5" name="Objekt 4"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6" imgW="493" imgH="493" progId="TCLayout.ActiveDocument.1">
                  <p:embed/>
                </p:oleObj>
              </mc:Choice>
              <mc:Fallback>
                <p:oleObj name="think-cell Folie" r:id="rId6" imgW="493" imgH="493" progId="TCLayout.ActiveDocument.1">
                  <p:embed/>
                  <p:pic>
                    <p:nvPicPr>
                      <p:cNvPr id="5" name="Objekt 4" hidden="1"/>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12" name="Rechteck 11" hidden="1"/>
          <p:cNvSpPr/>
          <p:nvPr>
            <p:custDataLst>
              <p:tags r:id="rId2"/>
            </p:custDataLst>
          </p:nvPr>
        </p:nvSpPr>
        <p:spPr>
          <a:xfrm>
            <a:off x="0" y="0"/>
            <a:ext cx="158750" cy="15875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spcBef>
                <a:spcPct val="0"/>
              </a:spcBef>
              <a:spcAft>
                <a:spcPct val="0"/>
              </a:spcAft>
            </a:pPr>
            <a:endParaRPr lang="fr-FR" sz="3200" dirty="0">
              <a:solidFill>
                <a:srgbClr val="FFFFFF"/>
              </a:solidFill>
              <a:latin typeface="Times New Roman" panose="02020603050405020304" pitchFamily="18" charset="0"/>
              <a:ea typeface="+mj-ea"/>
              <a:cs typeface="Times New Roman" panose="02020603050405020304" pitchFamily="18" charset="0"/>
              <a:sym typeface="Times New Roman" panose="02020603050405020304" pitchFamily="18" charset="0"/>
            </a:endParaRPr>
          </a:p>
        </p:txBody>
      </p:sp>
      <p:sp>
        <p:nvSpPr>
          <p:cNvPr id="2" name="Titel 1"/>
          <p:cNvSpPr>
            <a:spLocks noGrp="1"/>
          </p:cNvSpPr>
          <p:nvPr>
            <p:ph type="title"/>
          </p:nvPr>
        </p:nvSpPr>
        <p:spPr>
          <a:xfrm>
            <a:off x="250826" y="121196"/>
            <a:ext cx="8641654" cy="1080542"/>
          </a:xfrm>
        </p:spPr>
        <p:txBody>
          <a:bodyPr/>
          <a:lstStyle/>
          <a:p>
            <a:r>
              <a:rPr lang="fr-FR" dirty="0">
                <a:solidFill>
                  <a:srgbClr val="000000"/>
                </a:solidFill>
              </a:rPr>
              <a:t>Une solution attrayante pour nos partenaires</a:t>
            </a:r>
            <a:endParaRPr lang="fr-FR" dirty="0"/>
          </a:p>
        </p:txBody>
      </p:sp>
      <p:graphicFrame>
        <p:nvGraphicFramePr>
          <p:cNvPr id="7" name="Tabelle 6"/>
          <p:cNvGraphicFramePr>
            <a:graphicFrameLocks noGrp="1"/>
          </p:cNvGraphicFramePr>
          <p:nvPr>
            <p:extLst>
              <p:ext uri="{D42A27DB-BD31-4B8C-83A1-F6EECF244321}">
                <p14:modId xmlns:p14="http://schemas.microsoft.com/office/powerpoint/2010/main" val="1842505210"/>
              </p:ext>
            </p:extLst>
          </p:nvPr>
        </p:nvGraphicFramePr>
        <p:xfrm>
          <a:off x="1619672" y="1819546"/>
          <a:ext cx="7092197" cy="2576695"/>
        </p:xfrm>
        <a:graphic>
          <a:graphicData uri="http://schemas.openxmlformats.org/drawingml/2006/table">
            <a:tbl>
              <a:tblPr firstRow="1" bandRow="1">
                <a:tableStyleId>{5C22544A-7EE6-4342-B048-85BDC9FD1C3A}</a:tableStyleId>
              </a:tblPr>
              <a:tblGrid>
                <a:gridCol w="1421315">
                  <a:extLst>
                    <a:ext uri="{9D8B030D-6E8A-4147-A177-3AD203B41FA5}">
                      <a16:colId xmlns:a16="http://schemas.microsoft.com/office/drawing/2014/main" val="20000"/>
                    </a:ext>
                  </a:extLst>
                </a:gridCol>
                <a:gridCol w="1159953">
                  <a:extLst>
                    <a:ext uri="{9D8B030D-6E8A-4147-A177-3AD203B41FA5}">
                      <a16:colId xmlns:a16="http://schemas.microsoft.com/office/drawing/2014/main" val="20001"/>
                    </a:ext>
                  </a:extLst>
                </a:gridCol>
                <a:gridCol w="1608403">
                  <a:extLst>
                    <a:ext uri="{9D8B030D-6E8A-4147-A177-3AD203B41FA5}">
                      <a16:colId xmlns:a16="http://schemas.microsoft.com/office/drawing/2014/main" val="20002"/>
                    </a:ext>
                  </a:extLst>
                </a:gridCol>
                <a:gridCol w="2902526">
                  <a:extLst>
                    <a:ext uri="{9D8B030D-6E8A-4147-A177-3AD203B41FA5}">
                      <a16:colId xmlns:a16="http://schemas.microsoft.com/office/drawing/2014/main" val="20003"/>
                    </a:ext>
                  </a:extLst>
                </a:gridCol>
              </a:tblGrid>
              <a:tr h="240572">
                <a:tc>
                  <a:txBody>
                    <a:bodyPr/>
                    <a:lstStyle/>
                    <a:p>
                      <a:endParaRPr lang="fr-FR" sz="1100" dirty="0">
                        <a:solidFill>
                          <a:schemeClr val="tx1"/>
                        </a:solidFill>
                      </a:endParaRPr>
                    </a:p>
                  </a:txBody>
                  <a:tcPr>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latinLnBrk="0" hangingPunct="1"/>
                      <a:r>
                        <a:rPr lang="fr-FR" sz="1600" b="0" kern="1200" dirty="0">
                          <a:solidFill>
                            <a:schemeClr val="accent1"/>
                          </a:solidFill>
                          <a:latin typeface="+mn-lt"/>
                          <a:ea typeface="+mn-ea"/>
                          <a:cs typeface="+mn-cs"/>
                        </a:rPr>
                        <a:t>Swiss Life</a:t>
                      </a:r>
                    </a:p>
                  </a:txBody>
                  <a:tcPr>
                    <a:lnL w="12700" cap="flat" cmpd="sng" algn="ctr">
                      <a:solidFill>
                        <a:schemeClr val="bg1">
                          <a:lumMod val="75000"/>
                        </a:schemeClr>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latinLnBrk="0" hangingPunct="1"/>
                      <a:r>
                        <a:rPr lang="fr-FR" sz="1600" b="0" kern="1200" dirty="0">
                          <a:solidFill>
                            <a:schemeClr val="accent1"/>
                          </a:solidFill>
                          <a:latin typeface="+mn-lt"/>
                          <a:ea typeface="+mn-ea"/>
                          <a:cs typeface="+mn-cs"/>
                        </a:rPr>
                        <a:t>Intermédiaire</a:t>
                      </a:r>
                    </a:p>
                  </a:txBody>
                  <a:tcPr>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latinLnBrk="0" hangingPunct="1"/>
                      <a:r>
                        <a:rPr lang="fr-FR" sz="1600" b="0" kern="1200" dirty="0">
                          <a:solidFill>
                            <a:schemeClr val="accent1"/>
                          </a:solidFill>
                          <a:latin typeface="+mn-lt"/>
                          <a:ea typeface="+mn-ea"/>
                          <a:cs typeface="+mn-cs"/>
                        </a:rPr>
                        <a:t>Remarques</a:t>
                      </a:r>
                    </a:p>
                  </a:txBody>
                  <a:tcPr>
                    <a:lnL w="12700" cap="flat" cmpd="sng" algn="ctr">
                      <a:solidFill>
                        <a:srgbClr val="C0C0C0"/>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17115">
                <a:tc>
                  <a:txBody>
                    <a:bodyPr/>
                    <a:lstStyle/>
                    <a:p>
                      <a:r>
                        <a:rPr lang="fr-FR" sz="1000" dirty="0">
                          <a:solidFill>
                            <a:schemeClr val="tx1"/>
                          </a:solidFill>
                        </a:rPr>
                        <a:t>Frais d’entrée</a:t>
                      </a:r>
                    </a:p>
                  </a:txBody>
                  <a:tcPr>
                    <a:lnL w="12700" cap="flat" cmpd="sng" algn="ctr">
                      <a:no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fr-FR" sz="1000" dirty="0">
                          <a:solidFill>
                            <a:schemeClr val="tx1"/>
                          </a:solidFill>
                        </a:rPr>
                        <a:t>1.00 %</a:t>
                      </a:r>
                    </a:p>
                  </a:txBody>
                  <a:tcPr>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fr-FR" sz="1000" dirty="0">
                          <a:solidFill>
                            <a:schemeClr val="tx1"/>
                          </a:solidFill>
                        </a:rPr>
                        <a:t>1.40 %</a:t>
                      </a:r>
                    </a:p>
                  </a:txBody>
                  <a:tcPr>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fr-FR" sz="1000" dirty="0">
                          <a:solidFill>
                            <a:schemeClr val="tx1"/>
                          </a:solidFill>
                        </a:rPr>
                        <a:t>Applicable à la prime payée</a:t>
                      </a:r>
                    </a:p>
                  </a:txBody>
                  <a:tcPr>
                    <a:lnL w="12700" cap="flat" cmpd="sng" algn="ctr">
                      <a:solidFill>
                        <a:srgbClr val="C0C0C0"/>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472115">
                <a:tc>
                  <a:txBody>
                    <a:bodyPr/>
                    <a:lstStyle/>
                    <a:p>
                      <a:r>
                        <a:rPr lang="fr-FR" sz="1000" dirty="0">
                          <a:solidFill>
                            <a:schemeClr val="tx1"/>
                          </a:solidFill>
                        </a:rPr>
                        <a:t>Frais de gestion</a:t>
                      </a:r>
                      <a:br>
                        <a:rPr lang="fr-FR" sz="1000" dirty="0">
                          <a:solidFill>
                            <a:schemeClr val="tx1"/>
                          </a:solidFill>
                        </a:rPr>
                      </a:br>
                      <a:r>
                        <a:rPr lang="fr-FR" sz="1000" dirty="0">
                          <a:solidFill>
                            <a:schemeClr val="tx1"/>
                          </a:solidFill>
                        </a:rPr>
                        <a:t>(Année 1-10</a:t>
                      </a:r>
                      <a:r>
                        <a:rPr lang="fr-FR" sz="1000" baseline="0" dirty="0">
                          <a:solidFill>
                            <a:schemeClr val="tx1"/>
                          </a:solidFill>
                        </a:rPr>
                        <a:t>)</a:t>
                      </a:r>
                      <a:endParaRPr lang="fr-FR" sz="1000" dirty="0">
                        <a:solidFill>
                          <a:schemeClr val="tx1"/>
                        </a:solidFill>
                      </a:endParaRPr>
                    </a:p>
                  </a:txBody>
                  <a:tcPr>
                    <a:lnL w="12700" cap="flat" cmpd="sng" algn="ctr">
                      <a:no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fr-FR" sz="1000" dirty="0">
                          <a:solidFill>
                            <a:schemeClr val="tx1"/>
                          </a:solidFill>
                        </a:rPr>
                        <a:t>0.25 %</a:t>
                      </a:r>
                    </a:p>
                  </a:txBody>
                  <a:tcPr>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fr-FR" sz="1000" dirty="0">
                          <a:solidFill>
                            <a:schemeClr val="tx1"/>
                          </a:solidFill>
                        </a:rPr>
                        <a:t>0.70 %</a:t>
                      </a:r>
                    </a:p>
                  </a:txBody>
                  <a:tcPr>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fr-FR" sz="1000" dirty="0">
                          <a:solidFill>
                            <a:schemeClr val="tx1"/>
                          </a:solidFill>
                        </a:rPr>
                        <a:t>Applicable à la prime payée</a:t>
                      </a:r>
                    </a:p>
                  </a:txBody>
                  <a:tcPr>
                    <a:lnL w="12700" cap="flat" cmpd="sng" algn="ctr">
                      <a:solidFill>
                        <a:srgbClr val="C0C0C0"/>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444951">
                <a:tc>
                  <a:txBody>
                    <a:bodyPr/>
                    <a:lstStyle/>
                    <a:p>
                      <a:r>
                        <a:rPr lang="fr-FR" sz="1000" dirty="0">
                          <a:solidFill>
                            <a:schemeClr val="tx1"/>
                          </a:solidFill>
                        </a:rPr>
                        <a:t>Frais de gestion</a:t>
                      </a:r>
                      <a:br>
                        <a:rPr lang="fr-FR" sz="1000" dirty="0">
                          <a:solidFill>
                            <a:schemeClr val="tx1"/>
                          </a:solidFill>
                        </a:rPr>
                      </a:br>
                      <a:r>
                        <a:rPr lang="fr-FR" sz="1000" dirty="0">
                          <a:solidFill>
                            <a:schemeClr val="tx1"/>
                          </a:solidFill>
                        </a:rPr>
                        <a:t>(</a:t>
                      </a:r>
                      <a:r>
                        <a:rPr lang="fr-FR" sz="1000" dirty="0" err="1">
                          <a:solidFill>
                            <a:schemeClr val="tx1"/>
                          </a:solidFill>
                        </a:rPr>
                        <a:t>Apd</a:t>
                      </a:r>
                      <a:r>
                        <a:rPr lang="fr-FR" sz="1000" dirty="0">
                          <a:solidFill>
                            <a:schemeClr val="tx1"/>
                          </a:solidFill>
                        </a:rPr>
                        <a:t> année 11</a:t>
                      </a:r>
                      <a:r>
                        <a:rPr lang="fr-FR" sz="1000" baseline="0" dirty="0">
                          <a:solidFill>
                            <a:schemeClr val="tx1"/>
                          </a:solidFill>
                        </a:rPr>
                        <a:t>)</a:t>
                      </a:r>
                      <a:endParaRPr lang="fr-FR" sz="1000" dirty="0">
                        <a:solidFill>
                          <a:schemeClr val="tx1"/>
                        </a:solidFill>
                      </a:endParaRPr>
                    </a:p>
                  </a:txBody>
                  <a:tcPr>
                    <a:lnL w="12700" cap="flat" cmpd="sng" algn="ctr">
                      <a:no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fr-FR" sz="1000" dirty="0">
                          <a:solidFill>
                            <a:schemeClr val="tx1"/>
                          </a:solidFill>
                        </a:rPr>
                        <a:t>0.25 %</a:t>
                      </a:r>
                    </a:p>
                  </a:txBody>
                  <a:tcPr>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fr-FR" sz="1000" dirty="0">
                          <a:solidFill>
                            <a:schemeClr val="tx1"/>
                          </a:solidFill>
                        </a:rPr>
                        <a:t>0.25 %</a:t>
                      </a:r>
                    </a:p>
                  </a:txBody>
                  <a:tcPr>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fr-FR" sz="1000" dirty="0">
                          <a:solidFill>
                            <a:schemeClr val="tx1"/>
                          </a:solidFill>
                        </a:rPr>
                        <a:t>Applicable à la prime payée</a:t>
                      </a:r>
                    </a:p>
                  </a:txBody>
                  <a:tcPr>
                    <a:lnL w="12700" cap="flat" cmpd="sng" algn="ctr">
                      <a:solidFill>
                        <a:srgbClr val="C0C0C0"/>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1007234">
                <a:tc>
                  <a:txBody>
                    <a:bodyPr/>
                    <a:lstStyle/>
                    <a:p>
                      <a:r>
                        <a:rPr lang="fr-FR" sz="1000" dirty="0">
                          <a:solidFill>
                            <a:schemeClr val="tx1"/>
                          </a:solidFill>
                        </a:rPr>
                        <a:t>Coût de l’assurance</a:t>
                      </a:r>
                    </a:p>
                  </a:txBody>
                  <a:tcPr>
                    <a:lnL w="12700" cap="flat" cmpd="sng" algn="ctr">
                      <a:no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000" dirty="0">
                          <a:solidFill>
                            <a:schemeClr val="tx1"/>
                          </a:solidFill>
                        </a:rPr>
                        <a:t>Pour 1 000 </a:t>
                      </a:r>
                      <a:br>
                        <a:rPr lang="fr-FR" sz="1000" dirty="0">
                          <a:solidFill>
                            <a:schemeClr val="tx1"/>
                          </a:solidFill>
                        </a:rPr>
                      </a:br>
                      <a:r>
                        <a:rPr lang="fr-FR" sz="1000" dirty="0">
                          <a:solidFill>
                            <a:schemeClr val="tx1"/>
                          </a:solidFill>
                        </a:rPr>
                        <a:t>somme à risque</a:t>
                      </a:r>
                    </a:p>
                  </a:txBody>
                  <a:tcPr>
                    <a:lnL w="12700" cap="flat" cmpd="sng" algn="ctr">
                      <a:solidFill>
                        <a:srgbClr val="C0C0C0"/>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fr-FR" sz="1000" dirty="0">
                        <a:solidFill>
                          <a:schemeClr val="tx1"/>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fr-FR" sz="1000" dirty="0">
                          <a:solidFill>
                            <a:schemeClr val="tx1"/>
                          </a:solidFill>
                        </a:rPr>
                        <a:t>Taux garantis</a:t>
                      </a:r>
                      <a:endParaRPr lang="fr-FR" sz="1000" kern="1200" dirty="0">
                        <a:solidFill>
                          <a:schemeClr val="tx1"/>
                        </a:solidFill>
                        <a:latin typeface="+mn-lt"/>
                        <a:ea typeface="+mn-ea"/>
                        <a:cs typeface="+mn-cs"/>
                      </a:endParaRPr>
                    </a:p>
                    <a:p>
                      <a:pPr marL="171450" indent="-171450" algn="l">
                        <a:buFont typeface="Arial" panose="020B0604020202020204" pitchFamily="34" charset="0"/>
                        <a:buChar char="•"/>
                      </a:pPr>
                      <a:r>
                        <a:rPr lang="fr-FR" sz="1000" dirty="0">
                          <a:solidFill>
                            <a:schemeClr val="tx1"/>
                          </a:solidFill>
                        </a:rPr>
                        <a:t>Prime de risque = taux *  </a:t>
                      </a:r>
                      <a:r>
                        <a:rPr lang="fr-FR" sz="1000" u="sng" dirty="0">
                          <a:solidFill>
                            <a:schemeClr val="tx1"/>
                          </a:solidFill>
                        </a:rPr>
                        <a:t>somme à risque</a:t>
                      </a:r>
                    </a:p>
                    <a:p>
                      <a:pPr algn="l"/>
                      <a:r>
                        <a:rPr lang="fr-FR" sz="1000" dirty="0">
                          <a:solidFill>
                            <a:schemeClr val="tx1"/>
                          </a:solidFill>
                        </a:rPr>
                        <a:t>                                                      1000</a:t>
                      </a:r>
                    </a:p>
                  </a:txBody>
                  <a:tcPr>
                    <a:lnL w="12700" cap="flat" cmpd="sng" algn="ctr">
                      <a:solidFill>
                        <a:srgbClr val="C0C0C0"/>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1873503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a:t>Swiss Life </a:t>
            </a:r>
            <a:r>
              <a:rPr lang="fr-FR" dirty="0" err="1"/>
              <a:t>Generations</a:t>
            </a:r>
            <a:r>
              <a:rPr lang="fr-FR" dirty="0"/>
              <a:t> (France)</a:t>
            </a:r>
            <a:br>
              <a:rPr lang="fr-FR" dirty="0"/>
            </a:br>
            <a:endParaRPr lang="fr-FR" dirty="0"/>
          </a:p>
        </p:txBody>
      </p:sp>
      <p:graphicFrame>
        <p:nvGraphicFramePr>
          <p:cNvPr id="9" name="Table 8"/>
          <p:cNvGraphicFramePr>
            <a:graphicFrameLocks noGrp="1"/>
          </p:cNvGraphicFramePr>
          <p:nvPr>
            <p:extLst>
              <p:ext uri="{D42A27DB-BD31-4B8C-83A1-F6EECF244321}">
                <p14:modId xmlns:p14="http://schemas.microsoft.com/office/powerpoint/2010/main" val="3820155120"/>
              </p:ext>
            </p:extLst>
          </p:nvPr>
        </p:nvGraphicFramePr>
        <p:xfrm>
          <a:off x="284922" y="546634"/>
          <a:ext cx="6781801" cy="4681764"/>
        </p:xfrm>
        <a:graphic>
          <a:graphicData uri="http://schemas.openxmlformats.org/drawingml/2006/table">
            <a:tbl>
              <a:tblPr firstRow="1" bandRow="1">
                <a:tableStyleId>{C083E6E3-FA7D-4D7B-A595-EF9225AFEA82}</a:tableStyleId>
              </a:tblPr>
              <a:tblGrid>
                <a:gridCol w="2106961">
                  <a:extLst>
                    <a:ext uri="{9D8B030D-6E8A-4147-A177-3AD203B41FA5}">
                      <a16:colId xmlns:a16="http://schemas.microsoft.com/office/drawing/2014/main" val="20000"/>
                    </a:ext>
                  </a:extLst>
                </a:gridCol>
                <a:gridCol w="4674840">
                  <a:extLst>
                    <a:ext uri="{9D8B030D-6E8A-4147-A177-3AD203B41FA5}">
                      <a16:colId xmlns:a16="http://schemas.microsoft.com/office/drawing/2014/main" val="20001"/>
                    </a:ext>
                  </a:extLst>
                </a:gridCol>
              </a:tblGrid>
              <a:tr h="345391">
                <a:tc>
                  <a:txBody>
                    <a:bodyPr/>
                    <a:lstStyle/>
                    <a:p>
                      <a:endParaRPr lang="fr-FR" sz="900" dirty="0"/>
                    </a:p>
                  </a:txBody>
                  <a:tcPr marL="82286" marR="82286" marT="41149" marB="41149">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solidFill>
                        <a:schemeClr val="accent3"/>
                      </a:solidFill>
                    </a:lnB>
                  </a:tcPr>
                </a:tc>
                <a:tc>
                  <a:txBody>
                    <a:bodyPr/>
                    <a:lstStyle/>
                    <a:p>
                      <a:endParaRPr lang="fr-FR" sz="1800" i="1" dirty="0">
                        <a:solidFill>
                          <a:srgbClr val="A11C36"/>
                        </a:solidFill>
                        <a:latin typeface="+mj-lt"/>
                      </a:endParaRPr>
                    </a:p>
                  </a:txBody>
                  <a:tcPr marL="82286" marR="82286" marT="41149" marB="41149">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mpd="sng">
                      <a:solidFill>
                        <a:schemeClr val="accent3"/>
                      </a:solidFill>
                    </a:lnB>
                  </a:tcPr>
                </a:tc>
                <a:extLst>
                  <a:ext uri="{0D108BD9-81ED-4DB2-BD59-A6C34878D82A}">
                    <a16:rowId xmlns:a16="http://schemas.microsoft.com/office/drawing/2014/main" val="10000"/>
                  </a:ext>
                </a:extLst>
              </a:tr>
              <a:tr h="212549">
                <a:tc>
                  <a:txBody>
                    <a:bodyPr/>
                    <a:lstStyle/>
                    <a:p>
                      <a:r>
                        <a:rPr lang="fr-FR" sz="900" b="1" dirty="0"/>
                        <a:t>Type de police</a:t>
                      </a:r>
                    </a:p>
                  </a:txBody>
                  <a:tcPr marL="82286" marR="82286" marT="41149" marB="41149">
                    <a:lnT w="12700" cmpd="sng">
                      <a:solidFill>
                        <a:schemeClr val="accent3"/>
                      </a:solidFill>
                    </a:lnT>
                    <a:noFill/>
                  </a:tcPr>
                </a:tc>
                <a:tc>
                  <a:txBody>
                    <a:bodyPr/>
                    <a:lstStyle/>
                    <a:p>
                      <a:r>
                        <a:rPr lang="fr-FR" sz="900" baseline="0" dirty="0"/>
                        <a:t>Contrat en unités de compte à</a:t>
                      </a:r>
                      <a:r>
                        <a:rPr lang="fr-FR" sz="900" dirty="0"/>
                        <a:t> prime unique (assurance vie universelle variable)</a:t>
                      </a:r>
                    </a:p>
                  </a:txBody>
                  <a:tcPr marL="82286" marR="82286" marT="41149" marB="41149">
                    <a:lnT w="12700" cmpd="sng">
                      <a:solidFill>
                        <a:schemeClr val="accent3"/>
                      </a:solidFill>
                    </a:lnT>
                    <a:noFill/>
                  </a:tcPr>
                </a:tc>
                <a:extLst>
                  <a:ext uri="{0D108BD9-81ED-4DB2-BD59-A6C34878D82A}">
                    <a16:rowId xmlns:a16="http://schemas.microsoft.com/office/drawing/2014/main" val="10001"/>
                  </a:ext>
                </a:extLst>
              </a:tr>
              <a:tr h="212549">
                <a:tc>
                  <a:txBody>
                    <a:bodyPr/>
                    <a:lstStyle/>
                    <a:p>
                      <a:r>
                        <a:rPr lang="fr-FR" sz="900" b="1" dirty="0"/>
                        <a:t>Durée de la police</a:t>
                      </a:r>
                    </a:p>
                  </a:txBody>
                  <a:tcPr marL="82286" marR="82286" marT="41149" marB="41149">
                    <a:noFill/>
                  </a:tcPr>
                </a:tc>
                <a:tc>
                  <a:txBody>
                    <a:bodyPr/>
                    <a:lstStyle/>
                    <a:p>
                      <a:r>
                        <a:rPr lang="fr-FR" sz="900" dirty="0"/>
                        <a:t>Vie</a:t>
                      </a:r>
                      <a:r>
                        <a:rPr lang="fr-FR" sz="900" baseline="0" dirty="0"/>
                        <a:t> entière</a:t>
                      </a:r>
                      <a:endParaRPr lang="fr-FR" sz="900" dirty="0"/>
                    </a:p>
                  </a:txBody>
                  <a:tcPr marL="82286" marR="82286" marT="41149" marB="41149">
                    <a:noFill/>
                  </a:tcPr>
                </a:tc>
                <a:extLst>
                  <a:ext uri="{0D108BD9-81ED-4DB2-BD59-A6C34878D82A}">
                    <a16:rowId xmlns:a16="http://schemas.microsoft.com/office/drawing/2014/main" val="10002"/>
                  </a:ext>
                </a:extLst>
              </a:tr>
              <a:tr h="212549">
                <a:tc>
                  <a:txBody>
                    <a:bodyPr/>
                    <a:lstStyle/>
                    <a:p>
                      <a:r>
                        <a:rPr lang="fr-FR" sz="900" b="1" dirty="0"/>
                        <a:t>Type de prime</a:t>
                      </a:r>
                    </a:p>
                  </a:txBody>
                  <a:tcPr marL="82286" marR="82286" marT="41149" marB="41149">
                    <a:noFill/>
                  </a:tcPr>
                </a:tc>
                <a:tc>
                  <a:txBody>
                    <a:bodyPr/>
                    <a:lstStyle/>
                    <a:p>
                      <a:r>
                        <a:rPr lang="fr-FR" sz="900" dirty="0"/>
                        <a:t>Unique</a:t>
                      </a:r>
                    </a:p>
                  </a:txBody>
                  <a:tcPr marL="82286" marR="82286" marT="41149" marB="41149">
                    <a:noFill/>
                  </a:tcPr>
                </a:tc>
                <a:extLst>
                  <a:ext uri="{0D108BD9-81ED-4DB2-BD59-A6C34878D82A}">
                    <a16:rowId xmlns:a16="http://schemas.microsoft.com/office/drawing/2014/main" val="10003"/>
                  </a:ext>
                </a:extLst>
              </a:tr>
              <a:tr h="212549">
                <a:tc>
                  <a:txBody>
                    <a:bodyPr/>
                    <a:lstStyle/>
                    <a:p>
                      <a:r>
                        <a:rPr lang="fr-FR" sz="900" b="1" dirty="0"/>
                        <a:t>Devise de la police</a:t>
                      </a:r>
                    </a:p>
                  </a:txBody>
                  <a:tcPr marL="82286" marR="82286" marT="41149" marB="41149">
                    <a:noFill/>
                  </a:tcPr>
                </a:tc>
                <a:tc>
                  <a:txBody>
                    <a:bodyPr/>
                    <a:lstStyle/>
                    <a:p>
                      <a:r>
                        <a:rPr lang="fr-FR" sz="900" dirty="0"/>
                        <a:t>EUR (par défaut),</a:t>
                      </a:r>
                      <a:r>
                        <a:rPr lang="fr-FR" sz="900" baseline="0" dirty="0"/>
                        <a:t> CHF, </a:t>
                      </a:r>
                      <a:r>
                        <a:rPr lang="fr-FR" sz="900" dirty="0"/>
                        <a:t>USD, GBP</a:t>
                      </a:r>
                    </a:p>
                  </a:txBody>
                  <a:tcPr marL="82286" marR="82286" marT="41149" marB="41149">
                    <a:noFill/>
                  </a:tcPr>
                </a:tc>
                <a:extLst>
                  <a:ext uri="{0D108BD9-81ED-4DB2-BD59-A6C34878D82A}">
                    <a16:rowId xmlns:a16="http://schemas.microsoft.com/office/drawing/2014/main" val="10004"/>
                  </a:ext>
                </a:extLst>
              </a:tr>
              <a:tr h="212549">
                <a:tc>
                  <a:txBody>
                    <a:bodyPr/>
                    <a:lstStyle/>
                    <a:p>
                      <a:r>
                        <a:rPr lang="fr-FR" sz="900" b="1" dirty="0"/>
                        <a:t>Âge minimum/maximum d'entrée</a:t>
                      </a:r>
                    </a:p>
                  </a:txBody>
                  <a:tcPr marL="82286" marR="82286" marT="41149" marB="41149">
                    <a:noFill/>
                  </a:tcPr>
                </a:tc>
                <a:tc>
                  <a:txBody>
                    <a:bodyPr/>
                    <a:lstStyle/>
                    <a:p>
                      <a:r>
                        <a:rPr lang="fr-FR" sz="900" dirty="0"/>
                        <a:t>18/75 ans</a:t>
                      </a:r>
                    </a:p>
                  </a:txBody>
                  <a:tcPr marL="82286" marR="82286" marT="41149" marB="41149">
                    <a:noFill/>
                  </a:tcPr>
                </a:tc>
                <a:extLst>
                  <a:ext uri="{0D108BD9-81ED-4DB2-BD59-A6C34878D82A}">
                    <a16:rowId xmlns:a16="http://schemas.microsoft.com/office/drawing/2014/main" val="10005"/>
                  </a:ext>
                </a:extLst>
              </a:tr>
              <a:tr h="212549">
                <a:tc>
                  <a:txBody>
                    <a:bodyPr/>
                    <a:lstStyle/>
                    <a:p>
                      <a:r>
                        <a:rPr lang="fr-FR" sz="900" b="1" baseline="0" dirty="0"/>
                        <a:t>Prestation de</a:t>
                      </a:r>
                      <a:r>
                        <a:rPr lang="fr-FR" sz="900" b="1" dirty="0"/>
                        <a:t> décès</a:t>
                      </a:r>
                    </a:p>
                  </a:txBody>
                  <a:tcPr marL="82286" marR="82286" marT="41149" marB="41149">
                    <a:noFill/>
                  </a:tcPr>
                </a:tc>
                <a:tc>
                  <a:txBody>
                    <a:bodyPr/>
                    <a:lstStyle/>
                    <a:p>
                      <a:r>
                        <a:rPr lang="fr-FR" sz="900" dirty="0"/>
                        <a:t>Le</a:t>
                      </a:r>
                      <a:r>
                        <a:rPr lang="fr-FR" sz="900" baseline="0" dirty="0"/>
                        <a:t> plus élevé de la Somme assurée ou de la valeur du contrat</a:t>
                      </a:r>
                      <a:endParaRPr lang="fr-FR" sz="900" dirty="0"/>
                    </a:p>
                  </a:txBody>
                  <a:tcPr marL="82286" marR="82286" marT="41149" marB="41149">
                    <a:noFill/>
                  </a:tcPr>
                </a:tc>
                <a:extLst>
                  <a:ext uri="{0D108BD9-81ED-4DB2-BD59-A6C34878D82A}">
                    <a16:rowId xmlns:a16="http://schemas.microsoft.com/office/drawing/2014/main" val="10006"/>
                  </a:ext>
                </a:extLst>
              </a:tr>
              <a:tr h="212549">
                <a:tc>
                  <a:txBody>
                    <a:bodyPr/>
                    <a:lstStyle/>
                    <a:p>
                      <a:r>
                        <a:rPr lang="fr-FR" sz="900" b="1" dirty="0"/>
                        <a:t>Somme minimale assurée</a:t>
                      </a:r>
                    </a:p>
                  </a:txBody>
                  <a:tcPr marL="82286" marR="82286" marT="41149" marB="41149">
                    <a:noFill/>
                  </a:tcPr>
                </a:tc>
                <a:tc>
                  <a:txBody>
                    <a:bodyPr/>
                    <a:lstStyle/>
                    <a:p>
                      <a:r>
                        <a:rPr lang="fr-FR" sz="900" dirty="0"/>
                        <a:t>1 500 000 EUR </a:t>
                      </a:r>
                      <a:r>
                        <a:rPr lang="fr-FR" sz="900" baseline="0" dirty="0"/>
                        <a:t>(ou l'équivalent)</a:t>
                      </a:r>
                      <a:endParaRPr lang="fr-FR" sz="900" dirty="0"/>
                    </a:p>
                  </a:txBody>
                  <a:tcPr marL="82286" marR="82286" marT="41149" marB="41149">
                    <a:noFill/>
                  </a:tcPr>
                </a:tc>
                <a:extLst>
                  <a:ext uri="{0D108BD9-81ED-4DB2-BD59-A6C34878D82A}">
                    <a16:rowId xmlns:a16="http://schemas.microsoft.com/office/drawing/2014/main" val="3638658782"/>
                  </a:ext>
                </a:extLst>
              </a:tr>
              <a:tr h="212549">
                <a:tc>
                  <a:txBody>
                    <a:bodyPr/>
                    <a:lstStyle/>
                    <a:p>
                      <a:r>
                        <a:rPr lang="fr-FR" sz="900" b="1" dirty="0"/>
                        <a:t>Somme maximale assurée</a:t>
                      </a:r>
                    </a:p>
                  </a:txBody>
                  <a:tcPr marL="82286" marR="82286" marT="41149" marB="41149">
                    <a:noFill/>
                  </a:tcPr>
                </a:tc>
                <a:tc>
                  <a:txBody>
                    <a:bodyPr/>
                    <a:lstStyle/>
                    <a:p>
                      <a:r>
                        <a:rPr lang="fr-FR" sz="900" dirty="0"/>
                        <a:t>65 500 </a:t>
                      </a:r>
                      <a:r>
                        <a:rPr lang="fr-FR" sz="900" baseline="0" dirty="0"/>
                        <a:t>000 EUR (ou l'équivalent)</a:t>
                      </a:r>
                      <a:endParaRPr lang="fr-FR" sz="900" dirty="0"/>
                    </a:p>
                  </a:txBody>
                  <a:tcPr marL="82286" marR="82286" marT="41149" marB="41149">
                    <a:noFill/>
                  </a:tcPr>
                </a:tc>
                <a:extLst>
                  <a:ext uri="{0D108BD9-81ED-4DB2-BD59-A6C34878D82A}">
                    <a16:rowId xmlns:a16="http://schemas.microsoft.com/office/drawing/2014/main" val="10007"/>
                  </a:ext>
                </a:extLst>
              </a:tr>
              <a:tr h="212549">
                <a:tc>
                  <a:txBody>
                    <a:bodyPr/>
                    <a:lstStyle/>
                    <a:p>
                      <a:r>
                        <a:rPr lang="fr-FR" sz="900" b="1" baseline="0" dirty="0"/>
                        <a:t>Prime</a:t>
                      </a:r>
                      <a:r>
                        <a:rPr lang="fr-FR" sz="900" b="1" dirty="0"/>
                        <a:t> minimale</a:t>
                      </a:r>
                    </a:p>
                  </a:txBody>
                  <a:tcPr marL="82286" marR="82286" marT="41149" marB="41149">
                    <a:noFill/>
                  </a:tcPr>
                </a:tc>
                <a:tc>
                  <a:txBody>
                    <a:bodyPr/>
                    <a:lstStyle/>
                    <a:p>
                      <a:r>
                        <a:rPr lang="fr-FR" sz="900" dirty="0"/>
                        <a:t>1 000 000 EUR </a:t>
                      </a:r>
                      <a:r>
                        <a:rPr lang="fr-FR" sz="900" baseline="0" dirty="0"/>
                        <a:t>(ou l'équivalent)</a:t>
                      </a:r>
                      <a:endParaRPr lang="fr-FR" sz="900" dirty="0"/>
                    </a:p>
                  </a:txBody>
                  <a:tcPr marL="82286" marR="82286" marT="41149" marB="41149">
                    <a:noFill/>
                  </a:tcPr>
                </a:tc>
                <a:extLst>
                  <a:ext uri="{0D108BD9-81ED-4DB2-BD59-A6C34878D82A}">
                    <a16:rowId xmlns:a16="http://schemas.microsoft.com/office/drawing/2014/main" val="10008"/>
                  </a:ext>
                </a:extLst>
              </a:tr>
              <a:tr h="212549">
                <a:tc>
                  <a:txBody>
                    <a:bodyPr/>
                    <a:lstStyle/>
                    <a:p>
                      <a:r>
                        <a:rPr lang="fr-FR" sz="900" b="1" dirty="0"/>
                        <a:t>Paiement des primes</a:t>
                      </a:r>
                    </a:p>
                  </a:txBody>
                  <a:tcPr marL="82286" marR="82286" marT="41149" marB="41149">
                    <a:noFill/>
                  </a:tcPr>
                </a:tc>
                <a:tc>
                  <a:txBody>
                    <a:bodyPr/>
                    <a:lstStyle/>
                    <a:p>
                      <a:r>
                        <a:rPr lang="fr-FR" sz="900" dirty="0"/>
                        <a:t>Nature (transfert d’actifs éligibles)*</a:t>
                      </a:r>
                      <a:r>
                        <a:rPr lang="fr-FR" sz="900" baseline="0" dirty="0"/>
                        <a:t> </a:t>
                      </a:r>
                      <a:r>
                        <a:rPr lang="fr-FR" sz="900" dirty="0"/>
                        <a:t>ou numéraire (virement bancaire)</a:t>
                      </a:r>
                    </a:p>
                  </a:txBody>
                  <a:tcPr marL="82286" marR="82286" marT="41149" marB="41149">
                    <a:noFill/>
                  </a:tcPr>
                </a:tc>
                <a:extLst>
                  <a:ext uri="{0D108BD9-81ED-4DB2-BD59-A6C34878D82A}">
                    <a16:rowId xmlns:a16="http://schemas.microsoft.com/office/drawing/2014/main" val="10009"/>
                  </a:ext>
                </a:extLst>
              </a:tr>
              <a:tr h="21254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900" b="1" kern="1200" dirty="0"/>
                        <a:t>Catégories de fonds</a:t>
                      </a:r>
                      <a:endParaRPr lang="fr-FR" sz="900" b="1" kern="1200" dirty="0">
                        <a:solidFill>
                          <a:schemeClr val="tx1"/>
                        </a:solidFill>
                        <a:latin typeface="+mn-lt"/>
                        <a:ea typeface="+mn-ea"/>
                        <a:cs typeface="+mn-cs"/>
                      </a:endParaRPr>
                    </a:p>
                  </a:txBody>
                  <a:tcPr marL="82286" marR="82286" marT="41149" marB="41149">
                    <a:noFill/>
                  </a:tcPr>
                </a:tc>
                <a:tc>
                  <a:txBody>
                    <a:bodyPr/>
                    <a:lstStyle/>
                    <a:p>
                      <a:r>
                        <a:rPr lang="fr-FR" sz="900" dirty="0"/>
                        <a:t>Fonds externes et/ou fonds internes collectifs d'assurance et/ou fonds dédiés</a:t>
                      </a:r>
                    </a:p>
                  </a:txBody>
                  <a:tcPr marL="82286" marR="82286" marT="41149" marB="41149">
                    <a:noFill/>
                  </a:tcPr>
                </a:tc>
                <a:extLst>
                  <a:ext uri="{0D108BD9-81ED-4DB2-BD59-A6C34878D82A}">
                    <a16:rowId xmlns:a16="http://schemas.microsoft.com/office/drawing/2014/main" val="10010"/>
                  </a:ext>
                </a:extLst>
              </a:tr>
              <a:tr h="212549">
                <a:tc>
                  <a:txBody>
                    <a:bodyPr/>
                    <a:lstStyle/>
                    <a:p>
                      <a:r>
                        <a:rPr lang="fr-FR" sz="900" b="1" dirty="0"/>
                        <a:t>Paiement de la</a:t>
                      </a:r>
                      <a:br>
                        <a:rPr lang="fr-FR" sz="900" b="1" dirty="0"/>
                      </a:br>
                      <a:r>
                        <a:rPr lang="fr-FR" sz="900" b="1" baseline="0" dirty="0"/>
                        <a:t>prestation de décès</a:t>
                      </a:r>
                      <a:endParaRPr lang="fr-FR" sz="900" b="1" dirty="0"/>
                    </a:p>
                  </a:txBody>
                  <a:tcPr marL="82286" marR="82286" marT="41149" marB="41149">
                    <a:noFill/>
                  </a:tcPr>
                </a:tc>
                <a:tc>
                  <a:txBody>
                    <a:bodyPr/>
                    <a:lstStyle/>
                    <a:p>
                      <a:r>
                        <a:rPr lang="fr-FR" sz="900" dirty="0"/>
                        <a:t>Transfert en numéraire </a:t>
                      </a:r>
                      <a:r>
                        <a:rPr lang="fr-FR" sz="900" baseline="0" dirty="0"/>
                        <a:t> et/ou restitution des actifs sous-jacents après le décès de la personne assurée</a:t>
                      </a:r>
                      <a:endParaRPr lang="fr-FR" sz="900" dirty="0"/>
                    </a:p>
                  </a:txBody>
                  <a:tcPr marL="82286" marR="82286" marT="41149" marB="41149">
                    <a:noFill/>
                  </a:tcPr>
                </a:tc>
                <a:extLst>
                  <a:ext uri="{0D108BD9-81ED-4DB2-BD59-A6C34878D82A}">
                    <a16:rowId xmlns:a16="http://schemas.microsoft.com/office/drawing/2014/main" val="10011"/>
                  </a:ext>
                </a:extLst>
              </a:tr>
              <a:tr h="212549">
                <a:tc>
                  <a:txBody>
                    <a:bodyPr/>
                    <a:lstStyle/>
                    <a:p>
                      <a:r>
                        <a:rPr lang="fr-FR" sz="900" b="1" dirty="0"/>
                        <a:t>Cotisation supplémentaire minimale</a:t>
                      </a:r>
                    </a:p>
                  </a:txBody>
                  <a:tcPr marL="82286" marR="82286" marT="41149" marB="41149">
                    <a:noFill/>
                  </a:tcPr>
                </a:tc>
                <a:tc>
                  <a:txBody>
                    <a:bodyPr/>
                    <a:lstStyle/>
                    <a:p>
                      <a:r>
                        <a:rPr lang="fr-FR" sz="900" dirty="0"/>
                        <a:t>50 000 EUR (ou l'équivalent)</a:t>
                      </a:r>
                    </a:p>
                  </a:txBody>
                  <a:tcPr marL="82286" marR="82286" marT="41149" marB="41149">
                    <a:noFill/>
                  </a:tcPr>
                </a:tc>
                <a:extLst>
                  <a:ext uri="{0D108BD9-81ED-4DB2-BD59-A6C34878D82A}">
                    <a16:rowId xmlns:a16="http://schemas.microsoft.com/office/drawing/2014/main" val="10012"/>
                  </a:ext>
                </a:extLst>
              </a:tr>
              <a:tr h="212549">
                <a:tc>
                  <a:txBody>
                    <a:bodyPr/>
                    <a:lstStyle/>
                    <a:p>
                      <a:r>
                        <a:rPr lang="fr-FR" sz="900" b="1" dirty="0"/>
                        <a:t>Rachat partiel</a:t>
                      </a:r>
                    </a:p>
                  </a:txBody>
                  <a:tcPr marL="82286" marR="82286" marT="41149" marB="41149">
                    <a:noFill/>
                  </a:tcPr>
                </a:tc>
                <a:tc>
                  <a:txBody>
                    <a:bodyPr/>
                    <a:lstStyle/>
                    <a:p>
                      <a:r>
                        <a:rPr lang="fr-FR" sz="900" dirty="0"/>
                        <a:t>Autorisé,</a:t>
                      </a:r>
                      <a:r>
                        <a:rPr lang="fr-FR" sz="900" baseline="0" dirty="0"/>
                        <a:t> sous réserve de la valeur minimale du fonds de la police</a:t>
                      </a:r>
                      <a:endParaRPr lang="fr-FR" sz="900" dirty="0"/>
                    </a:p>
                  </a:txBody>
                  <a:tcPr marL="82286" marR="82286" marT="41149" marB="41149">
                    <a:noFill/>
                  </a:tcPr>
                </a:tc>
                <a:extLst>
                  <a:ext uri="{0D108BD9-81ED-4DB2-BD59-A6C34878D82A}">
                    <a16:rowId xmlns:a16="http://schemas.microsoft.com/office/drawing/2014/main" val="10013"/>
                  </a:ext>
                </a:extLst>
              </a:tr>
              <a:tr h="212549">
                <a:tc>
                  <a:txBody>
                    <a:bodyPr/>
                    <a:lstStyle/>
                    <a:p>
                      <a:r>
                        <a:rPr lang="fr-FR" sz="900" b="1" dirty="0"/>
                        <a:t>Rachat total</a:t>
                      </a:r>
                    </a:p>
                  </a:txBody>
                  <a:tcPr marL="82286" marR="82286" marT="41149" marB="41149">
                    <a:noFill/>
                  </a:tcPr>
                </a:tc>
                <a:tc>
                  <a:txBody>
                    <a:bodyPr/>
                    <a:lstStyle/>
                    <a:p>
                      <a:r>
                        <a:rPr lang="fr-FR" sz="900" dirty="0"/>
                        <a:t>Autorisé,</a:t>
                      </a:r>
                      <a:r>
                        <a:rPr lang="fr-FR" sz="900" baseline="0" dirty="0"/>
                        <a:t> sous réserve de frais de rachat éventuels</a:t>
                      </a:r>
                      <a:endParaRPr lang="fr-FR" sz="900" dirty="0"/>
                    </a:p>
                  </a:txBody>
                  <a:tcPr marL="82286" marR="82286" marT="41149" marB="41149">
                    <a:noFill/>
                  </a:tcPr>
                </a:tc>
                <a:extLst>
                  <a:ext uri="{0D108BD9-81ED-4DB2-BD59-A6C34878D82A}">
                    <a16:rowId xmlns:a16="http://schemas.microsoft.com/office/drawing/2014/main" val="10014"/>
                  </a:ext>
                </a:extLst>
              </a:tr>
              <a:tr h="34539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900" b="1" kern="1200" dirty="0"/>
                        <a:t>Liquidité</a:t>
                      </a:r>
                      <a:endParaRPr lang="fr-FR" sz="900" b="1" dirty="0"/>
                    </a:p>
                  </a:txBody>
                  <a:tcPr marL="82286" marR="82286" marT="41149" marB="41149">
                    <a:noFill/>
                  </a:tcPr>
                </a:tc>
                <a:tc>
                  <a:txBody>
                    <a:bodyPr/>
                    <a:lstStyle/>
                    <a:p>
                      <a:r>
                        <a:rPr lang="fr-FR" sz="900" dirty="0"/>
                        <a:t>Au moins 2%.</a:t>
                      </a:r>
                      <a:r>
                        <a:rPr lang="fr-FR" sz="900" baseline="0" dirty="0"/>
                        <a:t> </a:t>
                      </a:r>
                      <a:r>
                        <a:rPr lang="fr-FR" sz="900" dirty="0"/>
                        <a:t>Swiss Life se réserve le droit d'augmenter ou de diminuer le niveau minimum de liquidité</a:t>
                      </a:r>
                    </a:p>
                  </a:txBody>
                  <a:tcPr marL="82286" marR="82286" marT="41149" marB="41149">
                    <a:noFill/>
                  </a:tcPr>
                </a:tc>
                <a:extLst>
                  <a:ext uri="{0D108BD9-81ED-4DB2-BD59-A6C34878D82A}">
                    <a16:rowId xmlns:a16="http://schemas.microsoft.com/office/drawing/2014/main" val="10015"/>
                  </a:ext>
                </a:extLst>
              </a:tr>
              <a:tr h="212549">
                <a:tc>
                  <a:txBody>
                    <a:bodyPr/>
                    <a:lstStyle/>
                    <a:p>
                      <a:r>
                        <a:rPr lang="fr-FR" sz="900" b="1" dirty="0"/>
                        <a:t>Exigence sur la </a:t>
                      </a:r>
                      <a:r>
                        <a:rPr lang="fr-FR" sz="900" b="1" baseline="0" dirty="0"/>
                        <a:t>valeur minimale du fonds de la police</a:t>
                      </a:r>
                      <a:endParaRPr lang="fr-FR" sz="900" b="1" dirty="0"/>
                    </a:p>
                  </a:txBody>
                  <a:tcPr marL="82286" marR="82286" marT="41149" marB="41149">
                    <a:lnB w="12700" cmpd="sng">
                      <a:solidFill>
                        <a:schemeClr val="accent3"/>
                      </a:solidFill>
                    </a:lnB>
                    <a:noFill/>
                  </a:tcPr>
                </a:tc>
                <a:tc>
                  <a:txBody>
                    <a:bodyPr/>
                    <a:lstStyle/>
                    <a:p>
                      <a:r>
                        <a:rPr lang="fr-FR" sz="900" dirty="0"/>
                        <a:t>Le plus élevé des deux montants suivants : </a:t>
                      </a:r>
                      <a:br>
                        <a:rPr lang="fr-FR" sz="900" dirty="0"/>
                      </a:br>
                      <a:r>
                        <a:rPr lang="fr-FR" sz="900" dirty="0"/>
                        <a:t>i) 250 000 EUR</a:t>
                      </a:r>
                      <a:r>
                        <a:rPr lang="fr-FR" sz="900" baseline="0" dirty="0"/>
                        <a:t> (ou l'équivalent) ou ii) 15 % de la prime initiale</a:t>
                      </a:r>
                    </a:p>
                    <a:p>
                      <a:endParaRPr lang="fr-FR" sz="300" dirty="0"/>
                    </a:p>
                  </a:txBody>
                  <a:tcPr marL="82286" marR="82286" marT="41149" marB="41149">
                    <a:lnB w="12700" cmpd="sng">
                      <a:solidFill>
                        <a:schemeClr val="accent3"/>
                      </a:solidFill>
                    </a:lnB>
                    <a:noFill/>
                  </a:tcPr>
                </a:tc>
                <a:extLst>
                  <a:ext uri="{0D108BD9-81ED-4DB2-BD59-A6C34878D82A}">
                    <a16:rowId xmlns:a16="http://schemas.microsoft.com/office/drawing/2014/main" val="10016"/>
                  </a:ext>
                </a:extLst>
              </a:tr>
            </a:tbl>
          </a:graphicData>
        </a:graphic>
      </p:graphicFrame>
      <p:sp>
        <p:nvSpPr>
          <p:cNvPr id="26" name="TextBox 25"/>
          <p:cNvSpPr txBox="1"/>
          <p:nvPr/>
        </p:nvSpPr>
        <p:spPr>
          <a:xfrm>
            <a:off x="216506" y="5228398"/>
            <a:ext cx="5410200" cy="215444"/>
          </a:xfrm>
          <a:prstGeom prst="rect">
            <a:avLst/>
          </a:prstGeom>
          <a:noFill/>
        </p:spPr>
        <p:txBody>
          <a:bodyPr wrap="square" rtlCol="0">
            <a:spAutoFit/>
          </a:bodyPr>
          <a:lstStyle/>
          <a:p>
            <a:r>
              <a:rPr lang="fr-FR" sz="800" dirty="0"/>
              <a:t>* Actifs éligibles qui sont cotés en bourse et négociés sur un marché secondaire avec cotation quotidienne des prix</a:t>
            </a:r>
          </a:p>
        </p:txBody>
      </p:sp>
    </p:spTree>
    <p:extLst>
      <p:ext uri="{BB962C8B-B14F-4D97-AF65-F5344CB8AC3E}">
        <p14:creationId xmlns:p14="http://schemas.microsoft.com/office/powerpoint/2010/main" val="37146128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4">
            <a:extLst>
              <a:ext uri="{FF2B5EF4-FFF2-40B4-BE49-F238E27FC236}">
                <a16:creationId xmlns:a16="http://schemas.microsoft.com/office/drawing/2014/main" id="{7FC3E05B-C22B-4677-F109-C4E6178C0974}"/>
              </a:ext>
            </a:extLst>
          </p:cNvPr>
          <p:cNvPicPr>
            <a:picLocks noGrp="1" noChangeAspect="1"/>
          </p:cNvPicPr>
          <p:nvPr>
            <p:ph type="pic" sz="quarter" idx="10"/>
            <p:custDataLst>
              <p:tags r:id="rId1"/>
            </p:custDataLst>
          </p:nvPr>
        </p:nvPicPr>
        <p:blipFill>
          <a:blip r:embed="rId3" cstate="screen">
            <a:extLst>
              <a:ext uri="{28A0092B-C50C-407E-A947-70E740481C1C}">
                <a14:useLocalDpi xmlns:a14="http://schemas.microsoft.com/office/drawing/2010/main"/>
              </a:ext>
            </a:extLst>
          </a:blip>
          <a:srcRect/>
          <a:stretch>
            <a:fillRect/>
          </a:stretch>
        </p:blipFill>
        <p:spPr bwMode="gray"/>
      </p:pic>
      <p:sp>
        <p:nvSpPr>
          <p:cNvPr id="3" name="Title 2"/>
          <p:cNvSpPr>
            <a:spLocks noGrp="1"/>
          </p:cNvSpPr>
          <p:nvPr>
            <p:ph type="title"/>
          </p:nvPr>
        </p:nvSpPr>
        <p:spPr/>
        <p:txBody>
          <a:bodyPr/>
          <a:lstStyle/>
          <a:p>
            <a:r>
              <a:rPr lang="fr-FR"/>
              <a:t>04 Illustration : cas pratiques</a:t>
            </a:r>
            <a:endParaRPr lang="fr-FR" dirty="0"/>
          </a:p>
        </p:txBody>
      </p:sp>
    </p:spTree>
    <p:extLst>
      <p:ext uri="{BB962C8B-B14F-4D97-AF65-F5344CB8AC3E}">
        <p14:creationId xmlns:p14="http://schemas.microsoft.com/office/powerpoint/2010/main" val="12501468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8C046B8-0ED3-8F67-8491-65B53AD7C153}"/>
              </a:ext>
            </a:extLst>
          </p:cNvPr>
          <p:cNvPicPr>
            <a:picLocks noChangeAspect="1"/>
          </p:cNvPicPr>
          <p:nvPr>
            <p:custDataLst>
              <p:tags r:id="rId1"/>
            </p:custDataLst>
          </p:nvPr>
        </p:nvPicPr>
        <p:blipFill>
          <a:blip r:embed="rId6" cstate="screen">
            <a:extLst>
              <a:ext uri="{28A0092B-C50C-407E-A947-70E740481C1C}">
                <a14:useLocalDpi xmlns:a14="http://schemas.microsoft.com/office/drawing/2010/main"/>
              </a:ext>
            </a:extLst>
          </a:blip>
          <a:srcRect/>
          <a:stretch/>
        </p:blipFill>
        <p:spPr bwMode="gray">
          <a:xfrm>
            <a:off x="0" y="1562100"/>
            <a:ext cx="3674837" cy="4176000"/>
          </a:xfrm>
          <a:prstGeom prst="rect">
            <a:avLst/>
          </a:prstGeom>
        </p:spPr>
      </p:pic>
      <p:graphicFrame>
        <p:nvGraphicFramePr>
          <p:cNvPr id="2" name="Objekt 1" hidden="1"/>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7" imgW="493" imgH="493" progId="TCLayout.ActiveDocument.1">
                  <p:embed/>
                </p:oleObj>
              </mc:Choice>
              <mc:Fallback>
                <p:oleObj name="think-cell Folie" r:id="rId7" imgW="493" imgH="493" progId="TCLayout.ActiveDocument.1">
                  <p:embed/>
                  <p:pic>
                    <p:nvPicPr>
                      <p:cNvPr id="2" name="Objekt 1" hidden="1"/>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3" name="Rechteck 2" hidden="1"/>
          <p:cNvSpPr/>
          <p:nvPr>
            <p:custDataLst>
              <p:tags r:id="rId3"/>
            </p:custDataLst>
          </p:nvPr>
        </p:nvSpPr>
        <p:spPr>
          <a:xfrm>
            <a:off x="-186082" y="-89902"/>
            <a:ext cx="530915" cy="338554"/>
          </a:xfrm>
          <a:prstGeom prst="rect">
            <a:avLst/>
          </a:prstGeom>
          <a:solidFill>
            <a:schemeClr val="accent4">
              <a:lumMod val="20000"/>
              <a:lumOff val="80000"/>
            </a:schemeClr>
          </a:solidFill>
        </p:spPr>
        <p:txBody>
          <a:bodyPr vert="horz" wrap="none" lIns="0" tIns="0" rIns="0" bIns="0" numCol="1" spcCol="0" rtlCol="0" anchor="ctr" anchorCtr="0">
            <a:noAutofit/>
          </a:bodyPr>
          <a:lstStyle/>
          <a:p>
            <a:pPr algn="ctr">
              <a:spcBef>
                <a:spcPct val="0"/>
              </a:spcBef>
              <a:spcAft>
                <a:spcPct val="0"/>
              </a:spcAft>
              <a:buClr>
                <a:srgbClr val="D82034"/>
              </a:buClr>
              <a:buSzPct val="100000"/>
            </a:pPr>
            <a:endParaRPr lang="fr-FR" sz="3200" dirty="0">
              <a:solidFill>
                <a:srgbClr val="000000"/>
              </a:solidFill>
              <a:latin typeface="Times New Roman" panose="02020603050405020304" pitchFamily="18" charset="0"/>
              <a:ea typeface="+mj-ea"/>
              <a:cs typeface="Times New Roman" panose="02020603050405020304" pitchFamily="18" charset="0"/>
              <a:sym typeface="Times New Roman" panose="02020603050405020304" pitchFamily="18" charset="0"/>
            </a:endParaRPr>
          </a:p>
        </p:txBody>
      </p:sp>
      <p:sp>
        <p:nvSpPr>
          <p:cNvPr id="4" name="Rectangle 5">
            <a:extLst>
              <a:ext uri="{FF2B5EF4-FFF2-40B4-BE49-F238E27FC236}">
                <a16:creationId xmlns:a16="http://schemas.microsoft.com/office/drawing/2014/main" id="{702C62BA-5E35-8A39-C126-B7E14BDCA32D}"/>
              </a:ext>
            </a:extLst>
          </p:cNvPr>
          <p:cNvSpPr>
            <a:spLocks noChangeArrowheads="1"/>
          </p:cNvSpPr>
          <p:nvPr/>
        </p:nvSpPr>
        <p:spPr bwMode="gray">
          <a:xfrm>
            <a:off x="4283968" y="1974827"/>
            <a:ext cx="4252779" cy="2304256"/>
          </a:xfrm>
          <a:prstGeom prst="rect">
            <a:avLst/>
          </a:prstGeom>
          <a:solidFill>
            <a:schemeClr val="bg1"/>
          </a:solidFill>
          <a:ln w="12700">
            <a:noFill/>
            <a:miter lim="800000"/>
            <a:headEnd/>
            <a:tailEnd/>
          </a:ln>
        </p:spPr>
        <p:txBody>
          <a:bodyPr lIns="71989" tIns="71989" rIns="71989" bIns="71989" anchor="ctr"/>
          <a:lstStyle>
            <a:lvl1pPr marL="342900" indent="-342900" defTabSz="957263">
              <a:defRPr>
                <a:solidFill>
                  <a:schemeClr val="tx1"/>
                </a:solidFill>
                <a:latin typeface="Arial" charset="0"/>
                <a:cs typeface="Arial" charset="0"/>
              </a:defRPr>
            </a:lvl1pPr>
            <a:lvl2pPr marL="228600" indent="-228600" defTabSz="957263">
              <a:defRPr>
                <a:solidFill>
                  <a:schemeClr val="tx1"/>
                </a:solidFill>
                <a:latin typeface="Arial" charset="0"/>
                <a:cs typeface="Arial" charset="0"/>
              </a:defRPr>
            </a:lvl2pPr>
            <a:lvl3pPr marL="1143000" indent="-228600" defTabSz="957263">
              <a:defRPr>
                <a:solidFill>
                  <a:schemeClr val="tx1"/>
                </a:solidFill>
                <a:latin typeface="Arial" charset="0"/>
                <a:cs typeface="Arial" charset="0"/>
              </a:defRPr>
            </a:lvl3pPr>
            <a:lvl4pPr marL="1600200" indent="-228600" defTabSz="957263">
              <a:defRPr>
                <a:solidFill>
                  <a:schemeClr val="tx1"/>
                </a:solidFill>
                <a:latin typeface="Arial" charset="0"/>
                <a:cs typeface="Arial" charset="0"/>
              </a:defRPr>
            </a:lvl4pPr>
            <a:lvl5pPr marL="2057400" indent="-228600" defTabSz="957263">
              <a:defRPr>
                <a:solidFill>
                  <a:schemeClr val="tx1"/>
                </a:solidFill>
                <a:latin typeface="Arial" charset="0"/>
                <a:cs typeface="Arial" charset="0"/>
              </a:defRPr>
            </a:lvl5pPr>
            <a:lvl6pPr marL="2514600" indent="-228600" defTabSz="957263" eaLnBrk="0" fontAlgn="base" hangingPunct="0">
              <a:spcBef>
                <a:spcPct val="0"/>
              </a:spcBef>
              <a:spcAft>
                <a:spcPct val="0"/>
              </a:spcAft>
              <a:defRPr>
                <a:solidFill>
                  <a:schemeClr val="tx1"/>
                </a:solidFill>
                <a:latin typeface="Arial" charset="0"/>
                <a:cs typeface="Arial" charset="0"/>
              </a:defRPr>
            </a:lvl6pPr>
            <a:lvl7pPr marL="2971800" indent="-228600" defTabSz="957263" eaLnBrk="0" fontAlgn="base" hangingPunct="0">
              <a:spcBef>
                <a:spcPct val="0"/>
              </a:spcBef>
              <a:spcAft>
                <a:spcPct val="0"/>
              </a:spcAft>
              <a:defRPr>
                <a:solidFill>
                  <a:schemeClr val="tx1"/>
                </a:solidFill>
                <a:latin typeface="Arial" charset="0"/>
                <a:cs typeface="Arial" charset="0"/>
              </a:defRPr>
            </a:lvl7pPr>
            <a:lvl8pPr marL="3429000" indent="-228600" defTabSz="957263" eaLnBrk="0" fontAlgn="base" hangingPunct="0">
              <a:spcBef>
                <a:spcPct val="0"/>
              </a:spcBef>
              <a:spcAft>
                <a:spcPct val="0"/>
              </a:spcAft>
              <a:defRPr>
                <a:solidFill>
                  <a:schemeClr val="tx1"/>
                </a:solidFill>
                <a:latin typeface="Arial" charset="0"/>
                <a:cs typeface="Arial" charset="0"/>
              </a:defRPr>
            </a:lvl8pPr>
            <a:lvl9pPr marL="3886200" indent="-228600" defTabSz="957263" eaLnBrk="0" fontAlgn="base" hangingPunct="0">
              <a:spcBef>
                <a:spcPct val="0"/>
              </a:spcBef>
              <a:spcAft>
                <a:spcPct val="0"/>
              </a:spcAft>
              <a:defRPr>
                <a:solidFill>
                  <a:schemeClr val="tx1"/>
                </a:solidFill>
                <a:latin typeface="Arial" charset="0"/>
                <a:cs typeface="Arial" charset="0"/>
              </a:defRPr>
            </a:lvl9pPr>
          </a:lstStyle>
          <a:p>
            <a:pPr marL="0" lvl="1" indent="0">
              <a:spcBef>
                <a:spcPts val="100"/>
              </a:spcBef>
              <a:buClr>
                <a:srgbClr val="C00000"/>
              </a:buClr>
            </a:pPr>
            <a:r>
              <a:rPr lang="fr-FR" altLang="en-US" sz="1000" b="1">
                <a:solidFill>
                  <a:srgbClr val="000000"/>
                </a:solidFill>
              </a:rPr>
              <a:t>Client</a:t>
            </a:r>
          </a:p>
          <a:p>
            <a:pPr marL="171450" lvl="1" indent="-171450">
              <a:spcBef>
                <a:spcPts val="100"/>
              </a:spcBef>
              <a:buClr>
                <a:srgbClr val="C00000"/>
              </a:buClr>
              <a:buFont typeface="Arial" panose="020B0604020202020204" pitchFamily="34" charset="0"/>
              <a:buChar char="•"/>
            </a:pPr>
            <a:r>
              <a:rPr lang="fr-FR" altLang="en-US" sz="1000">
                <a:solidFill>
                  <a:srgbClr val="000000"/>
                </a:solidFill>
              </a:rPr>
              <a:t>Résident français, âgé de 55 ans, marié sous le régime de la séparation de biens, ayant 3 enfants et titulaire de deux portefeuilles titres en gestion discrétionnaire auprès d’une banque française et suisse valorisés respectivement à 5 et 10 millions d’euros</a:t>
            </a:r>
          </a:p>
          <a:p>
            <a:pPr marL="0" lvl="1" indent="0">
              <a:spcBef>
                <a:spcPts val="100"/>
              </a:spcBef>
              <a:buClr>
                <a:srgbClr val="C00000"/>
              </a:buClr>
            </a:pPr>
            <a:endParaRPr lang="fr-FR" altLang="en-US" sz="1000" b="1" u="sng">
              <a:solidFill>
                <a:srgbClr val="000000"/>
              </a:solidFill>
            </a:endParaRPr>
          </a:p>
          <a:p>
            <a:pPr marL="0" lvl="1" indent="0">
              <a:spcBef>
                <a:spcPts val="100"/>
              </a:spcBef>
              <a:buClr>
                <a:srgbClr val="C00000"/>
              </a:buClr>
            </a:pPr>
            <a:r>
              <a:rPr lang="fr-FR" altLang="en-US" sz="1000" b="1">
                <a:solidFill>
                  <a:srgbClr val="000000"/>
                </a:solidFill>
              </a:rPr>
              <a:t>Besoins</a:t>
            </a:r>
          </a:p>
          <a:p>
            <a:pPr marL="171450" lvl="1" indent="-171450">
              <a:spcBef>
                <a:spcPts val="100"/>
              </a:spcBef>
              <a:buClr>
                <a:srgbClr val="C00000"/>
              </a:buClr>
              <a:buFont typeface="Arial" panose="020B0604020202020204" pitchFamily="34" charset="0"/>
              <a:buChar char="•"/>
            </a:pPr>
            <a:r>
              <a:rPr lang="fr-FR" altLang="en-US" sz="1000"/>
              <a:t>Protection financière de l’épouse</a:t>
            </a:r>
          </a:p>
          <a:p>
            <a:pPr marL="171450" lvl="1" indent="-171450">
              <a:spcBef>
                <a:spcPts val="100"/>
              </a:spcBef>
              <a:buClr>
                <a:srgbClr val="C00000"/>
              </a:buClr>
              <a:buFont typeface="Arial" panose="020B0604020202020204" pitchFamily="34" charset="0"/>
              <a:buChar char="•"/>
            </a:pPr>
            <a:r>
              <a:rPr lang="fr-FR" altLang="en-US" sz="1000"/>
              <a:t>Planification successorale </a:t>
            </a:r>
          </a:p>
          <a:p>
            <a:pPr marL="171450" lvl="1" indent="-171450">
              <a:spcBef>
                <a:spcPts val="100"/>
              </a:spcBef>
              <a:buClr>
                <a:srgbClr val="C00000"/>
              </a:buClr>
              <a:buFont typeface="Arial" panose="020B0604020202020204" pitchFamily="34" charset="0"/>
              <a:buChar char="•"/>
            </a:pPr>
            <a:r>
              <a:rPr lang="fr-FR" altLang="en-US" sz="1000"/>
              <a:t>Protection des actifs </a:t>
            </a:r>
            <a:endParaRPr lang="fr-FR" altLang="en-US" sz="1000">
              <a:solidFill>
                <a:srgbClr val="000000"/>
              </a:solidFill>
            </a:endParaRPr>
          </a:p>
          <a:p>
            <a:pPr marL="171450" lvl="1" indent="-171450">
              <a:spcBef>
                <a:spcPts val="100"/>
              </a:spcBef>
              <a:buClr>
                <a:srgbClr val="C00000"/>
              </a:buClr>
              <a:buFont typeface="Arial" panose="020B0604020202020204" pitchFamily="34" charset="0"/>
              <a:buChar char="•"/>
            </a:pPr>
            <a:r>
              <a:rPr lang="fr-FR" altLang="en-US" sz="1000"/>
              <a:t>Recours à ses gestionnaires de portefeuilles titres </a:t>
            </a:r>
          </a:p>
          <a:p>
            <a:pPr marL="0" lvl="1" indent="0" algn="just">
              <a:spcBef>
                <a:spcPts val="100"/>
              </a:spcBef>
              <a:buClr>
                <a:srgbClr val="C00000"/>
              </a:buClr>
            </a:pPr>
            <a:endParaRPr lang="fr-FR" altLang="en-US" sz="1050" dirty="0"/>
          </a:p>
        </p:txBody>
      </p:sp>
      <p:sp>
        <p:nvSpPr>
          <p:cNvPr id="10" name="Titel 6">
            <a:extLst>
              <a:ext uri="{FF2B5EF4-FFF2-40B4-BE49-F238E27FC236}">
                <a16:creationId xmlns:a16="http://schemas.microsoft.com/office/drawing/2014/main" id="{4CBE094E-AD47-B601-E973-1A3393654BBB}"/>
              </a:ext>
            </a:extLst>
          </p:cNvPr>
          <p:cNvSpPr txBox="1">
            <a:spLocks/>
          </p:cNvSpPr>
          <p:nvPr/>
        </p:nvSpPr>
        <p:spPr>
          <a:xfrm>
            <a:off x="250825" y="90716"/>
            <a:ext cx="8622295" cy="1080542"/>
          </a:xfrm>
          <a:prstGeom prst="rect">
            <a:avLst/>
          </a:prstGeom>
        </p:spPr>
        <p:txBody>
          <a:bodyPr vert="horz" lIns="36000" tIns="36000" rIns="0" bIns="0" rtlCol="0" anchor="t" anchorCtr="0">
            <a:noAutofit/>
          </a:bodyPr>
          <a:lstStyle>
            <a:lvl1pPr algn="l" defTabSz="914400" rtl="0" eaLnBrk="1" latinLnBrk="0" hangingPunct="1">
              <a:spcBef>
                <a:spcPct val="0"/>
              </a:spcBef>
              <a:buNone/>
              <a:defRPr sz="3200" kern="1200">
                <a:solidFill>
                  <a:schemeClr val="tx1"/>
                </a:solidFill>
                <a:latin typeface="Times New Roman" panose="02020603050405020304" pitchFamily="18" charset="0"/>
                <a:ea typeface="+mj-ea"/>
                <a:cs typeface="Times New Roman" panose="02020603050405020304" pitchFamily="18" charset="0"/>
              </a:defRPr>
            </a:lvl1pPr>
          </a:lstStyle>
          <a:p>
            <a:r>
              <a:rPr lang="fr-FR"/>
              <a:t>Premium Lux : solution de gestion patrimoniale </a:t>
            </a:r>
          </a:p>
          <a:p>
            <a:r>
              <a:rPr lang="fr-FR"/>
              <a:t>sur-mesure</a:t>
            </a:r>
            <a:endParaRPr lang="fr-FR" dirty="0"/>
          </a:p>
        </p:txBody>
      </p:sp>
    </p:spTree>
    <p:extLst>
      <p:ext uri="{BB962C8B-B14F-4D97-AF65-F5344CB8AC3E}">
        <p14:creationId xmlns:p14="http://schemas.microsoft.com/office/powerpoint/2010/main" val="3274527676"/>
      </p:ext>
    </p:extLst>
  </p:cSld>
  <p:clrMapOvr>
    <a:masterClrMapping/>
  </p:clrMapOvr>
  <p:transition advClick="0"/>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8C046B8-0ED3-8F67-8491-65B53AD7C153}"/>
              </a:ext>
            </a:extLst>
          </p:cNvPr>
          <p:cNvPicPr>
            <a:picLocks noChangeAspect="1"/>
          </p:cNvPicPr>
          <p:nvPr>
            <p:custDataLst>
              <p:tags r:id="rId1"/>
            </p:custDataLst>
          </p:nvPr>
        </p:nvPicPr>
        <p:blipFill rotWithShape="1">
          <a:blip r:embed="rId6" cstate="screen">
            <a:alphaModFix amt="50000"/>
            <a:extLst>
              <a:ext uri="{28A0092B-C50C-407E-A947-70E740481C1C}">
                <a14:useLocalDpi xmlns:a14="http://schemas.microsoft.com/office/drawing/2010/main"/>
              </a:ext>
            </a:extLst>
          </a:blip>
          <a:srcRect r="-394"/>
          <a:stretch/>
        </p:blipFill>
        <p:spPr bwMode="gray">
          <a:xfrm>
            <a:off x="0" y="1592312"/>
            <a:ext cx="9326880" cy="3455640"/>
          </a:xfrm>
          <a:prstGeom prst="rect">
            <a:avLst/>
          </a:prstGeom>
        </p:spPr>
      </p:pic>
      <p:graphicFrame>
        <p:nvGraphicFramePr>
          <p:cNvPr id="2" name="Objekt 1" hidden="1"/>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7" imgW="493" imgH="493" progId="TCLayout.ActiveDocument.1">
                  <p:embed/>
                </p:oleObj>
              </mc:Choice>
              <mc:Fallback>
                <p:oleObj name="think-cell Folie" r:id="rId7" imgW="493" imgH="493" progId="TCLayout.ActiveDocument.1">
                  <p:embed/>
                  <p:pic>
                    <p:nvPicPr>
                      <p:cNvPr id="2" name="Objekt 1" hidden="1"/>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3" name="Rechteck 2" hidden="1"/>
          <p:cNvSpPr/>
          <p:nvPr>
            <p:custDataLst>
              <p:tags r:id="rId3"/>
            </p:custDataLst>
          </p:nvPr>
        </p:nvSpPr>
        <p:spPr>
          <a:xfrm>
            <a:off x="-186082" y="-89902"/>
            <a:ext cx="530915" cy="338554"/>
          </a:xfrm>
          <a:prstGeom prst="rect">
            <a:avLst/>
          </a:prstGeom>
          <a:solidFill>
            <a:schemeClr val="accent4">
              <a:lumMod val="20000"/>
              <a:lumOff val="80000"/>
            </a:schemeClr>
          </a:solidFill>
        </p:spPr>
        <p:txBody>
          <a:bodyPr vert="horz" wrap="none" lIns="0" tIns="0" rIns="0" bIns="0" numCol="1" spcCol="0" rtlCol="0" anchor="ctr" anchorCtr="0">
            <a:noAutofit/>
          </a:bodyPr>
          <a:lstStyle/>
          <a:p>
            <a:pPr marL="0" marR="0" lvl="0" indent="0" algn="ctr" defTabSz="914400" rtl="0" eaLnBrk="1" fontAlgn="auto" latinLnBrk="0" hangingPunct="1">
              <a:lnSpc>
                <a:spcPct val="100000"/>
              </a:lnSpc>
              <a:spcBef>
                <a:spcPct val="0"/>
              </a:spcBef>
              <a:spcAft>
                <a:spcPct val="0"/>
              </a:spcAft>
              <a:buClr>
                <a:srgbClr val="D82034"/>
              </a:buClr>
              <a:buSzPct val="100000"/>
              <a:buFontTx/>
              <a:buNone/>
              <a:tabLst/>
              <a:defRPr/>
            </a:pPr>
            <a:endParaRPr kumimoji="0" lang="fr-FR" sz="32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Times New Roman" panose="02020603050405020304" pitchFamily="18" charset="0"/>
            </a:endParaRPr>
          </a:p>
        </p:txBody>
      </p:sp>
      <p:sp>
        <p:nvSpPr>
          <p:cNvPr id="7" name="Titel 6"/>
          <p:cNvSpPr>
            <a:spLocks noGrp="1"/>
          </p:cNvSpPr>
          <p:nvPr>
            <p:ph type="title"/>
          </p:nvPr>
        </p:nvSpPr>
        <p:spPr>
          <a:xfrm>
            <a:off x="250825" y="90716"/>
            <a:ext cx="8622295" cy="1080542"/>
          </a:xfrm>
        </p:spPr>
        <p:txBody>
          <a:bodyPr/>
          <a:lstStyle/>
          <a:p>
            <a:r>
              <a:rPr lang="fr-FR" dirty="0"/>
              <a:t>Premium Lux : solution de gestion patrimoniale </a:t>
            </a:r>
            <a:br>
              <a:rPr lang="fr-FR" dirty="0"/>
            </a:br>
            <a:r>
              <a:rPr lang="fr-FR" dirty="0"/>
              <a:t>sur-mesure</a:t>
            </a:r>
          </a:p>
        </p:txBody>
      </p:sp>
      <p:graphicFrame>
        <p:nvGraphicFramePr>
          <p:cNvPr id="4" name="Table 6">
            <a:extLst>
              <a:ext uri="{FF2B5EF4-FFF2-40B4-BE49-F238E27FC236}">
                <a16:creationId xmlns:a16="http://schemas.microsoft.com/office/drawing/2014/main" id="{1D9E63C3-A727-EB67-A98C-EDE06973AAE0}"/>
              </a:ext>
            </a:extLst>
          </p:cNvPr>
          <p:cNvGraphicFramePr>
            <a:graphicFrameLocks noGrp="1"/>
          </p:cNvGraphicFramePr>
          <p:nvPr>
            <p:extLst>
              <p:ext uri="{D42A27DB-BD31-4B8C-83A1-F6EECF244321}">
                <p14:modId xmlns:p14="http://schemas.microsoft.com/office/powerpoint/2010/main" val="1911510754"/>
              </p:ext>
            </p:extLst>
          </p:nvPr>
        </p:nvGraphicFramePr>
        <p:xfrm>
          <a:off x="251520" y="3154585"/>
          <a:ext cx="8569324" cy="1330960"/>
        </p:xfrm>
        <a:graphic>
          <a:graphicData uri="http://schemas.openxmlformats.org/drawingml/2006/table">
            <a:tbl>
              <a:tblPr firstRow="1" bandRow="1">
                <a:tableStyleId>{2D5ABB26-0587-4C30-8999-92F81FD0307C}</a:tableStyleId>
              </a:tblPr>
              <a:tblGrid>
                <a:gridCol w="2142331">
                  <a:extLst>
                    <a:ext uri="{9D8B030D-6E8A-4147-A177-3AD203B41FA5}">
                      <a16:colId xmlns:a16="http://schemas.microsoft.com/office/drawing/2014/main" val="2786437233"/>
                    </a:ext>
                  </a:extLst>
                </a:gridCol>
                <a:gridCol w="2142331">
                  <a:extLst>
                    <a:ext uri="{9D8B030D-6E8A-4147-A177-3AD203B41FA5}">
                      <a16:colId xmlns:a16="http://schemas.microsoft.com/office/drawing/2014/main" val="1096566189"/>
                    </a:ext>
                  </a:extLst>
                </a:gridCol>
                <a:gridCol w="2142331">
                  <a:extLst>
                    <a:ext uri="{9D8B030D-6E8A-4147-A177-3AD203B41FA5}">
                      <a16:colId xmlns:a16="http://schemas.microsoft.com/office/drawing/2014/main" val="1642601923"/>
                    </a:ext>
                  </a:extLst>
                </a:gridCol>
                <a:gridCol w="2142331">
                  <a:extLst>
                    <a:ext uri="{9D8B030D-6E8A-4147-A177-3AD203B41FA5}">
                      <a16:colId xmlns:a16="http://schemas.microsoft.com/office/drawing/2014/main" val="2920774656"/>
                    </a:ext>
                  </a:extLst>
                </a:gridCol>
              </a:tblGrid>
              <a:tr h="370840">
                <a:tc>
                  <a:txBody>
                    <a:bodyPr/>
                    <a:lstStyle/>
                    <a:p>
                      <a:endParaRPr lang="fr-FR" sz="900" dirty="0">
                        <a:solidFill>
                          <a:schemeClr val="accent3"/>
                        </a:solidFill>
                      </a:endParaRPr>
                    </a:p>
                  </a:txBody>
                  <a:tcPr/>
                </a:tc>
                <a:tc>
                  <a:txBody>
                    <a:bodyPr/>
                    <a:lstStyle/>
                    <a:p>
                      <a:endParaRPr lang="fr-FR" sz="900" dirty="0">
                        <a:solidFill>
                          <a:schemeClr val="accent3"/>
                        </a:solidFill>
                      </a:endParaRPr>
                    </a:p>
                  </a:txBody>
                  <a:tcPr/>
                </a:tc>
                <a:tc>
                  <a:txBody>
                    <a:bodyPr/>
                    <a:lstStyle/>
                    <a:p>
                      <a:endParaRPr lang="fr-FR" sz="900" dirty="0">
                        <a:solidFill>
                          <a:schemeClr val="accent3"/>
                        </a:solidFill>
                      </a:endParaRPr>
                    </a:p>
                  </a:txBody>
                  <a:tcPr/>
                </a:tc>
                <a:tc>
                  <a:txBody>
                    <a:bodyPr/>
                    <a:lstStyle/>
                    <a:p>
                      <a:endParaRPr lang="fr-FR" sz="900" dirty="0">
                        <a:solidFill>
                          <a:schemeClr val="accent3"/>
                        </a:solidFill>
                      </a:endParaRPr>
                    </a:p>
                  </a:txBody>
                  <a:tcPr/>
                </a:tc>
                <a:extLst>
                  <a:ext uri="{0D108BD9-81ED-4DB2-BD59-A6C34878D82A}">
                    <a16:rowId xmlns:a16="http://schemas.microsoft.com/office/drawing/2014/main" val="325654447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altLang="en-US" sz="1050" b="1">
                          <a:solidFill>
                            <a:srgbClr val="000000"/>
                          </a:solidFill>
                        </a:rPr>
                        <a:t>Transmission patrimoniale </a:t>
                      </a:r>
                      <a:br>
                        <a:rPr lang="fr-FR" altLang="en-US" sz="1050" b="1">
                          <a:solidFill>
                            <a:srgbClr val="000000"/>
                          </a:solidFill>
                        </a:rPr>
                      </a:br>
                      <a:r>
                        <a:rPr lang="fr-FR" altLang="en-US" sz="1050" b="1">
                          <a:solidFill>
                            <a:srgbClr val="000000"/>
                          </a:solidFill>
                        </a:rPr>
                        <a:t>sur-mesure.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altLang="en-US" sz="900">
                          <a:solidFill>
                            <a:srgbClr val="000000"/>
                          </a:solidFill>
                        </a:rPr>
                        <a:t>L’épouse en qualité de bénéficiaire du contrat bénéficie d’une sécurité financière pour les besoins familiaux et l’éducation des enfants. </a:t>
                      </a:r>
                      <a:endParaRPr lang="fr-FR" sz="900" dirty="0">
                        <a:solidFill>
                          <a:srgbClr val="000000"/>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altLang="en-US" sz="1050" b="1">
                          <a:solidFill>
                            <a:srgbClr val="000000"/>
                          </a:solidFill>
                        </a:rPr>
                        <a:t>Protection des actifs.  </a:t>
                      </a:r>
                    </a:p>
                    <a:p>
                      <a:pPr marL="0" lvl="1" indent="0" algn="l">
                        <a:spcBef>
                          <a:spcPts val="100"/>
                        </a:spcBef>
                        <a:buClr>
                          <a:srgbClr val="C00000"/>
                        </a:buClr>
                        <a:buFontTx/>
                        <a:buNone/>
                      </a:pPr>
                      <a:r>
                        <a:rPr lang="fr-FR" altLang="en-US" sz="900">
                          <a:solidFill>
                            <a:srgbClr val="000000"/>
                          </a:solidFill>
                        </a:rPr>
                        <a:t>Le cadre réglementaire Luxembourgeois représente le mécanisme de protection le plus solide au sein de L’UE.</a:t>
                      </a:r>
                    </a:p>
                    <a:p>
                      <a:endParaRPr lang="fr-FR" sz="900" dirty="0">
                        <a:solidFill>
                          <a:srgbClr val="000000"/>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altLang="en-US" sz="1050" b="1">
                          <a:solidFill>
                            <a:srgbClr val="000000"/>
                          </a:solidFill>
                        </a:rPr>
                        <a:t>Gestionnaires d’actifs multiples. </a:t>
                      </a:r>
                      <a:r>
                        <a:rPr lang="fr-FR" altLang="en-US" sz="1050" b="1" kern="1200">
                          <a:solidFill>
                            <a:srgbClr val="000000"/>
                          </a:solidFill>
                          <a:latin typeface="+mn-lt"/>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altLang="en-US" sz="900">
                          <a:solidFill>
                            <a:srgbClr val="000000"/>
                          </a:solidFill>
                        </a:rPr>
                        <a:t>Solution d’assurance-vie qui permet au client de conserver ses conseillers de confiance et d’utiliser plusieurs gestionnaires d’actifs dans le contrat.</a:t>
                      </a:r>
                      <a:endParaRPr lang="fr-FR" altLang="en-US" sz="900" dirty="0">
                        <a:solidFill>
                          <a:srgbClr val="000000"/>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altLang="en-US" sz="1050" b="1">
                          <a:solidFill>
                            <a:srgbClr val="000000"/>
                          </a:solidFill>
                        </a:rPr>
                        <a:t>Planification de la succession.</a:t>
                      </a:r>
                    </a:p>
                    <a:p>
                      <a:pPr marL="0" lvl="1" indent="0" algn="l" defTabSz="957263">
                        <a:spcBef>
                          <a:spcPts val="100"/>
                        </a:spcBef>
                        <a:buClr>
                          <a:srgbClr val="C00000"/>
                        </a:buClr>
                        <a:buSzPct val="70000"/>
                        <a:buFont typeface="Arial" panose="020B0604020202020204" pitchFamily="34" charset="0"/>
                        <a:buNone/>
                      </a:pPr>
                      <a:r>
                        <a:rPr lang="fr-FR" altLang="en-US" sz="900"/>
                        <a:t>Exonération de droits de succession applicable au capital décès versé à l’épouse. Et régime fiscal de faveur applicable au capital décès versé aux enfants.</a:t>
                      </a:r>
                      <a:endParaRPr lang="fr-FR" sz="900" dirty="0">
                        <a:solidFill>
                          <a:srgbClr val="000000"/>
                        </a:solidFill>
                      </a:endParaRPr>
                    </a:p>
                  </a:txBody>
                  <a:tcPr/>
                </a:tc>
                <a:extLst>
                  <a:ext uri="{0D108BD9-81ED-4DB2-BD59-A6C34878D82A}">
                    <a16:rowId xmlns:a16="http://schemas.microsoft.com/office/drawing/2014/main" val="1485246520"/>
                  </a:ext>
                </a:extLst>
              </a:tr>
            </a:tbl>
          </a:graphicData>
        </a:graphic>
      </p:graphicFrame>
      <p:pic>
        <p:nvPicPr>
          <p:cNvPr id="5" name="Picture 4" descr="A red tree with a black background&#10;&#10;Description automatically generated">
            <a:extLst>
              <a:ext uri="{FF2B5EF4-FFF2-40B4-BE49-F238E27FC236}">
                <a16:creationId xmlns:a16="http://schemas.microsoft.com/office/drawing/2014/main" id="{808A964C-11B9-D094-10AA-FF3910500639}"/>
              </a:ext>
            </a:extLst>
          </p:cNvPr>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667112" y="2484512"/>
            <a:ext cx="900000" cy="900000"/>
          </a:xfrm>
          <a:prstGeom prst="rect">
            <a:avLst/>
          </a:prstGeom>
        </p:spPr>
      </p:pic>
      <p:pic>
        <p:nvPicPr>
          <p:cNvPr id="9" name="Picture 8" descr="A red pencil on a paper&#10;&#10;Description automatically generated">
            <a:extLst>
              <a:ext uri="{FF2B5EF4-FFF2-40B4-BE49-F238E27FC236}">
                <a16:creationId xmlns:a16="http://schemas.microsoft.com/office/drawing/2014/main" id="{4462E9FD-FE96-98AB-EAAB-DEEA8EA85AC4}"/>
              </a:ext>
            </a:extLst>
          </p:cNvPr>
          <p:cNvPicPr>
            <a:picLocks noChangeAspect="1"/>
          </p:cNvPicPr>
          <p:nvPr/>
        </p:nvPicPr>
        <p:blipFill>
          <a:blip r:embed="rId10" cstate="screen">
            <a:extLst>
              <a:ext uri="{28A0092B-C50C-407E-A947-70E740481C1C}">
                <a14:useLocalDpi xmlns:a14="http://schemas.microsoft.com/office/drawing/2010/main"/>
              </a:ext>
            </a:extLst>
          </a:blip>
          <a:stretch>
            <a:fillRect/>
          </a:stretch>
        </p:blipFill>
        <p:spPr>
          <a:xfrm>
            <a:off x="7220262" y="2484512"/>
            <a:ext cx="900000" cy="900000"/>
          </a:xfrm>
          <a:prstGeom prst="rect">
            <a:avLst/>
          </a:prstGeom>
        </p:spPr>
      </p:pic>
      <p:pic>
        <p:nvPicPr>
          <p:cNvPr id="11" name="Picture 10">
            <a:extLst>
              <a:ext uri="{FF2B5EF4-FFF2-40B4-BE49-F238E27FC236}">
                <a16:creationId xmlns:a16="http://schemas.microsoft.com/office/drawing/2014/main" id="{8CA3BD96-A3D5-DD23-AD54-562741A90DB6}"/>
              </a:ext>
            </a:extLst>
          </p:cNvPr>
          <p:cNvPicPr>
            <a:picLocks noChangeAspect="1"/>
          </p:cNvPicPr>
          <p:nvPr/>
        </p:nvPicPr>
        <p:blipFill>
          <a:blip r:embed="rId11" cstate="screen">
            <a:extLst>
              <a:ext uri="{28A0092B-C50C-407E-A947-70E740481C1C}">
                <a14:useLocalDpi xmlns:a14="http://schemas.microsoft.com/office/drawing/2010/main"/>
              </a:ext>
            </a:extLst>
          </a:blip>
          <a:srcRect/>
          <a:stretch/>
        </p:blipFill>
        <p:spPr>
          <a:xfrm>
            <a:off x="5131608" y="2484512"/>
            <a:ext cx="900000" cy="900000"/>
          </a:xfrm>
          <a:prstGeom prst="rect">
            <a:avLst/>
          </a:prstGeom>
        </p:spPr>
      </p:pic>
      <p:sp>
        <p:nvSpPr>
          <p:cNvPr id="12" name="TextBox 11">
            <a:extLst>
              <a:ext uri="{FF2B5EF4-FFF2-40B4-BE49-F238E27FC236}">
                <a16:creationId xmlns:a16="http://schemas.microsoft.com/office/drawing/2014/main" id="{E8A73682-DC78-6C44-5875-23BB3C630E52}"/>
              </a:ext>
            </a:extLst>
          </p:cNvPr>
          <p:cNvSpPr txBox="1"/>
          <p:nvPr/>
        </p:nvSpPr>
        <p:spPr>
          <a:xfrm>
            <a:off x="250825" y="1181571"/>
            <a:ext cx="6481414"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a:ln>
                  <a:noFill/>
                </a:ln>
                <a:solidFill>
                  <a:srgbClr val="808080"/>
                </a:solidFill>
                <a:effectLst/>
                <a:uLnTx/>
                <a:uFillTx/>
                <a:latin typeface="Arial"/>
                <a:ea typeface="+mn-ea"/>
                <a:cs typeface="+mn-cs"/>
              </a:rPr>
              <a:t>Notre solution : assurance</a:t>
            </a:r>
            <a:r>
              <a:rPr lang="fr-FR" sz="1400">
                <a:solidFill>
                  <a:srgbClr val="808080"/>
                </a:solidFill>
                <a:latin typeface="Arial"/>
              </a:rPr>
              <a:t>-</a:t>
            </a:r>
            <a:r>
              <a:rPr kumimoji="0" lang="fr-FR" sz="1400" b="0" i="0" u="none" strike="noStrike" kern="1200" cap="none" spc="0" normalizeH="0" baseline="0" noProof="0">
                <a:ln>
                  <a:noFill/>
                </a:ln>
                <a:solidFill>
                  <a:srgbClr val="808080"/>
                </a:solidFill>
                <a:effectLst/>
                <a:uLnTx/>
                <a:uFillTx/>
                <a:latin typeface="Arial"/>
                <a:ea typeface="+mn-ea"/>
                <a:cs typeface="+mn-cs"/>
              </a:rPr>
              <a:t>vie Premium Lux</a:t>
            </a:r>
            <a:endParaRPr kumimoji="0" lang="fr-FR" sz="1400" b="0" i="0" u="none" strike="noStrike" kern="1200" cap="none" spc="0" normalizeH="0" baseline="0" noProof="0" dirty="0">
              <a:ln>
                <a:noFill/>
              </a:ln>
              <a:solidFill>
                <a:srgbClr val="808080"/>
              </a:solidFill>
              <a:effectLst/>
              <a:uLnTx/>
              <a:uFillTx/>
              <a:latin typeface="Arial"/>
              <a:ea typeface="+mn-ea"/>
              <a:cs typeface="+mn-cs"/>
            </a:endParaRPr>
          </a:p>
        </p:txBody>
      </p:sp>
      <p:sp>
        <p:nvSpPr>
          <p:cNvPr id="13" name="Rectangle 5">
            <a:extLst>
              <a:ext uri="{FF2B5EF4-FFF2-40B4-BE49-F238E27FC236}">
                <a16:creationId xmlns:a16="http://schemas.microsoft.com/office/drawing/2014/main" id="{C6B46622-1F44-6485-C394-918C2FE562E9}"/>
              </a:ext>
            </a:extLst>
          </p:cNvPr>
          <p:cNvSpPr>
            <a:spLocks noChangeArrowheads="1"/>
          </p:cNvSpPr>
          <p:nvPr/>
        </p:nvSpPr>
        <p:spPr bwMode="gray">
          <a:xfrm>
            <a:off x="250825" y="1621594"/>
            <a:ext cx="8570019" cy="720231"/>
          </a:xfrm>
          <a:prstGeom prst="rect">
            <a:avLst/>
          </a:prstGeom>
          <a:noFill/>
          <a:ln w="12700">
            <a:noFill/>
            <a:miter lim="800000"/>
            <a:headEnd/>
            <a:tailEnd/>
          </a:ln>
        </p:spPr>
        <p:txBody>
          <a:bodyPr lIns="71989" tIns="71989" rIns="71989" bIns="71989" anchor="ctr"/>
          <a:lstStyle>
            <a:lvl1pPr marL="342900" indent="-342900" defTabSz="957263">
              <a:defRPr>
                <a:solidFill>
                  <a:schemeClr val="tx1"/>
                </a:solidFill>
                <a:latin typeface="Arial" charset="0"/>
                <a:cs typeface="Arial" charset="0"/>
              </a:defRPr>
            </a:lvl1pPr>
            <a:lvl2pPr marL="228600" indent="-228600" defTabSz="957263">
              <a:defRPr>
                <a:solidFill>
                  <a:schemeClr val="tx1"/>
                </a:solidFill>
                <a:latin typeface="Arial" charset="0"/>
                <a:cs typeface="Arial" charset="0"/>
              </a:defRPr>
            </a:lvl2pPr>
            <a:lvl3pPr marL="1143000" indent="-228600" defTabSz="957263">
              <a:defRPr>
                <a:solidFill>
                  <a:schemeClr val="tx1"/>
                </a:solidFill>
                <a:latin typeface="Arial" charset="0"/>
                <a:cs typeface="Arial" charset="0"/>
              </a:defRPr>
            </a:lvl3pPr>
            <a:lvl4pPr marL="1600200" indent="-228600" defTabSz="957263">
              <a:defRPr>
                <a:solidFill>
                  <a:schemeClr val="tx1"/>
                </a:solidFill>
                <a:latin typeface="Arial" charset="0"/>
                <a:cs typeface="Arial" charset="0"/>
              </a:defRPr>
            </a:lvl4pPr>
            <a:lvl5pPr marL="2057400" indent="-228600" defTabSz="957263">
              <a:defRPr>
                <a:solidFill>
                  <a:schemeClr val="tx1"/>
                </a:solidFill>
                <a:latin typeface="Arial" charset="0"/>
                <a:cs typeface="Arial" charset="0"/>
              </a:defRPr>
            </a:lvl5pPr>
            <a:lvl6pPr marL="2514600" indent="-228600" defTabSz="957263" eaLnBrk="0" fontAlgn="base" hangingPunct="0">
              <a:spcBef>
                <a:spcPct val="0"/>
              </a:spcBef>
              <a:spcAft>
                <a:spcPct val="0"/>
              </a:spcAft>
              <a:defRPr>
                <a:solidFill>
                  <a:schemeClr val="tx1"/>
                </a:solidFill>
                <a:latin typeface="Arial" charset="0"/>
                <a:cs typeface="Arial" charset="0"/>
              </a:defRPr>
            </a:lvl6pPr>
            <a:lvl7pPr marL="2971800" indent="-228600" defTabSz="957263" eaLnBrk="0" fontAlgn="base" hangingPunct="0">
              <a:spcBef>
                <a:spcPct val="0"/>
              </a:spcBef>
              <a:spcAft>
                <a:spcPct val="0"/>
              </a:spcAft>
              <a:defRPr>
                <a:solidFill>
                  <a:schemeClr val="tx1"/>
                </a:solidFill>
                <a:latin typeface="Arial" charset="0"/>
                <a:cs typeface="Arial" charset="0"/>
              </a:defRPr>
            </a:lvl7pPr>
            <a:lvl8pPr marL="3429000" indent="-228600" defTabSz="957263" eaLnBrk="0" fontAlgn="base" hangingPunct="0">
              <a:spcBef>
                <a:spcPct val="0"/>
              </a:spcBef>
              <a:spcAft>
                <a:spcPct val="0"/>
              </a:spcAft>
              <a:defRPr>
                <a:solidFill>
                  <a:schemeClr val="tx1"/>
                </a:solidFill>
                <a:latin typeface="Arial" charset="0"/>
                <a:cs typeface="Arial" charset="0"/>
              </a:defRPr>
            </a:lvl8pPr>
            <a:lvl9pPr marL="3886200" indent="-228600" defTabSz="957263" eaLnBrk="0" fontAlgn="base" hangingPunct="0">
              <a:spcBef>
                <a:spcPct val="0"/>
              </a:spcBef>
              <a:spcAft>
                <a:spcPct val="0"/>
              </a:spcAft>
              <a:defRPr>
                <a:solidFill>
                  <a:schemeClr val="tx1"/>
                </a:solidFill>
                <a:latin typeface="Arial" charset="0"/>
                <a:cs typeface="Arial" charset="0"/>
              </a:defRPr>
            </a:lvl9pPr>
          </a:lstStyle>
          <a:p>
            <a:pPr marL="0" lvl="1" indent="0">
              <a:spcBef>
                <a:spcPts val="100"/>
              </a:spcBef>
              <a:buClr>
                <a:srgbClr val="C00000"/>
              </a:buClr>
            </a:pPr>
            <a:r>
              <a:rPr lang="fr-FR" altLang="en-US" sz="1000"/>
              <a:t>Le client souscrit un contrat d’assurance luxembourgeois de droit français, sur sa tête, en faveur de son épouse et de ses enfants moyennant le versement d’une prime en numéraire et en nature par transfert des portefeuilles titres investis respectivement dans deux fonds internes d’assurance dédiés en gestion discrétionnaire auprès de gestionnaires nommés par l'assureur et agrées par le souscripteur. </a:t>
            </a:r>
            <a:endParaRPr lang="fr-FR" altLang="en-US" sz="1000" dirty="0"/>
          </a:p>
        </p:txBody>
      </p:sp>
      <p:pic>
        <p:nvPicPr>
          <p:cNvPr id="15" name="Picture 14" descr="A red umbrella with a black background&#10;&#10;Description automatically generated">
            <a:extLst>
              <a:ext uri="{FF2B5EF4-FFF2-40B4-BE49-F238E27FC236}">
                <a16:creationId xmlns:a16="http://schemas.microsoft.com/office/drawing/2014/main" id="{81AD52C2-F8AC-6D8D-12C2-A2F340013A90}"/>
              </a:ext>
            </a:extLst>
          </p:cNvPr>
          <p:cNvPicPr>
            <a:picLocks noChangeAspect="1"/>
          </p:cNvPicPr>
          <p:nvPr/>
        </p:nvPicPr>
        <p:blipFill>
          <a:blip r:embed="rId12">
            <a:extLst>
              <a:ext uri="{28A0092B-C50C-407E-A947-70E740481C1C}">
                <a14:useLocalDpi xmlns:a14="http://schemas.microsoft.com/office/drawing/2010/main"/>
              </a:ext>
            </a:extLst>
          </a:blip>
          <a:stretch>
            <a:fillRect/>
          </a:stretch>
        </p:blipFill>
        <p:spPr>
          <a:xfrm>
            <a:off x="2890604" y="2498100"/>
            <a:ext cx="900000" cy="900000"/>
          </a:xfrm>
          <a:prstGeom prst="rect">
            <a:avLst/>
          </a:prstGeom>
        </p:spPr>
      </p:pic>
    </p:spTree>
    <p:extLst>
      <p:ext uri="{BB962C8B-B14F-4D97-AF65-F5344CB8AC3E}">
        <p14:creationId xmlns:p14="http://schemas.microsoft.com/office/powerpoint/2010/main" val="1040817766"/>
      </p:ext>
    </p:extLst>
  </p:cSld>
  <p:clrMapOvr>
    <a:masterClrMapping/>
  </p:clrMapOvr>
  <p:transition advClick="0"/>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person looking at the camera&#10;&#10;Description automatically generated">
            <a:extLst>
              <a:ext uri="{FF2B5EF4-FFF2-40B4-BE49-F238E27FC236}">
                <a16:creationId xmlns:a16="http://schemas.microsoft.com/office/drawing/2014/main" id="{6A8D10FC-DB79-412A-A5F2-0873F98C4379}"/>
              </a:ext>
            </a:extLst>
          </p:cNvPr>
          <p:cNvPicPr>
            <a:picLocks noChangeAspect="1"/>
          </p:cNvPicPr>
          <p:nvPr/>
        </p:nvPicPr>
        <p:blipFill rotWithShape="1">
          <a:blip r:embed="rId2">
            <a:extLst>
              <a:ext uri="{28A0092B-C50C-407E-A947-70E740481C1C}">
                <a14:useLocalDpi xmlns:a14="http://schemas.microsoft.com/office/drawing/2010/main" val="0"/>
              </a:ext>
            </a:extLst>
          </a:blip>
          <a:srcRect t="16074" b="17607"/>
          <a:stretch/>
        </p:blipFill>
        <p:spPr>
          <a:xfrm>
            <a:off x="1025955" y="1374143"/>
            <a:ext cx="3346096" cy="1482282"/>
          </a:xfrm>
          <a:prstGeom prst="rect">
            <a:avLst/>
          </a:prstGeom>
        </p:spPr>
      </p:pic>
      <p:sp>
        <p:nvSpPr>
          <p:cNvPr id="2" name="object 2"/>
          <p:cNvSpPr txBox="1"/>
          <p:nvPr/>
        </p:nvSpPr>
        <p:spPr>
          <a:xfrm>
            <a:off x="4743461" y="3660239"/>
            <a:ext cx="1651640" cy="693148"/>
          </a:xfrm>
          <a:prstGeom prst="rect">
            <a:avLst/>
          </a:prstGeom>
        </p:spPr>
        <p:txBody>
          <a:bodyPr vert="horz" wrap="square" lIns="0" tIns="9597" rIns="0" bIns="0" rtlCol="0">
            <a:spAutoFit/>
          </a:bodyPr>
          <a:lstStyle/>
          <a:p>
            <a:pPr marL="9597" defTabSz="691012">
              <a:lnSpc>
                <a:spcPts val="888"/>
              </a:lnSpc>
              <a:spcBef>
                <a:spcPts val="76"/>
              </a:spcBef>
            </a:pPr>
            <a:r>
              <a:rPr lang="fr-FR" sz="680" b="1" spc="-11" dirty="0">
                <a:solidFill>
                  <a:srgbClr val="231F20"/>
                </a:solidFill>
                <a:latin typeface="Arial"/>
                <a:cs typeface="Arial"/>
              </a:rPr>
              <a:t>Flexibilité. </a:t>
            </a:r>
            <a:br>
              <a:rPr lang="fr-FR" sz="680" b="1" spc="-11" dirty="0">
                <a:solidFill>
                  <a:srgbClr val="231F20"/>
                </a:solidFill>
                <a:latin typeface="Arial"/>
                <a:cs typeface="Arial"/>
              </a:rPr>
            </a:br>
            <a:r>
              <a:rPr lang="fr-FR" sz="680" spc="23" dirty="0">
                <a:solidFill>
                  <a:prstClr val="black"/>
                </a:solidFill>
                <a:latin typeface="Arial" panose="020B0604020202020204" pitchFamily="34" charset="0"/>
                <a:cs typeface="Arial" panose="020B0604020202020204" pitchFamily="34" charset="0"/>
              </a:rPr>
              <a:t>Le client peut retirer les excédents de sa police d'assurance vie, ce qui lui permet de bénéficier d'une plus grande flexibilité en cas de manque de liquidités.</a:t>
            </a:r>
            <a:endParaRPr lang="fr-FR" sz="680" spc="23" dirty="0">
              <a:solidFill>
                <a:srgbClr val="231F20"/>
              </a:solidFill>
              <a:latin typeface="Arial"/>
              <a:cs typeface="Arial"/>
            </a:endParaRPr>
          </a:p>
        </p:txBody>
      </p:sp>
      <p:sp>
        <p:nvSpPr>
          <p:cNvPr id="3" name="object 3"/>
          <p:cNvSpPr txBox="1"/>
          <p:nvPr/>
        </p:nvSpPr>
        <p:spPr>
          <a:xfrm>
            <a:off x="4740362" y="4470593"/>
            <a:ext cx="1561427" cy="475139"/>
          </a:xfrm>
          <a:prstGeom prst="rect">
            <a:avLst/>
          </a:prstGeom>
        </p:spPr>
        <p:txBody>
          <a:bodyPr vert="horz" wrap="square" lIns="0" tIns="9597" rIns="0" bIns="0" rtlCol="0">
            <a:spAutoFit/>
          </a:bodyPr>
          <a:lstStyle/>
          <a:p>
            <a:pPr marL="9597" defTabSz="691012">
              <a:lnSpc>
                <a:spcPts val="888"/>
              </a:lnSpc>
              <a:spcBef>
                <a:spcPts val="76"/>
              </a:spcBef>
            </a:pPr>
            <a:r>
              <a:rPr lang="fr-FR" sz="680" b="1" spc="-11" dirty="0">
                <a:solidFill>
                  <a:srgbClr val="231F20"/>
                </a:solidFill>
                <a:latin typeface="Arial"/>
                <a:cs typeface="Arial"/>
              </a:rPr>
              <a:t>Préservation du patrimoine.  </a:t>
            </a:r>
            <a:br>
              <a:rPr lang="fr-FR" sz="680" b="1" spc="-11" dirty="0">
                <a:solidFill>
                  <a:srgbClr val="231F20"/>
                </a:solidFill>
                <a:latin typeface="Arial"/>
                <a:cs typeface="Arial"/>
              </a:rPr>
            </a:br>
            <a:r>
              <a:rPr lang="fr-FR" sz="680" spc="23" dirty="0">
                <a:solidFill>
                  <a:prstClr val="black"/>
                </a:solidFill>
                <a:latin typeface="Arial" panose="020B0604020202020204" pitchFamily="34" charset="0"/>
                <a:cs typeface="Arial" panose="020B0604020202020204" pitchFamily="34" charset="0"/>
              </a:rPr>
              <a:t>La couverture vie permet de payer les droits de succession. L'entreprise familiale est donc protégée.</a:t>
            </a:r>
          </a:p>
        </p:txBody>
      </p:sp>
      <p:sp>
        <p:nvSpPr>
          <p:cNvPr id="21" name="object 21"/>
          <p:cNvSpPr txBox="1"/>
          <p:nvPr/>
        </p:nvSpPr>
        <p:spPr>
          <a:xfrm>
            <a:off x="4745502" y="1826252"/>
            <a:ext cx="1471808" cy="1089532"/>
          </a:xfrm>
          <a:prstGeom prst="rect">
            <a:avLst/>
          </a:prstGeom>
        </p:spPr>
        <p:txBody>
          <a:bodyPr vert="horz" wrap="square" lIns="0" tIns="17275" rIns="0" bIns="0" rtlCol="0">
            <a:spAutoFit/>
          </a:bodyPr>
          <a:lstStyle/>
          <a:p>
            <a:pPr marL="9597">
              <a:spcBef>
                <a:spcPts val="76"/>
              </a:spcBef>
            </a:pPr>
            <a:r>
              <a:rPr lang="fr-FR" sz="680" spc="23" dirty="0">
                <a:latin typeface="Arial" panose="020B0604020202020204" pitchFamily="34" charset="0"/>
                <a:cs typeface="Arial" panose="020B0604020202020204" pitchFamily="34" charset="0"/>
              </a:rPr>
              <a:t>Edouard souscrit un contrat </a:t>
            </a:r>
            <a:br>
              <a:rPr lang="fr-FR" sz="680" spc="23" dirty="0">
                <a:latin typeface="Arial" panose="020B0604020202020204" pitchFamily="34" charset="0"/>
                <a:cs typeface="Arial" panose="020B0604020202020204" pitchFamily="34" charset="0"/>
              </a:rPr>
            </a:br>
            <a:r>
              <a:rPr lang="fr-FR" sz="680" spc="23" dirty="0">
                <a:latin typeface="Arial" panose="020B0604020202020204" pitchFamily="34" charset="0"/>
                <a:cs typeface="Arial" panose="020B0604020202020204" pitchFamily="34" charset="0"/>
              </a:rPr>
              <a:t>Swiss Life </a:t>
            </a:r>
            <a:r>
              <a:rPr lang="fr-FR" sz="680" spc="23" dirty="0" err="1">
                <a:latin typeface="Arial" panose="020B0604020202020204" pitchFamily="34" charset="0"/>
                <a:cs typeface="Arial" panose="020B0604020202020204" pitchFamily="34" charset="0"/>
              </a:rPr>
              <a:t>Generations</a:t>
            </a:r>
            <a:r>
              <a:rPr lang="fr-FR" sz="680" spc="23" dirty="0">
                <a:latin typeface="Arial" panose="020B0604020202020204" pitchFamily="34" charset="0"/>
                <a:cs typeface="Arial" panose="020B0604020202020204" pitchFamily="34" charset="0"/>
              </a:rPr>
              <a:t>. </a:t>
            </a:r>
          </a:p>
          <a:p>
            <a:pPr marL="9597">
              <a:spcBef>
                <a:spcPts val="76"/>
              </a:spcBef>
            </a:pPr>
            <a:endParaRPr lang="fr-FR" sz="680" spc="23" dirty="0">
              <a:latin typeface="Arial" panose="020B0604020202020204" pitchFamily="34" charset="0"/>
              <a:cs typeface="Arial" panose="020B0604020202020204" pitchFamily="34" charset="0"/>
            </a:endParaRPr>
          </a:p>
          <a:p>
            <a:pPr marL="9597">
              <a:spcBef>
                <a:spcPts val="76"/>
              </a:spcBef>
            </a:pPr>
            <a:r>
              <a:rPr lang="fr-FR" sz="680" spc="23" dirty="0">
                <a:latin typeface="Arial" panose="020B0604020202020204" pitchFamily="34" charset="0"/>
                <a:cs typeface="Arial" panose="020B0604020202020204" pitchFamily="34" charset="0"/>
              </a:rPr>
              <a:t>En cas de décès, Sacha reçoit l'entreprise familiale ; Sarah et Eléonore héritent d'une part composée des biens immobiliers, des autres actifs et de la couverture vie versée par le contrat d'assurance vie.</a:t>
            </a:r>
          </a:p>
        </p:txBody>
      </p:sp>
      <p:sp>
        <p:nvSpPr>
          <p:cNvPr id="22" name="object 22"/>
          <p:cNvSpPr txBox="1"/>
          <p:nvPr/>
        </p:nvSpPr>
        <p:spPr>
          <a:xfrm>
            <a:off x="6691658" y="1694664"/>
            <a:ext cx="1362290" cy="959240"/>
          </a:xfrm>
          <a:prstGeom prst="rect">
            <a:avLst/>
          </a:prstGeom>
        </p:spPr>
        <p:txBody>
          <a:bodyPr vert="horz" wrap="square" lIns="0" tIns="17275" rIns="0" bIns="0" rtlCol="0">
            <a:spAutoFit/>
          </a:bodyPr>
          <a:lstStyle/>
          <a:p>
            <a:pPr marL="9597">
              <a:spcBef>
                <a:spcPts val="76"/>
              </a:spcBef>
            </a:pPr>
            <a:r>
              <a:rPr lang="fr-FR" sz="680" spc="23" dirty="0">
                <a:latin typeface="Arial" panose="020B0604020202020204" pitchFamily="34" charset="0"/>
                <a:cs typeface="Arial" panose="020B0604020202020204" pitchFamily="34" charset="0"/>
              </a:rPr>
              <a:t>Grâce à la couverture vie élevée, des liquidités suffisantes sont disponibles en cas de décès pour que l'entreprise puisse être gérée par le fils et qu'il ne soit pas nécessaire de vendre des parts de l’entreprise, des biens immobiliers ou d’autres actifs non liquides.</a:t>
            </a:r>
            <a:endParaRPr lang="fr-FR" sz="680" dirty="0">
              <a:latin typeface="Arial" panose="020B0604020202020204" pitchFamily="34" charset="0"/>
              <a:cs typeface="Arial" panose="020B0604020202020204" pitchFamily="34" charset="0"/>
            </a:endParaRPr>
          </a:p>
        </p:txBody>
      </p:sp>
      <p:sp>
        <p:nvSpPr>
          <p:cNvPr id="23" name="object 23"/>
          <p:cNvSpPr txBox="1"/>
          <p:nvPr/>
        </p:nvSpPr>
        <p:spPr>
          <a:xfrm>
            <a:off x="4740361" y="1687806"/>
            <a:ext cx="431864" cy="114335"/>
          </a:xfrm>
          <a:prstGeom prst="rect">
            <a:avLst/>
          </a:prstGeom>
        </p:spPr>
        <p:txBody>
          <a:bodyPr vert="horz" wrap="square" lIns="0" tIns="9597" rIns="0" bIns="0" rtlCol="0">
            <a:spAutoFit/>
          </a:bodyPr>
          <a:lstStyle/>
          <a:p>
            <a:pPr marL="9597">
              <a:spcBef>
                <a:spcPts val="76"/>
              </a:spcBef>
            </a:pPr>
            <a:r>
              <a:rPr lang="fr-FR" sz="680" b="1" spc="-11" dirty="0">
                <a:solidFill>
                  <a:srgbClr val="231F20"/>
                </a:solidFill>
                <a:latin typeface="Arial"/>
                <a:cs typeface="Arial"/>
              </a:rPr>
              <a:t>Solution.</a:t>
            </a:r>
            <a:endParaRPr lang="fr-FR" sz="680" dirty="0">
              <a:latin typeface="Arial"/>
              <a:cs typeface="Arial"/>
            </a:endParaRPr>
          </a:p>
        </p:txBody>
      </p:sp>
      <p:sp>
        <p:nvSpPr>
          <p:cNvPr id="27" name="object 27"/>
          <p:cNvSpPr/>
          <p:nvPr/>
        </p:nvSpPr>
        <p:spPr>
          <a:xfrm>
            <a:off x="4571471" y="1278886"/>
            <a:ext cx="0" cy="3789366"/>
          </a:xfrm>
          <a:custGeom>
            <a:avLst/>
            <a:gdLst/>
            <a:ahLst/>
            <a:cxnLst/>
            <a:rect l="l" t="t" r="r" b="b"/>
            <a:pathLst>
              <a:path h="5014595">
                <a:moveTo>
                  <a:pt x="0" y="0"/>
                </a:moveTo>
                <a:lnTo>
                  <a:pt x="0" y="5014582"/>
                </a:lnTo>
              </a:path>
            </a:pathLst>
          </a:custGeom>
          <a:ln w="6350">
            <a:solidFill>
              <a:srgbClr val="231F20"/>
            </a:solidFill>
            <a:prstDash val="dot"/>
          </a:ln>
        </p:spPr>
        <p:txBody>
          <a:bodyPr wrap="square" lIns="0" tIns="0" rIns="0" bIns="0" rtlCol="0"/>
          <a:lstStyle/>
          <a:p>
            <a:endParaRPr lang="fr-FR" sz="1360" dirty="0"/>
          </a:p>
        </p:txBody>
      </p:sp>
      <p:sp>
        <p:nvSpPr>
          <p:cNvPr id="30" name="object 6">
            <a:extLst>
              <a:ext uri="{FF2B5EF4-FFF2-40B4-BE49-F238E27FC236}">
                <a16:creationId xmlns:a16="http://schemas.microsoft.com/office/drawing/2014/main" id="{5A6DEF15-7AD6-42D7-9F84-6F717B7A6D81}"/>
              </a:ext>
            </a:extLst>
          </p:cNvPr>
          <p:cNvSpPr txBox="1"/>
          <p:nvPr/>
        </p:nvSpPr>
        <p:spPr>
          <a:xfrm>
            <a:off x="1011748" y="3035974"/>
            <a:ext cx="3355692" cy="1831343"/>
          </a:xfrm>
          <a:prstGeom prst="rect">
            <a:avLst/>
          </a:prstGeom>
        </p:spPr>
        <p:txBody>
          <a:bodyPr vert="horz" wrap="square" lIns="0" tIns="9597" rIns="0" bIns="0" rtlCol="0">
            <a:spAutoFit/>
          </a:bodyPr>
          <a:lstStyle/>
          <a:p>
            <a:pPr marL="9597">
              <a:spcBef>
                <a:spcPts val="76"/>
              </a:spcBef>
            </a:pPr>
            <a:r>
              <a:rPr lang="fr-FR" sz="756" spc="23" dirty="0">
                <a:solidFill>
                  <a:srgbClr val="231F20"/>
                </a:solidFill>
                <a:latin typeface="Arial" panose="020B0604020202020204" pitchFamily="34" charset="0"/>
                <a:cs typeface="Arial" panose="020B0604020202020204" pitchFamily="34" charset="0"/>
              </a:rPr>
              <a:t>Edouard, chef d'entreprise familiale, 45 ans, marié, avec 2 enfants Éléonore et Sacha. Son patrimoine est en grande partie lié à l'entreprise, mais aussi investi dans l'immobilier et dans d'autres actifs non liquides. </a:t>
            </a:r>
          </a:p>
          <a:p>
            <a:pPr marL="9597">
              <a:spcBef>
                <a:spcPts val="76"/>
              </a:spcBef>
            </a:pPr>
            <a:endParaRPr lang="fr-FR" sz="756" spc="23" dirty="0">
              <a:solidFill>
                <a:srgbClr val="231F20"/>
              </a:solidFill>
              <a:latin typeface="Arial" panose="020B0604020202020204" pitchFamily="34" charset="0"/>
              <a:cs typeface="Arial" panose="020B0604020202020204" pitchFamily="34" charset="0"/>
            </a:endParaRPr>
          </a:p>
          <a:p>
            <a:pPr marL="9597">
              <a:spcBef>
                <a:spcPts val="76"/>
              </a:spcBef>
            </a:pPr>
            <a:r>
              <a:rPr lang="fr-FR" sz="756" spc="23" dirty="0">
                <a:solidFill>
                  <a:srgbClr val="231F20"/>
                </a:solidFill>
                <a:latin typeface="Arial" panose="020B0604020202020204" pitchFamily="34" charset="0"/>
                <a:cs typeface="Arial" panose="020B0604020202020204" pitchFamily="34" charset="0"/>
              </a:rPr>
              <a:t>En cas de décès, il souhaite que sa femme Sarah et ses enfants soient protégés sans avoir à toucher à l'entreprise. Sacha, le fils aîné, souhaitant diriger l'entreprise, il faut créer une compensation pour Sarah et Éléonore.</a:t>
            </a:r>
          </a:p>
          <a:p>
            <a:pPr marL="9597">
              <a:spcBef>
                <a:spcPts val="76"/>
              </a:spcBef>
            </a:pPr>
            <a:endParaRPr lang="fr-FR" sz="756" spc="23" dirty="0">
              <a:solidFill>
                <a:srgbClr val="231F20"/>
              </a:solidFill>
              <a:latin typeface="Arial" panose="020B0604020202020204" pitchFamily="34" charset="0"/>
              <a:cs typeface="Arial" panose="020B0604020202020204" pitchFamily="34" charset="0"/>
            </a:endParaRPr>
          </a:p>
          <a:p>
            <a:pPr marL="9597">
              <a:spcBef>
                <a:spcPts val="76"/>
              </a:spcBef>
            </a:pPr>
            <a:r>
              <a:rPr lang="fr-FR" sz="756" b="1" spc="23" dirty="0">
                <a:solidFill>
                  <a:srgbClr val="231F20"/>
                </a:solidFill>
                <a:latin typeface="Arial" panose="020B0604020202020204" pitchFamily="34" charset="0"/>
                <a:cs typeface="Arial" panose="020B0604020202020204" pitchFamily="34" charset="0"/>
              </a:rPr>
              <a:t>Comment Édouard peut-il s'assurer que sa femme et ses enfants reçoivent une part égale et soient financièrement protégés ?</a:t>
            </a:r>
          </a:p>
          <a:p>
            <a:pPr marL="9597">
              <a:spcBef>
                <a:spcPts val="76"/>
              </a:spcBef>
            </a:pPr>
            <a:endParaRPr lang="fr-FR" sz="756" spc="23" dirty="0">
              <a:solidFill>
                <a:srgbClr val="231F20"/>
              </a:solidFill>
              <a:latin typeface="Arial" panose="020B0604020202020204" pitchFamily="34" charset="0"/>
              <a:cs typeface="Arial" panose="020B0604020202020204" pitchFamily="34" charset="0"/>
            </a:endParaRPr>
          </a:p>
          <a:p>
            <a:pPr marL="9597">
              <a:spcBef>
                <a:spcPts val="76"/>
              </a:spcBef>
            </a:pPr>
            <a:r>
              <a:rPr lang="fr-FR" sz="756" b="1" spc="23" dirty="0">
                <a:solidFill>
                  <a:srgbClr val="231F20"/>
                </a:solidFill>
                <a:latin typeface="Arial" panose="020B0604020202020204" pitchFamily="34" charset="0"/>
                <a:cs typeface="Arial" panose="020B0604020202020204" pitchFamily="34" charset="0"/>
              </a:rPr>
              <a:t>Et comment peut-il s'assurer d'avoir accès à tout excédent de la police d’assurance vie en cas de problème de liquidités ?</a:t>
            </a:r>
            <a:br>
              <a:rPr lang="fr-FR" sz="756" spc="23" dirty="0">
                <a:solidFill>
                  <a:srgbClr val="231F20"/>
                </a:solidFill>
                <a:latin typeface="Arial" panose="020B0604020202020204" pitchFamily="34" charset="0"/>
                <a:cs typeface="Arial" panose="020B0604020202020204" pitchFamily="34" charset="0"/>
              </a:rPr>
            </a:br>
            <a:endParaRPr lang="fr-FR" sz="756" spc="23" dirty="0">
              <a:solidFill>
                <a:srgbClr val="231F20"/>
              </a:solidFill>
              <a:latin typeface="Arial" panose="020B0604020202020204" pitchFamily="34" charset="0"/>
              <a:cs typeface="Arial" panose="020B0604020202020204" pitchFamily="34" charset="0"/>
            </a:endParaRPr>
          </a:p>
        </p:txBody>
      </p:sp>
      <p:pic>
        <p:nvPicPr>
          <p:cNvPr id="13" name="Picture 12" descr="A red and white circle with a person in it&#10;&#10;Description automatically generated with low confidence">
            <a:extLst>
              <a:ext uri="{FF2B5EF4-FFF2-40B4-BE49-F238E27FC236}">
                <a16:creationId xmlns:a16="http://schemas.microsoft.com/office/drawing/2014/main" id="{9E5DF5BD-5B48-90AD-D8F6-64DB839A9744}"/>
              </a:ext>
            </a:extLst>
          </p:cNvPr>
          <p:cNvPicPr>
            <a:picLocks noChangeAspect="1"/>
          </p:cNvPicPr>
          <p:nvPr/>
        </p:nvPicPr>
        <p:blipFill>
          <a:blip r:embed="rId3" cstate="print">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6144970" y="1171589"/>
            <a:ext cx="540000" cy="540000"/>
          </a:xfrm>
          <a:prstGeom prst="rect">
            <a:avLst/>
          </a:prstGeom>
          <a:ln>
            <a:noFill/>
          </a:ln>
          <a:extLst>
            <a:ext uri="{91240B29-F687-4F45-9708-019B960494DF}">
              <a14:hiddenLine xmlns:a14="http://schemas.microsoft.com/office/drawing/2010/main">
                <a:solidFill>
                  <a:schemeClr val="accent3"/>
                </a:solidFill>
              </a14:hiddenLine>
            </a:ext>
          </a:extLst>
        </p:spPr>
      </p:pic>
      <p:grpSp>
        <p:nvGrpSpPr>
          <p:cNvPr id="14" name="Group 13">
            <a:extLst>
              <a:ext uri="{FF2B5EF4-FFF2-40B4-BE49-F238E27FC236}">
                <a16:creationId xmlns:a16="http://schemas.microsoft.com/office/drawing/2014/main" id="{6F3F2D0D-7C93-F54B-91BD-715A28DA7D3E}"/>
              </a:ext>
            </a:extLst>
          </p:cNvPr>
          <p:cNvGrpSpPr/>
          <p:nvPr/>
        </p:nvGrpSpPr>
        <p:grpSpPr>
          <a:xfrm>
            <a:off x="6396853" y="1803331"/>
            <a:ext cx="48982" cy="843324"/>
            <a:chOff x="7761589" y="2238380"/>
            <a:chExt cx="64820" cy="1115999"/>
          </a:xfrm>
        </p:grpSpPr>
        <p:sp>
          <p:nvSpPr>
            <p:cNvPr id="15" name="object 18">
              <a:extLst>
                <a:ext uri="{FF2B5EF4-FFF2-40B4-BE49-F238E27FC236}">
                  <a16:creationId xmlns:a16="http://schemas.microsoft.com/office/drawing/2014/main" id="{0A878398-4E6A-F822-654A-4E1511CD518F}"/>
                </a:ext>
              </a:extLst>
            </p:cNvPr>
            <p:cNvSpPr/>
            <p:nvPr/>
          </p:nvSpPr>
          <p:spPr>
            <a:xfrm>
              <a:off x="7794000" y="2307748"/>
              <a:ext cx="0" cy="977265"/>
            </a:xfrm>
            <a:custGeom>
              <a:avLst/>
              <a:gdLst/>
              <a:ahLst/>
              <a:cxnLst/>
              <a:rect l="l" t="t" r="r" b="b"/>
              <a:pathLst>
                <a:path h="977264">
                  <a:moveTo>
                    <a:pt x="0" y="0"/>
                  </a:moveTo>
                  <a:lnTo>
                    <a:pt x="0" y="977265"/>
                  </a:lnTo>
                </a:path>
              </a:pathLst>
            </a:custGeom>
            <a:ln w="12700">
              <a:solidFill>
                <a:srgbClr val="808285"/>
              </a:solidFill>
            </a:ln>
          </p:spPr>
          <p:txBody>
            <a:bodyPr wrap="square" lIns="0" tIns="0" rIns="0" bIns="0" rtlCol="0"/>
            <a:lstStyle/>
            <a:p>
              <a:pPr defTabSz="691012"/>
              <a:endParaRPr lang="fr-FR" sz="1360" dirty="0">
                <a:solidFill>
                  <a:prstClr val="black"/>
                </a:solidFill>
                <a:latin typeface="Calibri"/>
              </a:endParaRPr>
            </a:p>
          </p:txBody>
        </p:sp>
        <p:sp>
          <p:nvSpPr>
            <p:cNvPr id="26" name="object 19">
              <a:extLst>
                <a:ext uri="{FF2B5EF4-FFF2-40B4-BE49-F238E27FC236}">
                  <a16:creationId xmlns:a16="http://schemas.microsoft.com/office/drawing/2014/main" id="{9B4E4B10-6FC0-450B-C8EC-7F7B4A1254F9}"/>
                </a:ext>
              </a:extLst>
            </p:cNvPr>
            <p:cNvSpPr/>
            <p:nvPr/>
          </p:nvSpPr>
          <p:spPr>
            <a:xfrm>
              <a:off x="7761589" y="2238380"/>
              <a:ext cx="64820" cy="89052"/>
            </a:xfrm>
            <a:prstGeom prst="rect">
              <a:avLst/>
            </a:prstGeom>
            <a:blipFill>
              <a:blip r:embed="rId4" cstate="print"/>
              <a:stretch>
                <a:fillRect/>
              </a:stretch>
            </a:blipFill>
          </p:spPr>
          <p:txBody>
            <a:bodyPr wrap="square" lIns="0" tIns="0" rIns="0" bIns="0" rtlCol="0"/>
            <a:lstStyle/>
            <a:p>
              <a:pPr defTabSz="691012"/>
              <a:endParaRPr lang="fr-FR" sz="1360" dirty="0">
                <a:solidFill>
                  <a:prstClr val="black"/>
                </a:solidFill>
                <a:latin typeface="Calibri"/>
              </a:endParaRPr>
            </a:p>
          </p:txBody>
        </p:sp>
        <p:sp>
          <p:nvSpPr>
            <p:cNvPr id="29" name="object 20">
              <a:extLst>
                <a:ext uri="{FF2B5EF4-FFF2-40B4-BE49-F238E27FC236}">
                  <a16:creationId xmlns:a16="http://schemas.microsoft.com/office/drawing/2014/main" id="{45005E0C-DAB1-73F0-D1B0-68A66DBE0A0A}"/>
                </a:ext>
              </a:extLst>
            </p:cNvPr>
            <p:cNvSpPr/>
            <p:nvPr/>
          </p:nvSpPr>
          <p:spPr>
            <a:xfrm>
              <a:off x="7761589" y="3265327"/>
              <a:ext cx="64820" cy="89052"/>
            </a:xfrm>
            <a:prstGeom prst="rect">
              <a:avLst/>
            </a:prstGeom>
            <a:blipFill>
              <a:blip r:embed="rId5" cstate="print"/>
              <a:stretch>
                <a:fillRect/>
              </a:stretch>
            </a:blipFill>
          </p:spPr>
          <p:txBody>
            <a:bodyPr wrap="square" lIns="0" tIns="0" rIns="0" bIns="0" rtlCol="0"/>
            <a:lstStyle/>
            <a:p>
              <a:pPr defTabSz="691012"/>
              <a:endParaRPr lang="fr-FR" sz="1360" dirty="0">
                <a:solidFill>
                  <a:prstClr val="black"/>
                </a:solidFill>
                <a:latin typeface="Calibri"/>
              </a:endParaRPr>
            </a:p>
          </p:txBody>
        </p:sp>
      </p:grpSp>
      <p:grpSp>
        <p:nvGrpSpPr>
          <p:cNvPr id="32" name="Group 31">
            <a:extLst>
              <a:ext uri="{FF2B5EF4-FFF2-40B4-BE49-F238E27FC236}">
                <a16:creationId xmlns:a16="http://schemas.microsoft.com/office/drawing/2014/main" id="{87FA87D1-8B73-7CD5-80BD-5E396BCDEADD}"/>
              </a:ext>
            </a:extLst>
          </p:cNvPr>
          <p:cNvGrpSpPr/>
          <p:nvPr/>
        </p:nvGrpSpPr>
        <p:grpSpPr>
          <a:xfrm>
            <a:off x="6084505" y="2885454"/>
            <a:ext cx="684000" cy="764134"/>
            <a:chOff x="6084505" y="2833626"/>
            <a:chExt cx="684000" cy="764134"/>
          </a:xfrm>
        </p:grpSpPr>
        <p:sp>
          <p:nvSpPr>
            <p:cNvPr id="33" name="Rectangle 32">
              <a:extLst>
                <a:ext uri="{FF2B5EF4-FFF2-40B4-BE49-F238E27FC236}">
                  <a16:creationId xmlns:a16="http://schemas.microsoft.com/office/drawing/2014/main" id="{F425273F-5407-40DF-05BA-E8693FB48085}"/>
                </a:ext>
              </a:extLst>
            </p:cNvPr>
            <p:cNvSpPr/>
            <p:nvPr/>
          </p:nvSpPr>
          <p:spPr>
            <a:xfrm rot="2711856">
              <a:off x="6084505" y="2913760"/>
              <a:ext cx="684000" cy="684000"/>
            </a:xfrm>
            <a:prstGeom prst="rect">
              <a:avLst/>
            </a:prstGeom>
            <a:solidFill>
              <a:schemeClr val="folHlink"/>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rgbClr val="FFFFFF"/>
                </a:solidFill>
                <a:latin typeface="Arial" panose="020B0604020202020204" pitchFamily="34" charset="0"/>
                <a:cs typeface="Arial" panose="020B0604020202020204" pitchFamily="34" charset="0"/>
              </a:endParaRPr>
            </a:p>
          </p:txBody>
        </p:sp>
        <p:sp>
          <p:nvSpPr>
            <p:cNvPr id="34" name="object 15">
              <a:extLst>
                <a:ext uri="{FF2B5EF4-FFF2-40B4-BE49-F238E27FC236}">
                  <a16:creationId xmlns:a16="http://schemas.microsoft.com/office/drawing/2014/main" id="{56B5F21D-ECED-EBCF-0231-5FDA225C4F84}"/>
                </a:ext>
              </a:extLst>
            </p:cNvPr>
            <p:cNvSpPr txBox="1"/>
            <p:nvPr/>
          </p:nvSpPr>
          <p:spPr>
            <a:xfrm>
              <a:off x="6126820" y="3145227"/>
              <a:ext cx="576298" cy="300223"/>
            </a:xfrm>
            <a:prstGeom prst="rect">
              <a:avLst/>
            </a:prstGeom>
          </p:spPr>
          <p:txBody>
            <a:bodyPr vert="horz" wrap="square" lIns="0" tIns="26872" rIns="0" bIns="0" rtlCol="0">
              <a:spAutoFit/>
            </a:bodyPr>
            <a:lstStyle/>
            <a:p>
              <a:pPr marL="9597" marR="3839" indent="53745" defTabSz="691012">
                <a:lnSpc>
                  <a:spcPts val="1058"/>
                </a:lnSpc>
                <a:spcBef>
                  <a:spcPts val="212"/>
                </a:spcBef>
              </a:pPr>
              <a:r>
                <a:rPr lang="fr-FR" sz="900" spc="-60" dirty="0">
                  <a:solidFill>
                    <a:srgbClr val="FFFFFF"/>
                  </a:solidFill>
                  <a:cs typeface="Cambria"/>
                </a:rPr>
                <a:t>Swiss </a:t>
              </a:r>
              <a:r>
                <a:rPr lang="fr-FR" sz="900" spc="-45" dirty="0">
                  <a:solidFill>
                    <a:srgbClr val="FFFFFF"/>
                  </a:solidFill>
                  <a:cs typeface="Cambria"/>
                </a:rPr>
                <a:t>Life  </a:t>
              </a:r>
              <a:r>
                <a:rPr lang="fr-FR" sz="900" spc="79" dirty="0" err="1">
                  <a:solidFill>
                    <a:srgbClr val="FFFFFF"/>
                  </a:solidFill>
                  <a:cs typeface="Cambria"/>
                </a:rPr>
                <a:t>G</a:t>
              </a:r>
              <a:r>
                <a:rPr lang="fr-FR" sz="900" spc="-91" dirty="0" err="1">
                  <a:solidFill>
                    <a:srgbClr val="FFFFFF"/>
                  </a:solidFill>
                  <a:cs typeface="Cambria"/>
                </a:rPr>
                <a:t>e</a:t>
              </a:r>
              <a:r>
                <a:rPr lang="fr-FR" sz="900" spc="-26" dirty="0" err="1">
                  <a:solidFill>
                    <a:srgbClr val="FFFFFF"/>
                  </a:solidFill>
                  <a:cs typeface="Cambria"/>
                </a:rPr>
                <a:t>n</a:t>
              </a:r>
              <a:r>
                <a:rPr lang="fr-FR" sz="900" spc="-83" dirty="0" err="1">
                  <a:solidFill>
                    <a:srgbClr val="FFFFFF"/>
                  </a:solidFill>
                  <a:cs typeface="Cambria"/>
                </a:rPr>
                <a:t>e</a:t>
              </a:r>
              <a:r>
                <a:rPr lang="fr-FR" sz="900" spc="-76" dirty="0" err="1">
                  <a:solidFill>
                    <a:srgbClr val="FFFFFF"/>
                  </a:solidFill>
                  <a:cs typeface="Cambria"/>
                </a:rPr>
                <a:t>r</a:t>
              </a:r>
              <a:r>
                <a:rPr lang="fr-FR" sz="900" spc="-64" dirty="0" err="1">
                  <a:solidFill>
                    <a:srgbClr val="FFFFFF"/>
                  </a:solidFill>
                  <a:cs typeface="Cambria"/>
                </a:rPr>
                <a:t>a</a:t>
              </a:r>
              <a:r>
                <a:rPr lang="fr-FR" sz="900" spc="-57" dirty="0" err="1">
                  <a:solidFill>
                    <a:srgbClr val="FFFFFF"/>
                  </a:solidFill>
                  <a:cs typeface="Cambria"/>
                </a:rPr>
                <a:t>t</a:t>
              </a:r>
              <a:r>
                <a:rPr lang="fr-FR" sz="900" spc="-38" dirty="0" err="1">
                  <a:solidFill>
                    <a:srgbClr val="FFFFFF"/>
                  </a:solidFill>
                  <a:cs typeface="Cambria"/>
                </a:rPr>
                <a:t>i</a:t>
              </a:r>
              <a:r>
                <a:rPr lang="fr-FR" sz="900" spc="-91" dirty="0" err="1">
                  <a:solidFill>
                    <a:srgbClr val="FFFFFF"/>
                  </a:solidFill>
                  <a:cs typeface="Cambria"/>
                </a:rPr>
                <a:t>o</a:t>
              </a:r>
              <a:r>
                <a:rPr lang="fr-FR" sz="900" spc="-38" dirty="0" err="1">
                  <a:solidFill>
                    <a:srgbClr val="FFFFFF"/>
                  </a:solidFill>
                  <a:cs typeface="Cambria"/>
                </a:rPr>
                <a:t>n</a:t>
              </a:r>
              <a:r>
                <a:rPr lang="fr-FR" sz="900" spc="-86" dirty="0" err="1">
                  <a:solidFill>
                    <a:srgbClr val="FFFFFF"/>
                  </a:solidFill>
                  <a:cs typeface="Cambria"/>
                </a:rPr>
                <a:t>s</a:t>
              </a:r>
              <a:endParaRPr lang="fr-FR" sz="900" dirty="0">
                <a:solidFill>
                  <a:prstClr val="black"/>
                </a:solidFill>
                <a:cs typeface="Cambria"/>
              </a:endParaRPr>
            </a:p>
          </p:txBody>
        </p:sp>
        <p:pic>
          <p:nvPicPr>
            <p:cNvPr id="35" name="Picture 34" descr="A picture containing circle, gear, design&#10;&#10;Description automatically generated">
              <a:extLst>
                <a:ext uri="{FF2B5EF4-FFF2-40B4-BE49-F238E27FC236}">
                  <a16:creationId xmlns:a16="http://schemas.microsoft.com/office/drawing/2014/main" id="{EA300B76-771C-CB16-3972-3B7BB2C09E8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241344" y="2833626"/>
              <a:ext cx="360000" cy="360000"/>
            </a:xfrm>
            <a:prstGeom prst="rect">
              <a:avLst/>
            </a:prstGeom>
          </p:spPr>
        </p:pic>
      </p:grpSp>
      <p:sp>
        <p:nvSpPr>
          <p:cNvPr id="5" name="object 17">
            <a:extLst>
              <a:ext uri="{FF2B5EF4-FFF2-40B4-BE49-F238E27FC236}">
                <a16:creationId xmlns:a16="http://schemas.microsoft.com/office/drawing/2014/main" id="{9E181295-D0E9-6EA1-4999-656AC8E4E7B4}"/>
              </a:ext>
            </a:extLst>
          </p:cNvPr>
          <p:cNvSpPr txBox="1"/>
          <p:nvPr/>
        </p:nvSpPr>
        <p:spPr>
          <a:xfrm>
            <a:off x="6686898" y="3662203"/>
            <a:ext cx="1578703" cy="1411293"/>
          </a:xfrm>
          <a:prstGeom prst="rect">
            <a:avLst/>
          </a:prstGeom>
        </p:spPr>
        <p:txBody>
          <a:bodyPr vert="horz" wrap="square" lIns="0" tIns="9597" rIns="0" bIns="0" rtlCol="0">
            <a:spAutoFit/>
          </a:bodyPr>
          <a:lstStyle/>
          <a:p>
            <a:pPr marL="9597" defTabSz="691012">
              <a:lnSpc>
                <a:spcPts val="888"/>
              </a:lnSpc>
              <a:spcBef>
                <a:spcPts val="76"/>
              </a:spcBef>
            </a:pPr>
            <a:r>
              <a:rPr lang="fr-FR" sz="680" b="1" spc="-15" dirty="0">
                <a:solidFill>
                  <a:srgbClr val="231F20"/>
                </a:solidFill>
                <a:latin typeface="Arial"/>
                <a:cs typeface="Arial"/>
              </a:rPr>
              <a:t>Des bases solides pour vivre en toute liberté de choix.</a:t>
            </a:r>
            <a:br>
              <a:rPr lang="fr-FR" sz="680" b="1" spc="-15" dirty="0">
                <a:solidFill>
                  <a:srgbClr val="231F20"/>
                </a:solidFill>
                <a:latin typeface="Arial"/>
                <a:cs typeface="Arial"/>
              </a:rPr>
            </a:br>
            <a:r>
              <a:rPr lang="fr-FR" sz="680" spc="23" dirty="0">
                <a:solidFill>
                  <a:prstClr val="black"/>
                </a:solidFill>
                <a:latin typeface="Arial" panose="020B0604020202020204" pitchFamily="34" charset="0"/>
                <a:cs typeface="Arial" panose="020B0604020202020204" pitchFamily="34" charset="0"/>
              </a:rPr>
              <a:t>Nos solutions flexibles et durables aident nos clients à faire face en toute confiance aux multiples défis auxquels ils sont confrontés. </a:t>
            </a:r>
          </a:p>
          <a:p>
            <a:pPr marL="9597" defTabSz="691012">
              <a:lnSpc>
                <a:spcPts val="888"/>
              </a:lnSpc>
              <a:spcBef>
                <a:spcPts val="76"/>
              </a:spcBef>
            </a:pPr>
            <a:endParaRPr lang="fr-FR" sz="680" spc="23" dirty="0">
              <a:solidFill>
                <a:prstClr val="black"/>
              </a:solidFill>
              <a:latin typeface="Arial" panose="020B0604020202020204" pitchFamily="34" charset="0"/>
              <a:cs typeface="Arial" panose="020B0604020202020204" pitchFamily="34" charset="0"/>
            </a:endParaRPr>
          </a:p>
          <a:p>
            <a:pPr marL="9597" defTabSz="691012">
              <a:lnSpc>
                <a:spcPts val="888"/>
              </a:lnSpc>
              <a:spcBef>
                <a:spcPts val="76"/>
              </a:spcBef>
            </a:pPr>
            <a:r>
              <a:rPr lang="fr-FR" sz="680" spc="23" dirty="0">
                <a:solidFill>
                  <a:prstClr val="black"/>
                </a:solidFill>
                <a:latin typeface="Arial" panose="020B0604020202020204" pitchFamily="34" charset="0"/>
                <a:cs typeface="Arial" panose="020B0604020202020204" pitchFamily="34" charset="0"/>
              </a:rPr>
              <a:t>En combinant l'assurance vie à la gestion de patrimoine, nous favorisons la sécurité et la liberté financières de nos clients à chaque étape de leur vie.</a:t>
            </a:r>
          </a:p>
        </p:txBody>
      </p:sp>
      <p:sp>
        <p:nvSpPr>
          <p:cNvPr id="12" name="Title 11">
            <a:extLst>
              <a:ext uri="{FF2B5EF4-FFF2-40B4-BE49-F238E27FC236}">
                <a16:creationId xmlns:a16="http://schemas.microsoft.com/office/drawing/2014/main" id="{104DAAC5-6C0B-F270-6A19-E0E7776DAFC1}"/>
              </a:ext>
            </a:extLst>
          </p:cNvPr>
          <p:cNvSpPr>
            <a:spLocks noGrp="1"/>
          </p:cNvSpPr>
          <p:nvPr>
            <p:ph type="title"/>
          </p:nvPr>
        </p:nvSpPr>
        <p:spPr/>
        <p:txBody>
          <a:bodyPr/>
          <a:lstStyle/>
          <a:p>
            <a:r>
              <a:rPr lang="fr-FR" i="0" spc="38" dirty="0">
                <a:latin typeface="Times New Roman" panose="02020603050405020304" pitchFamily="18" charset="0"/>
                <a:cs typeface="Times New Roman" panose="02020603050405020304" pitchFamily="18" charset="0"/>
              </a:rPr>
              <a:t>Swiss Life </a:t>
            </a:r>
            <a:r>
              <a:rPr lang="fr-FR" i="0" spc="38" dirty="0" err="1">
                <a:latin typeface="Times New Roman" panose="02020603050405020304" pitchFamily="18" charset="0"/>
                <a:cs typeface="Times New Roman" panose="02020603050405020304" pitchFamily="18" charset="0"/>
              </a:rPr>
              <a:t>Generations</a:t>
            </a:r>
            <a:r>
              <a:rPr lang="fr-FR" i="0" spc="38" dirty="0">
                <a:latin typeface="Times New Roman" panose="02020603050405020304" pitchFamily="18" charset="0"/>
                <a:cs typeface="Times New Roman" panose="02020603050405020304" pitchFamily="18" charset="0"/>
              </a:rPr>
              <a:t> : transmettre le patrimoine de manière égale</a:t>
            </a:r>
            <a:endParaRPr lang="fr-FR" dirty="0"/>
          </a:p>
        </p:txBody>
      </p:sp>
    </p:spTree>
    <p:extLst>
      <p:ext uri="{BB962C8B-B14F-4D97-AF65-F5344CB8AC3E}">
        <p14:creationId xmlns:p14="http://schemas.microsoft.com/office/powerpoint/2010/main" val="391396462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6" name="Rectangle 4"/>
          <p:cNvSpPr>
            <a:spLocks noGrp="1" noChangeArrowheads="1"/>
          </p:cNvSpPr>
          <p:nvPr>
            <p:ph type="title"/>
          </p:nvPr>
        </p:nvSpPr>
        <p:spPr/>
        <p:txBody>
          <a:bodyPr/>
          <a:lstStyle/>
          <a:p>
            <a:pPr eaLnBrk="1" hangingPunct="1"/>
            <a:r>
              <a:rPr lang="fr-FR" dirty="0"/>
              <a:t>Clause </a:t>
            </a:r>
            <a:r>
              <a:rPr lang="fr-FR"/>
              <a:t>de non-responsabilité</a:t>
            </a:r>
            <a:endParaRPr lang="fr-FR" altLang="de-DE" dirty="0"/>
          </a:p>
        </p:txBody>
      </p:sp>
      <p:sp>
        <p:nvSpPr>
          <p:cNvPr id="172037" name="Rectangle 5"/>
          <p:cNvSpPr>
            <a:spLocks noGrp="1" noChangeArrowheads="1"/>
          </p:cNvSpPr>
          <p:nvPr>
            <p:ph idx="1"/>
          </p:nvPr>
        </p:nvSpPr>
        <p:spPr>
          <a:xfrm>
            <a:off x="250824" y="1562100"/>
            <a:ext cx="7273926" cy="3600450"/>
          </a:xfrm>
        </p:spPr>
        <p:txBody>
          <a:bodyPr/>
          <a:lstStyle/>
          <a:p>
            <a:r>
              <a:rPr lang="fr-FR" altLang="de-DE" sz="900" dirty="0">
                <a:solidFill>
                  <a:schemeClr val="accent3"/>
                </a:solidFill>
              </a:rPr>
              <a:t>Ce document a été établi par Swiss Life et ne peut pas être utilisé, copié, modifié ou autrement distribué sans l’accord préalable de Swiss Life.</a:t>
            </a:r>
          </a:p>
          <a:p>
            <a:r>
              <a:rPr lang="fr-FR" altLang="de-DE" sz="900" dirty="0">
                <a:solidFill>
                  <a:schemeClr val="accent3"/>
                </a:solidFill>
              </a:rPr>
              <a:t>Ce document a une vocation purement commerciale. Il ne s’agit pas d’un document contractuel. Les informations contenues dans ce document peuvent trouver à modification, en particulier par suite à des évolutions légales, fiscales, prudentielles ou internes à Swiss Life.</a:t>
            </a:r>
          </a:p>
          <a:p>
            <a:r>
              <a:rPr lang="fr-FR" altLang="de-DE" sz="900" dirty="0">
                <a:solidFill>
                  <a:schemeClr val="accent3"/>
                </a:solidFill>
              </a:rPr>
              <a:t>Votre conseiller personnel vous fournira les informations et documents adéquats avant toute souscription de l’une de nos solutions contractuelles.</a:t>
            </a:r>
          </a:p>
          <a:p>
            <a:r>
              <a:rPr lang="fr-FR" altLang="de-DE" sz="900" dirty="0">
                <a:solidFill>
                  <a:schemeClr val="accent3"/>
                </a:solidFill>
              </a:rPr>
              <a:t>Swiss Life n’est pas habilitée ni ne donne aucun conseil en matière légale et fiscale. Tout commentaire contenu dans ce document est basé sur notre compréhension de l’environnement légal et fiscal et n’est pas destiné à être utilisé dans un contexte de planification fiscale. </a:t>
            </a:r>
          </a:p>
          <a:p>
            <a:r>
              <a:rPr lang="fr-FR" altLang="de-DE" sz="900" dirty="0">
                <a:solidFill>
                  <a:schemeClr val="accent3"/>
                </a:solidFill>
              </a:rPr>
              <a:t>Pour une étude approfondie de votre situation personnelle, pour un conseil sur nos produits et leur traitement fiscal, nous vous recommandons de consulter vos conseillers indépendants habituels.</a:t>
            </a:r>
          </a:p>
          <a:p>
            <a:pPr marL="0" indent="0">
              <a:spcBef>
                <a:spcPct val="0"/>
              </a:spcBef>
              <a:spcAft>
                <a:spcPct val="40000"/>
              </a:spcAft>
              <a:buSzPct val="100000"/>
              <a:buNone/>
            </a:pPr>
            <a:endParaRPr lang="fr-FR" altLang="de-DE" sz="900" dirty="0">
              <a:solidFill>
                <a:schemeClr val="accent3"/>
              </a:solidFill>
            </a:endParaRPr>
          </a:p>
          <a:p>
            <a:pPr marL="0" indent="0">
              <a:spcBef>
                <a:spcPct val="0"/>
              </a:spcBef>
              <a:spcAft>
                <a:spcPct val="40000"/>
              </a:spcAft>
              <a:buSzPct val="100000"/>
              <a:buNone/>
            </a:pPr>
            <a:r>
              <a:rPr lang="fr-FR" altLang="de-DE" sz="900" dirty="0">
                <a:solidFill>
                  <a:schemeClr val="accent3"/>
                </a:solidFill>
              </a:rPr>
              <a:t>© Swiss Life Global Solutions </a:t>
            </a:r>
          </a:p>
        </p:txBody>
      </p:sp>
      <p:sp>
        <p:nvSpPr>
          <p:cNvPr id="5" name="TextBox 4">
            <a:extLst>
              <a:ext uri="{FF2B5EF4-FFF2-40B4-BE49-F238E27FC236}">
                <a16:creationId xmlns:a16="http://schemas.microsoft.com/office/drawing/2014/main" id="{0C048DE8-3FFE-4C6E-A1EA-48C75FEE7547}"/>
              </a:ext>
            </a:extLst>
          </p:cNvPr>
          <p:cNvSpPr txBox="1"/>
          <p:nvPr/>
        </p:nvSpPr>
        <p:spPr>
          <a:xfrm rot="16200000">
            <a:off x="6994193" y="3054653"/>
            <a:ext cx="3489960" cy="200055"/>
          </a:xfrm>
          <a:prstGeom prst="rect">
            <a:avLst/>
          </a:prstGeom>
          <a:noFill/>
        </p:spPr>
        <p:txBody>
          <a:bodyPr wrap="square" rtlCol="0">
            <a:spAutoFit/>
          </a:bodyPr>
          <a:lstStyle/>
          <a:p>
            <a:r>
              <a:rPr lang="fr-FR" sz="700" dirty="0">
                <a:solidFill>
                  <a:schemeClr val="folHlink"/>
                </a:solidFill>
              </a:rPr>
              <a:t>GPW-PLUX-FR-PRES-FR.02-2025</a:t>
            </a:r>
          </a:p>
        </p:txBody>
      </p:sp>
    </p:spTree>
    <p:extLst>
      <p:ext uri="{BB962C8B-B14F-4D97-AF65-F5344CB8AC3E}">
        <p14:creationId xmlns:p14="http://schemas.microsoft.com/office/powerpoint/2010/main" val="224474288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BC920C6-F0A5-4678-A122-F7C7844A92DE}"/>
              </a:ext>
            </a:extLst>
          </p:cNvPr>
          <p:cNvSpPr txBox="1">
            <a:spLocks/>
          </p:cNvSpPr>
          <p:nvPr/>
        </p:nvSpPr>
        <p:spPr>
          <a:xfrm>
            <a:off x="250824" y="1836264"/>
            <a:ext cx="7273504" cy="1021237"/>
          </a:xfrm>
          <a:prstGeom prst="rect">
            <a:avLst/>
          </a:prstGeom>
        </p:spPr>
        <p:txBody>
          <a:bodyPr lIns="36000" tIns="36000" rIns="0" bIns="0"/>
          <a:lstStyle>
            <a:lvl1pPr algn="l" defTabSz="914400" rtl="0" eaLnBrk="1" latinLnBrk="0" hangingPunct="1">
              <a:spcBef>
                <a:spcPct val="0"/>
              </a:spcBef>
              <a:buNone/>
              <a:defRPr sz="3200" kern="1200">
                <a:solidFill>
                  <a:schemeClr val="tx2"/>
                </a:solidFill>
                <a:latin typeface="Times New Roman" panose="02020603050405020304" pitchFamily="18" charset="0"/>
                <a:ea typeface="+mj-ea"/>
                <a:cs typeface="Times New Roman" panose="02020603050405020304" pitchFamily="18" charset="0"/>
              </a:defRPr>
            </a:lvl1pPr>
          </a:lstStyle>
          <a:p>
            <a:r>
              <a:rPr lang="fr-FR" i="1">
                <a:solidFill>
                  <a:schemeClr val="accent3"/>
                </a:solidFill>
              </a:rPr>
              <a:t>Nous permettons à chacun de construire </a:t>
            </a:r>
          </a:p>
          <a:p>
            <a:r>
              <a:rPr lang="fr-FR" i="1">
                <a:solidFill>
                  <a:schemeClr val="accent3"/>
                </a:solidFill>
              </a:rPr>
              <a:t>son indépendance financière </a:t>
            </a:r>
          </a:p>
          <a:p>
            <a:r>
              <a:rPr lang="fr-FR" i="1">
                <a:solidFill>
                  <a:schemeClr val="accent3"/>
                </a:solidFill>
              </a:rPr>
              <a:t>pour vivre selon ses propres choix.</a:t>
            </a:r>
            <a:endParaRPr lang="fr-FR" i="1" dirty="0">
              <a:solidFill>
                <a:schemeClr val="accent3"/>
              </a:solidFill>
            </a:endParaRPr>
          </a:p>
        </p:txBody>
      </p:sp>
    </p:spTree>
    <p:extLst>
      <p:ext uri="{BB962C8B-B14F-4D97-AF65-F5344CB8AC3E}">
        <p14:creationId xmlns:p14="http://schemas.microsoft.com/office/powerpoint/2010/main" val="201886430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LASSIFICATION" val="2"/>
  <p:tag name="VERSINFO" val="SWL1100"/>
  <p:tag name="TEMPLATEID" val="SwissLife"/>
  <p:tag name="CLIENT" val="SWL"/>
  <p:tag name="VERSION" val="1100"/>
  <p:tag name="COLORTHEMEID" val="1"/>
  <p:tag name="BRANDID" val="SwissLife"/>
  <p:tag name="LANGUAGEID" val="1036"/>
</p:tagLst>
</file>

<file path=ppt/tags/tag2.xml><?xml version="1.0" encoding="utf-8"?>
<p:tagLst xmlns:a="http://schemas.openxmlformats.org/drawingml/2006/main" xmlns:r="http://schemas.openxmlformats.org/officeDocument/2006/relationships" xmlns:p="http://schemas.openxmlformats.org/presentationml/2006/main">
  <p:tag name="SHAPETYPE" val="FootnoteBox"/>
</p:tagLst>
</file>

<file path=ppt/tags/tag3.xml><?xml version="1.0" encoding="utf-8"?>
<p:tagLst xmlns:a="http://schemas.openxmlformats.org/drawingml/2006/main" xmlns:r="http://schemas.openxmlformats.org/officeDocument/2006/relationships" xmlns:p="http://schemas.openxmlformats.org/presentationml/2006/main">
  <p:tag name="SHAPETYPE" val="AgendaTitleFrame"/>
  <p:tag name="HANDLINGCONTENT" val="True"/>
</p:tagLst>
</file>

<file path=ppt/tags/tag4.xml><?xml version="1.0" encoding="utf-8"?>
<p:tagLst xmlns:a="http://schemas.openxmlformats.org/drawingml/2006/main" xmlns:r="http://schemas.openxmlformats.org/officeDocument/2006/relationships" xmlns:p="http://schemas.openxmlformats.org/presentationml/2006/main">
  <p:tag name="SHAPETYPE" val="Status"/>
</p:tagLst>
</file>

<file path=ppt/tags/tag5.xml><?xml version="1.0" encoding="utf-8"?>
<p:tagLst xmlns:a="http://schemas.openxmlformats.org/drawingml/2006/main" xmlns:r="http://schemas.openxmlformats.org/officeDocument/2006/relationships" xmlns:p="http://schemas.openxmlformats.org/presentationml/2006/main">
  <p:tag name="SHAPETYPE" val="Footer"/>
</p:tagLst>
</file>

<file path=ppt/tags/tag6.xml><?xml version="1.0" encoding="utf-8"?>
<p:tagLst xmlns:a="http://schemas.openxmlformats.org/drawingml/2006/main" xmlns:r="http://schemas.openxmlformats.org/officeDocument/2006/relationships" xmlns:p="http://schemas.openxmlformats.org/presentationml/2006/main">
  <p:tag name="SHAPETYPE" val="Logo"/>
</p:tagLst>
</file>

<file path=ppt/tags/tag7.xml><?xml version="1.0" encoding="utf-8"?>
<p:tagLst xmlns:a="http://schemas.openxmlformats.org/drawingml/2006/main" xmlns:r="http://schemas.openxmlformats.org/officeDocument/2006/relationships" xmlns:p="http://schemas.openxmlformats.org/presentationml/2006/main">
  <p:tag name="ECO" val="SHOW"/>
</p:tagLst>
</file>

<file path=ppt/tags/tag8.xml><?xml version="1.0" encoding="utf-8"?>
<p:tagLst xmlns:a="http://schemas.openxmlformats.org/drawingml/2006/main" xmlns:r="http://schemas.openxmlformats.org/officeDocument/2006/relationships" xmlns:p="http://schemas.openxmlformats.org/presentationml/2006/main">
  <p:tag name="ECO" val="FONT=0,0,0"/>
</p:tagLst>
</file>

<file path=ppt/tags/tag9.xml><?xml version="1.0" encoding="utf-8"?>
<p:tagLst xmlns:a="http://schemas.openxmlformats.org/drawingml/2006/main" xmlns:r="http://schemas.openxmlformats.org/officeDocument/2006/relationships" xmlns:p="http://schemas.openxmlformats.org/presentationml/2006/main">
  <p:tag name="ECO" val="FONT=0,0,0"/>
</p:tagLst>
</file>

<file path=ppt/tags/tag10.xml><?xml version="1.0" encoding="utf-8"?>
<p:tagLst xmlns:a="http://schemas.openxmlformats.org/drawingml/2006/main" xmlns:r="http://schemas.openxmlformats.org/officeDocument/2006/relationships" xmlns:p="http://schemas.openxmlformats.org/presentationml/2006/main">
  <p:tag name="SHAPETYPE" val="Status"/>
</p:tagLst>
</file>

<file path=ppt/tags/tag11.xml><?xml version="1.0" encoding="utf-8"?>
<p:tagLst xmlns:a="http://schemas.openxmlformats.org/drawingml/2006/main" xmlns:r="http://schemas.openxmlformats.org/officeDocument/2006/relationships" xmlns:p="http://schemas.openxmlformats.org/presentationml/2006/main">
  <p:tag name="SHAPETYPE" val="Logo"/>
</p:tagLst>
</file>

<file path=ppt/tags/tag12.xml><?xml version="1.0" encoding="utf-8"?>
<p:tagLst xmlns:a="http://schemas.openxmlformats.org/drawingml/2006/main" xmlns:r="http://schemas.openxmlformats.org/officeDocument/2006/relationships" xmlns:p="http://schemas.openxmlformats.org/presentationml/2006/main">
  <p:tag name="ECO" val="Hide"/>
</p:tagLst>
</file>

<file path=ppt/tags/tag13.xml><?xml version="1.0" encoding="utf-8"?>
<p:tagLst xmlns:a="http://schemas.openxmlformats.org/drawingml/2006/main" xmlns:r="http://schemas.openxmlformats.org/officeDocument/2006/relationships" xmlns:p="http://schemas.openxmlformats.org/presentationml/2006/main">
  <p:tag name="SHAPETYPE" val="Status"/>
</p:tagLst>
</file>

<file path=ppt/tags/tag14.xml><?xml version="1.0" encoding="utf-8"?>
<p:tagLst xmlns:a="http://schemas.openxmlformats.org/drawingml/2006/main" xmlns:r="http://schemas.openxmlformats.org/officeDocument/2006/relationships" xmlns:p="http://schemas.openxmlformats.org/presentationml/2006/main">
  <p:tag name="SHAPETYPE" val="LogoFrame"/>
</p:tagLst>
</file>

<file path=ppt/tags/tag15.xml><?xml version="1.0" encoding="utf-8"?>
<p:tagLst xmlns:a="http://schemas.openxmlformats.org/drawingml/2006/main" xmlns:r="http://schemas.openxmlformats.org/officeDocument/2006/relationships" xmlns:p="http://schemas.openxmlformats.org/presentationml/2006/main">
  <p:tag name="SHAPETYPE" val="Logo"/>
</p:tagLst>
</file>

<file path=ppt/tags/tag16.xml><?xml version="1.0" encoding="utf-8"?>
<p:tagLst xmlns:a="http://schemas.openxmlformats.org/drawingml/2006/main" xmlns:r="http://schemas.openxmlformats.org/officeDocument/2006/relationships" xmlns:p="http://schemas.openxmlformats.org/presentationml/2006/main">
  <p:tag name="ECO" val="SHOW"/>
</p:tagLst>
</file>

<file path=ppt/tags/tag17.xml><?xml version="1.0" encoding="utf-8"?>
<p:tagLst xmlns:a="http://schemas.openxmlformats.org/drawingml/2006/main" xmlns:r="http://schemas.openxmlformats.org/officeDocument/2006/relationships" xmlns:p="http://schemas.openxmlformats.org/presentationml/2006/main">
  <p:tag name="ECO" val="FONT=0,0,0"/>
</p:tagLst>
</file>

<file path=ppt/tags/tag18.xml><?xml version="1.0" encoding="utf-8"?>
<p:tagLst xmlns:a="http://schemas.openxmlformats.org/drawingml/2006/main" xmlns:r="http://schemas.openxmlformats.org/officeDocument/2006/relationships" xmlns:p="http://schemas.openxmlformats.org/presentationml/2006/main">
  <p:tag name="SHAPETYPE" val="Status"/>
</p:tagLst>
</file>

<file path=ppt/tags/tag19.xml><?xml version="1.0" encoding="utf-8"?>
<p:tagLst xmlns:a="http://schemas.openxmlformats.org/drawingml/2006/main" xmlns:r="http://schemas.openxmlformats.org/officeDocument/2006/relationships" xmlns:p="http://schemas.openxmlformats.org/presentationml/2006/main">
  <p:tag name="SHAPETYPE" val="Logo"/>
</p:tagLst>
</file>

<file path=ppt/tags/tag20.xml><?xml version="1.0" encoding="utf-8"?>
<p:tagLst xmlns:a="http://schemas.openxmlformats.org/drawingml/2006/main" xmlns:r="http://schemas.openxmlformats.org/officeDocument/2006/relationships" xmlns:p="http://schemas.openxmlformats.org/presentationml/2006/main">
  <p:tag name="ECO" val="Hide"/>
</p:tagLst>
</file>

<file path=ppt/tags/tag21.xml><?xml version="1.0" encoding="utf-8"?>
<p:tagLst xmlns:a="http://schemas.openxmlformats.org/drawingml/2006/main" xmlns:r="http://schemas.openxmlformats.org/officeDocument/2006/relationships" xmlns:p="http://schemas.openxmlformats.org/presentationml/2006/main">
  <p:tag name="ECO" val="SHOW"/>
</p:tagLst>
</file>

<file path=ppt/tags/tag22.xml><?xml version="1.0" encoding="utf-8"?>
<p:tagLst xmlns:a="http://schemas.openxmlformats.org/drawingml/2006/main" xmlns:r="http://schemas.openxmlformats.org/officeDocument/2006/relationships" xmlns:p="http://schemas.openxmlformats.org/presentationml/2006/main">
  <p:tag name="SHAPETYPE" val="Status"/>
</p:tagLst>
</file>

<file path=ppt/tags/tag23.xml><?xml version="1.0" encoding="utf-8"?>
<p:tagLst xmlns:a="http://schemas.openxmlformats.org/drawingml/2006/main" xmlns:r="http://schemas.openxmlformats.org/officeDocument/2006/relationships" xmlns:p="http://schemas.openxmlformats.org/presentationml/2006/main">
  <p:tag name="ECO" val="FONT=0,0,0"/>
</p:tagLst>
</file>

<file path=ppt/tags/tag24.xml><?xml version="1.0" encoding="utf-8"?>
<p:tagLst xmlns:a="http://schemas.openxmlformats.org/drawingml/2006/main" xmlns:r="http://schemas.openxmlformats.org/officeDocument/2006/relationships" xmlns:p="http://schemas.openxmlformats.org/presentationml/2006/main">
  <p:tag name="SHAPETYPE" val="Logo"/>
</p:tagLst>
</file>

<file path=ppt/tags/tag25.xml><?xml version="1.0" encoding="utf-8"?>
<p:tagLst xmlns:a="http://schemas.openxmlformats.org/drawingml/2006/main" xmlns:r="http://schemas.openxmlformats.org/officeDocument/2006/relationships" xmlns:p="http://schemas.openxmlformats.org/presentationml/2006/main">
  <p:tag name="ECO" val="SHOW"/>
</p:tagLst>
</file>

<file path=ppt/tags/tag26.xml><?xml version="1.0" encoding="utf-8"?>
<p:tagLst xmlns:a="http://schemas.openxmlformats.org/drawingml/2006/main" xmlns:r="http://schemas.openxmlformats.org/officeDocument/2006/relationships" xmlns:p="http://schemas.openxmlformats.org/presentationml/2006/main">
  <p:tag name="SHAPETYPE" val="Status"/>
</p:tagLst>
</file>

<file path=ppt/tags/tag27.xml><?xml version="1.0" encoding="utf-8"?>
<p:tagLst xmlns:a="http://schemas.openxmlformats.org/drawingml/2006/main" xmlns:r="http://schemas.openxmlformats.org/officeDocument/2006/relationships" xmlns:p="http://schemas.openxmlformats.org/presentationml/2006/main">
  <p:tag name="SHAPETYPE" val="Logo"/>
</p:tagLst>
</file>

<file path=ppt/tags/tag28.xml><?xml version="1.0" encoding="utf-8"?>
<p:tagLst xmlns:a="http://schemas.openxmlformats.org/drawingml/2006/main" xmlns:r="http://schemas.openxmlformats.org/officeDocument/2006/relationships" xmlns:p="http://schemas.openxmlformats.org/presentationml/2006/main">
  <p:tag name="ECO" val="SHOW"/>
</p:tagLst>
</file>

<file path=ppt/tags/tag29.xml><?xml version="1.0" encoding="utf-8"?>
<p:tagLst xmlns:a="http://schemas.openxmlformats.org/drawingml/2006/main" xmlns:r="http://schemas.openxmlformats.org/officeDocument/2006/relationships" xmlns:p="http://schemas.openxmlformats.org/presentationml/2006/main">
  <p:tag name="ECO" val="HIDE"/>
</p:tagLst>
</file>

<file path=ppt/tags/tag30.xml><?xml version="1.0" encoding="utf-8"?>
<p:tagLst xmlns:a="http://schemas.openxmlformats.org/drawingml/2006/main" xmlns:r="http://schemas.openxmlformats.org/officeDocument/2006/relationships" xmlns:p="http://schemas.openxmlformats.org/presentationml/2006/main">
  <p:tag name="SHAPETYPE" val="LogoFrame"/>
</p:tagLst>
</file>

<file path=ppt/tags/tag31.xml><?xml version="1.0" encoding="utf-8"?>
<p:tagLst xmlns:a="http://schemas.openxmlformats.org/drawingml/2006/main" xmlns:r="http://schemas.openxmlformats.org/officeDocument/2006/relationships" xmlns:p="http://schemas.openxmlformats.org/presentationml/2006/main">
  <p:tag name="SHAPETYPE" val="Status"/>
</p:tagLst>
</file>

<file path=ppt/tags/tag32.xml><?xml version="1.0" encoding="utf-8"?>
<p:tagLst xmlns:a="http://schemas.openxmlformats.org/drawingml/2006/main" xmlns:r="http://schemas.openxmlformats.org/officeDocument/2006/relationships" xmlns:p="http://schemas.openxmlformats.org/presentationml/2006/main">
  <p:tag name="SHAPETYPE" val="Logo"/>
</p:tagLst>
</file>

<file path=ppt/tags/tag33.xml><?xml version="1.0" encoding="utf-8"?>
<p:tagLst xmlns:a="http://schemas.openxmlformats.org/drawingml/2006/main" xmlns:r="http://schemas.openxmlformats.org/officeDocument/2006/relationships" xmlns:p="http://schemas.openxmlformats.org/presentationml/2006/main">
  <p:tag name="SHAPETYPE" val="FootnoteBox"/>
</p:tagLst>
</file>

<file path=ppt/tags/tag34.xml><?xml version="1.0" encoding="utf-8"?>
<p:tagLst xmlns:a="http://schemas.openxmlformats.org/drawingml/2006/main" xmlns:r="http://schemas.openxmlformats.org/officeDocument/2006/relationships" xmlns:p="http://schemas.openxmlformats.org/presentationml/2006/main">
  <p:tag name="SHAPETYPE" val="AgendaTitleFrame"/>
  <p:tag name="HANDLINGCONTENT" val="True"/>
</p:tagLst>
</file>

<file path=ppt/tags/tag35.xml><?xml version="1.0" encoding="utf-8"?>
<p:tagLst xmlns:a="http://schemas.openxmlformats.org/drawingml/2006/main" xmlns:r="http://schemas.openxmlformats.org/officeDocument/2006/relationships" xmlns:p="http://schemas.openxmlformats.org/presentationml/2006/main">
  <p:tag name="SHAPETYPE" val="Status"/>
</p:tagLst>
</file>

<file path=ppt/tags/tag36.xml><?xml version="1.0" encoding="utf-8"?>
<p:tagLst xmlns:a="http://schemas.openxmlformats.org/drawingml/2006/main" xmlns:r="http://schemas.openxmlformats.org/officeDocument/2006/relationships" xmlns:p="http://schemas.openxmlformats.org/presentationml/2006/main">
  <p:tag name="SHAPETYPE" val="Footer"/>
</p:tagLst>
</file>

<file path=ppt/tags/tag37.xml><?xml version="1.0" encoding="utf-8"?>
<p:tagLst xmlns:a="http://schemas.openxmlformats.org/drawingml/2006/main" xmlns:r="http://schemas.openxmlformats.org/officeDocument/2006/relationships" xmlns:p="http://schemas.openxmlformats.org/presentationml/2006/main">
  <p:tag name="SHAPETYPE" val="Logo"/>
</p:tagLst>
</file>

<file path=ppt/tags/tag38.xml><?xml version="1.0" encoding="utf-8"?>
<p:tagLst xmlns:a="http://schemas.openxmlformats.org/drawingml/2006/main" xmlns:r="http://schemas.openxmlformats.org/officeDocument/2006/relationships" xmlns:p="http://schemas.openxmlformats.org/presentationml/2006/main">
  <p:tag name="ECO" val="SHOW"/>
</p:tagLst>
</file>

<file path=ppt/tags/tag39.xml><?xml version="1.0" encoding="utf-8"?>
<p:tagLst xmlns:a="http://schemas.openxmlformats.org/drawingml/2006/main" xmlns:r="http://schemas.openxmlformats.org/officeDocument/2006/relationships" xmlns:p="http://schemas.openxmlformats.org/presentationml/2006/main">
  <p:tag name="ECO" val="FONT=0,0,0"/>
</p:tagLst>
</file>

<file path=ppt/tags/tag40.xml><?xml version="1.0" encoding="utf-8"?>
<p:tagLst xmlns:a="http://schemas.openxmlformats.org/drawingml/2006/main" xmlns:r="http://schemas.openxmlformats.org/officeDocument/2006/relationships" xmlns:p="http://schemas.openxmlformats.org/presentationml/2006/main">
  <p:tag name="ECO" val="FONT=0,0,0"/>
</p:tagLst>
</file>

<file path=ppt/tags/tag41.xml><?xml version="1.0" encoding="utf-8"?>
<p:tagLst xmlns:a="http://schemas.openxmlformats.org/drawingml/2006/main" xmlns:r="http://schemas.openxmlformats.org/officeDocument/2006/relationships" xmlns:p="http://schemas.openxmlformats.org/presentationml/2006/main">
  <p:tag name="SHAPETYPE" val="Status"/>
</p:tagLst>
</file>

<file path=ppt/tags/tag42.xml><?xml version="1.0" encoding="utf-8"?>
<p:tagLst xmlns:a="http://schemas.openxmlformats.org/drawingml/2006/main" xmlns:r="http://schemas.openxmlformats.org/officeDocument/2006/relationships" xmlns:p="http://schemas.openxmlformats.org/presentationml/2006/main">
  <p:tag name="SHAPETYPE" val="Logo"/>
</p:tagLst>
</file>

<file path=ppt/tags/tag43.xml><?xml version="1.0" encoding="utf-8"?>
<p:tagLst xmlns:a="http://schemas.openxmlformats.org/drawingml/2006/main" xmlns:r="http://schemas.openxmlformats.org/officeDocument/2006/relationships" xmlns:p="http://schemas.openxmlformats.org/presentationml/2006/main">
  <p:tag name="ECO" val="Hide"/>
</p:tagLst>
</file>

<file path=ppt/tags/tag44.xml><?xml version="1.0" encoding="utf-8"?>
<p:tagLst xmlns:a="http://schemas.openxmlformats.org/drawingml/2006/main" xmlns:r="http://schemas.openxmlformats.org/officeDocument/2006/relationships" xmlns:p="http://schemas.openxmlformats.org/presentationml/2006/main">
  <p:tag name="SHAPETYPE" val="Status"/>
</p:tagLst>
</file>

<file path=ppt/tags/tag45.xml><?xml version="1.0" encoding="utf-8"?>
<p:tagLst xmlns:a="http://schemas.openxmlformats.org/drawingml/2006/main" xmlns:r="http://schemas.openxmlformats.org/officeDocument/2006/relationships" xmlns:p="http://schemas.openxmlformats.org/presentationml/2006/main">
  <p:tag name="SHAPETYPE" val="LogoFrame"/>
</p:tagLst>
</file>

<file path=ppt/tags/tag46.xml><?xml version="1.0" encoding="utf-8"?>
<p:tagLst xmlns:a="http://schemas.openxmlformats.org/drawingml/2006/main" xmlns:r="http://schemas.openxmlformats.org/officeDocument/2006/relationships" xmlns:p="http://schemas.openxmlformats.org/presentationml/2006/main">
  <p:tag name="SHAPETYPE" val="Logo"/>
</p:tagLst>
</file>

<file path=ppt/tags/tag47.xml><?xml version="1.0" encoding="utf-8"?>
<p:tagLst xmlns:a="http://schemas.openxmlformats.org/drawingml/2006/main" xmlns:r="http://schemas.openxmlformats.org/officeDocument/2006/relationships" xmlns:p="http://schemas.openxmlformats.org/presentationml/2006/main">
  <p:tag name="ECO" val="SHOW"/>
</p:tagLst>
</file>

<file path=ppt/tags/tag48.xml><?xml version="1.0" encoding="utf-8"?>
<p:tagLst xmlns:a="http://schemas.openxmlformats.org/drawingml/2006/main" xmlns:r="http://schemas.openxmlformats.org/officeDocument/2006/relationships" xmlns:p="http://schemas.openxmlformats.org/presentationml/2006/main">
  <p:tag name="ECO" val="FONT=0,0,0"/>
</p:tagLst>
</file>

<file path=ppt/tags/tag49.xml><?xml version="1.0" encoding="utf-8"?>
<p:tagLst xmlns:a="http://schemas.openxmlformats.org/drawingml/2006/main" xmlns:r="http://schemas.openxmlformats.org/officeDocument/2006/relationships" xmlns:p="http://schemas.openxmlformats.org/presentationml/2006/main">
  <p:tag name="SHAPETYPE" val="Status"/>
</p:tagLst>
</file>

<file path=ppt/tags/tag50.xml><?xml version="1.0" encoding="utf-8"?>
<p:tagLst xmlns:a="http://schemas.openxmlformats.org/drawingml/2006/main" xmlns:r="http://schemas.openxmlformats.org/officeDocument/2006/relationships" xmlns:p="http://schemas.openxmlformats.org/presentationml/2006/main">
  <p:tag name="SHAPETYPE" val="Logo"/>
</p:tagLst>
</file>

<file path=ppt/tags/tag51.xml><?xml version="1.0" encoding="utf-8"?>
<p:tagLst xmlns:a="http://schemas.openxmlformats.org/drawingml/2006/main" xmlns:r="http://schemas.openxmlformats.org/officeDocument/2006/relationships" xmlns:p="http://schemas.openxmlformats.org/presentationml/2006/main">
  <p:tag name="ECO" val="Hide"/>
</p:tagLst>
</file>

<file path=ppt/tags/tag52.xml><?xml version="1.0" encoding="utf-8"?>
<p:tagLst xmlns:a="http://schemas.openxmlformats.org/drawingml/2006/main" xmlns:r="http://schemas.openxmlformats.org/officeDocument/2006/relationships" xmlns:p="http://schemas.openxmlformats.org/presentationml/2006/main">
  <p:tag name="ECO" val="SHOW"/>
</p:tagLst>
</file>

<file path=ppt/tags/tag53.xml><?xml version="1.0" encoding="utf-8"?>
<p:tagLst xmlns:a="http://schemas.openxmlformats.org/drawingml/2006/main" xmlns:r="http://schemas.openxmlformats.org/officeDocument/2006/relationships" xmlns:p="http://schemas.openxmlformats.org/presentationml/2006/main">
  <p:tag name="SHAPETYPE" val="Status"/>
</p:tagLst>
</file>

<file path=ppt/tags/tag54.xml><?xml version="1.0" encoding="utf-8"?>
<p:tagLst xmlns:a="http://schemas.openxmlformats.org/drawingml/2006/main" xmlns:r="http://schemas.openxmlformats.org/officeDocument/2006/relationships" xmlns:p="http://schemas.openxmlformats.org/presentationml/2006/main">
  <p:tag name="ECO" val="FONT=0,0,0"/>
</p:tagLst>
</file>

<file path=ppt/tags/tag55.xml><?xml version="1.0" encoding="utf-8"?>
<p:tagLst xmlns:a="http://schemas.openxmlformats.org/drawingml/2006/main" xmlns:r="http://schemas.openxmlformats.org/officeDocument/2006/relationships" xmlns:p="http://schemas.openxmlformats.org/presentationml/2006/main">
  <p:tag name="SHAPETYPE" val="Logo"/>
</p:tagLst>
</file>

<file path=ppt/tags/tag56.xml><?xml version="1.0" encoding="utf-8"?>
<p:tagLst xmlns:a="http://schemas.openxmlformats.org/drawingml/2006/main" xmlns:r="http://schemas.openxmlformats.org/officeDocument/2006/relationships" xmlns:p="http://schemas.openxmlformats.org/presentationml/2006/main">
  <p:tag name="ECO" val="SHOW"/>
</p:tagLst>
</file>

<file path=ppt/tags/tag57.xml><?xml version="1.0" encoding="utf-8"?>
<p:tagLst xmlns:a="http://schemas.openxmlformats.org/drawingml/2006/main" xmlns:r="http://schemas.openxmlformats.org/officeDocument/2006/relationships" xmlns:p="http://schemas.openxmlformats.org/presentationml/2006/main">
  <p:tag name="SHAPETYPE" val="Status"/>
</p:tagLst>
</file>

<file path=ppt/tags/tag58.xml><?xml version="1.0" encoding="utf-8"?>
<p:tagLst xmlns:a="http://schemas.openxmlformats.org/drawingml/2006/main" xmlns:r="http://schemas.openxmlformats.org/officeDocument/2006/relationships" xmlns:p="http://schemas.openxmlformats.org/presentationml/2006/main">
  <p:tag name="SHAPETYPE" val="Logo"/>
</p:tagLst>
</file>

<file path=ppt/tags/tag59.xml><?xml version="1.0" encoding="utf-8"?>
<p:tagLst xmlns:a="http://schemas.openxmlformats.org/drawingml/2006/main" xmlns:r="http://schemas.openxmlformats.org/officeDocument/2006/relationships" xmlns:p="http://schemas.openxmlformats.org/presentationml/2006/main">
  <p:tag name="ECO" val="SHOW"/>
</p:tagLst>
</file>

<file path=ppt/tags/tag60.xml><?xml version="1.0" encoding="utf-8"?>
<p:tagLst xmlns:a="http://schemas.openxmlformats.org/drawingml/2006/main" xmlns:r="http://schemas.openxmlformats.org/officeDocument/2006/relationships" xmlns:p="http://schemas.openxmlformats.org/presentationml/2006/main">
  <p:tag name="ECO" val="HIDE"/>
</p:tagLst>
</file>

<file path=ppt/tags/tag61.xml><?xml version="1.0" encoding="utf-8"?>
<p:tagLst xmlns:a="http://schemas.openxmlformats.org/drawingml/2006/main" xmlns:r="http://schemas.openxmlformats.org/officeDocument/2006/relationships" xmlns:p="http://schemas.openxmlformats.org/presentationml/2006/main">
  <p:tag name="SHAPETYPE" val="LogoFrame"/>
</p:tagLst>
</file>

<file path=ppt/tags/tag62.xml><?xml version="1.0" encoding="utf-8"?>
<p:tagLst xmlns:a="http://schemas.openxmlformats.org/drawingml/2006/main" xmlns:r="http://schemas.openxmlformats.org/officeDocument/2006/relationships" xmlns:p="http://schemas.openxmlformats.org/presentationml/2006/main">
  <p:tag name="SHAPETYPE" val="Status"/>
</p:tagLst>
</file>

<file path=ppt/tags/tag63.xml><?xml version="1.0" encoding="utf-8"?>
<p:tagLst xmlns:a="http://schemas.openxmlformats.org/drawingml/2006/main" xmlns:r="http://schemas.openxmlformats.org/officeDocument/2006/relationships" xmlns:p="http://schemas.openxmlformats.org/presentationml/2006/main">
  <p:tag name="SHAPETYPE" val="Logo"/>
</p:tagLst>
</file>

<file path=ppt/tags/tag64.xml><?xml version="1.0" encoding="utf-8"?>
<p:tagLst xmlns:a="http://schemas.openxmlformats.org/drawingml/2006/main" xmlns:r="http://schemas.openxmlformats.org/officeDocument/2006/relationships" xmlns:p="http://schemas.openxmlformats.org/presentationml/2006/main">
  <p:tag name="SHAPETYPE" val="LogoFrame"/>
</p:tagLst>
</file>

<file path=ppt/tags/tag65.xml><?xml version="1.0" encoding="utf-8"?>
<p:tagLst xmlns:a="http://schemas.openxmlformats.org/drawingml/2006/main" xmlns:r="http://schemas.openxmlformats.org/officeDocument/2006/relationships" xmlns:p="http://schemas.openxmlformats.org/presentationml/2006/main">
  <p:tag name="SHAPETYPE" val="Logo"/>
</p:tagLst>
</file>

<file path=ppt/tags/tag66.xml><?xml version="1.0" encoding="utf-8"?>
<p:tagLst xmlns:a="http://schemas.openxmlformats.org/drawingml/2006/main" xmlns:r="http://schemas.openxmlformats.org/officeDocument/2006/relationships" xmlns:p="http://schemas.openxmlformats.org/presentationml/2006/main">
  <p:tag name="SHAPETYPE" val="Logo"/>
</p:tagLst>
</file>

<file path=ppt/tags/tag67.xml><?xml version="1.0" encoding="utf-8"?>
<p:tagLst xmlns:a="http://schemas.openxmlformats.org/drawingml/2006/main" xmlns:r="http://schemas.openxmlformats.org/officeDocument/2006/relationships" xmlns:p="http://schemas.openxmlformats.org/presentationml/2006/main">
  <p:tag name="FILENAME" val="C:\Users\lu1267950\AppData\Local\Temp\5\SL_Affluent_Customers_DSC6642_v01.tif.jpg"/>
  <p:tag name="FRONTIFYASSET" val="SL_Affluent_Customers_DSC6642_v01.tif"/>
</p:tagLst>
</file>

<file path=ppt/tags/tag68.xml><?xml version="1.0" encoding="utf-8"?>
<p:tagLst xmlns:a="http://schemas.openxmlformats.org/drawingml/2006/main" xmlns:r="http://schemas.openxmlformats.org/officeDocument/2006/relationships" xmlns:p="http://schemas.openxmlformats.org/presentationml/2006/main">
  <p:tag name="SHAPETYPE" val="Logo"/>
</p:tagLst>
</file>

<file path=ppt/tags/tag69.xml><?xml version="1.0" encoding="utf-8"?>
<p:tagLst xmlns:a="http://schemas.openxmlformats.org/drawingml/2006/main" xmlns:r="http://schemas.openxmlformats.org/officeDocument/2006/relationships" xmlns:p="http://schemas.openxmlformats.org/presentationml/2006/main">
  <p:tag name="FILENAME" val="C:\Users\lu1264144\AppData\Local\Temp\S1_1_PrivateBanking_Desk_0017.tif.jpg"/>
  <p:tag name="FRONTIFYASSET" val="S1_1_PrivateBanking_Desk_0017.tif"/>
</p:tagLst>
</file>

<file path=ppt/tags/tag70.xml><?xml version="1.0" encoding="utf-8"?>
<p:tagLst xmlns:a="http://schemas.openxmlformats.org/drawingml/2006/main" xmlns:r="http://schemas.openxmlformats.org/officeDocument/2006/relationships" xmlns:p="http://schemas.openxmlformats.org/presentationml/2006/main">
  <p:tag name="SHAPETYPE" val="Logo"/>
</p:tagLst>
</file>

<file path=ppt/tags/tag71.xml><?xml version="1.0" encoding="utf-8"?>
<p:tagLst xmlns:a="http://schemas.openxmlformats.org/drawingml/2006/main" xmlns:r="http://schemas.openxmlformats.org/officeDocument/2006/relationships" xmlns:p="http://schemas.openxmlformats.org/presentationml/2006/main">
  <p:tag name="SLIDE_TYPE" val="BODY"/>
</p:tagLst>
</file>

<file path=ppt/tags/tag72.xml><?xml version="1.0" encoding="utf-8"?>
<p:tagLst xmlns:a="http://schemas.openxmlformats.org/drawingml/2006/main" xmlns:r="http://schemas.openxmlformats.org/officeDocument/2006/relationships" xmlns:p="http://schemas.openxmlformats.org/presentationml/2006/main">
  <p:tag name="TEXT_TYPE" val="PAGE HEADING"/>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4.xml><?xml version="1.0" encoding="utf-8"?>
<p:tagLst xmlns:a="http://schemas.openxmlformats.org/drawingml/2006/main" xmlns:r="http://schemas.openxmlformats.org/officeDocument/2006/relationships" xmlns:p="http://schemas.openxmlformats.org/presentationml/2006/main">
  <p:tag name="THINKCELLSHAPEDONOTDELETE" val="t4iNxfQZlS_63g2YwHaUNLg"/>
</p:tagLst>
</file>

<file path=ppt/tags/tag75.xml><?xml version="1.0" encoding="utf-8"?>
<p:tagLst xmlns:a="http://schemas.openxmlformats.org/drawingml/2006/main" xmlns:r="http://schemas.openxmlformats.org/officeDocument/2006/relationships" xmlns:p="http://schemas.openxmlformats.org/presentationml/2006/main">
  <p:tag name="FRONTIFYASSET" val="Creating SP1A9754 4c.tif"/>
</p:tagLst>
</file>

<file path=ppt/tags/tag76.xml><?xml version="1.0" encoding="utf-8"?>
<p:tagLst xmlns:a="http://schemas.openxmlformats.org/drawingml/2006/main" xmlns:r="http://schemas.openxmlformats.org/officeDocument/2006/relationships" xmlns:p="http://schemas.openxmlformats.org/presentationml/2006/main">
  <p:tag name="SHAPETYPE" val="Logo"/>
</p:tagLst>
</file>

<file path=ppt/tags/tag77.xml><?xml version="1.0" encoding="utf-8"?>
<p:tagLst xmlns:a="http://schemas.openxmlformats.org/drawingml/2006/main" xmlns:r="http://schemas.openxmlformats.org/officeDocument/2006/relationships" xmlns:p="http://schemas.openxmlformats.org/presentationml/2006/main">
  <p:tag name="FILENAME" val="C:\Users\lu1264144\AppData\Local\Temp\S7_4a_ConfiAll_0174_001.tif.jpg"/>
  <p:tag name="FRONTIFYASSET" val="S7_4a_ConfiAll_0174_001.tif"/>
</p:tagLst>
</file>

<file path=ppt/tags/tag78.xml><?xml version="1.0" encoding="utf-8"?>
<p:tagLst xmlns:a="http://schemas.openxmlformats.org/drawingml/2006/main" xmlns:r="http://schemas.openxmlformats.org/officeDocument/2006/relationships" xmlns:p="http://schemas.openxmlformats.org/presentationml/2006/main">
  <p:tag name="SHAPETYPE" val="Logo"/>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0.xml><?xml version="1.0" encoding="utf-8"?>
<p:tagLst xmlns:a="http://schemas.openxmlformats.org/drawingml/2006/main" xmlns:r="http://schemas.openxmlformats.org/officeDocument/2006/relationships" xmlns:p="http://schemas.openxmlformats.org/presentationml/2006/main">
  <p:tag name="THINKCELLSHAPEDONOTDELETE" val="t6I9ErGFKTuq4vSY92x6kaA"/>
</p:tagLst>
</file>

<file path=ppt/tags/tag81.xml><?xml version="1.0" encoding="utf-8"?>
<p:tagLst xmlns:a="http://schemas.openxmlformats.org/drawingml/2006/main" xmlns:r="http://schemas.openxmlformats.org/officeDocument/2006/relationships" xmlns:p="http://schemas.openxmlformats.org/presentationml/2006/main">
  <p:tag name="FILENAME" val="C:\Users\lu1264144\AppData\Local\Temp\S1_1_PrivateBanking_Desk_0017.tif.jpg"/>
  <p:tag name="FRONTIFYASSET" val="S1_1_PrivateBanking_Desk_0017.tif"/>
</p:tagLst>
</file>

<file path=ppt/tags/tag82.xml><?xml version="1.0" encoding="utf-8"?>
<p:tagLst xmlns:a="http://schemas.openxmlformats.org/drawingml/2006/main" xmlns:r="http://schemas.openxmlformats.org/officeDocument/2006/relationships" xmlns:p="http://schemas.openxmlformats.org/presentationml/2006/main">
  <p:tag name="SHAPETYPE" val="Logo"/>
</p:tagLst>
</file>

<file path=ppt/tags/tag83.xml><?xml version="1.0" encoding="utf-8"?>
<p:tagLst xmlns:a="http://schemas.openxmlformats.org/drawingml/2006/main" xmlns:r="http://schemas.openxmlformats.org/officeDocument/2006/relationships" xmlns:p="http://schemas.openxmlformats.org/presentationml/2006/main">
  <p:tag name="SLIDE_TYPE" val="BODY"/>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5.xml><?xml version="1.0" encoding="utf-8"?>
<p:tagLst xmlns:a="http://schemas.openxmlformats.org/drawingml/2006/main" xmlns:r="http://schemas.openxmlformats.org/officeDocument/2006/relationships" xmlns:p="http://schemas.openxmlformats.org/presentationml/2006/main">
  <p:tag name="THINKCELLSHAPEDONOTDELETE" val="tZmZzfzWbS9aSiyzvgPYiaA"/>
</p:tagLst>
</file>

<file path=ppt/tags/tag8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7.xml><?xml version="1.0" encoding="utf-8"?>
<p:tagLst xmlns:a="http://schemas.openxmlformats.org/drawingml/2006/main" xmlns:r="http://schemas.openxmlformats.org/officeDocument/2006/relationships" xmlns:p="http://schemas.openxmlformats.org/presentationml/2006/main">
  <p:tag name="THINKCELLSHAPEDONOTDELETE" val="td7itJAkZRrW3fFNv2so3ag"/>
</p:tagLst>
</file>

<file path=ppt/tags/tag88.xml><?xml version="1.0" encoding="utf-8"?>
<p:tagLst xmlns:a="http://schemas.openxmlformats.org/drawingml/2006/main" xmlns:r="http://schemas.openxmlformats.org/officeDocument/2006/relationships" xmlns:p="http://schemas.openxmlformats.org/presentationml/2006/main">
  <p:tag name="FILENAME" val="C:\Users\lu1264144\AppData\Local\Temp\S1_1_PrivateBanking_Desk_0017.tif.jpg"/>
  <p:tag name="FRONTIFYASSET" val="S1_1_PrivateBanking_Desk_0017.tif"/>
</p:tagLst>
</file>

<file path=ppt/tags/tag89.xml><?xml version="1.0" encoding="utf-8"?>
<p:tagLst xmlns:a="http://schemas.openxmlformats.org/drawingml/2006/main" xmlns:r="http://schemas.openxmlformats.org/officeDocument/2006/relationships" xmlns:p="http://schemas.openxmlformats.org/presentationml/2006/main">
  <p:tag name="FILENAME" val="C:\Users\lu1264144\AppData\Local\Temp\S5_1_Pottery_Quality_0298.tif.jpg"/>
  <p:tag name="FRONTIFYASSET" val="S5_1_Pottery_Quality_0298.tif"/>
</p:tagLst>
</file>

<file path=ppt/tags/tag9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1.xml><?xml version="1.0" encoding="utf-8"?>
<p:tagLst xmlns:a="http://schemas.openxmlformats.org/drawingml/2006/main" xmlns:r="http://schemas.openxmlformats.org/officeDocument/2006/relationships" xmlns:p="http://schemas.openxmlformats.org/presentationml/2006/main">
  <p:tag name="THINKCELLSHAPEDONOTDELETE" val="tUWZ27nbXRiappXMQDdbiTA"/>
</p:tagLst>
</file>

<file path=ppt/tags/tag92.xml><?xml version="1.0" encoding="utf-8"?>
<p:tagLst xmlns:a="http://schemas.openxmlformats.org/drawingml/2006/main" xmlns:r="http://schemas.openxmlformats.org/officeDocument/2006/relationships" xmlns:p="http://schemas.openxmlformats.org/presentationml/2006/main">
  <p:tag name="FILENAME" val="C:\Users\lu1264144\AppData\Local\Temp\S5_1_Pottery_Quality_0298.tif.jpg"/>
  <p:tag name="FRONTIFYASSET" val="S5_1_Pottery_Quality_0298.tif"/>
</p:tagLst>
</file>

<file path=ppt/tags/tag9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4.xml><?xml version="1.0" encoding="utf-8"?>
<p:tagLst xmlns:a="http://schemas.openxmlformats.org/drawingml/2006/main" xmlns:r="http://schemas.openxmlformats.org/officeDocument/2006/relationships" xmlns:p="http://schemas.openxmlformats.org/presentationml/2006/main">
  <p:tag name="THINKCELLSHAPEDONOTDELETE" val="tUWZ27nbXRiappXMQDdbiTA"/>
</p:tagLst>
</file>

<file path=ppt/theme/theme1.xml><?xml version="1.0" encoding="utf-8"?>
<a:theme xmlns:a="http://schemas.openxmlformats.org/drawingml/2006/main" name="Swiss Life">
  <a:themeElements>
    <a:clrScheme name="Swiss Life">
      <a:dk1>
        <a:srgbClr val="000000"/>
      </a:dk1>
      <a:lt1>
        <a:srgbClr val="FFFFFF"/>
      </a:lt1>
      <a:dk2>
        <a:srgbClr val="A11C36"/>
      </a:dk2>
      <a:lt2>
        <a:srgbClr val="D82034"/>
      </a:lt2>
      <a:accent1>
        <a:srgbClr val="A11C36"/>
      </a:accent1>
      <a:accent2>
        <a:srgbClr val="FD8182"/>
      </a:accent2>
      <a:accent3>
        <a:srgbClr val="808080"/>
      </a:accent3>
      <a:accent4>
        <a:srgbClr val="C0C0C0"/>
      </a:accent4>
      <a:accent5>
        <a:srgbClr val="FCC52D"/>
      </a:accent5>
      <a:accent6>
        <a:srgbClr val="DDBD88"/>
      </a:accent6>
      <a:hlink>
        <a:srgbClr val="D82034"/>
      </a:hlink>
      <a:folHlink>
        <a:srgbClr val="A0A0A0"/>
      </a:folHlink>
    </a:clrScheme>
    <a:fontScheme name="SwissLife">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ln>
          <a:noFill/>
        </a:ln>
      </a:spPr>
      <a:bodyPr rtlCol="0" anchor="ctr"/>
      <a:lstStyle>
        <a:defPPr algn="ctr">
          <a:defRPr dirty="0">
            <a:solidFill>
              <a:srgbClr val="FFFFFF"/>
            </a:solidFill>
            <a:latin typeface="Arial" panose="020B0604020202020204" pitchFamily="34" charset="0"/>
            <a:cs typeface="Arial" panose="020B0604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raClrScheme>
      <a:clrScheme name="SwissLife">
        <a:dk1>
          <a:sysClr val="windowText" lastClr="000000"/>
        </a:dk1>
        <a:lt1>
          <a:sysClr val="window" lastClr="FFFFFF"/>
        </a:lt1>
        <a:dk2>
          <a:srgbClr val="A11C36"/>
        </a:dk2>
        <a:lt2>
          <a:srgbClr val="D82034"/>
        </a:lt2>
        <a:accent1>
          <a:srgbClr val="A11C36"/>
        </a:accent1>
        <a:accent2>
          <a:srgbClr val="D08E9B"/>
        </a:accent2>
        <a:accent3>
          <a:srgbClr val="808080"/>
        </a:accent3>
        <a:accent4>
          <a:srgbClr val="C0C0C0"/>
        </a:accent4>
        <a:accent5>
          <a:srgbClr val="6D1874"/>
        </a:accent5>
        <a:accent6>
          <a:srgbClr val="B68CBA"/>
        </a:accent6>
        <a:hlink>
          <a:srgbClr val="D82034"/>
        </a:hlink>
        <a:folHlink>
          <a:srgbClr val="A0A0A0"/>
        </a:folHlink>
      </a:clrScheme>
    </a:extraClrScheme>
  </a:extraClrSchemeLst>
  <a:extLst>
    <a:ext uri="{05A4C25C-085E-4340-85A3-A5531E510DB2}">
      <thm15:themeFamily xmlns:thm15="http://schemas.microsoft.com/office/thememl/2012/main" name="SwissLife.potx" id="{13FB2D96-CEC8-41CD-BC85-3F2E675D83CE}" vid="{8DB60B62-4A0F-410C-BCF7-B47861A6B7DA}"/>
    </a:ext>
  </a:extLst>
</a:theme>
</file>

<file path=ppt/theme/theme2.xml><?xml version="1.0" encoding="utf-8"?>
<a:theme xmlns:a="http://schemas.openxmlformats.org/drawingml/2006/main" name="1_Swiss Life">
  <a:themeElements>
    <a:clrScheme name="Swiss Life">
      <a:dk1>
        <a:srgbClr val="000000"/>
      </a:dk1>
      <a:lt1>
        <a:srgbClr val="FFFFFF"/>
      </a:lt1>
      <a:dk2>
        <a:srgbClr val="A11C36"/>
      </a:dk2>
      <a:lt2>
        <a:srgbClr val="D82034"/>
      </a:lt2>
      <a:accent1>
        <a:srgbClr val="A11C36"/>
      </a:accent1>
      <a:accent2>
        <a:srgbClr val="FD8182"/>
      </a:accent2>
      <a:accent3>
        <a:srgbClr val="808080"/>
      </a:accent3>
      <a:accent4>
        <a:srgbClr val="C0C0C0"/>
      </a:accent4>
      <a:accent5>
        <a:srgbClr val="FCC52D"/>
      </a:accent5>
      <a:accent6>
        <a:srgbClr val="DDBD88"/>
      </a:accent6>
      <a:hlink>
        <a:srgbClr val="D82034"/>
      </a:hlink>
      <a:folHlink>
        <a:srgbClr val="A0A0A0"/>
      </a:folHlink>
    </a:clrScheme>
    <a:fontScheme name="SwissLife">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ln>
          <a:noFill/>
        </a:ln>
      </a:spPr>
      <a:bodyPr rtlCol="0" anchor="ctr"/>
      <a:lstStyle>
        <a:defPPr algn="ctr">
          <a:defRPr dirty="0">
            <a:solidFill>
              <a:srgbClr val="FFFFFF"/>
            </a:solidFill>
            <a:latin typeface="Arial" panose="020B0604020202020204" pitchFamily="34" charset="0"/>
            <a:cs typeface="Arial" panose="020B0604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raClrScheme>
      <a:clrScheme name="SwissLife">
        <a:dk1>
          <a:sysClr val="windowText" lastClr="000000"/>
        </a:dk1>
        <a:lt1>
          <a:sysClr val="window" lastClr="FFFFFF"/>
        </a:lt1>
        <a:dk2>
          <a:srgbClr val="A11C36"/>
        </a:dk2>
        <a:lt2>
          <a:srgbClr val="D82034"/>
        </a:lt2>
        <a:accent1>
          <a:srgbClr val="A11C36"/>
        </a:accent1>
        <a:accent2>
          <a:srgbClr val="D08E9B"/>
        </a:accent2>
        <a:accent3>
          <a:srgbClr val="808080"/>
        </a:accent3>
        <a:accent4>
          <a:srgbClr val="C0C0C0"/>
        </a:accent4>
        <a:accent5>
          <a:srgbClr val="6D1874"/>
        </a:accent5>
        <a:accent6>
          <a:srgbClr val="B68CBA"/>
        </a:accent6>
        <a:hlink>
          <a:srgbClr val="D82034"/>
        </a:hlink>
        <a:folHlink>
          <a:srgbClr val="A0A0A0"/>
        </a:folHlink>
      </a:clrScheme>
    </a:extraClrScheme>
  </a:extraClrSchemeLst>
  <a:extLst>
    <a:ext uri="{05A4C25C-085E-4340-85A3-A5531E510DB2}">
      <thm15:themeFamily xmlns:thm15="http://schemas.microsoft.com/office/thememl/2012/main" name="SwissLife.potx" id="{13FB2D96-CEC8-41CD-BC85-3F2E675D83CE}" vid="{8DB60B62-4A0F-410C-BCF7-B47861A6B7DA}"/>
    </a:ext>
  </a:extLst>
</a:theme>
</file>

<file path=ppt/theme/theme3.xml><?xml version="1.0" encoding="utf-8"?>
<a:theme xmlns:a="http://schemas.openxmlformats.org/drawingml/2006/main" name="Office Theme">
  <a:themeElements>
    <a:clrScheme name="SwissLife - Bordeaux">
      <a:dk1>
        <a:sysClr val="windowText" lastClr="000000"/>
      </a:dk1>
      <a:lt1>
        <a:sysClr val="window" lastClr="FFFFFF"/>
      </a:lt1>
      <a:dk2>
        <a:srgbClr val="A11C36"/>
      </a:dk2>
      <a:lt2>
        <a:srgbClr val="D82034"/>
      </a:lt2>
      <a:accent1>
        <a:srgbClr val="A11C36"/>
      </a:accent1>
      <a:accent2>
        <a:srgbClr val="D08E9B"/>
      </a:accent2>
      <a:accent3>
        <a:srgbClr val="808080"/>
      </a:accent3>
      <a:accent4>
        <a:srgbClr val="C0C0C0"/>
      </a:accent4>
      <a:accent5>
        <a:srgbClr val="6D1874"/>
      </a:accent5>
      <a:accent6>
        <a:srgbClr val="B68CBA"/>
      </a:accent6>
      <a:hlink>
        <a:srgbClr val="0000FF"/>
      </a:hlink>
      <a:folHlink>
        <a:srgbClr val="6D1874"/>
      </a:folHlink>
    </a:clrScheme>
    <a:fontScheme name="SwissLife">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SwissLife - Bordeaux">
      <a:dk1>
        <a:sysClr val="windowText" lastClr="000000"/>
      </a:dk1>
      <a:lt1>
        <a:sysClr val="window" lastClr="FFFFFF"/>
      </a:lt1>
      <a:dk2>
        <a:srgbClr val="A11C36"/>
      </a:dk2>
      <a:lt2>
        <a:srgbClr val="D82034"/>
      </a:lt2>
      <a:accent1>
        <a:srgbClr val="A11C36"/>
      </a:accent1>
      <a:accent2>
        <a:srgbClr val="D08E9B"/>
      </a:accent2>
      <a:accent3>
        <a:srgbClr val="808080"/>
      </a:accent3>
      <a:accent4>
        <a:srgbClr val="C0C0C0"/>
      </a:accent4>
      <a:accent5>
        <a:srgbClr val="6D1874"/>
      </a:accent5>
      <a:accent6>
        <a:srgbClr val="B68CBA"/>
      </a:accent6>
      <a:hlink>
        <a:srgbClr val="0000FF"/>
      </a:hlink>
      <a:folHlink>
        <a:srgbClr val="6D1874"/>
      </a:folHlink>
    </a:clrScheme>
    <a:fontScheme name="SwissLife">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Swiss Life">
    <a:dk1>
      <a:srgbClr val="000000"/>
    </a:dk1>
    <a:lt1>
      <a:srgbClr val="FFFFFF"/>
    </a:lt1>
    <a:dk2>
      <a:srgbClr val="A11C36"/>
    </a:dk2>
    <a:lt2>
      <a:srgbClr val="D82034"/>
    </a:lt2>
    <a:accent1>
      <a:srgbClr val="A11C36"/>
    </a:accent1>
    <a:accent2>
      <a:srgbClr val="FD8182"/>
    </a:accent2>
    <a:accent3>
      <a:srgbClr val="808080"/>
    </a:accent3>
    <a:accent4>
      <a:srgbClr val="C0C0C0"/>
    </a:accent4>
    <a:accent5>
      <a:srgbClr val="FCC52D"/>
    </a:accent5>
    <a:accent6>
      <a:srgbClr val="DDBD88"/>
    </a:accent6>
    <a:hlink>
      <a:srgbClr val="D82034"/>
    </a:hlink>
    <a:folHlink>
      <a:srgbClr val="A0A0A0"/>
    </a:folHlink>
  </a:clrScheme>
</a:themeOverride>
</file>

<file path=ppt/theme/themeOverride2.xml><?xml version="1.0" encoding="utf-8"?>
<a:themeOverride xmlns:a="http://schemas.openxmlformats.org/drawingml/2006/main">
  <a:clrScheme name="Swiss Life">
    <a:dk1>
      <a:srgbClr val="000000"/>
    </a:dk1>
    <a:lt1>
      <a:srgbClr val="FFFFFF"/>
    </a:lt1>
    <a:dk2>
      <a:srgbClr val="A11C36"/>
    </a:dk2>
    <a:lt2>
      <a:srgbClr val="D82034"/>
    </a:lt2>
    <a:accent1>
      <a:srgbClr val="A11C36"/>
    </a:accent1>
    <a:accent2>
      <a:srgbClr val="FD8182"/>
    </a:accent2>
    <a:accent3>
      <a:srgbClr val="808080"/>
    </a:accent3>
    <a:accent4>
      <a:srgbClr val="C0C0C0"/>
    </a:accent4>
    <a:accent5>
      <a:srgbClr val="FCC52D"/>
    </a:accent5>
    <a:accent6>
      <a:srgbClr val="DDBD88"/>
    </a:accent6>
    <a:hlink>
      <a:srgbClr val="D82034"/>
    </a:hlink>
    <a:folHlink>
      <a:srgbClr val="A0A0A0"/>
    </a:folHlink>
  </a:clrScheme>
</a:themeOverride>
</file>

<file path=ppt/theme/themeOverride3.xml><?xml version="1.0" encoding="utf-8"?>
<a:themeOverride xmlns:a="http://schemas.openxmlformats.org/drawingml/2006/main">
  <a:clrScheme name="Swiss Life">
    <a:dk1>
      <a:srgbClr val="000000"/>
    </a:dk1>
    <a:lt1>
      <a:srgbClr val="FFFFFF"/>
    </a:lt1>
    <a:dk2>
      <a:srgbClr val="A11C36"/>
    </a:dk2>
    <a:lt2>
      <a:srgbClr val="D82034"/>
    </a:lt2>
    <a:accent1>
      <a:srgbClr val="A11C36"/>
    </a:accent1>
    <a:accent2>
      <a:srgbClr val="FD8182"/>
    </a:accent2>
    <a:accent3>
      <a:srgbClr val="808080"/>
    </a:accent3>
    <a:accent4>
      <a:srgbClr val="C0C0C0"/>
    </a:accent4>
    <a:accent5>
      <a:srgbClr val="FCC52D"/>
    </a:accent5>
    <a:accent6>
      <a:srgbClr val="DDBD88"/>
    </a:accent6>
    <a:hlink>
      <a:srgbClr val="D82034"/>
    </a:hlink>
    <a:folHlink>
      <a:srgbClr val="A0A0A0"/>
    </a:folHlink>
  </a:clrScheme>
</a:themeOverride>
</file>

<file path=ppt/theme/themeOverride4.xml><?xml version="1.0" encoding="utf-8"?>
<a:themeOverride xmlns:a="http://schemas.openxmlformats.org/drawingml/2006/main">
  <a:clrScheme name="Swiss Life">
    <a:dk1>
      <a:srgbClr val="000000"/>
    </a:dk1>
    <a:lt1>
      <a:srgbClr val="FFFFFF"/>
    </a:lt1>
    <a:dk2>
      <a:srgbClr val="A11C36"/>
    </a:dk2>
    <a:lt2>
      <a:srgbClr val="D82034"/>
    </a:lt2>
    <a:accent1>
      <a:srgbClr val="A11C36"/>
    </a:accent1>
    <a:accent2>
      <a:srgbClr val="FD8182"/>
    </a:accent2>
    <a:accent3>
      <a:srgbClr val="808080"/>
    </a:accent3>
    <a:accent4>
      <a:srgbClr val="C0C0C0"/>
    </a:accent4>
    <a:accent5>
      <a:srgbClr val="FCC52D"/>
    </a:accent5>
    <a:accent6>
      <a:srgbClr val="DDBD88"/>
    </a:accent6>
    <a:hlink>
      <a:srgbClr val="D82034"/>
    </a:hlink>
    <a:folHlink>
      <a:srgbClr val="A0A0A0"/>
    </a:folHlink>
  </a:clrScheme>
</a:themeOverride>
</file>

<file path=ppt/theme/themeOverride5.xml><?xml version="1.0" encoding="utf-8"?>
<a:themeOverride xmlns:a="http://schemas.openxmlformats.org/drawingml/2006/main">
  <a:clrScheme name="Swiss Life">
    <a:dk1>
      <a:srgbClr val="000000"/>
    </a:dk1>
    <a:lt1>
      <a:srgbClr val="FFFFFF"/>
    </a:lt1>
    <a:dk2>
      <a:srgbClr val="A11C36"/>
    </a:dk2>
    <a:lt2>
      <a:srgbClr val="D82034"/>
    </a:lt2>
    <a:accent1>
      <a:srgbClr val="A11C36"/>
    </a:accent1>
    <a:accent2>
      <a:srgbClr val="FD8182"/>
    </a:accent2>
    <a:accent3>
      <a:srgbClr val="808080"/>
    </a:accent3>
    <a:accent4>
      <a:srgbClr val="C0C0C0"/>
    </a:accent4>
    <a:accent5>
      <a:srgbClr val="FCC52D"/>
    </a:accent5>
    <a:accent6>
      <a:srgbClr val="DDBD88"/>
    </a:accent6>
    <a:hlink>
      <a:srgbClr val="D82034"/>
    </a:hlink>
    <a:folHlink>
      <a:srgbClr val="A0A0A0"/>
    </a:folHlink>
  </a:clrScheme>
</a:themeOverride>
</file>

<file path=ppt/theme/themeOverride6.xml><?xml version="1.0" encoding="utf-8"?>
<a:themeOverride xmlns:a="http://schemas.openxmlformats.org/drawingml/2006/main">
  <a:clrScheme name="Swiss Life">
    <a:dk1>
      <a:srgbClr val="000000"/>
    </a:dk1>
    <a:lt1>
      <a:srgbClr val="FFFFFF"/>
    </a:lt1>
    <a:dk2>
      <a:srgbClr val="A11C36"/>
    </a:dk2>
    <a:lt2>
      <a:srgbClr val="D82034"/>
    </a:lt2>
    <a:accent1>
      <a:srgbClr val="A11C36"/>
    </a:accent1>
    <a:accent2>
      <a:srgbClr val="FD8182"/>
    </a:accent2>
    <a:accent3>
      <a:srgbClr val="808080"/>
    </a:accent3>
    <a:accent4>
      <a:srgbClr val="C0C0C0"/>
    </a:accent4>
    <a:accent5>
      <a:srgbClr val="FCC52D"/>
    </a:accent5>
    <a:accent6>
      <a:srgbClr val="DDBD88"/>
    </a:accent6>
    <a:hlink>
      <a:srgbClr val="D82034"/>
    </a:hlink>
    <a:folHlink>
      <a:srgbClr val="A0A0A0"/>
    </a:folHlink>
  </a:clrScheme>
</a:themeOverride>
</file>

<file path=ppt/theme/themeOverride7.xml><?xml version="1.0" encoding="utf-8"?>
<a:themeOverride xmlns:a="http://schemas.openxmlformats.org/drawingml/2006/main">
  <a:clrScheme name="Swiss Life">
    <a:dk1>
      <a:srgbClr val="000000"/>
    </a:dk1>
    <a:lt1>
      <a:srgbClr val="FFFFFF"/>
    </a:lt1>
    <a:dk2>
      <a:srgbClr val="A11C36"/>
    </a:dk2>
    <a:lt2>
      <a:srgbClr val="D82034"/>
    </a:lt2>
    <a:accent1>
      <a:srgbClr val="A11C36"/>
    </a:accent1>
    <a:accent2>
      <a:srgbClr val="FD8182"/>
    </a:accent2>
    <a:accent3>
      <a:srgbClr val="808080"/>
    </a:accent3>
    <a:accent4>
      <a:srgbClr val="C0C0C0"/>
    </a:accent4>
    <a:accent5>
      <a:srgbClr val="FCC52D"/>
    </a:accent5>
    <a:accent6>
      <a:srgbClr val="DDBD88"/>
    </a:accent6>
    <a:hlink>
      <a:srgbClr val="D82034"/>
    </a:hlink>
    <a:folHlink>
      <a:srgbClr val="A0A0A0"/>
    </a:folHlink>
  </a:clrScheme>
</a:themeOverride>
</file>

<file path=ppt/theme/themeOverride8.xml><?xml version="1.0" encoding="utf-8"?>
<a:themeOverride xmlns:a="http://schemas.openxmlformats.org/drawingml/2006/main">
  <a:clrScheme name="Swiss Life">
    <a:dk1>
      <a:srgbClr val="000000"/>
    </a:dk1>
    <a:lt1>
      <a:srgbClr val="FFFFFF"/>
    </a:lt1>
    <a:dk2>
      <a:srgbClr val="A11C36"/>
    </a:dk2>
    <a:lt2>
      <a:srgbClr val="D82034"/>
    </a:lt2>
    <a:accent1>
      <a:srgbClr val="A11C36"/>
    </a:accent1>
    <a:accent2>
      <a:srgbClr val="FD8182"/>
    </a:accent2>
    <a:accent3>
      <a:srgbClr val="808080"/>
    </a:accent3>
    <a:accent4>
      <a:srgbClr val="C0C0C0"/>
    </a:accent4>
    <a:accent5>
      <a:srgbClr val="FCC52D"/>
    </a:accent5>
    <a:accent6>
      <a:srgbClr val="DDBD88"/>
    </a:accent6>
    <a:hlink>
      <a:srgbClr val="D82034"/>
    </a:hlink>
    <a:folHlink>
      <a:srgbClr val="A0A0A0"/>
    </a:folHlink>
  </a:clrScheme>
</a:themeOverride>
</file>

<file path=ppt/theme/themeOverride9.xml><?xml version="1.0" encoding="utf-8"?>
<a:themeOverride xmlns:a="http://schemas.openxmlformats.org/drawingml/2006/main">
  <a:clrScheme name="Swiss Life">
    <a:dk1>
      <a:srgbClr val="000000"/>
    </a:dk1>
    <a:lt1>
      <a:srgbClr val="FFFFFF"/>
    </a:lt1>
    <a:dk2>
      <a:srgbClr val="A11C36"/>
    </a:dk2>
    <a:lt2>
      <a:srgbClr val="D82034"/>
    </a:lt2>
    <a:accent1>
      <a:srgbClr val="A11C36"/>
    </a:accent1>
    <a:accent2>
      <a:srgbClr val="FD8182"/>
    </a:accent2>
    <a:accent3>
      <a:srgbClr val="808080"/>
    </a:accent3>
    <a:accent4>
      <a:srgbClr val="C0C0C0"/>
    </a:accent4>
    <a:accent5>
      <a:srgbClr val="FCC52D"/>
    </a:accent5>
    <a:accent6>
      <a:srgbClr val="DDBD88"/>
    </a:accent6>
    <a:hlink>
      <a:srgbClr val="D82034"/>
    </a:hlink>
    <a:folHlink>
      <a:srgbClr val="A0A0A0"/>
    </a:folHlink>
  </a:clrScheme>
</a:themeOverride>
</file>

<file path=ppt/theme/themeOverride10.xml><?xml version="1.0" encoding="utf-8"?>
<a:themeOverride xmlns:a="http://schemas.openxmlformats.org/drawingml/2006/main">
  <a:clrScheme name="Swiss Life">
    <a:dk1>
      <a:srgbClr val="000000"/>
    </a:dk1>
    <a:lt1>
      <a:srgbClr val="FFFFFF"/>
    </a:lt1>
    <a:dk2>
      <a:srgbClr val="A11C36"/>
    </a:dk2>
    <a:lt2>
      <a:srgbClr val="D82034"/>
    </a:lt2>
    <a:accent1>
      <a:srgbClr val="A11C36"/>
    </a:accent1>
    <a:accent2>
      <a:srgbClr val="FD8182"/>
    </a:accent2>
    <a:accent3>
      <a:srgbClr val="808080"/>
    </a:accent3>
    <a:accent4>
      <a:srgbClr val="C0C0C0"/>
    </a:accent4>
    <a:accent5>
      <a:srgbClr val="FCC52D"/>
    </a:accent5>
    <a:accent6>
      <a:srgbClr val="DDBD88"/>
    </a:accent6>
    <a:hlink>
      <a:srgbClr val="D82034"/>
    </a:hlink>
    <a:folHlink>
      <a:srgbClr val="A0A0A0"/>
    </a:folHlink>
  </a:clrScheme>
</a:themeOverride>
</file>

<file path=ppt/theme/themeOverride11.xml><?xml version="1.0" encoding="utf-8"?>
<a:themeOverride xmlns:a="http://schemas.openxmlformats.org/drawingml/2006/main">
  <a:clrScheme name="Swiss Life">
    <a:dk1>
      <a:srgbClr val="000000"/>
    </a:dk1>
    <a:lt1>
      <a:srgbClr val="FFFFFF"/>
    </a:lt1>
    <a:dk2>
      <a:srgbClr val="A11C36"/>
    </a:dk2>
    <a:lt2>
      <a:srgbClr val="D82034"/>
    </a:lt2>
    <a:accent1>
      <a:srgbClr val="A11C36"/>
    </a:accent1>
    <a:accent2>
      <a:srgbClr val="FD8182"/>
    </a:accent2>
    <a:accent3>
      <a:srgbClr val="808080"/>
    </a:accent3>
    <a:accent4>
      <a:srgbClr val="C0C0C0"/>
    </a:accent4>
    <a:accent5>
      <a:srgbClr val="FCC52D"/>
    </a:accent5>
    <a:accent6>
      <a:srgbClr val="DDBD88"/>
    </a:accent6>
    <a:hlink>
      <a:srgbClr val="D82034"/>
    </a:hlink>
    <a:folHlink>
      <a:srgbClr val="A0A0A0"/>
    </a:folHlink>
  </a:clrScheme>
</a:themeOverride>
</file>

<file path=ppt/theme/themeOverride12.xml><?xml version="1.0" encoding="utf-8"?>
<a:themeOverride xmlns:a="http://schemas.openxmlformats.org/drawingml/2006/main">
  <a:clrScheme name="Swiss Life">
    <a:dk1>
      <a:srgbClr val="000000"/>
    </a:dk1>
    <a:lt1>
      <a:srgbClr val="FFFFFF"/>
    </a:lt1>
    <a:dk2>
      <a:srgbClr val="A11C36"/>
    </a:dk2>
    <a:lt2>
      <a:srgbClr val="D82034"/>
    </a:lt2>
    <a:accent1>
      <a:srgbClr val="A11C36"/>
    </a:accent1>
    <a:accent2>
      <a:srgbClr val="FD8182"/>
    </a:accent2>
    <a:accent3>
      <a:srgbClr val="808080"/>
    </a:accent3>
    <a:accent4>
      <a:srgbClr val="C0C0C0"/>
    </a:accent4>
    <a:accent5>
      <a:srgbClr val="FCC52D"/>
    </a:accent5>
    <a:accent6>
      <a:srgbClr val="DDBD88"/>
    </a:accent6>
    <a:hlink>
      <a:srgbClr val="D82034"/>
    </a:hlink>
    <a:folHlink>
      <a:srgbClr val="A0A0A0"/>
    </a:folHlink>
  </a:clrScheme>
</a:themeOverride>
</file>

<file path=ppt/theme/themeOverride13.xml><?xml version="1.0" encoding="utf-8"?>
<a:themeOverride xmlns:a="http://schemas.openxmlformats.org/drawingml/2006/main">
  <a:clrScheme name="Swiss Life">
    <a:dk1>
      <a:srgbClr val="000000"/>
    </a:dk1>
    <a:lt1>
      <a:srgbClr val="FFFFFF"/>
    </a:lt1>
    <a:dk2>
      <a:srgbClr val="A11C36"/>
    </a:dk2>
    <a:lt2>
      <a:srgbClr val="D82034"/>
    </a:lt2>
    <a:accent1>
      <a:srgbClr val="A11C36"/>
    </a:accent1>
    <a:accent2>
      <a:srgbClr val="FD8182"/>
    </a:accent2>
    <a:accent3>
      <a:srgbClr val="808080"/>
    </a:accent3>
    <a:accent4>
      <a:srgbClr val="C0C0C0"/>
    </a:accent4>
    <a:accent5>
      <a:srgbClr val="FCC52D"/>
    </a:accent5>
    <a:accent6>
      <a:srgbClr val="DDBD88"/>
    </a:accent6>
    <a:hlink>
      <a:srgbClr val="D82034"/>
    </a:hlink>
    <a:folHlink>
      <a:srgbClr val="A0A0A0"/>
    </a:folHlink>
  </a:clrScheme>
</a:themeOverride>
</file>

<file path=ppt/theme/themeOverride14.xml><?xml version="1.0" encoding="utf-8"?>
<a:themeOverride xmlns:a="http://schemas.openxmlformats.org/drawingml/2006/main">
  <a:clrScheme name="Swiss Life">
    <a:dk1>
      <a:srgbClr val="000000"/>
    </a:dk1>
    <a:lt1>
      <a:srgbClr val="FFFFFF"/>
    </a:lt1>
    <a:dk2>
      <a:srgbClr val="A11C36"/>
    </a:dk2>
    <a:lt2>
      <a:srgbClr val="D82034"/>
    </a:lt2>
    <a:accent1>
      <a:srgbClr val="A11C36"/>
    </a:accent1>
    <a:accent2>
      <a:srgbClr val="FD8182"/>
    </a:accent2>
    <a:accent3>
      <a:srgbClr val="808080"/>
    </a:accent3>
    <a:accent4>
      <a:srgbClr val="C0C0C0"/>
    </a:accent4>
    <a:accent5>
      <a:srgbClr val="FCC52D"/>
    </a:accent5>
    <a:accent6>
      <a:srgbClr val="DDBD88"/>
    </a:accent6>
    <a:hlink>
      <a:srgbClr val="D82034"/>
    </a:hlink>
    <a:folHlink>
      <a:srgbClr val="A0A0A0"/>
    </a:folHlink>
  </a:clrScheme>
</a:themeOverride>
</file>

<file path=ppt/theme/themeOverride15.xml><?xml version="1.0" encoding="utf-8"?>
<a:themeOverride xmlns:a="http://schemas.openxmlformats.org/drawingml/2006/main">
  <a:clrScheme name="Swiss Life">
    <a:dk1>
      <a:srgbClr val="000000"/>
    </a:dk1>
    <a:lt1>
      <a:srgbClr val="FFFFFF"/>
    </a:lt1>
    <a:dk2>
      <a:srgbClr val="A11C36"/>
    </a:dk2>
    <a:lt2>
      <a:srgbClr val="D82034"/>
    </a:lt2>
    <a:accent1>
      <a:srgbClr val="A11C36"/>
    </a:accent1>
    <a:accent2>
      <a:srgbClr val="FD8182"/>
    </a:accent2>
    <a:accent3>
      <a:srgbClr val="808080"/>
    </a:accent3>
    <a:accent4>
      <a:srgbClr val="C0C0C0"/>
    </a:accent4>
    <a:accent5>
      <a:srgbClr val="FCC52D"/>
    </a:accent5>
    <a:accent6>
      <a:srgbClr val="DDBD88"/>
    </a:accent6>
    <a:hlink>
      <a:srgbClr val="D82034"/>
    </a:hlink>
    <a:folHlink>
      <a:srgbClr val="A0A0A0"/>
    </a:folHlink>
  </a:clrScheme>
</a:themeOverride>
</file>

<file path=ppt/theme/themeOverride16.xml><?xml version="1.0" encoding="utf-8"?>
<a:themeOverride xmlns:a="http://schemas.openxmlformats.org/drawingml/2006/main">
  <a:clrScheme name="Swiss Life">
    <a:dk1>
      <a:srgbClr val="000000"/>
    </a:dk1>
    <a:lt1>
      <a:srgbClr val="FFFFFF"/>
    </a:lt1>
    <a:dk2>
      <a:srgbClr val="A11C36"/>
    </a:dk2>
    <a:lt2>
      <a:srgbClr val="D82034"/>
    </a:lt2>
    <a:accent1>
      <a:srgbClr val="A11C36"/>
    </a:accent1>
    <a:accent2>
      <a:srgbClr val="FD8182"/>
    </a:accent2>
    <a:accent3>
      <a:srgbClr val="808080"/>
    </a:accent3>
    <a:accent4>
      <a:srgbClr val="C0C0C0"/>
    </a:accent4>
    <a:accent5>
      <a:srgbClr val="FCC52D"/>
    </a:accent5>
    <a:accent6>
      <a:srgbClr val="DDBD88"/>
    </a:accent6>
    <a:hlink>
      <a:srgbClr val="D82034"/>
    </a:hlink>
    <a:folHlink>
      <a:srgbClr val="A0A0A0"/>
    </a:folHlink>
  </a:clrScheme>
</a:themeOverride>
</file>

<file path=ppt/theme/themeOverride17.xml><?xml version="1.0" encoding="utf-8"?>
<a:themeOverride xmlns:a="http://schemas.openxmlformats.org/drawingml/2006/main">
  <a:clrScheme name="Swiss Life">
    <a:dk1>
      <a:srgbClr val="000000"/>
    </a:dk1>
    <a:lt1>
      <a:srgbClr val="FFFFFF"/>
    </a:lt1>
    <a:dk2>
      <a:srgbClr val="A11C36"/>
    </a:dk2>
    <a:lt2>
      <a:srgbClr val="D82034"/>
    </a:lt2>
    <a:accent1>
      <a:srgbClr val="A11C36"/>
    </a:accent1>
    <a:accent2>
      <a:srgbClr val="FD8182"/>
    </a:accent2>
    <a:accent3>
      <a:srgbClr val="808080"/>
    </a:accent3>
    <a:accent4>
      <a:srgbClr val="C0C0C0"/>
    </a:accent4>
    <a:accent5>
      <a:srgbClr val="FCC52D"/>
    </a:accent5>
    <a:accent6>
      <a:srgbClr val="DDBD88"/>
    </a:accent6>
    <a:hlink>
      <a:srgbClr val="D82034"/>
    </a:hlink>
    <a:folHlink>
      <a:srgbClr val="A0A0A0"/>
    </a:folHlink>
  </a:clrScheme>
</a:themeOverride>
</file>

<file path=ppt/theme/themeOverride18.xml><?xml version="1.0" encoding="utf-8"?>
<a:themeOverride xmlns:a="http://schemas.openxmlformats.org/drawingml/2006/main">
  <a:clrScheme name="Swiss Life">
    <a:dk1>
      <a:srgbClr val="000000"/>
    </a:dk1>
    <a:lt1>
      <a:srgbClr val="FFFFFF"/>
    </a:lt1>
    <a:dk2>
      <a:srgbClr val="A11C36"/>
    </a:dk2>
    <a:lt2>
      <a:srgbClr val="D82034"/>
    </a:lt2>
    <a:accent1>
      <a:srgbClr val="A11C36"/>
    </a:accent1>
    <a:accent2>
      <a:srgbClr val="FD8182"/>
    </a:accent2>
    <a:accent3>
      <a:srgbClr val="808080"/>
    </a:accent3>
    <a:accent4>
      <a:srgbClr val="C0C0C0"/>
    </a:accent4>
    <a:accent5>
      <a:srgbClr val="FCC52D"/>
    </a:accent5>
    <a:accent6>
      <a:srgbClr val="DDBD88"/>
    </a:accent6>
    <a:hlink>
      <a:srgbClr val="D82034"/>
    </a:hlink>
    <a:folHlink>
      <a:srgbClr val="A0A0A0"/>
    </a:folHlink>
  </a:clrScheme>
</a:themeOverride>
</file>

<file path=ppt/theme/themeOverride19.xml><?xml version="1.0" encoding="utf-8"?>
<a:themeOverride xmlns:a="http://schemas.openxmlformats.org/drawingml/2006/main">
  <a:clrScheme name="Swiss Life">
    <a:dk1>
      <a:srgbClr val="000000"/>
    </a:dk1>
    <a:lt1>
      <a:srgbClr val="FFFFFF"/>
    </a:lt1>
    <a:dk2>
      <a:srgbClr val="A11C36"/>
    </a:dk2>
    <a:lt2>
      <a:srgbClr val="D82034"/>
    </a:lt2>
    <a:accent1>
      <a:srgbClr val="A11C36"/>
    </a:accent1>
    <a:accent2>
      <a:srgbClr val="FD8182"/>
    </a:accent2>
    <a:accent3>
      <a:srgbClr val="808080"/>
    </a:accent3>
    <a:accent4>
      <a:srgbClr val="C0C0C0"/>
    </a:accent4>
    <a:accent5>
      <a:srgbClr val="FCC52D"/>
    </a:accent5>
    <a:accent6>
      <a:srgbClr val="DDBD88"/>
    </a:accent6>
    <a:hlink>
      <a:srgbClr val="D82034"/>
    </a:hlink>
    <a:folHlink>
      <a:srgbClr val="A0A0A0"/>
    </a:folHlink>
  </a:clrScheme>
</a:themeOverride>
</file>

<file path=ppt/theme/themeOverride20.xml><?xml version="1.0" encoding="utf-8"?>
<a:themeOverride xmlns:a="http://schemas.openxmlformats.org/drawingml/2006/main">
  <a:clrScheme name="Swiss Life">
    <a:dk1>
      <a:srgbClr val="000000"/>
    </a:dk1>
    <a:lt1>
      <a:srgbClr val="FFFFFF"/>
    </a:lt1>
    <a:dk2>
      <a:srgbClr val="A11C36"/>
    </a:dk2>
    <a:lt2>
      <a:srgbClr val="D82034"/>
    </a:lt2>
    <a:accent1>
      <a:srgbClr val="A11C36"/>
    </a:accent1>
    <a:accent2>
      <a:srgbClr val="FD8182"/>
    </a:accent2>
    <a:accent3>
      <a:srgbClr val="808080"/>
    </a:accent3>
    <a:accent4>
      <a:srgbClr val="C0C0C0"/>
    </a:accent4>
    <a:accent5>
      <a:srgbClr val="FCC52D"/>
    </a:accent5>
    <a:accent6>
      <a:srgbClr val="DDBD88"/>
    </a:accent6>
    <a:hlink>
      <a:srgbClr val="D82034"/>
    </a:hlink>
    <a:folHlink>
      <a:srgbClr val="A0A0A0"/>
    </a:folHlink>
  </a:clrScheme>
</a:themeOverride>
</file>

<file path=ppt/theme/themeOverride21.xml><?xml version="1.0" encoding="utf-8"?>
<a:themeOverride xmlns:a="http://schemas.openxmlformats.org/drawingml/2006/main">
  <a:clrScheme name="Swiss Life">
    <a:dk1>
      <a:srgbClr val="000000"/>
    </a:dk1>
    <a:lt1>
      <a:srgbClr val="FFFFFF"/>
    </a:lt1>
    <a:dk2>
      <a:srgbClr val="A11C36"/>
    </a:dk2>
    <a:lt2>
      <a:srgbClr val="D82034"/>
    </a:lt2>
    <a:accent1>
      <a:srgbClr val="A11C36"/>
    </a:accent1>
    <a:accent2>
      <a:srgbClr val="FD8182"/>
    </a:accent2>
    <a:accent3>
      <a:srgbClr val="808080"/>
    </a:accent3>
    <a:accent4>
      <a:srgbClr val="C0C0C0"/>
    </a:accent4>
    <a:accent5>
      <a:srgbClr val="FCC52D"/>
    </a:accent5>
    <a:accent6>
      <a:srgbClr val="DDBD88"/>
    </a:accent6>
    <a:hlink>
      <a:srgbClr val="D82034"/>
    </a:hlink>
    <a:folHlink>
      <a:srgbClr val="A0A0A0"/>
    </a:folHlink>
  </a:clrScheme>
</a:themeOverride>
</file>

<file path=ppt/theme/themeOverride22.xml><?xml version="1.0" encoding="utf-8"?>
<a:themeOverride xmlns:a="http://schemas.openxmlformats.org/drawingml/2006/main">
  <a:clrScheme name="Swiss Life">
    <a:dk1>
      <a:srgbClr val="000000"/>
    </a:dk1>
    <a:lt1>
      <a:srgbClr val="FFFFFF"/>
    </a:lt1>
    <a:dk2>
      <a:srgbClr val="A11C36"/>
    </a:dk2>
    <a:lt2>
      <a:srgbClr val="D82034"/>
    </a:lt2>
    <a:accent1>
      <a:srgbClr val="A11C36"/>
    </a:accent1>
    <a:accent2>
      <a:srgbClr val="FD8182"/>
    </a:accent2>
    <a:accent3>
      <a:srgbClr val="808080"/>
    </a:accent3>
    <a:accent4>
      <a:srgbClr val="C0C0C0"/>
    </a:accent4>
    <a:accent5>
      <a:srgbClr val="FCC52D"/>
    </a:accent5>
    <a:accent6>
      <a:srgbClr val="DDBD88"/>
    </a:accent6>
    <a:hlink>
      <a:srgbClr val="D82034"/>
    </a:hlink>
    <a:folHlink>
      <a:srgbClr val="A0A0A0"/>
    </a:folHlink>
  </a:clrScheme>
</a:themeOverride>
</file>

<file path=ppt/theme/themeOverride23.xml><?xml version="1.0" encoding="utf-8"?>
<a:themeOverride xmlns:a="http://schemas.openxmlformats.org/drawingml/2006/main">
  <a:clrScheme name="Swiss Life">
    <a:dk1>
      <a:srgbClr val="000000"/>
    </a:dk1>
    <a:lt1>
      <a:srgbClr val="FFFFFF"/>
    </a:lt1>
    <a:dk2>
      <a:srgbClr val="A11C36"/>
    </a:dk2>
    <a:lt2>
      <a:srgbClr val="D82034"/>
    </a:lt2>
    <a:accent1>
      <a:srgbClr val="A11C36"/>
    </a:accent1>
    <a:accent2>
      <a:srgbClr val="FD8182"/>
    </a:accent2>
    <a:accent3>
      <a:srgbClr val="808080"/>
    </a:accent3>
    <a:accent4>
      <a:srgbClr val="C0C0C0"/>
    </a:accent4>
    <a:accent5>
      <a:srgbClr val="FCC52D"/>
    </a:accent5>
    <a:accent6>
      <a:srgbClr val="DDBD88"/>
    </a:accent6>
    <a:hlink>
      <a:srgbClr val="D82034"/>
    </a:hlink>
    <a:folHlink>
      <a:srgbClr val="A0A0A0"/>
    </a:folHlink>
  </a:clrScheme>
</a:themeOverride>
</file>

<file path=ppt/theme/themeOverride24.xml><?xml version="1.0" encoding="utf-8"?>
<a:themeOverride xmlns:a="http://schemas.openxmlformats.org/drawingml/2006/main">
  <a:clrScheme name="Swiss Life">
    <a:dk1>
      <a:srgbClr val="000000"/>
    </a:dk1>
    <a:lt1>
      <a:srgbClr val="FFFFFF"/>
    </a:lt1>
    <a:dk2>
      <a:srgbClr val="A11C36"/>
    </a:dk2>
    <a:lt2>
      <a:srgbClr val="D82034"/>
    </a:lt2>
    <a:accent1>
      <a:srgbClr val="A11C36"/>
    </a:accent1>
    <a:accent2>
      <a:srgbClr val="FD8182"/>
    </a:accent2>
    <a:accent3>
      <a:srgbClr val="808080"/>
    </a:accent3>
    <a:accent4>
      <a:srgbClr val="C0C0C0"/>
    </a:accent4>
    <a:accent5>
      <a:srgbClr val="FCC52D"/>
    </a:accent5>
    <a:accent6>
      <a:srgbClr val="DDBD88"/>
    </a:accent6>
    <a:hlink>
      <a:srgbClr val="D82034"/>
    </a:hlink>
    <a:folHlink>
      <a:srgbClr val="A0A0A0"/>
    </a:folHlink>
  </a:clrScheme>
</a:themeOverride>
</file>

<file path=ppt/theme/themeOverride25.xml><?xml version="1.0" encoding="utf-8"?>
<a:themeOverride xmlns:a="http://schemas.openxmlformats.org/drawingml/2006/main">
  <a:clrScheme name="Swiss Life">
    <a:dk1>
      <a:srgbClr val="000000"/>
    </a:dk1>
    <a:lt1>
      <a:srgbClr val="FFFFFF"/>
    </a:lt1>
    <a:dk2>
      <a:srgbClr val="A11C36"/>
    </a:dk2>
    <a:lt2>
      <a:srgbClr val="D82034"/>
    </a:lt2>
    <a:accent1>
      <a:srgbClr val="A11C36"/>
    </a:accent1>
    <a:accent2>
      <a:srgbClr val="FD8182"/>
    </a:accent2>
    <a:accent3>
      <a:srgbClr val="808080"/>
    </a:accent3>
    <a:accent4>
      <a:srgbClr val="C0C0C0"/>
    </a:accent4>
    <a:accent5>
      <a:srgbClr val="FCC52D"/>
    </a:accent5>
    <a:accent6>
      <a:srgbClr val="DDBD88"/>
    </a:accent6>
    <a:hlink>
      <a:srgbClr val="D82034"/>
    </a:hlink>
    <a:folHlink>
      <a:srgbClr val="A0A0A0"/>
    </a:folHlink>
  </a:clrScheme>
</a:themeOverride>
</file>

<file path=ppt/theme/themeOverride26.xml><?xml version="1.0" encoding="utf-8"?>
<a:themeOverride xmlns:a="http://schemas.openxmlformats.org/drawingml/2006/main">
  <a:clrScheme name="Swiss Life">
    <a:dk1>
      <a:srgbClr val="000000"/>
    </a:dk1>
    <a:lt1>
      <a:srgbClr val="FFFFFF"/>
    </a:lt1>
    <a:dk2>
      <a:srgbClr val="A11C36"/>
    </a:dk2>
    <a:lt2>
      <a:srgbClr val="D82034"/>
    </a:lt2>
    <a:accent1>
      <a:srgbClr val="A11C36"/>
    </a:accent1>
    <a:accent2>
      <a:srgbClr val="FD8182"/>
    </a:accent2>
    <a:accent3>
      <a:srgbClr val="808080"/>
    </a:accent3>
    <a:accent4>
      <a:srgbClr val="C0C0C0"/>
    </a:accent4>
    <a:accent5>
      <a:srgbClr val="FCC52D"/>
    </a:accent5>
    <a:accent6>
      <a:srgbClr val="DDBD88"/>
    </a:accent6>
    <a:hlink>
      <a:srgbClr val="D82034"/>
    </a:hlink>
    <a:folHlink>
      <a:srgbClr val="A0A0A0"/>
    </a:folHlink>
  </a:clrScheme>
</a:themeOverride>
</file>

<file path=ppt/theme/themeOverride27.xml><?xml version="1.0" encoding="utf-8"?>
<a:themeOverride xmlns:a="http://schemas.openxmlformats.org/drawingml/2006/main">
  <a:clrScheme name="Swiss Life">
    <a:dk1>
      <a:srgbClr val="000000"/>
    </a:dk1>
    <a:lt1>
      <a:srgbClr val="FFFFFF"/>
    </a:lt1>
    <a:dk2>
      <a:srgbClr val="A11C36"/>
    </a:dk2>
    <a:lt2>
      <a:srgbClr val="D82034"/>
    </a:lt2>
    <a:accent1>
      <a:srgbClr val="A11C36"/>
    </a:accent1>
    <a:accent2>
      <a:srgbClr val="FD8182"/>
    </a:accent2>
    <a:accent3>
      <a:srgbClr val="808080"/>
    </a:accent3>
    <a:accent4>
      <a:srgbClr val="C0C0C0"/>
    </a:accent4>
    <a:accent5>
      <a:srgbClr val="FCC52D"/>
    </a:accent5>
    <a:accent6>
      <a:srgbClr val="DDBD88"/>
    </a:accent6>
    <a:hlink>
      <a:srgbClr val="D82034"/>
    </a:hlink>
    <a:folHlink>
      <a:srgbClr val="A0A0A0"/>
    </a:folHlink>
  </a:clrScheme>
</a:themeOverride>
</file>

<file path=ppt/theme/themeOverride28.xml><?xml version="1.0" encoding="utf-8"?>
<a:themeOverride xmlns:a="http://schemas.openxmlformats.org/drawingml/2006/main">
  <a:clrScheme name="Swiss Life">
    <a:dk1>
      <a:srgbClr val="000000"/>
    </a:dk1>
    <a:lt1>
      <a:srgbClr val="FFFFFF"/>
    </a:lt1>
    <a:dk2>
      <a:srgbClr val="A11C36"/>
    </a:dk2>
    <a:lt2>
      <a:srgbClr val="D82034"/>
    </a:lt2>
    <a:accent1>
      <a:srgbClr val="A11C36"/>
    </a:accent1>
    <a:accent2>
      <a:srgbClr val="FD8182"/>
    </a:accent2>
    <a:accent3>
      <a:srgbClr val="808080"/>
    </a:accent3>
    <a:accent4>
      <a:srgbClr val="C0C0C0"/>
    </a:accent4>
    <a:accent5>
      <a:srgbClr val="FCC52D"/>
    </a:accent5>
    <a:accent6>
      <a:srgbClr val="DDBD88"/>
    </a:accent6>
    <a:hlink>
      <a:srgbClr val="D82034"/>
    </a:hlink>
    <a:folHlink>
      <a:srgbClr val="A0A0A0"/>
    </a:folHlink>
  </a:clrScheme>
</a:themeOverride>
</file>

<file path=ppt/theme/themeOverride29.xml><?xml version="1.0" encoding="utf-8"?>
<a:themeOverride xmlns:a="http://schemas.openxmlformats.org/drawingml/2006/main">
  <a:clrScheme name="Swiss Life">
    <a:dk1>
      <a:srgbClr val="000000"/>
    </a:dk1>
    <a:lt1>
      <a:srgbClr val="FFFFFF"/>
    </a:lt1>
    <a:dk2>
      <a:srgbClr val="A11C36"/>
    </a:dk2>
    <a:lt2>
      <a:srgbClr val="D82034"/>
    </a:lt2>
    <a:accent1>
      <a:srgbClr val="A11C36"/>
    </a:accent1>
    <a:accent2>
      <a:srgbClr val="FD8182"/>
    </a:accent2>
    <a:accent3>
      <a:srgbClr val="808080"/>
    </a:accent3>
    <a:accent4>
      <a:srgbClr val="C0C0C0"/>
    </a:accent4>
    <a:accent5>
      <a:srgbClr val="FCC52D"/>
    </a:accent5>
    <a:accent6>
      <a:srgbClr val="DDBD88"/>
    </a:accent6>
    <a:hlink>
      <a:srgbClr val="D82034"/>
    </a:hlink>
    <a:folHlink>
      <a:srgbClr val="A0A0A0"/>
    </a:folHlink>
  </a:clrScheme>
</a:themeOverride>
</file>

<file path=ppt/theme/themeOverride30.xml><?xml version="1.0" encoding="utf-8"?>
<a:themeOverride xmlns:a="http://schemas.openxmlformats.org/drawingml/2006/main">
  <a:clrScheme name="Swiss Life">
    <a:dk1>
      <a:srgbClr val="000000"/>
    </a:dk1>
    <a:lt1>
      <a:srgbClr val="FFFFFF"/>
    </a:lt1>
    <a:dk2>
      <a:srgbClr val="A11C36"/>
    </a:dk2>
    <a:lt2>
      <a:srgbClr val="D82034"/>
    </a:lt2>
    <a:accent1>
      <a:srgbClr val="A11C36"/>
    </a:accent1>
    <a:accent2>
      <a:srgbClr val="FD8182"/>
    </a:accent2>
    <a:accent3>
      <a:srgbClr val="808080"/>
    </a:accent3>
    <a:accent4>
      <a:srgbClr val="C0C0C0"/>
    </a:accent4>
    <a:accent5>
      <a:srgbClr val="FCC52D"/>
    </a:accent5>
    <a:accent6>
      <a:srgbClr val="DDBD88"/>
    </a:accent6>
    <a:hlink>
      <a:srgbClr val="D82034"/>
    </a:hlink>
    <a:folHlink>
      <a:srgbClr val="A0A0A0"/>
    </a:folHlink>
  </a:clrScheme>
</a:themeOverride>
</file>

<file path=ppt/theme/themeOverride31.xml><?xml version="1.0" encoding="utf-8"?>
<a:themeOverride xmlns:a="http://schemas.openxmlformats.org/drawingml/2006/main">
  <a:clrScheme name="Swiss Life">
    <a:dk1>
      <a:srgbClr val="000000"/>
    </a:dk1>
    <a:lt1>
      <a:srgbClr val="FFFFFF"/>
    </a:lt1>
    <a:dk2>
      <a:srgbClr val="A11C36"/>
    </a:dk2>
    <a:lt2>
      <a:srgbClr val="D82034"/>
    </a:lt2>
    <a:accent1>
      <a:srgbClr val="A11C36"/>
    </a:accent1>
    <a:accent2>
      <a:srgbClr val="FD8182"/>
    </a:accent2>
    <a:accent3>
      <a:srgbClr val="808080"/>
    </a:accent3>
    <a:accent4>
      <a:srgbClr val="C0C0C0"/>
    </a:accent4>
    <a:accent5>
      <a:srgbClr val="FCC52D"/>
    </a:accent5>
    <a:accent6>
      <a:srgbClr val="DDBD88"/>
    </a:accent6>
    <a:hlink>
      <a:srgbClr val="D82034"/>
    </a:hlink>
    <a:folHlink>
      <a:srgbClr val="A0A0A0"/>
    </a:folHlink>
  </a:clrScheme>
</a:themeOverride>
</file>

<file path=ppt/theme/themeOverride32.xml><?xml version="1.0" encoding="utf-8"?>
<a:themeOverride xmlns:a="http://schemas.openxmlformats.org/drawingml/2006/main">
  <a:clrScheme name="Swiss Life">
    <a:dk1>
      <a:srgbClr val="000000"/>
    </a:dk1>
    <a:lt1>
      <a:srgbClr val="FFFFFF"/>
    </a:lt1>
    <a:dk2>
      <a:srgbClr val="A11C36"/>
    </a:dk2>
    <a:lt2>
      <a:srgbClr val="D82034"/>
    </a:lt2>
    <a:accent1>
      <a:srgbClr val="A11C36"/>
    </a:accent1>
    <a:accent2>
      <a:srgbClr val="FD8182"/>
    </a:accent2>
    <a:accent3>
      <a:srgbClr val="808080"/>
    </a:accent3>
    <a:accent4>
      <a:srgbClr val="C0C0C0"/>
    </a:accent4>
    <a:accent5>
      <a:srgbClr val="FCC52D"/>
    </a:accent5>
    <a:accent6>
      <a:srgbClr val="DDBD88"/>
    </a:accent6>
    <a:hlink>
      <a:srgbClr val="D82034"/>
    </a:hlink>
    <a:folHlink>
      <a:srgbClr val="A0A0A0"/>
    </a:folHlink>
  </a:clrScheme>
</a:themeOverride>
</file>

<file path=ppt/theme/themeOverride33.xml><?xml version="1.0" encoding="utf-8"?>
<a:themeOverride xmlns:a="http://schemas.openxmlformats.org/drawingml/2006/main">
  <a:clrScheme name="Swiss Life">
    <a:dk1>
      <a:srgbClr val="000000"/>
    </a:dk1>
    <a:lt1>
      <a:srgbClr val="FFFFFF"/>
    </a:lt1>
    <a:dk2>
      <a:srgbClr val="A11C36"/>
    </a:dk2>
    <a:lt2>
      <a:srgbClr val="D82034"/>
    </a:lt2>
    <a:accent1>
      <a:srgbClr val="A11C36"/>
    </a:accent1>
    <a:accent2>
      <a:srgbClr val="FD8182"/>
    </a:accent2>
    <a:accent3>
      <a:srgbClr val="808080"/>
    </a:accent3>
    <a:accent4>
      <a:srgbClr val="C0C0C0"/>
    </a:accent4>
    <a:accent5>
      <a:srgbClr val="FCC52D"/>
    </a:accent5>
    <a:accent6>
      <a:srgbClr val="DDBD88"/>
    </a:accent6>
    <a:hlink>
      <a:srgbClr val="D82034"/>
    </a:hlink>
    <a:folHlink>
      <a:srgbClr val="A0A0A0"/>
    </a:folHlink>
  </a:clrScheme>
</a:themeOverride>
</file>

<file path=docProps/app.xml><?xml version="1.0" encoding="utf-8"?>
<Properties xmlns="http://schemas.openxmlformats.org/officeDocument/2006/extended-properties" xmlns:vt="http://schemas.openxmlformats.org/officeDocument/2006/docPropsVTypes">
  <Template>SwissLife</Template>
  <TotalTime>0</TotalTime>
  <Words>3809</Words>
  <Application>Microsoft Office PowerPoint</Application>
  <PresentationFormat>On-screen Show (16:10)</PresentationFormat>
  <Paragraphs>497</Paragraphs>
  <Slides>33</Slides>
  <Notes>14</Notes>
  <HiddenSlides>0</HiddenSlides>
  <MMClips>0</MMClips>
  <ScaleCrop>false</ScaleCrop>
  <HeadingPairs>
    <vt:vector size="8" baseType="variant">
      <vt:variant>
        <vt:lpstr>Fonts Used</vt:lpstr>
      </vt:variant>
      <vt:variant>
        <vt:i4>7</vt:i4>
      </vt:variant>
      <vt:variant>
        <vt:lpstr>Theme</vt:lpstr>
      </vt:variant>
      <vt:variant>
        <vt:i4>2</vt:i4>
      </vt:variant>
      <vt:variant>
        <vt:lpstr>Embedded OLE Servers</vt:lpstr>
      </vt:variant>
      <vt:variant>
        <vt:i4>1</vt:i4>
      </vt:variant>
      <vt:variant>
        <vt:lpstr>Slide Titles</vt:lpstr>
      </vt:variant>
      <vt:variant>
        <vt:i4>33</vt:i4>
      </vt:variant>
    </vt:vector>
  </HeadingPairs>
  <TitlesOfParts>
    <vt:vector size="43" baseType="lpstr">
      <vt:lpstr>Arial</vt:lpstr>
      <vt:lpstr>Calibri</vt:lpstr>
      <vt:lpstr>Cambria</vt:lpstr>
      <vt:lpstr>ITCLegacySerif LT Book</vt:lpstr>
      <vt:lpstr>Legacy Serif ITC Pro Book</vt:lpstr>
      <vt:lpstr>Legacy Serif ITC Pro Medium</vt:lpstr>
      <vt:lpstr>Times New Roman</vt:lpstr>
      <vt:lpstr>Swiss Life</vt:lpstr>
      <vt:lpstr>1_Swiss Life</vt:lpstr>
      <vt:lpstr>think-cell Folie</vt:lpstr>
      <vt:lpstr>Solutions d’assurance pour les clients français Premium Lux &amp; Swiss Life Generations</vt:lpstr>
      <vt:lpstr>Acteur majeur du secteur de l'assurance depuis 1857</vt:lpstr>
      <vt:lpstr>Table des matières</vt:lpstr>
      <vt:lpstr>01 Pourquoi l’assurance vie luxembourgeoise ?</vt:lpstr>
      <vt:lpstr>Notre offre répond aux besoins des clientes et clients français Nos solutions d'assurance vie sur-mesure offrent aux entreprises et aux particuliers la sécurité et la liberté de choix qui leur permettent de façonner leur avenir en ligne avec leur propres choix et priorités.    </vt:lpstr>
      <vt:lpstr>Luxembourg: conformité &amp; portabilité</vt:lpstr>
      <vt:lpstr>Protection des actifs</vt:lpstr>
      <vt:lpstr>Souplesse d’investissements : un large choix de sous-jacents</vt:lpstr>
      <vt:lpstr>Souplesse d’investissements : une gestion  sur-mesure</vt:lpstr>
      <vt:lpstr>Comparatif assurance vie France / Luxembourg</vt:lpstr>
      <vt:lpstr>PowerPoint Presentation</vt:lpstr>
      <vt:lpstr>Avantages des contrats européens</vt:lpstr>
      <vt:lpstr>02 Mise en place du contrat</vt:lpstr>
      <vt:lpstr>Les acteurs d’une police d’assurance vie</vt:lpstr>
      <vt:lpstr>Le schéma de mise en place de nos contrats luxembourgeois </vt:lpstr>
      <vt:lpstr>Processus de mise en place d’une police</vt:lpstr>
      <vt:lpstr>03 Une offre complete : Premium Lux et Swiss Life Generations</vt:lpstr>
      <vt:lpstr>Premium Lux Assurance vie et contrat de capitalisation en unités de compte</vt:lpstr>
      <vt:lpstr>Premium Lux – Caractéristiques détaillées</vt:lpstr>
      <vt:lpstr>Premium Lux – Caractéristiques détaillées</vt:lpstr>
      <vt:lpstr>Les avantages du Premium Lux</vt:lpstr>
      <vt:lpstr>Swiss Life Generations Une solution d’assurance vie universelle variable</vt:lpstr>
      <vt:lpstr>PowerPoint Presentation</vt:lpstr>
      <vt:lpstr>Concept de base</vt:lpstr>
      <vt:lpstr>Comparaison de produits Premium Lux (PLUX) et Swiss Life Generations (SLG)</vt:lpstr>
      <vt:lpstr>Une solution attrayante pour nos partenaires</vt:lpstr>
      <vt:lpstr>Swiss Life Generations (France) </vt:lpstr>
      <vt:lpstr>04 Illustration : cas pratiques</vt:lpstr>
      <vt:lpstr>PowerPoint Presentation</vt:lpstr>
      <vt:lpstr>Premium Lux : solution de gestion patrimoniale  sur-mesure</vt:lpstr>
      <vt:lpstr>Swiss Life Generations : transmettre le patrimoine de manière égale</vt:lpstr>
      <vt:lpstr>Clause de non-responsabilité</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Insurance solutions for  clients residing in Portugal</dc:title>
  <dc:subject/>
  <dc:creator>Mersch Diane (SLLUX/Business Propositions and Innovations)</dc:creator>
  <dc:description/>
  <cp:lastModifiedBy>Mucyn Estelle (SLLUX/Private Wealth Sales &amp; Market Development)</cp:lastModifiedBy>
  <cp:revision>122</cp:revision>
  <cp:lastPrinted>2025-02-18T13:45:45Z</cp:lastPrinted>
  <dcterms:created xsi:type="dcterms:W3CDTF">2022-12-15T13:45:06Z</dcterms:created>
  <dcterms:modified xsi:type="dcterms:W3CDTF">2025-02-21T10:07:55Z</dcterms:modified>
  <cp:contentStatus/>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FClassification_version_type">
    <vt:lpwstr>1</vt:lpwstr>
  </property>
</Properties>
</file>