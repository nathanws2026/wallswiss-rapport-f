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7" autoAdjust="0"/>
    <p:restoredTop sz="94660"/>
  </p:normalViewPr>
  <p:slideViewPr>
    <p:cSldViewPr snapToGrid="0">
      <p:cViewPr varScale="1">
        <p:scale>
          <a:sx n="83" d="100"/>
          <a:sy n="83" d="100"/>
        </p:scale>
        <p:origin x="33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B1C52E-DA47-404A-B05D-DDD8DC4954AF}" type="datetimeFigureOut">
              <a:rPr lang="fr-CH" smtClean="0"/>
              <a:t>24.09.2024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942B8-D11D-4A86-BF4C-3B6F04550D58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72561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1825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2CF812-49CC-D5F0-76BC-404CE261C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1154379-4857-520B-F143-6A417C641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50EC61-D319-C5B1-1045-DED6F3066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89D9-CF79-4C1C-98B9-027C2D2A6398}" type="datetimeFigureOut">
              <a:rPr lang="fr-CH" smtClean="0"/>
              <a:t>24.09.2024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72B7B4-A6E2-302D-4FDC-52C33D671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488FB7-E34E-70F5-6669-97644380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6CB0-9BC3-46F4-9216-507B38D6997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55391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95EC25-26E3-D1BA-BBED-EE50FC1D1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93AE81-1150-68F7-2B90-59F12A237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113094-FAC8-821A-B400-55445BEF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89D9-CF79-4C1C-98B9-027C2D2A6398}" type="datetimeFigureOut">
              <a:rPr lang="fr-CH" smtClean="0"/>
              <a:t>24.09.2024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45B925-2438-B5F6-1251-D4412B88B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198693-7692-3A65-EC07-3F3F12923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6CB0-9BC3-46F4-9216-507B38D6997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9336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5E0531-452A-E085-E99C-6DA034C23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3E83AB-7F67-EFC2-5521-DB9476394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408053-CE5B-A300-9FAC-ED74733FD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89D9-CF79-4C1C-98B9-027C2D2A6398}" type="datetimeFigureOut">
              <a:rPr lang="fr-CH" smtClean="0"/>
              <a:t>24.09.2024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452911-DF3C-CF6E-7EDA-E8722BE05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B1065C-EF8C-ABC5-81FC-F5E0970BE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6CB0-9BC3-46F4-9216-507B38D6997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31325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2AB93C-FB5D-E16E-F385-EAA9F8605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C46A51-B6B5-BCD0-F986-59E0A2FBC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1003095-A3B8-CB6B-6AAE-07E36A843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A4C4A8-21A5-C1A1-E6EF-B11E9AF82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89D9-CF79-4C1C-98B9-027C2D2A6398}" type="datetimeFigureOut">
              <a:rPr lang="fr-CH" smtClean="0"/>
              <a:t>24.09.2024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EF5167-0EA6-CF2C-0D45-D21912604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1C5176C-904C-9D43-4F79-1EE8465EC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6CB0-9BC3-46F4-9216-507B38D6997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34030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9A0922-D7B7-FA5B-32FF-649F03591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FE26BA-D7EC-D8E8-F54C-02D07A7D6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418D44A-F49C-733C-658A-A418020E6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C914403-A56F-2C54-CC79-E716377D5B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7260D1F-0274-A2E4-2770-8E4BBBA67B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E6C297E-D09A-F21E-1BEE-F1BAC6B9E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89D9-CF79-4C1C-98B9-027C2D2A6398}" type="datetimeFigureOut">
              <a:rPr lang="fr-CH" smtClean="0"/>
              <a:t>24.09.2024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6C3C584-6AAD-3368-71DE-9E8047C57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05E00E9-1F2C-D8E0-7A9B-299E535B3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6CB0-9BC3-46F4-9216-507B38D6997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36695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7A5C20-5071-62E0-513E-FB441054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C1F4FF3-5F04-1DDD-BF1D-B4402B5D2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89D9-CF79-4C1C-98B9-027C2D2A6398}" type="datetimeFigureOut">
              <a:rPr lang="fr-CH" smtClean="0"/>
              <a:t>24.09.2024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C8E117-2EAC-62B9-0BF5-CE7572B9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533C4F-052C-70F7-776A-A969A7135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6CB0-9BC3-46F4-9216-507B38D6997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66254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7D427DF-BAC2-8BBA-ED2A-95C5E93B6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89D9-CF79-4C1C-98B9-027C2D2A6398}" type="datetimeFigureOut">
              <a:rPr lang="fr-CH" smtClean="0"/>
              <a:t>24.09.2024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A10302-7457-E9C1-BF04-11F449104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6BB0CE-C202-A18D-4F16-ED05A2DEF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6CB0-9BC3-46F4-9216-507B38D6997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448599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9E003B-63B2-DF42-83D9-E1549808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417103-E456-19ED-DC53-9713FF48F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3A83CB8-A91B-F45B-634C-17B70BFE1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C7BAFAF-0787-5B33-7F0A-AF2119E5E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89D9-CF79-4C1C-98B9-027C2D2A6398}" type="datetimeFigureOut">
              <a:rPr lang="fr-CH" smtClean="0"/>
              <a:t>24.09.2024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BB9EFC-F2B5-8D4E-6B23-D05C9BCED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CEF933F-41DA-598C-8EA2-B98CB6E1A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6CB0-9BC3-46F4-9216-507B38D6997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82208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39B0C1-23BE-1445-4FB4-63728BB9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14412EE-6C6B-46E2-B804-774DA0BBC8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1D6EBC-CA96-8429-901F-6CF394ECE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793AA41-61E2-5585-6834-AEED02388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89D9-CF79-4C1C-98B9-027C2D2A6398}" type="datetimeFigureOut">
              <a:rPr lang="fr-CH" smtClean="0"/>
              <a:t>24.09.2024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C9734B-2667-A9E6-FAF8-978FF8E18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985E21-4016-49F5-98E8-685083271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6CB0-9BC3-46F4-9216-507B38D6997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36042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BA9CDF-0401-01E5-48DE-A9CA6C877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CC83D1B-7596-FE07-013A-666F6B7CC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0C9D14-8250-6B0C-B86A-4EBBB48F6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89D9-CF79-4C1C-98B9-027C2D2A6398}" type="datetimeFigureOut">
              <a:rPr lang="fr-CH" smtClean="0"/>
              <a:t>24.09.2024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22ED5E-DB24-077F-3513-851EDB77B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A995C0-6221-A543-4A74-EDDCBB80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6CB0-9BC3-46F4-9216-507B38D6997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30736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883B96E-32FF-F413-54E8-CD2C5B665C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1E37866-A203-661B-53B0-A4604188C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9ADDD0-2E84-E7AE-1C9C-B94CC6529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89D9-CF79-4C1C-98B9-027C2D2A6398}" type="datetimeFigureOut">
              <a:rPr lang="fr-CH" smtClean="0"/>
              <a:t>24.09.2024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08F97B-1909-9E40-B304-71BE6D50D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5D6B6A-4AD4-708A-C310-FE3F38A1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6CB0-9BC3-46F4-9216-507B38D6997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51196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8A13822-D77A-BAC5-1E4C-999AC5963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38B114-4F5F-B256-5F1D-8692EE0FC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056F07-E302-191E-3576-EB2D1DB217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089D9-CF79-4C1C-98B9-027C2D2A6398}" type="datetimeFigureOut">
              <a:rPr lang="fr-CH" smtClean="0"/>
              <a:t>24.09.2024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B963E4-7197-0D93-59CE-E72402FAB8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B44E3E-4488-C55C-29EE-B34C5899F7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16CB0-9BC3-46F4-9216-507B38D69972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30624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12192000" cy="1056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spcFirstLastPara="1" vert="horz" wrap="square" lIns="121900" tIns="216000" rIns="121900" bIns="312000" rtlCol="0" anchor="b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fr" sz="3173" dirty="0">
                <a:latin typeface="Aptos Display" panose="020B0004020202020204" pitchFamily="34" charset="0"/>
              </a:rPr>
              <a:t>DROIT OPTION / 3 MOIS pour le réaliser après signature contrat</a:t>
            </a:r>
            <a:endParaRPr sz="2773" dirty="0">
              <a:latin typeface="Aptos Display" panose="020B0004020202020204" pitchFamily="34" charset="0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0" y="1056800"/>
            <a:ext cx="6223200" cy="2541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56" name="Google Shape;56;p13"/>
          <p:cNvSpPr/>
          <p:nvPr/>
        </p:nvSpPr>
        <p:spPr>
          <a:xfrm>
            <a:off x="0" y="3524400"/>
            <a:ext cx="6223200" cy="261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57" name="Google Shape;57;p13"/>
          <p:cNvSpPr/>
          <p:nvPr/>
        </p:nvSpPr>
        <p:spPr>
          <a:xfrm>
            <a:off x="6223000" y="3524400"/>
            <a:ext cx="5969200" cy="261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58" name="Google Shape;58;p13"/>
          <p:cNvSpPr/>
          <p:nvPr/>
        </p:nvSpPr>
        <p:spPr>
          <a:xfrm>
            <a:off x="6223000" y="1056800"/>
            <a:ext cx="5969200" cy="2467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00"/>
          </a:p>
        </p:txBody>
      </p:sp>
      <p:sp>
        <p:nvSpPr>
          <p:cNvPr id="59" name="Google Shape;59;p13"/>
          <p:cNvSpPr txBox="1"/>
          <p:nvPr/>
        </p:nvSpPr>
        <p:spPr>
          <a:xfrm>
            <a:off x="0" y="1056800"/>
            <a:ext cx="6152400" cy="7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fr" sz="2400" b="1"/>
              <a:t>CMU = système français</a:t>
            </a:r>
            <a:endParaRPr sz="2400" b="1"/>
          </a:p>
        </p:txBody>
      </p:sp>
      <p:sp>
        <p:nvSpPr>
          <p:cNvPr id="60" name="Google Shape;60;p13"/>
          <p:cNvSpPr txBox="1"/>
          <p:nvPr/>
        </p:nvSpPr>
        <p:spPr>
          <a:xfrm>
            <a:off x="6223200" y="1116100"/>
            <a:ext cx="5968800" cy="7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fr" sz="2400" b="1"/>
              <a:t>LAMal = système suisse</a:t>
            </a:r>
            <a:endParaRPr sz="2400" b="1"/>
          </a:p>
        </p:txBody>
      </p:sp>
      <p:grpSp>
        <p:nvGrpSpPr>
          <p:cNvPr id="61" name="Google Shape;61;p13"/>
          <p:cNvGrpSpPr/>
          <p:nvPr/>
        </p:nvGrpSpPr>
        <p:grpSpPr>
          <a:xfrm>
            <a:off x="129900" y="1835700"/>
            <a:ext cx="6064867" cy="1886800"/>
            <a:chOff x="97425" y="1376775"/>
            <a:chExt cx="4548650" cy="1415100"/>
          </a:xfrm>
        </p:grpSpPr>
        <p:sp>
          <p:nvSpPr>
            <p:cNvPr id="62" name="Google Shape;62;p13"/>
            <p:cNvSpPr txBox="1"/>
            <p:nvPr/>
          </p:nvSpPr>
          <p:spPr>
            <a:xfrm>
              <a:off x="598175" y="1376775"/>
              <a:ext cx="4047900" cy="14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fr" sz="1600" dirty="0"/>
                <a:t>Carte Vitale Française</a:t>
              </a:r>
              <a:endParaRPr sz="1600" dirty="0"/>
            </a:p>
            <a:p>
              <a:pPr marL="609585" indent="-406390">
                <a:buSzPts val="1200"/>
                <a:buChar char="+"/>
              </a:pPr>
              <a:r>
                <a:rPr lang="fr" sz="1600" dirty="0"/>
                <a:t>mutuelle française</a:t>
              </a:r>
              <a:endParaRPr sz="1600" dirty="0"/>
            </a:p>
            <a:p>
              <a:r>
                <a:rPr lang="fr" sz="1600" dirty="0"/>
                <a:t>   =    accès aux soins et remboursements en France </a:t>
              </a:r>
              <a:r>
                <a:rPr lang="fr" sz="1600" b="1" dirty="0"/>
                <a:t>identique</a:t>
              </a:r>
              <a:r>
                <a:rPr lang="fr" sz="1600" dirty="0"/>
                <a:t> à aujourd’hui </a:t>
              </a:r>
              <a:endParaRPr sz="1600" dirty="0"/>
            </a:p>
          </p:txBody>
        </p:sp>
        <p:pic>
          <p:nvPicPr>
            <p:cNvPr id="63" name="Google Shape;63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7425" y="1517050"/>
              <a:ext cx="479582" cy="3154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4" name="Google Shape;64;p13"/>
          <p:cNvGrpSpPr/>
          <p:nvPr/>
        </p:nvGrpSpPr>
        <p:grpSpPr>
          <a:xfrm>
            <a:off x="129900" y="3496733"/>
            <a:ext cx="6064867" cy="2751600"/>
            <a:chOff x="97425" y="2622550"/>
            <a:chExt cx="4548650" cy="2063700"/>
          </a:xfrm>
        </p:grpSpPr>
        <p:pic>
          <p:nvPicPr>
            <p:cNvPr id="65" name="Google Shape;65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7425" y="2768000"/>
              <a:ext cx="479582" cy="315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" name="Google Shape;66;p13"/>
            <p:cNvSpPr txBox="1"/>
            <p:nvPr/>
          </p:nvSpPr>
          <p:spPr>
            <a:xfrm>
              <a:off x="598175" y="2622550"/>
              <a:ext cx="4047900" cy="20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fr" sz="1600" dirty="0"/>
                <a:t>8% aujourd’hui</a:t>
              </a:r>
              <a:endParaRPr sz="1600" dirty="0"/>
            </a:p>
            <a:p>
              <a:r>
                <a:rPr lang="fr" sz="1600" dirty="0"/>
                <a:t>13% objectif à terme </a:t>
              </a:r>
              <a:endParaRPr sz="1600" dirty="0"/>
            </a:p>
            <a:p>
              <a:endParaRPr sz="1600" dirty="0"/>
            </a:p>
            <a:p>
              <a:r>
                <a:rPr lang="fr" sz="1600" dirty="0"/>
                <a:t>Sur TOUS REVENUS </a:t>
              </a:r>
              <a:endParaRPr sz="1600" dirty="0"/>
            </a:p>
            <a:p>
              <a:endParaRPr sz="1600" dirty="0"/>
            </a:p>
            <a:p>
              <a:pPr marL="609585" indent="-406390">
                <a:buSzPts val="1200"/>
                <a:buChar char="●"/>
              </a:pPr>
              <a:r>
                <a:rPr lang="fr" sz="1600" dirty="0"/>
                <a:t>Salaires </a:t>
              </a:r>
              <a:endParaRPr sz="1600" dirty="0"/>
            </a:p>
            <a:p>
              <a:pPr marL="609585" indent="-406390">
                <a:buSzPts val="1200"/>
                <a:buChar char="●"/>
              </a:pPr>
              <a:r>
                <a:rPr lang="fr" sz="1600" dirty="0"/>
                <a:t>Héritages </a:t>
              </a:r>
              <a:endParaRPr sz="1600" dirty="0"/>
            </a:p>
            <a:p>
              <a:pPr marL="609585" indent="-406390">
                <a:buSzPts val="1200"/>
                <a:buChar char="●"/>
              </a:pPr>
              <a:r>
                <a:rPr lang="fr" sz="1600" dirty="0"/>
                <a:t>Plus-value</a:t>
              </a:r>
              <a:endParaRPr sz="1600" dirty="0"/>
            </a:p>
            <a:p>
              <a:pPr marL="609585" indent="-406390">
                <a:buSzPts val="1200"/>
                <a:buChar char="●"/>
              </a:pPr>
              <a:r>
                <a:rPr lang="fr" sz="1600" dirty="0"/>
                <a:t>Revenus locatifs</a:t>
              </a:r>
              <a:endParaRPr sz="1600" dirty="0"/>
            </a:p>
            <a:p>
              <a:pPr marL="609585" indent="-406390">
                <a:buSzPts val="1200"/>
                <a:buChar char="●"/>
              </a:pPr>
              <a:r>
                <a:rPr lang="fr" sz="1600" dirty="0"/>
                <a:t>Autres gains…</a:t>
              </a:r>
              <a:endParaRPr sz="1600" dirty="0"/>
            </a:p>
            <a:p>
              <a:endParaRPr sz="2400" dirty="0"/>
            </a:p>
            <a:p>
              <a:endParaRPr sz="2400" dirty="0"/>
            </a:p>
          </p:txBody>
        </p:sp>
      </p:grpSp>
      <p:grpSp>
        <p:nvGrpSpPr>
          <p:cNvPr id="67" name="Google Shape;67;p13"/>
          <p:cNvGrpSpPr/>
          <p:nvPr/>
        </p:nvGrpSpPr>
        <p:grpSpPr>
          <a:xfrm>
            <a:off x="5009434" y="3524400"/>
            <a:ext cx="1178367" cy="1056800"/>
            <a:chOff x="3757075" y="2643300"/>
            <a:chExt cx="883775" cy="792600"/>
          </a:xfrm>
        </p:grpSpPr>
        <p:sp>
          <p:nvSpPr>
            <p:cNvPr id="68" name="Google Shape;68;p13"/>
            <p:cNvSpPr txBox="1"/>
            <p:nvPr/>
          </p:nvSpPr>
          <p:spPr>
            <a:xfrm>
              <a:off x="3857550" y="2643300"/>
              <a:ext cx="783300" cy="7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rmAutofit/>
            </a:bodyPr>
            <a:lstStyle/>
            <a:p>
              <a:r>
                <a:rPr lang="fr" sz="1600" dirty="0"/>
                <a:t>N-2</a:t>
              </a:r>
              <a:endParaRPr sz="1600" dirty="0"/>
            </a:p>
            <a:p>
              <a:r>
                <a:rPr lang="fr" sz="1600" dirty="0"/>
                <a:t>2024</a:t>
              </a:r>
              <a:endParaRPr sz="1600" dirty="0"/>
            </a:p>
            <a:p>
              <a:r>
                <a:rPr lang="fr" sz="1600" dirty="0"/>
                <a:t>2022</a:t>
              </a:r>
              <a:endParaRPr sz="1600" dirty="0"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3757075" y="3016250"/>
              <a:ext cx="100500" cy="232800"/>
            </a:xfrm>
            <a:prstGeom prst="curvedRight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50D9C2"/>
            </a:solidFill>
            <a:ln w="9525" cap="flat" cmpd="sng">
              <a:solidFill>
                <a:srgbClr val="50D9C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/>
            </a:p>
          </p:txBody>
        </p:sp>
      </p:grpSp>
      <p:sp>
        <p:nvSpPr>
          <p:cNvPr id="70" name="Google Shape;70;p13"/>
          <p:cNvSpPr txBox="1"/>
          <p:nvPr/>
        </p:nvSpPr>
        <p:spPr>
          <a:xfrm>
            <a:off x="9414700" y="3524400"/>
            <a:ext cx="281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r>
              <a:rPr lang="fr" sz="1333" i="1" dirty="0"/>
              <a:t>HELSANA</a:t>
            </a:r>
            <a:r>
              <a:rPr lang="fr" sz="1333" dirty="0"/>
              <a:t> : CHF 162.-/AD</a:t>
            </a:r>
          </a:p>
          <a:p>
            <a:r>
              <a:rPr lang="fr" sz="1333" dirty="0"/>
              <a:t>                    CHF 146.-/ - 25 ans</a:t>
            </a:r>
          </a:p>
          <a:p>
            <a:r>
              <a:rPr lang="fr" sz="1333" dirty="0"/>
              <a:t>                    CHF 40.-/Enf</a:t>
            </a:r>
            <a:endParaRPr sz="1333" dirty="0"/>
          </a:p>
        </p:txBody>
      </p:sp>
      <p:grpSp>
        <p:nvGrpSpPr>
          <p:cNvPr id="71" name="Google Shape;71;p13"/>
          <p:cNvGrpSpPr/>
          <p:nvPr/>
        </p:nvGrpSpPr>
        <p:grpSpPr>
          <a:xfrm>
            <a:off x="6324601" y="1643800"/>
            <a:ext cx="6005700" cy="1255600"/>
            <a:chOff x="4743450" y="1232850"/>
            <a:chExt cx="4504275" cy="941700"/>
          </a:xfrm>
        </p:grpSpPr>
        <p:sp>
          <p:nvSpPr>
            <p:cNvPr id="72" name="Google Shape;72;p13"/>
            <p:cNvSpPr txBox="1"/>
            <p:nvPr/>
          </p:nvSpPr>
          <p:spPr>
            <a:xfrm>
              <a:off x="5199825" y="1232850"/>
              <a:ext cx="4047900" cy="94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fr" sz="1600"/>
                <a:t>Carte Vitale Française</a:t>
              </a:r>
              <a:endParaRPr sz="1600"/>
            </a:p>
            <a:p>
              <a:pPr marL="609585" indent="-406390">
                <a:buSzPts val="1200"/>
                <a:buChar char="+"/>
              </a:pPr>
              <a:r>
                <a:rPr lang="fr" sz="1600"/>
                <a:t>mutuelle française</a:t>
              </a:r>
              <a:endParaRPr sz="1600"/>
            </a:p>
            <a:p>
              <a:r>
                <a:rPr lang="fr" sz="1600"/>
                <a:t>   =    accès aux soins et remboursements en France </a:t>
              </a:r>
              <a:r>
                <a:rPr lang="fr" sz="1600" b="1"/>
                <a:t>identique</a:t>
              </a:r>
              <a:r>
                <a:rPr lang="fr" sz="1600"/>
                <a:t> à aujourd’hui </a:t>
              </a:r>
              <a:endParaRPr sz="1600"/>
            </a:p>
            <a:p>
              <a:endParaRPr sz="1600"/>
            </a:p>
            <a:p>
              <a:endParaRPr sz="1600"/>
            </a:p>
          </p:txBody>
        </p:sp>
        <p:pic>
          <p:nvPicPr>
            <p:cNvPr id="73" name="Google Shape;73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43450" y="1282900"/>
              <a:ext cx="479575" cy="315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" name="Google Shape;74;p13"/>
          <p:cNvGrpSpPr/>
          <p:nvPr/>
        </p:nvGrpSpPr>
        <p:grpSpPr>
          <a:xfrm>
            <a:off x="6308969" y="5008133"/>
            <a:ext cx="6071900" cy="968400"/>
            <a:chOff x="4743450" y="3756100"/>
            <a:chExt cx="4553925" cy="726300"/>
          </a:xfrm>
        </p:grpSpPr>
        <p:sp>
          <p:nvSpPr>
            <p:cNvPr id="75" name="Google Shape;75;p13"/>
            <p:cNvSpPr txBox="1"/>
            <p:nvPr/>
          </p:nvSpPr>
          <p:spPr>
            <a:xfrm>
              <a:off x="5249475" y="3756100"/>
              <a:ext cx="40479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r>
                <a:rPr lang="fr" sz="1600" dirty="0"/>
                <a:t>Franchise : CHF 300.-/ AN pour adulte </a:t>
              </a:r>
              <a:endParaRPr sz="1600" dirty="0"/>
            </a:p>
            <a:p>
              <a:r>
                <a:rPr lang="fr" sz="1600" dirty="0"/>
                <a:t>                   CHF  0.- / AN par enfant​</a:t>
              </a:r>
              <a:endParaRPr sz="1600" dirty="0"/>
            </a:p>
            <a:p>
              <a:r>
                <a:rPr lang="fr" sz="1600" dirty="0"/>
                <a:t>Quote-part : 10% jusqu’à max CHF 700.-</a:t>
              </a:r>
              <a:endParaRPr sz="1600" dirty="0"/>
            </a:p>
          </p:txBody>
        </p:sp>
        <p:pic>
          <p:nvPicPr>
            <p:cNvPr id="76" name="Google Shape;76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43450" y="3832297"/>
              <a:ext cx="479575" cy="3154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77" name="Google Shape;77;p13"/>
          <p:cNvCxnSpPr/>
          <p:nvPr/>
        </p:nvCxnSpPr>
        <p:spPr>
          <a:xfrm>
            <a:off x="6223200" y="6126333"/>
            <a:ext cx="0" cy="72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3"/>
          <p:cNvSpPr txBox="1"/>
          <p:nvPr/>
        </p:nvSpPr>
        <p:spPr>
          <a:xfrm>
            <a:off x="3014133" y="6247333"/>
            <a:ext cx="32092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fr" sz="1600"/>
              <a:t>Réouverture droit option :</a:t>
            </a:r>
            <a:endParaRPr sz="1600"/>
          </a:p>
        </p:txBody>
      </p:sp>
      <p:grpSp>
        <p:nvGrpSpPr>
          <p:cNvPr id="79" name="Google Shape;79;p13"/>
          <p:cNvGrpSpPr/>
          <p:nvPr/>
        </p:nvGrpSpPr>
        <p:grpSpPr>
          <a:xfrm>
            <a:off x="5825067" y="6227600"/>
            <a:ext cx="3928533" cy="677200"/>
            <a:chOff x="4368800" y="4670700"/>
            <a:chExt cx="2946400" cy="507900"/>
          </a:xfrm>
        </p:grpSpPr>
        <p:sp>
          <p:nvSpPr>
            <p:cNvPr id="80" name="Google Shape;80;p13"/>
            <p:cNvSpPr txBox="1"/>
            <p:nvPr/>
          </p:nvSpPr>
          <p:spPr>
            <a:xfrm>
              <a:off x="4908300" y="4670700"/>
              <a:ext cx="24069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/>
              <a:r>
                <a:rPr lang="fr" sz="1600"/>
                <a:t>Chômage indemnisé en France </a:t>
              </a:r>
              <a:endParaRPr sz="1600"/>
            </a:p>
            <a:p>
              <a:pPr algn="ctr"/>
              <a:r>
                <a:rPr lang="fr" sz="1600"/>
                <a:t>Résident Suisse</a:t>
              </a:r>
              <a:endParaRPr sz="1600"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4368800" y="4813300"/>
              <a:ext cx="622200" cy="1752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50D9C2"/>
            </a:solidFill>
            <a:ln w="9525" cap="flat" cmpd="sng">
              <a:solidFill>
                <a:srgbClr val="50D9C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00"/>
            </a:p>
          </p:txBody>
        </p:sp>
      </p:grpSp>
      <p:grpSp>
        <p:nvGrpSpPr>
          <p:cNvPr id="82" name="Google Shape;82;p13"/>
          <p:cNvGrpSpPr/>
          <p:nvPr/>
        </p:nvGrpSpPr>
        <p:grpSpPr>
          <a:xfrm>
            <a:off x="6300119" y="2929467"/>
            <a:ext cx="5781167" cy="431312"/>
            <a:chOff x="4693825" y="2197100"/>
            <a:chExt cx="4335875" cy="323484"/>
          </a:xfrm>
        </p:grpSpPr>
        <p:pic>
          <p:nvPicPr>
            <p:cNvPr id="83" name="Google Shape;83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93825" y="2205110"/>
              <a:ext cx="479575" cy="315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13"/>
            <p:cNvSpPr txBox="1"/>
            <p:nvPr/>
          </p:nvSpPr>
          <p:spPr>
            <a:xfrm>
              <a:off x="5295900" y="2197100"/>
              <a:ext cx="3733800" cy="3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chemeClr val="dk1"/>
                </a:buClr>
                <a:buSzPts val="1100"/>
              </a:pPr>
              <a:r>
                <a:rPr lang="fr" sz="1600">
                  <a:solidFill>
                    <a:schemeClr val="dk1"/>
                  </a:solidFill>
                </a:rPr>
                <a:t>Accès aux soins et remboursement en Suisse</a:t>
              </a:r>
              <a:endParaRPr sz="2400"/>
            </a:p>
          </p:txBody>
        </p:sp>
      </p:grpSp>
      <p:grpSp>
        <p:nvGrpSpPr>
          <p:cNvPr id="85" name="Google Shape;85;p13"/>
          <p:cNvGrpSpPr/>
          <p:nvPr/>
        </p:nvGrpSpPr>
        <p:grpSpPr>
          <a:xfrm>
            <a:off x="6291533" y="4372952"/>
            <a:ext cx="4596067" cy="422977"/>
            <a:chOff x="4718650" y="3279713"/>
            <a:chExt cx="3447050" cy="317233"/>
          </a:xfrm>
        </p:grpSpPr>
        <p:pic>
          <p:nvPicPr>
            <p:cNvPr id="86" name="Google Shape;86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18650" y="3279713"/>
              <a:ext cx="479575" cy="315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13"/>
            <p:cNvSpPr txBox="1"/>
            <p:nvPr/>
          </p:nvSpPr>
          <p:spPr>
            <a:xfrm>
              <a:off x="5219400" y="3281346"/>
              <a:ext cx="2946300" cy="3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Clr>
                  <a:schemeClr val="dk1"/>
                </a:buClr>
                <a:buSzPts val="1100"/>
              </a:pPr>
              <a:r>
                <a:rPr lang="fr" sz="1600" dirty="0">
                  <a:solidFill>
                    <a:schemeClr val="dk1"/>
                  </a:solidFill>
                </a:rPr>
                <a:t>Rien ne change !</a:t>
              </a:r>
              <a:endParaRPr sz="2400" dirty="0"/>
            </a:p>
          </p:txBody>
        </p: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921DF688-E12B-4599-964E-F10C1CDEA5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9005" y="4827210"/>
            <a:ext cx="2970114" cy="2970114"/>
          </a:xfrm>
          <a:prstGeom prst="rect">
            <a:avLst/>
          </a:prstGeom>
        </p:spPr>
      </p:pic>
      <p:sp>
        <p:nvSpPr>
          <p:cNvPr id="4" name="Explosion : 14 points 3">
            <a:extLst>
              <a:ext uri="{FF2B5EF4-FFF2-40B4-BE49-F238E27FC236}">
                <a16:creationId xmlns:a16="http://schemas.microsoft.com/office/drawing/2014/main" id="{A00F7703-EEB7-4634-A885-E74A750EE6CE}"/>
              </a:ext>
            </a:extLst>
          </p:cNvPr>
          <p:cNvSpPr/>
          <p:nvPr/>
        </p:nvSpPr>
        <p:spPr>
          <a:xfrm>
            <a:off x="10263566" y="4135383"/>
            <a:ext cx="1980191" cy="1420027"/>
          </a:xfrm>
          <a:prstGeom prst="irregularSeal2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+60% en 2024</a:t>
            </a:r>
          </a:p>
        </p:txBody>
      </p:sp>
    </p:spTree>
    <p:extLst>
      <p:ext uri="{BB962C8B-B14F-4D97-AF65-F5344CB8AC3E}">
        <p14:creationId xmlns:p14="http://schemas.microsoft.com/office/powerpoint/2010/main" val="388370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145</Words>
  <Application>Microsoft Office PowerPoint</Application>
  <PresentationFormat>Grand écran</PresentationFormat>
  <Paragraphs>34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 Display</vt:lpstr>
      <vt:lpstr>Arial</vt:lpstr>
      <vt:lpstr>Calibri</vt:lpstr>
      <vt:lpstr>Calibri Light</vt:lpstr>
      <vt:lpstr>Thème Office</vt:lpstr>
      <vt:lpstr>DROIT OPTION / 3 MOIS pour le réaliser après signature contrat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DROIT OPTION / 3 MOIS pour le réaliser après signature contrat</dc:title>
  <dc:creator>Clarisse Duval</dc:creator>
  <cp:lastModifiedBy>Pierrick .</cp:lastModifiedBy>
  <cp:revision>2</cp:revision>
  <dcterms:created xsi:type="dcterms:W3CDTF">2023-09-14T13:51:31Z</dcterms:created>
  <dcterms:modified xsi:type="dcterms:W3CDTF">2024-09-24T10:05:36Z</dcterms:modified>
</cp:coreProperties>
</file>